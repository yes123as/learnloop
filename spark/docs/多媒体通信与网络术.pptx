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4"/>
  </p:notesMasterIdLst>
  <p:sldIdLst>
    <p:sldId id="476" r:id="rId2"/>
    <p:sldId id="631" r:id="rId3"/>
    <p:sldId id="655" r:id="rId4"/>
    <p:sldId id="615" r:id="rId5"/>
    <p:sldId id="683" r:id="rId6"/>
    <p:sldId id="682" r:id="rId7"/>
    <p:sldId id="684" r:id="rId8"/>
    <p:sldId id="685" r:id="rId9"/>
    <p:sldId id="686" r:id="rId10"/>
    <p:sldId id="688" r:id="rId11"/>
    <p:sldId id="687" r:id="rId12"/>
    <p:sldId id="689" r:id="rId13"/>
    <p:sldId id="690" r:id="rId14"/>
    <p:sldId id="691" r:id="rId15"/>
    <p:sldId id="695" r:id="rId16"/>
    <p:sldId id="692" r:id="rId17"/>
    <p:sldId id="693" r:id="rId18"/>
    <p:sldId id="694" r:id="rId19"/>
    <p:sldId id="696" r:id="rId20"/>
    <p:sldId id="616" r:id="rId21"/>
    <p:sldId id="520" r:id="rId22"/>
    <p:sldId id="521" r:id="rId23"/>
    <p:sldId id="374" r:id="rId24"/>
    <p:sldId id="375" r:id="rId25"/>
    <p:sldId id="376" r:id="rId26"/>
    <p:sldId id="378" r:id="rId27"/>
    <p:sldId id="480" r:id="rId28"/>
    <p:sldId id="380" r:id="rId29"/>
    <p:sldId id="500" r:id="rId30"/>
    <p:sldId id="654" r:id="rId31"/>
    <p:sldId id="379" r:id="rId32"/>
    <p:sldId id="381" r:id="rId33"/>
    <p:sldId id="511" r:id="rId34"/>
    <p:sldId id="656" r:id="rId35"/>
    <p:sldId id="512" r:id="rId36"/>
    <p:sldId id="513" r:id="rId37"/>
    <p:sldId id="514" r:id="rId38"/>
    <p:sldId id="515" r:id="rId39"/>
    <p:sldId id="517" r:id="rId40"/>
    <p:sldId id="633" r:id="rId41"/>
    <p:sldId id="519" r:id="rId42"/>
    <p:sldId id="539" r:id="rId43"/>
    <p:sldId id="540" r:id="rId44"/>
    <p:sldId id="532" r:id="rId45"/>
    <p:sldId id="657" r:id="rId46"/>
    <p:sldId id="661" r:id="rId47"/>
    <p:sldId id="377" r:id="rId48"/>
    <p:sldId id="382" r:id="rId49"/>
    <p:sldId id="597" r:id="rId50"/>
    <p:sldId id="659" r:id="rId51"/>
    <p:sldId id="598" r:id="rId52"/>
    <p:sldId id="658" r:id="rId53"/>
    <p:sldId id="383" r:id="rId54"/>
    <p:sldId id="477" r:id="rId55"/>
    <p:sldId id="479" r:id="rId56"/>
    <p:sldId id="384" r:id="rId57"/>
    <p:sldId id="501" r:id="rId58"/>
    <p:sldId id="502" r:id="rId59"/>
    <p:sldId id="503" r:id="rId60"/>
    <p:sldId id="504" r:id="rId61"/>
    <p:sldId id="533" r:id="rId62"/>
    <p:sldId id="535" r:id="rId63"/>
    <p:sldId id="505" r:id="rId64"/>
    <p:sldId id="506" r:id="rId65"/>
    <p:sldId id="507" r:id="rId66"/>
    <p:sldId id="508" r:id="rId67"/>
    <p:sldId id="509" r:id="rId68"/>
    <p:sldId id="510" r:id="rId69"/>
    <p:sldId id="481" r:id="rId70"/>
    <p:sldId id="482" r:id="rId71"/>
    <p:sldId id="483" r:id="rId72"/>
    <p:sldId id="484" r:id="rId73"/>
    <p:sldId id="485" r:id="rId74"/>
    <p:sldId id="486" r:id="rId75"/>
    <p:sldId id="487" r:id="rId76"/>
    <p:sldId id="488" r:id="rId77"/>
    <p:sldId id="489" r:id="rId78"/>
    <p:sldId id="490" r:id="rId79"/>
    <p:sldId id="491" r:id="rId80"/>
    <p:sldId id="492" r:id="rId81"/>
    <p:sldId id="493" r:id="rId82"/>
    <p:sldId id="494" r:id="rId83"/>
    <p:sldId id="495" r:id="rId84"/>
    <p:sldId id="496" r:id="rId85"/>
    <p:sldId id="497" r:id="rId86"/>
    <p:sldId id="498" r:id="rId87"/>
    <p:sldId id="499" r:id="rId88"/>
    <p:sldId id="445" r:id="rId89"/>
    <p:sldId id="614" r:id="rId90"/>
    <p:sldId id="625" r:id="rId91"/>
    <p:sldId id="475" r:id="rId92"/>
    <p:sldId id="583" r:id="rId93"/>
    <p:sldId id="589" r:id="rId94"/>
    <p:sldId id="590" r:id="rId95"/>
    <p:sldId id="626" r:id="rId96"/>
    <p:sldId id="617" r:id="rId97"/>
    <p:sldId id="469" r:id="rId98"/>
    <p:sldId id="665" r:id="rId99"/>
    <p:sldId id="667" r:id="rId100"/>
    <p:sldId id="668" r:id="rId101"/>
    <p:sldId id="671" r:id="rId102"/>
    <p:sldId id="672" r:id="rId103"/>
    <p:sldId id="673" r:id="rId104"/>
    <p:sldId id="674" r:id="rId105"/>
    <p:sldId id="675" r:id="rId106"/>
    <p:sldId id="676" r:id="rId107"/>
    <p:sldId id="680" r:id="rId108"/>
    <p:sldId id="677" r:id="rId109"/>
    <p:sldId id="678" r:id="rId110"/>
    <p:sldId id="679" r:id="rId111"/>
    <p:sldId id="681" r:id="rId112"/>
    <p:sldId id="666" r:id="rId113"/>
    <p:sldId id="664" r:id="rId114"/>
    <p:sldId id="451" r:id="rId115"/>
    <p:sldId id="452" r:id="rId116"/>
    <p:sldId id="453" r:id="rId117"/>
    <p:sldId id="456" r:id="rId118"/>
    <p:sldId id="457" r:id="rId119"/>
    <p:sldId id="458" r:id="rId120"/>
    <p:sldId id="627" r:id="rId121"/>
    <p:sldId id="634" r:id="rId122"/>
    <p:sldId id="440" r:id="rId123"/>
    <p:sldId id="447" r:id="rId124"/>
    <p:sldId id="441" r:id="rId125"/>
    <p:sldId id="662" r:id="rId126"/>
    <p:sldId id="442" r:id="rId127"/>
    <p:sldId id="443" r:id="rId128"/>
    <p:sldId id="444" r:id="rId129"/>
    <p:sldId id="472" r:id="rId130"/>
    <p:sldId id="448" r:id="rId131"/>
    <p:sldId id="449" r:id="rId132"/>
    <p:sldId id="450" r:id="rId133"/>
    <p:sldId id="663" r:id="rId134"/>
    <p:sldId id="446" r:id="rId135"/>
    <p:sldId id="471" r:id="rId136"/>
    <p:sldId id="618" r:id="rId137"/>
    <p:sldId id="607" r:id="rId138"/>
    <p:sldId id="619" r:id="rId139"/>
    <p:sldId id="620" r:id="rId140"/>
    <p:sldId id="621" r:id="rId141"/>
    <p:sldId id="622" r:id="rId142"/>
    <p:sldId id="623" r:id="rId143"/>
    <p:sldId id="624" r:id="rId144"/>
    <p:sldId id="660" r:id="rId145"/>
    <p:sldId id="599" r:id="rId146"/>
    <p:sldId id="601" r:id="rId147"/>
    <p:sldId id="602" r:id="rId148"/>
    <p:sldId id="606" r:id="rId149"/>
    <p:sldId id="635" r:id="rId150"/>
    <p:sldId id="637" r:id="rId151"/>
    <p:sldId id="638" r:id="rId152"/>
    <p:sldId id="639" r:id="rId153"/>
    <p:sldId id="641" r:id="rId154"/>
    <p:sldId id="642" r:id="rId155"/>
    <p:sldId id="643" r:id="rId156"/>
    <p:sldId id="644" r:id="rId157"/>
    <p:sldId id="645" r:id="rId158"/>
    <p:sldId id="646" r:id="rId159"/>
    <p:sldId id="648" r:id="rId160"/>
    <p:sldId id="649" r:id="rId161"/>
    <p:sldId id="650" r:id="rId162"/>
    <p:sldId id="653" r:id="rId16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26" autoAdjust="0"/>
    <p:restoredTop sz="96327" autoAdjust="0"/>
  </p:normalViewPr>
  <p:slideViewPr>
    <p:cSldViewPr>
      <p:cViewPr varScale="1">
        <p:scale>
          <a:sx n="123" d="100"/>
          <a:sy n="123" d="100"/>
        </p:scale>
        <p:origin x="101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16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Jia" userId="dc2167eb-47af-4ce2-a4c9-47bebca37882" providerId="ADAL" clId="{25A0F2A2-96DC-7942-B67E-A4D33A8A5BE6}"/>
    <pc:docChg chg="undo custSel modSld">
      <pc:chgData name="LiJia" userId="dc2167eb-47af-4ce2-a4c9-47bebca37882" providerId="ADAL" clId="{25A0F2A2-96DC-7942-B67E-A4D33A8A5BE6}" dt="2025-06-18T03:03:53.281" v="9" actId="113"/>
      <pc:docMkLst>
        <pc:docMk/>
      </pc:docMkLst>
      <pc:sldChg chg="addSp modSp mod">
        <pc:chgData name="LiJia" userId="dc2167eb-47af-4ce2-a4c9-47bebca37882" providerId="ADAL" clId="{25A0F2A2-96DC-7942-B67E-A4D33A8A5BE6}" dt="2025-06-18T03:03:53.281" v="9" actId="113"/>
        <pc:sldMkLst>
          <pc:docMk/>
          <pc:sldMk cId="2534569875" sldId="663"/>
        </pc:sldMkLst>
        <pc:spChg chg="add mod">
          <ac:chgData name="LiJia" userId="dc2167eb-47af-4ce2-a4c9-47bebca37882" providerId="ADAL" clId="{25A0F2A2-96DC-7942-B67E-A4D33A8A5BE6}" dt="2025-06-18T03:03:53.281" v="9" actId="113"/>
          <ac:spMkLst>
            <pc:docMk/>
            <pc:sldMk cId="2534569875" sldId="663"/>
            <ac:spMk id="4" creationId="{87014A1F-C7DB-3DB3-F16C-9963560DDFF5}"/>
          </ac:spMkLst>
        </pc:spChg>
        <pc:picChg chg="mod">
          <ac:chgData name="LiJia" userId="dc2167eb-47af-4ce2-a4c9-47bebca37882" providerId="ADAL" clId="{25A0F2A2-96DC-7942-B67E-A4D33A8A5BE6}" dt="2025-06-18T03:03:33.909" v="1" actId="14100"/>
          <ac:picMkLst>
            <pc:docMk/>
            <pc:sldMk cId="2534569875" sldId="663"/>
            <ac:picMk id="2" creationId="{E6481EAF-76A8-4A31-B2C3-44609DE4154E}"/>
          </ac:picMkLst>
        </pc:picChg>
      </pc:sldChg>
    </pc:docChg>
  </pc:docChgLst>
  <pc:docChgLst>
    <pc:chgData name="LiJia" userId="dc2167eb-47af-4ce2-a4c9-47bebca37882" providerId="ADAL" clId="{55391B70-8A64-E04E-BFB1-5B4E5951222A}"/>
    <pc:docChg chg="modSld">
      <pc:chgData name="LiJia" userId="dc2167eb-47af-4ce2-a4c9-47bebca37882" providerId="ADAL" clId="{55391B70-8A64-E04E-BFB1-5B4E5951222A}" dt="2025-05-23T02:03:25.210" v="8" actId="1076"/>
      <pc:docMkLst>
        <pc:docMk/>
      </pc:docMkLst>
      <pc:sldChg chg="addSp modSp mod">
        <pc:chgData name="LiJia" userId="dc2167eb-47af-4ce2-a4c9-47bebca37882" providerId="ADAL" clId="{55391B70-8A64-E04E-BFB1-5B4E5951222A}" dt="2025-05-23T02:03:25.210" v="8" actId="1076"/>
        <pc:sldMkLst>
          <pc:docMk/>
          <pc:sldMk cId="1501677396" sldId="444"/>
        </pc:sldMkLst>
        <pc:spChg chg="add mod">
          <ac:chgData name="LiJia" userId="dc2167eb-47af-4ce2-a4c9-47bebca37882" providerId="ADAL" clId="{55391B70-8A64-E04E-BFB1-5B4E5951222A}" dt="2025-05-23T02:03:00.310" v="3" actId="1076"/>
          <ac:spMkLst>
            <pc:docMk/>
            <pc:sldMk cId="1501677396" sldId="444"/>
            <ac:spMk id="2" creationId="{A29BBFA9-8723-6832-BD6C-75D8C75FA521}"/>
          </ac:spMkLst>
        </pc:spChg>
        <pc:spChg chg="mod">
          <ac:chgData name="LiJia" userId="dc2167eb-47af-4ce2-a4c9-47bebca37882" providerId="ADAL" clId="{55391B70-8A64-E04E-BFB1-5B4E5951222A}" dt="2025-05-23T02:03:01.449" v="4" actId="1076"/>
          <ac:spMkLst>
            <pc:docMk/>
            <pc:sldMk cId="1501677396" sldId="444"/>
            <ac:spMk id="5" creationId="{00000000-0000-0000-0000-000000000000}"/>
          </ac:spMkLst>
        </pc:spChg>
        <pc:spChg chg="add mod">
          <ac:chgData name="LiJia" userId="dc2167eb-47af-4ce2-a4c9-47bebca37882" providerId="ADAL" clId="{55391B70-8A64-E04E-BFB1-5B4E5951222A}" dt="2025-05-23T02:03:25.210" v="8" actId="1076"/>
          <ac:spMkLst>
            <pc:docMk/>
            <pc:sldMk cId="1501677396" sldId="444"/>
            <ac:spMk id="9" creationId="{28B46785-C3A6-35F0-A688-8B9A2DDB505A}"/>
          </ac:spMkLst>
        </pc:spChg>
      </pc:sldChg>
      <pc:sldChg chg="mod modShow">
        <pc:chgData name="LiJia" userId="dc2167eb-47af-4ce2-a4c9-47bebca37882" providerId="ADAL" clId="{55391B70-8A64-E04E-BFB1-5B4E5951222A}" dt="2025-05-23T01:58:01.047" v="0" actId="729"/>
        <pc:sldMkLst>
          <pc:docMk/>
          <pc:sldMk cId="3605532070" sldId="501"/>
        </pc:sldMkLst>
      </pc:sldChg>
      <pc:sldChg chg="mod modShow">
        <pc:chgData name="LiJia" userId="dc2167eb-47af-4ce2-a4c9-47bebca37882" providerId="ADAL" clId="{55391B70-8A64-E04E-BFB1-5B4E5951222A}" dt="2025-05-23T01:58:03.806" v="1" actId="729"/>
        <pc:sldMkLst>
          <pc:docMk/>
          <pc:sldMk cId="521760597" sldId="502"/>
        </pc:sldMkLst>
      </pc:sldChg>
    </pc:docChg>
  </pc:docChgLst>
  <pc:docChgLst>
    <pc:chgData name="李佳" userId="e57d5a21-7935-4641-b1a9-5d59d95d9ff4" providerId="ADAL" clId="{C833354F-9360-8C4B-9EA9-76111B4FCDDA}"/>
    <pc:docChg chg="addSld delSld modSld">
      <pc:chgData name="李佳" userId="e57d5a21-7935-4641-b1a9-5d59d95d9ff4" providerId="ADAL" clId="{C833354F-9360-8C4B-9EA9-76111B4FCDDA}" dt="2024-03-27T07:50:46.489" v="9"/>
      <pc:docMkLst>
        <pc:docMk/>
      </pc:docMkLst>
      <pc:sldChg chg="modSp add del">
        <pc:chgData name="李佳" userId="e57d5a21-7935-4641-b1a9-5d59d95d9ff4" providerId="ADAL" clId="{C833354F-9360-8C4B-9EA9-76111B4FCDDA}" dt="2024-03-27T07:49:55.731" v="1"/>
        <pc:sldMkLst>
          <pc:docMk/>
          <pc:sldMk cId="4223395206" sldId="615"/>
        </pc:sldMkLst>
      </pc:sldChg>
      <pc:sldChg chg="modSp del mod">
        <pc:chgData name="李佳" userId="e57d5a21-7935-4641-b1a9-5d59d95d9ff4" providerId="ADAL" clId="{C833354F-9360-8C4B-9EA9-76111B4FCDDA}" dt="2024-03-27T07:50:34.323" v="8" actId="2696"/>
        <pc:sldMkLst>
          <pc:docMk/>
          <pc:sldMk cId="1039910662" sldId="616"/>
        </pc:sldMkLst>
      </pc:sldChg>
      <pc:sldChg chg="add">
        <pc:chgData name="李佳" userId="e57d5a21-7935-4641-b1a9-5d59d95d9ff4" providerId="ADAL" clId="{C833354F-9360-8C4B-9EA9-76111B4FCDDA}" dt="2024-03-27T07:50:46.489" v="9"/>
        <pc:sldMkLst>
          <pc:docMk/>
          <pc:sldMk cId="1931777787" sldId="616"/>
        </pc:sldMkLst>
      </pc:sldChg>
      <pc:sldChg chg="modSp add">
        <pc:chgData name="李佳" userId="e57d5a21-7935-4641-b1a9-5d59d95d9ff4" providerId="ADAL" clId="{C833354F-9360-8C4B-9EA9-76111B4FCDDA}" dt="2024-03-27T07:49:55.731" v="1"/>
        <pc:sldMkLst>
          <pc:docMk/>
          <pc:sldMk cId="971586697" sldId="682"/>
        </pc:sldMkLst>
      </pc:sldChg>
      <pc:sldChg chg="modSp add">
        <pc:chgData name="李佳" userId="e57d5a21-7935-4641-b1a9-5d59d95d9ff4" providerId="ADAL" clId="{C833354F-9360-8C4B-9EA9-76111B4FCDDA}" dt="2024-03-27T07:49:55.731" v="1"/>
        <pc:sldMkLst>
          <pc:docMk/>
          <pc:sldMk cId="2193477435" sldId="683"/>
        </pc:sldMkLst>
      </pc:sldChg>
      <pc:sldChg chg="modSp add">
        <pc:chgData name="李佳" userId="e57d5a21-7935-4641-b1a9-5d59d95d9ff4" providerId="ADAL" clId="{C833354F-9360-8C4B-9EA9-76111B4FCDDA}" dt="2024-03-27T07:49:55.731" v="1"/>
        <pc:sldMkLst>
          <pc:docMk/>
          <pc:sldMk cId="28979965" sldId="684"/>
        </pc:sldMkLst>
      </pc:sldChg>
      <pc:sldChg chg="modSp add">
        <pc:chgData name="李佳" userId="e57d5a21-7935-4641-b1a9-5d59d95d9ff4" providerId="ADAL" clId="{C833354F-9360-8C4B-9EA9-76111B4FCDDA}" dt="2024-03-27T07:49:55.731" v="1"/>
        <pc:sldMkLst>
          <pc:docMk/>
          <pc:sldMk cId="4217047283" sldId="685"/>
        </pc:sldMkLst>
      </pc:sldChg>
      <pc:sldChg chg="modSp add">
        <pc:chgData name="李佳" userId="e57d5a21-7935-4641-b1a9-5d59d95d9ff4" providerId="ADAL" clId="{C833354F-9360-8C4B-9EA9-76111B4FCDDA}" dt="2024-03-27T07:49:55.731" v="1"/>
        <pc:sldMkLst>
          <pc:docMk/>
          <pc:sldMk cId="2967679584" sldId="686"/>
        </pc:sldMkLst>
      </pc:sldChg>
      <pc:sldChg chg="modSp add">
        <pc:chgData name="李佳" userId="e57d5a21-7935-4641-b1a9-5d59d95d9ff4" providerId="ADAL" clId="{C833354F-9360-8C4B-9EA9-76111B4FCDDA}" dt="2024-03-27T07:49:55.731" v="1"/>
        <pc:sldMkLst>
          <pc:docMk/>
          <pc:sldMk cId="938088135" sldId="687"/>
        </pc:sldMkLst>
      </pc:sldChg>
      <pc:sldChg chg="modSp add">
        <pc:chgData name="李佳" userId="e57d5a21-7935-4641-b1a9-5d59d95d9ff4" providerId="ADAL" clId="{C833354F-9360-8C4B-9EA9-76111B4FCDDA}" dt="2024-03-27T07:49:55.731" v="1"/>
        <pc:sldMkLst>
          <pc:docMk/>
          <pc:sldMk cId="3162739310" sldId="688"/>
        </pc:sldMkLst>
      </pc:sldChg>
      <pc:sldChg chg="modSp add">
        <pc:chgData name="李佳" userId="e57d5a21-7935-4641-b1a9-5d59d95d9ff4" providerId="ADAL" clId="{C833354F-9360-8C4B-9EA9-76111B4FCDDA}" dt="2024-03-27T07:49:55.731" v="1"/>
        <pc:sldMkLst>
          <pc:docMk/>
          <pc:sldMk cId="1300591689" sldId="689"/>
        </pc:sldMkLst>
      </pc:sldChg>
      <pc:sldChg chg="modSp add">
        <pc:chgData name="李佳" userId="e57d5a21-7935-4641-b1a9-5d59d95d9ff4" providerId="ADAL" clId="{C833354F-9360-8C4B-9EA9-76111B4FCDDA}" dt="2024-03-27T07:49:55.731" v="1"/>
        <pc:sldMkLst>
          <pc:docMk/>
          <pc:sldMk cId="1873336044" sldId="690"/>
        </pc:sldMkLst>
      </pc:sldChg>
      <pc:sldChg chg="modSp add">
        <pc:chgData name="李佳" userId="e57d5a21-7935-4641-b1a9-5d59d95d9ff4" providerId="ADAL" clId="{C833354F-9360-8C4B-9EA9-76111B4FCDDA}" dt="2024-03-27T07:49:55.731" v="1"/>
        <pc:sldMkLst>
          <pc:docMk/>
          <pc:sldMk cId="3947743056" sldId="691"/>
        </pc:sldMkLst>
      </pc:sldChg>
      <pc:sldChg chg="modSp add">
        <pc:chgData name="李佳" userId="e57d5a21-7935-4641-b1a9-5d59d95d9ff4" providerId="ADAL" clId="{C833354F-9360-8C4B-9EA9-76111B4FCDDA}" dt="2024-03-27T07:49:55.731" v="1"/>
        <pc:sldMkLst>
          <pc:docMk/>
          <pc:sldMk cId="2567428487" sldId="692"/>
        </pc:sldMkLst>
      </pc:sldChg>
      <pc:sldChg chg="modSp add">
        <pc:chgData name="李佳" userId="e57d5a21-7935-4641-b1a9-5d59d95d9ff4" providerId="ADAL" clId="{C833354F-9360-8C4B-9EA9-76111B4FCDDA}" dt="2024-03-27T07:49:55.731" v="1"/>
        <pc:sldMkLst>
          <pc:docMk/>
          <pc:sldMk cId="2071363609" sldId="693"/>
        </pc:sldMkLst>
      </pc:sldChg>
      <pc:sldChg chg="modSp add">
        <pc:chgData name="李佳" userId="e57d5a21-7935-4641-b1a9-5d59d95d9ff4" providerId="ADAL" clId="{C833354F-9360-8C4B-9EA9-76111B4FCDDA}" dt="2024-03-27T07:49:55.731" v="1"/>
        <pc:sldMkLst>
          <pc:docMk/>
          <pc:sldMk cId="978941924" sldId="694"/>
        </pc:sldMkLst>
      </pc:sldChg>
      <pc:sldChg chg="modSp add">
        <pc:chgData name="李佳" userId="e57d5a21-7935-4641-b1a9-5d59d95d9ff4" providerId="ADAL" clId="{C833354F-9360-8C4B-9EA9-76111B4FCDDA}" dt="2024-03-27T07:49:55.731" v="1"/>
        <pc:sldMkLst>
          <pc:docMk/>
          <pc:sldMk cId="3637553567" sldId="695"/>
        </pc:sldMkLst>
      </pc:sldChg>
      <pc:sldChg chg="modSp add">
        <pc:chgData name="李佳" userId="e57d5a21-7935-4641-b1a9-5d59d95d9ff4" providerId="ADAL" clId="{C833354F-9360-8C4B-9EA9-76111B4FCDDA}" dt="2024-03-27T07:49:55.731" v="1"/>
        <pc:sldMkLst>
          <pc:docMk/>
          <pc:sldMk cId="84180886" sldId="6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F5B45E-269A-4AAD-B652-7A68FBE04ADD}" type="datetimeFigureOut">
              <a:rPr lang="zh-CN" altLang="en-US" smtClean="0"/>
              <a:t>2025/6/18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D2DC40-3959-47C6-9593-54FC440C069A}" type="slidenum">
              <a:rPr lang="zh-CN" altLang="en-US" smtClean="0"/>
              <a:t>‹#›</a:t>
            </a:fld>
            <a:endParaRPr lang="zh-CN" altLang="en-US"/>
          </a:p>
        </p:txBody>
      </p:sp>
    </p:spTree>
    <p:extLst>
      <p:ext uri="{BB962C8B-B14F-4D97-AF65-F5344CB8AC3E}">
        <p14:creationId xmlns:p14="http://schemas.microsoft.com/office/powerpoint/2010/main" val="292016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network.chinabyte.com/60/12607060.s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zh.wikipedia.org/wiki/%E4%BB%A5%E5%A4%AA%E7%BD%9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zh.wikipedia.org/wiki/%E4%BB%A5%E5%A4%AA%E7%BD%91"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zh.wikipedia.org/wiki/%E4%BB%A5%E5%A4%AA%E7%BD%91"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baike.baidu.com/view/3787429.htm" TargetMode="External"/><Relationship Id="rId2" Type="http://schemas.openxmlformats.org/officeDocument/2006/relationships/slide" Target="../slides/slide138.xml"/><Relationship Id="rId1" Type="http://schemas.openxmlformats.org/officeDocument/2006/relationships/notesMaster" Target="../notesMasters/notesMaster1.xml"/><Relationship Id="rId6" Type="http://schemas.openxmlformats.org/officeDocument/2006/relationships/hyperlink" Target="http://baike.baidu.com/view/2774663.htm" TargetMode="External"/><Relationship Id="rId5" Type="http://schemas.openxmlformats.org/officeDocument/2006/relationships/hyperlink" Target="http://baike.baidu.com/view/411702.htm" TargetMode="External"/><Relationship Id="rId4" Type="http://schemas.openxmlformats.org/officeDocument/2006/relationships/hyperlink" Target="http://baike.baidu.com/view/747782.htm"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http://network.chinabyte.com/60/12607060.shtml</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23</a:t>
            </a:fld>
            <a:endParaRPr lang="zh-CN" altLang="en-US"/>
          </a:p>
        </p:txBody>
      </p:sp>
    </p:spTree>
    <p:extLst>
      <p:ext uri="{BB962C8B-B14F-4D97-AF65-F5344CB8AC3E}">
        <p14:creationId xmlns:p14="http://schemas.microsoft.com/office/powerpoint/2010/main" val="2057485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单纯的</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没有任何意义，必须规定解读方式：多少个电信号算一组？每个信号位有何意义？</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0" dirty="0"/>
              <a:t>早期的时候，每家公司都有自己的电信号分组方式。逐渐地，一种叫做</a:t>
            </a:r>
            <a:r>
              <a:rPr lang="en-US" altLang="zh-CN" b="0" u="sng" dirty="0">
                <a:hlinkClick r:id="rId3"/>
              </a:rPr>
              <a:t>"</a:t>
            </a:r>
            <a:r>
              <a:rPr lang="zh-CN" altLang="en-US" b="0" u="sng" dirty="0">
                <a:hlinkClick r:id="rId3"/>
              </a:rPr>
              <a:t>以太网</a:t>
            </a:r>
            <a:r>
              <a:rPr lang="en-US" altLang="zh-CN" b="0" u="sng" dirty="0">
                <a:hlinkClick r:id="rId3"/>
              </a:rPr>
              <a:t>"</a:t>
            </a:r>
            <a:r>
              <a:rPr lang="zh-CN" altLang="en-US" b="0" dirty="0"/>
              <a:t>（</a:t>
            </a:r>
            <a:r>
              <a:rPr lang="en-US" altLang="zh-CN" b="0" dirty="0"/>
              <a:t>Ethernet</a:t>
            </a:r>
            <a:r>
              <a:rPr lang="zh-CN" altLang="en-US" b="0" dirty="0"/>
              <a:t>）的协议，占据了主导地位。</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25</a:t>
            </a:fld>
            <a:endParaRPr lang="zh-CN" altLang="en-US"/>
          </a:p>
        </p:txBody>
      </p:sp>
    </p:spTree>
    <p:extLst>
      <p:ext uri="{BB962C8B-B14F-4D97-AF65-F5344CB8AC3E}">
        <p14:creationId xmlns:p14="http://schemas.microsoft.com/office/powerpoint/2010/main" val="212057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单纯的</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没有任何意义，必须规定解读方式：多少个电信号算一组？每个信号位有何意义？</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0" dirty="0"/>
              <a:t>早期的时候，每家公司都有自己的电信号分组方式。逐渐地，一种叫做</a:t>
            </a:r>
            <a:r>
              <a:rPr lang="en-US" altLang="zh-CN" b="0" u="sng" dirty="0">
                <a:hlinkClick r:id="rId3"/>
              </a:rPr>
              <a:t>"</a:t>
            </a:r>
            <a:r>
              <a:rPr lang="zh-CN" altLang="en-US" b="0" u="sng" dirty="0">
                <a:hlinkClick r:id="rId3"/>
              </a:rPr>
              <a:t>以太网</a:t>
            </a:r>
            <a:r>
              <a:rPr lang="en-US" altLang="zh-CN" b="0" u="sng" dirty="0">
                <a:hlinkClick r:id="rId3"/>
              </a:rPr>
              <a:t>"</a:t>
            </a:r>
            <a:r>
              <a:rPr lang="zh-CN" altLang="en-US" b="0" dirty="0"/>
              <a:t>（</a:t>
            </a:r>
            <a:r>
              <a:rPr lang="en-US" altLang="zh-CN" b="0" dirty="0"/>
              <a:t>Ethernet</a:t>
            </a:r>
            <a:r>
              <a:rPr lang="zh-CN" altLang="en-US" b="0" dirty="0"/>
              <a:t>）的协议，占据了主导地位。</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26</a:t>
            </a:fld>
            <a:endParaRPr lang="zh-CN" altLang="en-US"/>
          </a:p>
        </p:txBody>
      </p:sp>
    </p:spTree>
    <p:extLst>
      <p:ext uri="{BB962C8B-B14F-4D97-AF65-F5344CB8AC3E}">
        <p14:creationId xmlns:p14="http://schemas.microsoft.com/office/powerpoint/2010/main" val="2120578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单纯的</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没有任何意义，必须规定解读方式：多少个电信号算一组？每个信号位有何意义？</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0" dirty="0"/>
              <a:t>早期的时候，每家公司都有自己的电信号分组方式。逐渐地，一种叫做</a:t>
            </a:r>
            <a:r>
              <a:rPr lang="en-US" altLang="zh-CN" b="0" u="sng" dirty="0">
                <a:hlinkClick r:id="rId3"/>
              </a:rPr>
              <a:t>"</a:t>
            </a:r>
            <a:r>
              <a:rPr lang="zh-CN" altLang="en-US" b="0" u="sng" dirty="0">
                <a:hlinkClick r:id="rId3"/>
              </a:rPr>
              <a:t>以太网</a:t>
            </a:r>
            <a:r>
              <a:rPr lang="en-US" altLang="zh-CN" b="0" u="sng" dirty="0">
                <a:hlinkClick r:id="rId3"/>
              </a:rPr>
              <a:t>"</a:t>
            </a:r>
            <a:r>
              <a:rPr lang="zh-CN" altLang="en-US" b="0" dirty="0"/>
              <a:t>（</a:t>
            </a:r>
            <a:r>
              <a:rPr lang="en-US" altLang="zh-CN" b="0" dirty="0"/>
              <a:t>Ethernet</a:t>
            </a:r>
            <a:r>
              <a:rPr lang="zh-CN" altLang="en-US" b="0" dirty="0"/>
              <a:t>）的协议，占据了主导地位。</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27</a:t>
            </a:fld>
            <a:endParaRPr lang="zh-CN" altLang="en-US"/>
          </a:p>
        </p:txBody>
      </p:sp>
    </p:spTree>
    <p:extLst>
      <p:ext uri="{BB962C8B-B14F-4D97-AF65-F5344CB8AC3E}">
        <p14:creationId xmlns:p14="http://schemas.microsoft.com/office/powerpoint/2010/main" val="2120578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同一个子网络的</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号、</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号、</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号计算机都会收到这个包。它们读取这个包的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标头</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，找到接收方的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地址，然后与自身的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地址相比较，如果两者相同，就接受这个包，做进一步处理，否则就丢弃这个包。这种发送方式就叫做</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广播</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broadcasting</a:t>
            </a:r>
            <a:r>
              <a:rPr lang="zh-CN" altLang="en-US" sz="1200" b="0" i="0" kern="1200" dirty="0">
                <a:solidFill>
                  <a:schemeClr val="tx1"/>
                </a:solidFill>
                <a:effectLst/>
                <a:latin typeface="+mn-lt"/>
                <a:ea typeface="+mn-ea"/>
                <a:cs typeface="+mn-cs"/>
              </a:rPr>
              <a:t>）。</a:t>
            </a:r>
            <a:endParaRPr lang="zh-CN" altLang="en-US" b="0"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28</a:t>
            </a:fld>
            <a:endParaRPr lang="zh-CN" altLang="en-US"/>
          </a:p>
        </p:txBody>
      </p:sp>
    </p:spTree>
    <p:extLst>
      <p:ext uri="{BB962C8B-B14F-4D97-AF65-F5344CB8AC3E}">
        <p14:creationId xmlns:p14="http://schemas.microsoft.com/office/powerpoint/2010/main" val="2120578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学生发言，举个例子</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29</a:t>
            </a:fld>
            <a:endParaRPr lang="zh-CN" altLang="en-US"/>
          </a:p>
        </p:txBody>
      </p:sp>
    </p:spTree>
    <p:extLst>
      <p:ext uri="{BB962C8B-B14F-4D97-AF65-F5344CB8AC3E}">
        <p14:creationId xmlns:p14="http://schemas.microsoft.com/office/powerpoint/2010/main" val="2120578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学生发言，举个例子</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30</a:t>
            </a:fld>
            <a:endParaRPr lang="zh-CN" altLang="en-US"/>
          </a:p>
        </p:txBody>
      </p:sp>
    </p:spTree>
    <p:extLst>
      <p:ext uri="{BB962C8B-B14F-4D97-AF65-F5344CB8AC3E}">
        <p14:creationId xmlns:p14="http://schemas.microsoft.com/office/powerpoint/2010/main" val="3921279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31</a:t>
            </a:fld>
            <a:endParaRPr lang="zh-CN" altLang="en-US"/>
          </a:p>
        </p:txBody>
      </p:sp>
    </p:spTree>
    <p:extLst>
      <p:ext uri="{BB962C8B-B14F-4D97-AF65-F5344CB8AC3E}">
        <p14:creationId xmlns:p14="http://schemas.microsoft.com/office/powerpoint/2010/main" val="1456815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因为</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数据包是放在以太网数据包里发送的，所以我们必须同时知道两个地址，一个是对方的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地址，另一个是对方的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地址。通常情况下，对方的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地址是已知的（后文会解释），但是我们不知道它的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32</a:t>
            </a:fld>
            <a:endParaRPr lang="zh-CN" altLang="en-US"/>
          </a:p>
        </p:txBody>
      </p:sp>
    </p:spTree>
    <p:extLst>
      <p:ext uri="{BB962C8B-B14F-4D97-AF65-F5344CB8AC3E}">
        <p14:creationId xmlns:p14="http://schemas.microsoft.com/office/powerpoint/2010/main" val="145681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8B6A39-7A40-4A5E-8B46-86E3C9341A45}" type="slidenum">
              <a:rPr lang="en-US" altLang="zh-CN"/>
              <a:pPr/>
              <a:t>42</a:t>
            </a:fld>
            <a:endParaRPr lang="en-US" altLang="zh-CN"/>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75367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CDC0E8-E4D8-4A56-B17B-970AC60038F3}" type="slidenum">
              <a:rPr lang="en-US" altLang="zh-CN"/>
              <a:pPr/>
              <a:t>43</a:t>
            </a:fld>
            <a:endParaRPr lang="en-US" altLang="zh-CN"/>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35000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因为</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数据包是放在以太网数据包里发送的，所以我们必须同时知道两个地址，一个是对方的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地址，另一个是对方的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地址。通常情况下，对方的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地址是已知的（后文会解释），但是我们不知道它的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44</a:t>
            </a:fld>
            <a:endParaRPr lang="zh-CN" altLang="en-US"/>
          </a:p>
        </p:txBody>
      </p:sp>
    </p:spTree>
    <p:extLst>
      <p:ext uri="{BB962C8B-B14F-4D97-AF65-F5344CB8AC3E}">
        <p14:creationId xmlns:p14="http://schemas.microsoft.com/office/powerpoint/2010/main" val="1456815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因为</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数据包是放在以太网数据包里发送的，所以我们必须同时知道两个地址，一个是对方的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地址，另一个是对方的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地址。通常情况下，对方的</a:t>
            </a:r>
            <a:r>
              <a:rPr lang="en-US" altLang="zh-CN" sz="1200" b="0" i="0" kern="1200" dirty="0">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地址是已知的（后文会解释），但是我们不知道它的</a:t>
            </a:r>
            <a:r>
              <a:rPr lang="en-US" altLang="zh-CN" sz="1200" b="0" i="0" kern="1200" dirty="0">
                <a:solidFill>
                  <a:schemeClr val="tx1"/>
                </a:solidFill>
                <a:effectLst/>
                <a:latin typeface="+mn-lt"/>
                <a:ea typeface="+mn-ea"/>
                <a:cs typeface="+mn-cs"/>
              </a:rPr>
              <a:t>MAC</a:t>
            </a:r>
            <a:r>
              <a:rPr lang="zh-CN" altLang="en-US" sz="1200" b="0" i="0" kern="1200" dirty="0">
                <a:solidFill>
                  <a:schemeClr val="tx1"/>
                </a:solidFill>
                <a:effectLst/>
                <a:latin typeface="+mn-lt"/>
                <a:ea typeface="+mn-ea"/>
                <a:cs typeface="+mn-cs"/>
              </a:rPr>
              <a:t>地址。</a:t>
            </a:r>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45</a:t>
            </a:fld>
            <a:endParaRPr lang="zh-CN" altLang="en-US"/>
          </a:p>
        </p:txBody>
      </p:sp>
    </p:spTree>
    <p:extLst>
      <p:ext uri="{BB962C8B-B14F-4D97-AF65-F5344CB8AC3E}">
        <p14:creationId xmlns:p14="http://schemas.microsoft.com/office/powerpoint/2010/main" val="141449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64</a:t>
            </a:fld>
            <a:endParaRPr lang="zh-CN" altLang="en-US"/>
          </a:p>
        </p:txBody>
      </p:sp>
    </p:spTree>
    <p:extLst>
      <p:ext uri="{BB962C8B-B14F-4D97-AF65-F5344CB8AC3E}">
        <p14:creationId xmlns:p14="http://schemas.microsoft.com/office/powerpoint/2010/main" val="3936166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7A1F34-EA71-4982-8699-0825D337D667}" type="slidenum">
              <a:rPr lang="en-US" altLang="zh-CN"/>
              <a:pPr/>
              <a:t>69</a:t>
            </a:fld>
            <a:endParaRPr lang="en-US" altLang="zh-CN"/>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355784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5F2061-AD3F-44E0-AB73-FD6ED489EA32}" type="slidenum">
              <a:rPr lang="en-US" altLang="zh-CN"/>
              <a:pPr/>
              <a:t>70</a:t>
            </a:fld>
            <a:endParaRPr lang="en-US" altLang="zh-CN"/>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46864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39F7BF-237A-48BF-8537-71D9947E6F84}" type="slidenum">
              <a:rPr lang="en-US" altLang="zh-CN"/>
              <a:pPr/>
              <a:t>71</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23532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C14ED0-EA56-4B56-8B31-F2864B5B951F}" type="slidenum">
              <a:rPr lang="en-US" altLang="zh-CN"/>
              <a:pPr/>
              <a:t>72</a:t>
            </a:fld>
            <a:endParaRPr lang="en-US" altLang="zh-CN"/>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608700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7F90A3-8543-4903-BE03-04179A3A3371}" type="slidenum">
              <a:rPr lang="en-US" altLang="zh-CN"/>
              <a:pPr/>
              <a:t>73</a:t>
            </a:fld>
            <a:endParaRPr lang="en-US" altLang="zh-CN"/>
          </a:p>
        </p:txBody>
      </p:sp>
      <p:sp>
        <p:nvSpPr>
          <p:cNvPr id="215042" name="Rectangle 2"/>
          <p:cNvSpPr>
            <a:spLocks noGrp="1" noRot="1" noChangeAspect="1" noChangeArrowheads="1" noTextEdit="1"/>
          </p:cNvSpPr>
          <p:nvPr>
            <p:ph type="sldImg"/>
          </p:nvPr>
        </p:nvSpPr>
        <p:spPr>
          <a:ln/>
        </p:spPr>
      </p:sp>
      <p:sp>
        <p:nvSpPr>
          <p:cNvPr id="2150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821308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E1737D-A3CC-4776-9B88-A2F5C5B5ABA4}" type="slidenum">
              <a:rPr lang="en-US" altLang="zh-CN"/>
              <a:pPr/>
              <a:t>74</a:t>
            </a:fld>
            <a:endParaRPr lang="en-US" altLang="zh-CN"/>
          </a:p>
        </p:txBody>
      </p:sp>
      <p:sp>
        <p:nvSpPr>
          <p:cNvPr id="217090" name="Rectangle 2"/>
          <p:cNvSpPr>
            <a:spLocks noGrp="1" noRot="1" noChangeAspect="1" noChangeArrowheads="1" noTextEdit="1"/>
          </p:cNvSpPr>
          <p:nvPr>
            <p:ph type="sldImg"/>
          </p:nvPr>
        </p:nvSpPr>
        <p:spPr>
          <a:ln/>
        </p:spPr>
      </p:sp>
      <p:sp>
        <p:nvSpPr>
          <p:cNvPr id="2170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42811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AD20B4-8EF9-48F1-92C9-C41483BB8CC3}" type="slidenum">
              <a:rPr lang="en-US" altLang="zh-CN"/>
              <a:pPr/>
              <a:t>75</a:t>
            </a:fld>
            <a:endParaRPr lang="en-US" altLang="zh-CN"/>
          </a:p>
        </p:txBody>
      </p:sp>
      <p:sp>
        <p:nvSpPr>
          <p:cNvPr id="219138" name="Rectangle 2"/>
          <p:cNvSpPr>
            <a:spLocks noGrp="1" noRot="1" noChangeAspect="1" noChangeArrowheads="1" noTextEdit="1"/>
          </p:cNvSpPr>
          <p:nvPr>
            <p:ph type="sldImg"/>
          </p:nvPr>
        </p:nvSpPr>
        <p:spPr>
          <a:ln/>
        </p:spPr>
      </p:sp>
      <p:sp>
        <p:nvSpPr>
          <p:cNvPr id="219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25220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7921DE-52DE-49F8-8902-FF77037B1E0E}" type="slidenum">
              <a:rPr lang="en-US" altLang="zh-CN"/>
              <a:pPr/>
              <a:t>76</a:t>
            </a:fld>
            <a:endParaRPr lang="en-US" altLang="zh-CN"/>
          </a:p>
        </p:txBody>
      </p:sp>
      <p:sp>
        <p:nvSpPr>
          <p:cNvPr id="221186" name="Rectangle 2"/>
          <p:cNvSpPr>
            <a:spLocks noGrp="1" noRot="1" noChangeAspect="1" noChangeArrowheads="1" noTextEdit="1"/>
          </p:cNvSpPr>
          <p:nvPr>
            <p:ph type="sldImg"/>
          </p:nvPr>
        </p:nvSpPr>
        <p:spPr>
          <a:ln/>
        </p:spPr>
      </p:sp>
      <p:sp>
        <p:nvSpPr>
          <p:cNvPr id="221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826910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BD4A8E-8EB9-4197-BE15-7DF0265DC31C}" type="slidenum">
              <a:rPr lang="en-US" altLang="zh-CN"/>
              <a:pPr/>
              <a:t>77</a:t>
            </a:fld>
            <a:endParaRPr lang="en-US" altLang="zh-CN"/>
          </a:p>
        </p:txBody>
      </p:sp>
      <p:sp>
        <p:nvSpPr>
          <p:cNvPr id="223234" name="Rectangle 2"/>
          <p:cNvSpPr>
            <a:spLocks noGrp="1" noRot="1" noChangeAspect="1" noChangeArrowheads="1" noTextEdit="1"/>
          </p:cNvSpPr>
          <p:nvPr>
            <p:ph type="sldImg"/>
          </p:nvPr>
        </p:nvSpPr>
        <p:spPr>
          <a:ln/>
        </p:spPr>
      </p:sp>
      <p:sp>
        <p:nvSpPr>
          <p:cNvPr id="2232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53635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81E40C-E913-4BC8-9A09-7C2D258AC6FD}" type="slidenum">
              <a:rPr lang="en-US" altLang="zh-CN"/>
              <a:pPr/>
              <a:t>78</a:t>
            </a:fld>
            <a:endParaRPr lang="en-US" altLang="zh-CN"/>
          </a:p>
        </p:txBody>
      </p:sp>
      <p:sp>
        <p:nvSpPr>
          <p:cNvPr id="225282" name="Rectangle 2"/>
          <p:cNvSpPr>
            <a:spLocks noGrp="1" noRot="1" noChangeAspect="1" noChangeArrowheads="1" noTextEdit="1"/>
          </p:cNvSpPr>
          <p:nvPr>
            <p:ph type="sldImg"/>
          </p:nvPr>
        </p:nvSpPr>
        <p:spPr>
          <a:ln/>
        </p:spPr>
      </p:sp>
      <p:sp>
        <p:nvSpPr>
          <p:cNvPr id="2252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561764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D060FF-F3FE-4E81-985D-8FA5A938B6FC}" type="slidenum">
              <a:rPr lang="en-US" altLang="zh-CN"/>
              <a:pPr/>
              <a:t>79</a:t>
            </a:fld>
            <a:endParaRPr lang="en-US" altLang="zh-CN"/>
          </a:p>
        </p:txBody>
      </p:sp>
      <p:sp>
        <p:nvSpPr>
          <p:cNvPr id="227330" name="Rectangle 2"/>
          <p:cNvSpPr>
            <a:spLocks noGrp="1" noRot="1" noChangeAspect="1" noChangeArrowheads="1" noTextEdit="1"/>
          </p:cNvSpPr>
          <p:nvPr>
            <p:ph type="sldImg"/>
          </p:nvPr>
        </p:nvSpPr>
        <p:spPr>
          <a:ln/>
        </p:spPr>
      </p:sp>
      <p:sp>
        <p:nvSpPr>
          <p:cNvPr id="2273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1587284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44B809-300C-42C2-A4B2-9954F7D2D6DD}" type="slidenum">
              <a:rPr lang="en-US" altLang="zh-CN"/>
              <a:pPr/>
              <a:t>80</a:t>
            </a:fld>
            <a:endParaRPr lang="en-US" altLang="zh-CN"/>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350156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8E55C5-A547-411D-A50F-EE39EA7C7CFA}" type="slidenum">
              <a:rPr lang="en-US" altLang="zh-CN"/>
              <a:pPr/>
              <a:t>81</a:t>
            </a:fld>
            <a:endParaRPr lang="en-US" altLang="zh-CN"/>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178056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676A37-B3E5-4B1D-A1AD-8BEFCB89A564}" type="slidenum">
              <a:rPr lang="en-US" altLang="zh-CN"/>
              <a:pPr/>
              <a:t>82</a:t>
            </a:fld>
            <a:endParaRPr lang="en-US" altLang="zh-CN"/>
          </a:p>
        </p:txBody>
      </p:sp>
      <p:sp>
        <p:nvSpPr>
          <p:cNvPr id="233474" name="Rectangle 2"/>
          <p:cNvSpPr>
            <a:spLocks noGrp="1" noRot="1" noChangeAspect="1" noChangeArrowheads="1" noTextEdit="1"/>
          </p:cNvSpPr>
          <p:nvPr>
            <p:ph type="sldImg"/>
          </p:nvPr>
        </p:nvSpPr>
        <p:spPr>
          <a:ln/>
        </p:spPr>
      </p:sp>
      <p:sp>
        <p:nvSpPr>
          <p:cNvPr id="2334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177027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66D71B-DFFA-4388-A9B1-36CC73711FB9}" type="slidenum">
              <a:rPr lang="en-US" altLang="zh-CN"/>
              <a:pPr/>
              <a:t>83</a:t>
            </a:fld>
            <a:endParaRPr lang="en-US" altLang="zh-CN"/>
          </a:p>
        </p:txBody>
      </p:sp>
      <p:sp>
        <p:nvSpPr>
          <p:cNvPr id="235522" name="Rectangle 2"/>
          <p:cNvSpPr>
            <a:spLocks noGrp="1" noRot="1" noChangeAspect="1" noChangeArrowheads="1" noTextEdit="1"/>
          </p:cNvSpPr>
          <p:nvPr>
            <p:ph type="sldImg"/>
          </p:nvPr>
        </p:nvSpPr>
        <p:spPr>
          <a:ln/>
        </p:spPr>
      </p:sp>
      <p:sp>
        <p:nvSpPr>
          <p:cNvPr id="2355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012150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836EA1-7FCF-44DC-B3E0-C6E74EFB4A95}" type="slidenum">
              <a:rPr lang="en-US" altLang="zh-CN"/>
              <a:pPr/>
              <a:t>84</a:t>
            </a:fld>
            <a:endParaRPr lang="en-US" altLang="zh-CN"/>
          </a:p>
        </p:txBody>
      </p:sp>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7263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AF4451-AC5C-46D4-AA9F-9C40A2C0083A}" type="slidenum">
              <a:rPr lang="en-US" altLang="zh-CN"/>
              <a:pPr/>
              <a:t>85</a:t>
            </a:fld>
            <a:endParaRPr lang="en-US" altLang="zh-CN"/>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88004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9CA9F9-AF59-4B09-8819-8C5641278EC6}" type="slidenum">
              <a:rPr lang="en-US" altLang="zh-CN"/>
              <a:pPr/>
              <a:t>86</a:t>
            </a:fld>
            <a:endParaRPr lang="en-US" altLang="zh-CN"/>
          </a:p>
        </p:txBody>
      </p:sp>
      <p:sp>
        <p:nvSpPr>
          <p:cNvPr id="241666" name="Rectangle 2"/>
          <p:cNvSpPr>
            <a:spLocks noGrp="1" noRot="1" noChangeAspect="1" noChangeArrowheads="1" noTextEdit="1"/>
          </p:cNvSpPr>
          <p:nvPr>
            <p:ph type="sldImg"/>
          </p:nvPr>
        </p:nvSpPr>
        <p:spPr>
          <a:ln/>
        </p:spPr>
      </p:sp>
      <p:sp>
        <p:nvSpPr>
          <p:cNvPr id="24166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552716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E7CA7D-C3EB-4B3C-8C44-6AF6458EA2BA}" type="slidenum">
              <a:rPr lang="en-US" altLang="zh-CN"/>
              <a:pPr/>
              <a:t>87</a:t>
            </a:fld>
            <a:endParaRPr lang="en-US" altLang="zh-CN"/>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707590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89</a:t>
            </a:fld>
            <a:endParaRPr lang="zh-CN" altLang="en-US"/>
          </a:p>
        </p:txBody>
      </p:sp>
    </p:spTree>
    <p:extLst>
      <p:ext uri="{BB962C8B-B14F-4D97-AF65-F5344CB8AC3E}">
        <p14:creationId xmlns:p14="http://schemas.microsoft.com/office/powerpoint/2010/main" val="4161768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117</a:t>
            </a:fld>
            <a:endParaRPr lang="zh-CN" altLang="en-US"/>
          </a:p>
        </p:txBody>
      </p:sp>
    </p:spTree>
    <p:extLst>
      <p:ext uri="{BB962C8B-B14F-4D97-AF65-F5344CB8AC3E}">
        <p14:creationId xmlns:p14="http://schemas.microsoft.com/office/powerpoint/2010/main" val="510361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浏览器收费</a:t>
            </a:r>
            <a:endParaRPr lang="en-US" altLang="zh-CN" dirty="0"/>
          </a:p>
          <a:p>
            <a:r>
              <a:rPr lang="en-US" altLang="zh-CN" dirty="0"/>
              <a:t>Real：</a:t>
            </a:r>
            <a:r>
              <a:rPr lang="zh-CN" altLang="en-US" dirty="0"/>
              <a:t>网络初期，视频在线播放</a:t>
            </a:r>
            <a:endParaRPr lang="en-US" altLang="zh-CN" dirty="0"/>
          </a:p>
          <a:p>
            <a:r>
              <a:rPr lang="en-US" altLang="zh-CN" dirty="0"/>
              <a:t>IE</a:t>
            </a:r>
            <a:r>
              <a:rPr lang="zh-CN" altLang="en-US" dirty="0"/>
              <a:t>耍流氓</a:t>
            </a:r>
            <a:endParaRPr lang="en-US" altLang="zh-CN" dirty="0"/>
          </a:p>
          <a:p>
            <a:r>
              <a:rPr lang="zh-CN" altLang="en-US" dirty="0"/>
              <a:t>网景</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124</a:t>
            </a:fld>
            <a:endParaRPr lang="zh-CN" altLang="en-US"/>
          </a:p>
        </p:txBody>
      </p:sp>
    </p:spTree>
    <p:extLst>
      <p:ext uri="{BB962C8B-B14F-4D97-AF65-F5344CB8AC3E}">
        <p14:creationId xmlns:p14="http://schemas.microsoft.com/office/powerpoint/2010/main" val="4505990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浏览器收费</a:t>
            </a:r>
            <a:endParaRPr lang="en-US" altLang="zh-CN" dirty="0"/>
          </a:p>
          <a:p>
            <a:r>
              <a:rPr lang="en-US" altLang="zh-CN" dirty="0"/>
              <a:t>Real：</a:t>
            </a:r>
            <a:r>
              <a:rPr lang="zh-CN" altLang="en-US" dirty="0"/>
              <a:t>网络初期，视频在线播放</a:t>
            </a:r>
            <a:endParaRPr lang="en-US" altLang="zh-CN" dirty="0"/>
          </a:p>
          <a:p>
            <a:r>
              <a:rPr lang="en-US" altLang="zh-CN" dirty="0"/>
              <a:t>IE</a:t>
            </a:r>
            <a:r>
              <a:rPr lang="zh-CN" altLang="en-US" dirty="0"/>
              <a:t>耍流氓</a:t>
            </a:r>
            <a:endParaRPr lang="en-US" altLang="zh-CN" dirty="0"/>
          </a:p>
          <a:p>
            <a:r>
              <a:rPr lang="zh-CN" altLang="en-US" dirty="0"/>
              <a:t>网景</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125</a:t>
            </a:fld>
            <a:endParaRPr lang="zh-CN" altLang="en-US"/>
          </a:p>
        </p:txBody>
      </p:sp>
    </p:spTree>
    <p:extLst>
      <p:ext uri="{BB962C8B-B14F-4D97-AF65-F5344CB8AC3E}">
        <p14:creationId xmlns:p14="http://schemas.microsoft.com/office/powerpoint/2010/main" val="554765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CDN</a:t>
            </a:r>
            <a:r>
              <a:rPr lang="zh-CN" altLang="en-US" dirty="0">
                <a:effectLst/>
              </a:rPr>
              <a:t>的全称是</a:t>
            </a:r>
            <a:r>
              <a:rPr lang="en-US" altLang="zh-CN" dirty="0">
                <a:effectLst/>
              </a:rPr>
              <a:t>Content Distribution Network</a:t>
            </a:r>
            <a:r>
              <a:rPr lang="zh-CN" altLang="en-US" dirty="0">
                <a:effectLst/>
              </a:rPr>
              <a:t>，即内容分发网络。其基本思路是尽可能避开互联网上有可能影响数据传输速度和稳定性的瓶颈和环节，使内容传输的更快、更稳定。通过在网络各处放置</a:t>
            </a:r>
            <a:r>
              <a:rPr lang="zh-CN" altLang="en-US" dirty="0">
                <a:effectLst/>
                <a:hlinkClick r:id="rId3" action="ppaction://hlinkfile"/>
              </a:rPr>
              <a:t>节点服务器</a:t>
            </a:r>
            <a:r>
              <a:rPr lang="zh-CN" altLang="en-US" dirty="0">
                <a:effectLst/>
              </a:rPr>
              <a:t>所构成的在现有的互联网基础之上的一层智能</a:t>
            </a:r>
            <a:r>
              <a:rPr lang="zh-CN" altLang="en-US" dirty="0">
                <a:effectLst/>
                <a:hlinkClick r:id="rId4" action="ppaction://hlinkfile"/>
              </a:rPr>
              <a:t>虚拟网络</a:t>
            </a:r>
            <a:r>
              <a:rPr lang="zh-CN" altLang="en-US" dirty="0">
                <a:effectLst/>
              </a:rPr>
              <a:t>，</a:t>
            </a:r>
            <a:r>
              <a:rPr lang="en-US" altLang="zh-CN" dirty="0">
                <a:effectLst/>
              </a:rPr>
              <a:t>CDN</a:t>
            </a:r>
            <a:r>
              <a:rPr lang="zh-CN" altLang="en-US" dirty="0">
                <a:effectLst/>
              </a:rPr>
              <a:t>系统能够实时地根据</a:t>
            </a:r>
            <a:r>
              <a:rPr lang="zh-CN" altLang="en-US" dirty="0">
                <a:effectLst/>
                <a:hlinkClick r:id="rId5" action="ppaction://hlinkfile"/>
              </a:rPr>
              <a:t>网络流量</a:t>
            </a:r>
            <a:r>
              <a:rPr lang="zh-CN" altLang="en-US" dirty="0">
                <a:effectLst/>
              </a:rPr>
              <a:t>和各节点的连接、负载状况以及到用户的距离和响应时间等综合信息将用户的请求重新导向离用户最近的服务节点上。其目的是使用户可就近取得所需内容，解决 </a:t>
            </a:r>
            <a:r>
              <a:rPr lang="en-US" altLang="zh-CN" dirty="0">
                <a:effectLst/>
              </a:rPr>
              <a:t>Internet</a:t>
            </a:r>
            <a:r>
              <a:rPr lang="zh-CN" altLang="en-US" dirty="0">
                <a:effectLst/>
                <a:hlinkClick r:id="rId6" action="ppaction://hlinkfile"/>
              </a:rPr>
              <a:t>网络拥挤</a:t>
            </a:r>
            <a:r>
              <a:rPr lang="zh-CN" altLang="en-US" dirty="0">
                <a:effectLst/>
              </a:rPr>
              <a:t>的状况，提高用户访问网站的响应速度。</a:t>
            </a:r>
          </a:p>
        </p:txBody>
      </p:sp>
      <p:sp>
        <p:nvSpPr>
          <p:cNvPr id="4" name="灯片编号占位符 3"/>
          <p:cNvSpPr>
            <a:spLocks noGrp="1"/>
          </p:cNvSpPr>
          <p:nvPr>
            <p:ph type="sldNum" sz="quarter" idx="10"/>
          </p:nvPr>
        </p:nvSpPr>
        <p:spPr/>
        <p:txBody>
          <a:bodyPr/>
          <a:lstStyle/>
          <a:p>
            <a:fld id="{E98C8160-AD35-4168-B3C8-D42E7DF456DC}" type="slidenum">
              <a:rPr lang="zh-CN" altLang="en-US" smtClean="0"/>
              <a:t>138</a:t>
            </a:fld>
            <a:endParaRPr lang="zh-CN" altLang="en-US"/>
          </a:p>
        </p:txBody>
      </p:sp>
    </p:spTree>
    <p:extLst>
      <p:ext uri="{BB962C8B-B14F-4D97-AF65-F5344CB8AC3E}">
        <p14:creationId xmlns:p14="http://schemas.microsoft.com/office/powerpoint/2010/main" val="36819930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142</a:t>
            </a:fld>
            <a:endParaRPr lang="zh-CN" altLang="en-US"/>
          </a:p>
        </p:txBody>
      </p:sp>
    </p:spTree>
    <p:extLst>
      <p:ext uri="{BB962C8B-B14F-4D97-AF65-F5344CB8AC3E}">
        <p14:creationId xmlns:p14="http://schemas.microsoft.com/office/powerpoint/2010/main" val="596494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我们同样是要发起请求，等待服务器端响应；但是与银行例子不同的是，这次我们点完餐后拿到了一个号码，拿到号码，我们往往会在位置上等待，而在我们后面的请求会继续得到处理，同样是拿了一个号码然后到一旁等待，接待员能一直进行处理。</a:t>
            </a:r>
          </a:p>
          <a:p>
            <a:pPr eaLnBrk="1" hangingPunct="1"/>
            <a:r>
              <a:rPr lang="zh-CN" altLang="en-US" dirty="0"/>
              <a:t>等到饭菜做号了，会喊号码，我们拿到了自己的饭菜，进行后续的处理（吃饭）。这个喊号码的动作在</a:t>
            </a:r>
            <a:r>
              <a:rPr lang="en-US" altLang="zh-CN" dirty="0" err="1"/>
              <a:t>NodeJS</a:t>
            </a:r>
            <a:r>
              <a:rPr lang="zh-CN" altLang="en-US" dirty="0"/>
              <a:t>中叫做回调（</a:t>
            </a:r>
            <a:r>
              <a:rPr lang="en-US" altLang="zh-CN" dirty="0"/>
              <a:t>Callback</a:t>
            </a:r>
            <a:r>
              <a:rPr lang="zh-CN" altLang="en-US" dirty="0"/>
              <a:t>），能在事件（烧菜，</a:t>
            </a:r>
            <a:r>
              <a:rPr lang="en-US" altLang="zh-CN" dirty="0"/>
              <a:t>I/O</a:t>
            </a:r>
            <a:r>
              <a:rPr lang="zh-CN" altLang="en-US" dirty="0"/>
              <a:t>）处理完成后继续执行后面的逻辑（吃饭），这体现了</a:t>
            </a:r>
            <a:r>
              <a:rPr lang="en-US" altLang="zh-CN" dirty="0" err="1"/>
              <a:t>NodeJS</a:t>
            </a:r>
            <a:r>
              <a:rPr lang="zh-CN" altLang="en-US" dirty="0"/>
              <a:t>的显著特点，异步机制、事件驱动整个过程没有阻塞新用户的连接（点餐），也不需要维护已经点餐的用户与厨师的连接。</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158</a:t>
            </a:fld>
            <a:endParaRPr lang="zh-CN" altLang="en-US"/>
          </a:p>
        </p:txBody>
      </p:sp>
    </p:spTree>
    <p:extLst>
      <p:ext uri="{BB962C8B-B14F-4D97-AF65-F5344CB8AC3E}">
        <p14:creationId xmlns:p14="http://schemas.microsoft.com/office/powerpoint/2010/main" val="1498362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 串行获取数据，这是我们一般的解决方案，以</a:t>
            </a:r>
            <a:r>
              <a:rPr lang="en-US" altLang="zh-CN" dirty="0"/>
              <a:t>PHP</a:t>
            </a:r>
            <a:r>
              <a:rPr lang="zh-CN" altLang="en-US" dirty="0"/>
              <a:t>为例</a:t>
            </a:r>
          </a:p>
          <a:p>
            <a:pPr eaLnBrk="1" hangingPunct="1"/>
            <a:r>
              <a:rPr lang="zh-CN" altLang="en-US" dirty="0"/>
              <a:t>假如获取</a:t>
            </a:r>
            <a:r>
              <a:rPr lang="en-US" altLang="zh-CN" dirty="0"/>
              <a:t>profile</a:t>
            </a:r>
            <a:r>
              <a:rPr lang="zh-CN" altLang="en-US" dirty="0"/>
              <a:t>和</a:t>
            </a:r>
            <a:r>
              <a:rPr lang="en-US" altLang="zh-CN" dirty="0"/>
              <a:t>timeline</a:t>
            </a:r>
            <a:r>
              <a:rPr lang="zh-CN" altLang="en-US" dirty="0"/>
              <a:t>操作各需要</a:t>
            </a:r>
            <a:r>
              <a:rPr lang="en-US" altLang="zh-CN" dirty="0"/>
              <a:t>1S</a:t>
            </a:r>
            <a:r>
              <a:rPr lang="zh-CN" altLang="en-US" dirty="0"/>
              <a:t>，那么串行获取就需要</a:t>
            </a:r>
            <a:r>
              <a:rPr lang="en-US" altLang="zh-CN" dirty="0"/>
              <a:t>2S</a:t>
            </a:r>
            <a:r>
              <a:rPr lang="zh-CN" altLang="en-US" dirty="0"/>
              <a:t>。</a:t>
            </a:r>
          </a:p>
        </p:txBody>
      </p:sp>
      <p:sp>
        <p:nvSpPr>
          <p:cNvPr id="4" name="灯片编号占位符 3"/>
          <p:cNvSpPr>
            <a:spLocks noGrp="1"/>
          </p:cNvSpPr>
          <p:nvPr>
            <p:ph type="sldNum" sz="quarter" idx="10"/>
          </p:nvPr>
        </p:nvSpPr>
        <p:spPr/>
        <p:txBody>
          <a:bodyPr/>
          <a:lstStyle/>
          <a:p>
            <a:fld id="{DBD2DC40-3959-47C6-9593-54FC440C069A}" type="slidenum">
              <a:rPr lang="zh-CN" altLang="en-US" smtClean="0"/>
              <a:t>159</a:t>
            </a:fld>
            <a:endParaRPr lang="zh-CN" altLang="en-US"/>
          </a:p>
        </p:txBody>
      </p:sp>
    </p:spTree>
    <p:extLst>
      <p:ext uri="{BB962C8B-B14F-4D97-AF65-F5344CB8AC3E}">
        <p14:creationId xmlns:p14="http://schemas.microsoft.com/office/powerpoint/2010/main" val="18684714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p>
          <a:p>
            <a:pPr eaLnBrk="1" hangingPunct="1"/>
            <a:r>
              <a:rPr lang="en-US" altLang="zh-CN" dirty="0"/>
              <a:t>NodeJS</a:t>
            </a:r>
            <a:r>
              <a:rPr lang="zh-CN" altLang="en-US" dirty="0"/>
              <a:t>遇到</a:t>
            </a:r>
            <a:r>
              <a:rPr lang="en-US" altLang="zh-CN" dirty="0"/>
              <a:t>I/O</a:t>
            </a:r>
            <a:r>
              <a:rPr lang="zh-CN" altLang="en-US" dirty="0"/>
              <a:t>事件会创建一个线程去执行，然后主线程会继续往下执行的，因此，拿</a:t>
            </a:r>
            <a:r>
              <a:rPr lang="en-US" altLang="zh-CN" dirty="0"/>
              <a:t>profile</a:t>
            </a:r>
            <a:r>
              <a:rPr lang="zh-CN" altLang="en-US" dirty="0"/>
              <a:t>的动作触发一个</a:t>
            </a:r>
            <a:r>
              <a:rPr lang="en-US" altLang="zh-CN" dirty="0"/>
              <a:t>I/O</a:t>
            </a:r>
            <a:r>
              <a:rPr lang="zh-CN" altLang="en-US" dirty="0"/>
              <a:t>事件，马上就会执行拿</a:t>
            </a:r>
            <a:r>
              <a:rPr lang="en-US" altLang="zh-CN" dirty="0"/>
              <a:t>timeline</a:t>
            </a:r>
            <a:r>
              <a:rPr lang="zh-CN" altLang="en-US" dirty="0"/>
              <a:t>的动作，两个动作并行执行，假如各需要</a:t>
            </a:r>
            <a:r>
              <a:rPr lang="en-US" altLang="zh-CN" dirty="0"/>
              <a:t>1S</a:t>
            </a:r>
            <a:r>
              <a:rPr lang="zh-CN" altLang="en-US" dirty="0"/>
              <a:t>，那么总的时间也就是</a:t>
            </a:r>
            <a:r>
              <a:rPr lang="en-US" altLang="zh-CN" dirty="0"/>
              <a:t>1S</a:t>
            </a:r>
            <a:r>
              <a:rPr lang="zh-CN" altLang="en-US" dirty="0"/>
              <a:t>。它们的</a:t>
            </a:r>
            <a:r>
              <a:rPr lang="en-US" altLang="zh-CN" dirty="0"/>
              <a:t>I/O</a:t>
            </a:r>
            <a:r>
              <a:rPr lang="zh-CN" altLang="en-US" dirty="0"/>
              <a:t>操作执行完成后，发射一个事件，</a:t>
            </a:r>
            <a:r>
              <a:rPr lang="en-US" altLang="zh-CN" dirty="0"/>
              <a:t>profile</a:t>
            </a:r>
            <a:r>
              <a:rPr lang="zh-CN" altLang="en-US" dirty="0"/>
              <a:t>和</a:t>
            </a:r>
            <a:r>
              <a:rPr lang="en-US" altLang="zh-CN" dirty="0"/>
              <a:t>timeline</a:t>
            </a:r>
            <a:r>
              <a:rPr lang="zh-CN" altLang="en-US" dirty="0"/>
              <a:t>，事件代理接收后继续往下执行后面的逻辑，这就是</a:t>
            </a:r>
            <a:r>
              <a:rPr lang="en-US" altLang="zh-CN" dirty="0"/>
              <a:t>NodeJS</a:t>
            </a:r>
            <a:r>
              <a:rPr lang="zh-CN" altLang="en-US" dirty="0"/>
              <a:t>非阻塞</a:t>
            </a:r>
            <a:r>
              <a:rPr lang="en-US" altLang="zh-CN" dirty="0"/>
              <a:t>I/O</a:t>
            </a:r>
            <a:r>
              <a:rPr lang="zh-CN" altLang="en-US" dirty="0"/>
              <a:t>的特点。</a:t>
            </a:r>
          </a:p>
          <a:p>
            <a:endParaRPr lang="zh-CN" altLang="en-US" dirty="0"/>
          </a:p>
        </p:txBody>
      </p:sp>
      <p:sp>
        <p:nvSpPr>
          <p:cNvPr id="4" name="灯片编号占位符 3"/>
          <p:cNvSpPr>
            <a:spLocks noGrp="1"/>
          </p:cNvSpPr>
          <p:nvPr>
            <p:ph type="sldNum" sz="quarter" idx="10"/>
          </p:nvPr>
        </p:nvSpPr>
        <p:spPr/>
        <p:txBody>
          <a:bodyPr/>
          <a:lstStyle/>
          <a:p>
            <a:fld id="{DBD2DC40-3959-47C6-9593-54FC440C069A}" type="slidenum">
              <a:rPr lang="zh-CN" altLang="en-US" smtClean="0"/>
              <a:t>160</a:t>
            </a:fld>
            <a:endParaRPr lang="zh-CN" altLang="en-US"/>
          </a:p>
        </p:txBody>
      </p:sp>
    </p:spTree>
    <p:extLst>
      <p:ext uri="{BB962C8B-B14F-4D97-AF65-F5344CB8AC3E}">
        <p14:creationId xmlns:p14="http://schemas.microsoft.com/office/powerpoint/2010/main" val="214262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000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rot="16200000" flipV="1">
            <a:off x="4662486" y="-3503613"/>
            <a:ext cx="69851" cy="8893175"/>
          </a:xfrm>
          <a:prstGeom prst="rect">
            <a:avLst/>
          </a:prstGeom>
          <a:gradFill rotWithShape="1">
            <a:gsLst>
              <a:gs pos="0">
                <a:schemeClr val="bg1">
                  <a:lumMod val="91000"/>
                  <a:alpha val="74000"/>
                </a:schemeClr>
              </a:gs>
              <a:gs pos="100000">
                <a:srgbClr val="0099CC"/>
              </a:gs>
            </a:gsLst>
            <a:lin ang="5400000" scaled="1"/>
          </a:gradFill>
          <a:ln>
            <a:noFill/>
          </a:ln>
        </p:spPr>
        <p:txBody>
          <a:bodyPr wrap="none" anchor="ctr"/>
          <a:lstStyle/>
          <a:p>
            <a:endParaRPr lang="zh-CN" altLang="zh-CN"/>
          </a:p>
        </p:txBody>
      </p:sp>
      <p:sp>
        <p:nvSpPr>
          <p:cNvPr id="8" name="Line 8"/>
          <p:cNvSpPr>
            <a:spLocks noChangeShapeType="1"/>
          </p:cNvSpPr>
          <p:nvPr userDrawn="1"/>
        </p:nvSpPr>
        <p:spPr bwMode="auto">
          <a:xfrm>
            <a:off x="0" y="6357938"/>
            <a:ext cx="9144000" cy="0"/>
          </a:xfrm>
          <a:prstGeom prst="line">
            <a:avLst/>
          </a:prstGeom>
          <a:noFill/>
          <a:ln w="19050">
            <a:solidFill>
              <a:srgbClr val="0099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 name="图片 8"/>
          <p:cNvPicPr>
            <a:picLocks noChangeAspect="1"/>
          </p:cNvPicPr>
          <p:nvPr userDrawn="1"/>
        </p:nvPicPr>
        <p:blipFill rotWithShape="1">
          <a:blip r:embed="rId2" cstate="print">
            <a:clrChange>
              <a:clrFrom>
                <a:srgbClr val="F0F0F0"/>
              </a:clrFrom>
              <a:clrTo>
                <a:srgbClr val="F0F0F0">
                  <a:alpha val="0"/>
                </a:srgbClr>
              </a:clrTo>
            </a:clrChange>
            <a:extLst>
              <a:ext uri="{28A0092B-C50C-407E-A947-70E740481C1C}">
                <a14:useLocalDpi xmlns:a14="http://schemas.microsoft.com/office/drawing/2010/main" val="0"/>
              </a:ext>
            </a:extLst>
          </a:blip>
          <a:srcRect/>
          <a:stretch/>
        </p:blipFill>
        <p:spPr>
          <a:xfrm>
            <a:off x="7487816" y="6364645"/>
            <a:ext cx="1656184" cy="520739"/>
          </a:xfrm>
          <a:prstGeom prst="rect">
            <a:avLst/>
          </a:prstGeom>
        </p:spPr>
      </p:pic>
      <p:sp>
        <p:nvSpPr>
          <p:cNvPr id="12" name="文本占位符 2"/>
          <p:cNvSpPr>
            <a:spLocks noGrp="1"/>
          </p:cNvSpPr>
          <p:nvPr>
            <p:ph idx="1"/>
          </p:nvPr>
        </p:nvSpPr>
        <p:spPr>
          <a:xfrm>
            <a:off x="255015" y="1196752"/>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标题占位符 1"/>
          <p:cNvSpPr>
            <a:spLocks noGrp="1"/>
          </p:cNvSpPr>
          <p:nvPr>
            <p:ph type="title"/>
          </p:nvPr>
        </p:nvSpPr>
        <p:spPr>
          <a:xfrm>
            <a:off x="250824" y="204785"/>
            <a:ext cx="8229600" cy="703263"/>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9606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491006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844399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643950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358556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176876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6262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42777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54089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52490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3A8815D7-9B1B-40A7-B662-1633FA5EF7F7}" type="slidenum">
              <a:rPr lang="zh-CN" altLang="en-US"/>
              <a:pPr/>
              <a:t>‹#›</a:t>
            </a:fld>
            <a:endParaRPr lang="zh-CN" altLang="en-US"/>
          </a:p>
        </p:txBody>
      </p:sp>
    </p:spTree>
    <p:extLst>
      <p:ext uri="{BB962C8B-B14F-4D97-AF65-F5344CB8AC3E}">
        <p14:creationId xmlns:p14="http://schemas.microsoft.com/office/powerpoint/2010/main" val="421214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02755CB4-C08B-497F-AD73-FDB700CC13AB}" type="datetime2">
              <a:rPr lang="zh-CN" altLang="en-US"/>
              <a:pPr>
                <a:defRPr/>
              </a:pPr>
              <a:t>2025年6月18日 Wednesday</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zh-CN" altLang="en-US"/>
              <a:t>第</a:t>
            </a:r>
            <a:r>
              <a:rPr lang="en-US" altLang="zh-CN"/>
              <a:t>4</a:t>
            </a:r>
            <a:r>
              <a:rPr lang="zh-CN" altLang="en-US"/>
              <a:t>章 彩色数字图像基础</a:t>
            </a:r>
          </a:p>
        </p:txBody>
      </p:sp>
      <p:sp>
        <p:nvSpPr>
          <p:cNvPr id="7" name="Rectangle 13"/>
          <p:cNvSpPr>
            <a:spLocks noGrp="1" noChangeArrowheads="1"/>
          </p:cNvSpPr>
          <p:nvPr>
            <p:ph type="sldNum" sz="quarter" idx="12"/>
          </p:nvPr>
        </p:nvSpPr>
        <p:spPr>
          <a:ln/>
        </p:spPr>
        <p:txBody>
          <a:bodyPr/>
          <a:lstStyle>
            <a:lvl1pPr>
              <a:defRPr/>
            </a:lvl1pPr>
          </a:lstStyle>
          <a:p>
            <a:pPr>
              <a:defRPr/>
            </a:pPr>
            <a:fld id="{BAA072B4-608F-4AF7-AD44-B5B6A1ABDE76}" type="slidenum">
              <a:rPr lang="en-US" altLang="zh-CN"/>
              <a:pPr>
                <a:defRPr/>
              </a:pPr>
              <a:t>‹#›</a:t>
            </a:fld>
            <a:r>
              <a:rPr lang="en-US" altLang="zh-CN"/>
              <a:t>/47 </a:t>
            </a:r>
          </a:p>
        </p:txBody>
      </p:sp>
    </p:spTree>
    <p:extLst>
      <p:ext uri="{BB962C8B-B14F-4D97-AF65-F5344CB8AC3E}">
        <p14:creationId xmlns:p14="http://schemas.microsoft.com/office/powerpoint/2010/main" val="1197731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7772400" cy="2455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3675063"/>
            <a:ext cx="7772400" cy="2457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D432D8FA-2552-48B4-B7DE-50149EC83665}" type="datetime2">
              <a:rPr lang="zh-CN" altLang="en-US"/>
              <a:pPr>
                <a:defRPr/>
              </a:pPr>
              <a:t>2025年6月18日 Wednesday</a:t>
            </a:fld>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r>
              <a:rPr lang="zh-CN" altLang="en-US"/>
              <a:t>第</a:t>
            </a:r>
            <a:r>
              <a:rPr lang="en-US" altLang="zh-CN"/>
              <a:t>4</a:t>
            </a:r>
            <a:r>
              <a:rPr lang="zh-CN" altLang="en-US"/>
              <a:t>章 彩色数字图像基础</a:t>
            </a:r>
          </a:p>
        </p:txBody>
      </p:sp>
      <p:sp>
        <p:nvSpPr>
          <p:cNvPr id="7" name="Rectangle 13"/>
          <p:cNvSpPr>
            <a:spLocks noGrp="1" noChangeArrowheads="1"/>
          </p:cNvSpPr>
          <p:nvPr>
            <p:ph type="sldNum" sz="quarter" idx="12"/>
          </p:nvPr>
        </p:nvSpPr>
        <p:spPr>
          <a:ln/>
        </p:spPr>
        <p:txBody>
          <a:bodyPr/>
          <a:lstStyle>
            <a:lvl1pPr>
              <a:defRPr/>
            </a:lvl1pPr>
          </a:lstStyle>
          <a:p>
            <a:pPr>
              <a:defRPr/>
            </a:pPr>
            <a:fld id="{C0541810-B9F3-4006-B9A7-CD6B20166980}" type="slidenum">
              <a:rPr lang="en-US" altLang="zh-CN"/>
              <a:pPr>
                <a:defRPr/>
              </a:pPr>
              <a:t>‹#›</a:t>
            </a:fld>
            <a:r>
              <a:rPr lang="en-US" altLang="zh-CN"/>
              <a:t>/47 </a:t>
            </a:r>
          </a:p>
        </p:txBody>
      </p:sp>
    </p:spTree>
    <p:extLst>
      <p:ext uri="{BB962C8B-B14F-4D97-AF65-F5344CB8AC3E}">
        <p14:creationId xmlns:p14="http://schemas.microsoft.com/office/powerpoint/2010/main" val="321785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094195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www.hfut.edu.cn/"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en.wikipedia.org/wiki/Domain_Name_Syste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hyperlink" Target="https://www.test-ipv6.com/index.html.zh_CN" TargetMode="Externa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hyperlink" Target="http://zh.wikipedia.org/wiki/%E4%BA%92%E8%81%AF%E7%B6%B2" TargetMode="External"/><Relationship Id="rId2" Type="http://schemas.openxmlformats.org/officeDocument/2006/relationships/image" Target="../media/image55.gif"/><Relationship Id="rId1" Type="http://schemas.openxmlformats.org/officeDocument/2006/relationships/slideLayout" Target="../slideLayouts/slideLayout2.xml"/><Relationship Id="rId4" Type="http://schemas.openxmlformats.org/officeDocument/2006/relationships/hyperlink" Target="http://zh.wikipedia.org/wiki/%E7%94%B5%E8%AF%9D"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hyperlink" Target="http://baike.baidu.com/view/3787429.ht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baike.baidu.com/view/2774663.htm" TargetMode="External"/><Relationship Id="rId4" Type="http://schemas.openxmlformats.org/officeDocument/2006/relationships/hyperlink" Target="http://baike.baidu.com/view/747782.htm" TargetMode="External"/></Relationships>
</file>

<file path=ppt/slides/_rels/slide1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hyperlink" Target="http://www.163.lxdns/" TargetMode="External"/><Relationship Id="rId2" Type="http://schemas.openxmlformats.org/officeDocument/2006/relationships/hyperlink" Target="http://www.163.lxdns.com/" TargetMode="Externa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hyperlink" Target="http://36kr.com/p/209357.html?page=1" TargetMode="External"/><Relationship Id="rId2" Type="http://schemas.openxmlformats.org/officeDocument/2006/relationships/hyperlink" Target="https://www.v2ex.com/t/121272#reply48" TargetMode="Externa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51520" y="116632"/>
            <a:ext cx="5364088"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dirty="0"/>
              <a:t>教学内容</a:t>
            </a:r>
          </a:p>
        </p:txBody>
      </p:sp>
      <p:sp>
        <p:nvSpPr>
          <p:cNvPr id="3" name="矩形 2"/>
          <p:cNvSpPr/>
          <p:nvPr/>
        </p:nvSpPr>
        <p:spPr>
          <a:xfrm>
            <a:off x="614378" y="1439198"/>
            <a:ext cx="7558022" cy="584775"/>
          </a:xfrm>
          <a:prstGeom prst="rect">
            <a:avLst/>
          </a:prstGeom>
        </p:spPr>
        <p:txBody>
          <a:bodyPr wrap="square">
            <a:spAutoFit/>
          </a:bodyPr>
          <a:lstStyle/>
          <a:p>
            <a:pPr marL="457200" indent="-457200">
              <a:buFont typeface="Arial" pitchFamily="34" charset="0"/>
              <a:buChar char="•"/>
            </a:pPr>
            <a:r>
              <a:rPr lang="zh-CN" altLang="zh-CN" sz="3200" dirty="0"/>
              <a:t>第一单元</a:t>
            </a:r>
            <a:r>
              <a:rPr lang="zh-CN" altLang="en-US" sz="3200" dirty="0"/>
              <a:t>：</a:t>
            </a:r>
            <a:r>
              <a:rPr lang="zh-CN" altLang="zh-CN" sz="3200" dirty="0"/>
              <a:t> 多媒体技术概述</a:t>
            </a:r>
            <a:endParaRPr lang="zh-CN" altLang="en-US" sz="3200" dirty="0"/>
          </a:p>
        </p:txBody>
      </p:sp>
      <p:sp>
        <p:nvSpPr>
          <p:cNvPr id="4" name="矩形 3"/>
          <p:cNvSpPr/>
          <p:nvPr/>
        </p:nvSpPr>
        <p:spPr>
          <a:xfrm>
            <a:off x="614377" y="2195282"/>
            <a:ext cx="7039999" cy="584775"/>
          </a:xfrm>
          <a:prstGeom prst="rect">
            <a:avLst/>
          </a:prstGeom>
        </p:spPr>
        <p:txBody>
          <a:bodyPr wrap="square">
            <a:spAutoFit/>
          </a:bodyPr>
          <a:lstStyle/>
          <a:p>
            <a:pPr marL="457200" indent="-457200">
              <a:buFont typeface="Arial" pitchFamily="34" charset="0"/>
              <a:buChar char="•"/>
            </a:pPr>
            <a:r>
              <a:rPr lang="zh-CN" altLang="zh-CN" sz="3200" dirty="0"/>
              <a:t>第二单元：多媒体数据</a:t>
            </a:r>
            <a:r>
              <a:rPr lang="zh-CN" altLang="en-US" sz="3200" dirty="0"/>
              <a:t>存储</a:t>
            </a:r>
            <a:r>
              <a:rPr lang="zh-CN" altLang="zh-CN" sz="3200" dirty="0"/>
              <a:t>技术</a:t>
            </a:r>
            <a:endParaRPr lang="zh-CN" altLang="en-US" sz="3200" dirty="0"/>
          </a:p>
        </p:txBody>
      </p:sp>
      <p:sp>
        <p:nvSpPr>
          <p:cNvPr id="5" name="矩形 4"/>
          <p:cNvSpPr/>
          <p:nvPr/>
        </p:nvSpPr>
        <p:spPr>
          <a:xfrm>
            <a:off x="614378" y="2951366"/>
            <a:ext cx="6594429" cy="584775"/>
          </a:xfrm>
          <a:prstGeom prst="rect">
            <a:avLst/>
          </a:prstGeom>
        </p:spPr>
        <p:txBody>
          <a:bodyPr wrap="square">
            <a:spAutoFit/>
          </a:bodyPr>
          <a:lstStyle/>
          <a:p>
            <a:pPr marL="457200" indent="-457200">
              <a:buFont typeface="Arial" pitchFamily="34" charset="0"/>
              <a:buChar char="•"/>
            </a:pPr>
            <a:r>
              <a:rPr lang="zh-CN" altLang="zh-CN" sz="3200" b="1" dirty="0">
                <a:solidFill>
                  <a:srgbClr val="0000FF"/>
                </a:solidFill>
              </a:rPr>
              <a:t>第三单元：多媒体通信与网络</a:t>
            </a:r>
            <a:endParaRPr lang="zh-CN" altLang="en-US" sz="3200" b="1" dirty="0">
              <a:solidFill>
                <a:srgbClr val="0000FF"/>
              </a:solidFill>
            </a:endParaRPr>
          </a:p>
        </p:txBody>
      </p:sp>
      <p:sp>
        <p:nvSpPr>
          <p:cNvPr id="6" name="矩形 5"/>
          <p:cNvSpPr/>
          <p:nvPr/>
        </p:nvSpPr>
        <p:spPr>
          <a:xfrm>
            <a:off x="614378" y="3707450"/>
            <a:ext cx="6148861" cy="584775"/>
          </a:xfrm>
          <a:prstGeom prst="rect">
            <a:avLst/>
          </a:prstGeom>
        </p:spPr>
        <p:txBody>
          <a:bodyPr wrap="square">
            <a:spAutoFit/>
          </a:bodyPr>
          <a:lstStyle/>
          <a:p>
            <a:pPr marL="457200" indent="-457200">
              <a:buFont typeface="Arial" pitchFamily="34" charset="0"/>
              <a:buChar char="•"/>
            </a:pPr>
            <a:r>
              <a:rPr lang="zh-CN" altLang="zh-CN" sz="3200" dirty="0"/>
              <a:t>第四单元：多媒体数据检索</a:t>
            </a:r>
            <a:endParaRPr lang="zh-CN" altLang="en-US" sz="3200" dirty="0"/>
          </a:p>
        </p:txBody>
      </p:sp>
      <p:sp>
        <p:nvSpPr>
          <p:cNvPr id="7" name="矩形 6"/>
          <p:cNvSpPr/>
          <p:nvPr/>
        </p:nvSpPr>
        <p:spPr>
          <a:xfrm>
            <a:off x="614378" y="4463534"/>
            <a:ext cx="6594429" cy="584775"/>
          </a:xfrm>
          <a:prstGeom prst="rect">
            <a:avLst/>
          </a:prstGeom>
        </p:spPr>
        <p:txBody>
          <a:bodyPr wrap="square">
            <a:spAutoFit/>
          </a:bodyPr>
          <a:lstStyle/>
          <a:p>
            <a:pPr marL="457200" indent="-457200">
              <a:buFont typeface="Arial" pitchFamily="34" charset="0"/>
              <a:buChar char="•"/>
            </a:pPr>
            <a:r>
              <a:rPr lang="zh-CN" altLang="zh-CN" sz="3200" dirty="0"/>
              <a:t>第五单元：多媒体新技术展望</a:t>
            </a:r>
            <a:endParaRPr lang="zh-CN" altLang="en-US" sz="3200" dirty="0"/>
          </a:p>
        </p:txBody>
      </p:sp>
    </p:spTree>
    <p:extLst>
      <p:ext uri="{BB962C8B-B14F-4D97-AF65-F5344CB8AC3E}">
        <p14:creationId xmlns:p14="http://schemas.microsoft.com/office/powerpoint/2010/main" val="265533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rotWithShape="1">
          <a:blip r:embed="rId2">
            <a:extLst>
              <a:ext uri="{28A0092B-C50C-407E-A947-70E740481C1C}">
                <a14:useLocalDpi xmlns:a14="http://schemas.microsoft.com/office/drawing/2010/main" val="0"/>
              </a:ext>
            </a:extLst>
          </a:blip>
          <a:srcRect t="11136" b="4541"/>
          <a:stretch/>
        </p:blipFill>
        <p:spPr>
          <a:xfrm>
            <a:off x="1455037" y="1700808"/>
            <a:ext cx="5821174" cy="3816424"/>
          </a:xfrm>
        </p:spPr>
      </p:pic>
      <p:sp>
        <p:nvSpPr>
          <p:cNvPr id="3" name="标题 2"/>
          <p:cNvSpPr>
            <a:spLocks noGrp="1"/>
          </p:cNvSpPr>
          <p:nvPr>
            <p:ph type="title"/>
          </p:nvPr>
        </p:nvSpPr>
        <p:spPr/>
        <p:txBody>
          <a:bodyPr>
            <a:normAutofit fontScale="90000"/>
          </a:bodyPr>
          <a:lstStyle/>
          <a:p>
            <a:endParaRPr lang="zh-CN" altLang="en-US"/>
          </a:p>
        </p:txBody>
      </p:sp>
      <p:grpSp>
        <p:nvGrpSpPr>
          <p:cNvPr id="19" name="组合 18"/>
          <p:cNvGrpSpPr/>
          <p:nvPr/>
        </p:nvGrpSpPr>
        <p:grpSpPr>
          <a:xfrm>
            <a:off x="3347864" y="4797152"/>
            <a:ext cx="1152128" cy="957106"/>
            <a:chOff x="3347864" y="4797152"/>
            <a:chExt cx="1152128" cy="957106"/>
          </a:xfrm>
        </p:grpSpPr>
        <p:cxnSp>
          <p:nvCxnSpPr>
            <p:cNvPr id="5" name="直接箭头连接符 4"/>
            <p:cNvCxnSpPr/>
            <p:nvPr/>
          </p:nvCxnSpPr>
          <p:spPr>
            <a:xfrm flipV="1">
              <a:off x="3707904" y="4797152"/>
              <a:ext cx="216024" cy="648072"/>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347864" y="5384926"/>
              <a:ext cx="1152128" cy="369332"/>
            </a:xfrm>
            <a:prstGeom prst="rect">
              <a:avLst/>
            </a:prstGeom>
            <a:noFill/>
          </p:spPr>
          <p:txBody>
            <a:bodyPr wrap="square" rtlCol="0">
              <a:spAutoFit/>
            </a:bodyPr>
            <a:lstStyle/>
            <a:p>
              <a:r>
                <a:rPr lang="zh-CN" altLang="en-US" dirty="0"/>
                <a:t>数据采集</a:t>
              </a:r>
            </a:p>
          </p:txBody>
        </p:sp>
      </p:grpSp>
      <p:grpSp>
        <p:nvGrpSpPr>
          <p:cNvPr id="20" name="组合 19"/>
          <p:cNvGrpSpPr/>
          <p:nvPr/>
        </p:nvGrpSpPr>
        <p:grpSpPr>
          <a:xfrm>
            <a:off x="5076056" y="2668980"/>
            <a:ext cx="2425764" cy="688012"/>
            <a:chOff x="5076056" y="2668980"/>
            <a:chExt cx="2425764" cy="688012"/>
          </a:xfrm>
        </p:grpSpPr>
        <p:cxnSp>
          <p:nvCxnSpPr>
            <p:cNvPr id="9" name="直接箭头连接符 8"/>
            <p:cNvCxnSpPr/>
            <p:nvPr/>
          </p:nvCxnSpPr>
          <p:spPr>
            <a:xfrm flipH="1">
              <a:off x="5076056" y="2913234"/>
              <a:ext cx="576064" cy="443758"/>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629612" y="2668980"/>
              <a:ext cx="1872208" cy="369332"/>
            </a:xfrm>
            <a:prstGeom prst="rect">
              <a:avLst/>
            </a:prstGeom>
            <a:noFill/>
          </p:spPr>
          <p:txBody>
            <a:bodyPr wrap="square" rtlCol="0">
              <a:spAutoFit/>
            </a:bodyPr>
            <a:lstStyle/>
            <a:p>
              <a:r>
                <a:rPr lang="zh-CN" altLang="en-US" dirty="0"/>
                <a:t>数据存储与压缩</a:t>
              </a:r>
            </a:p>
          </p:txBody>
        </p:sp>
      </p:grpSp>
      <p:grpSp>
        <p:nvGrpSpPr>
          <p:cNvPr id="17" name="组合 16"/>
          <p:cNvGrpSpPr/>
          <p:nvPr/>
        </p:nvGrpSpPr>
        <p:grpSpPr>
          <a:xfrm>
            <a:off x="1596460" y="2327878"/>
            <a:ext cx="1293551" cy="807235"/>
            <a:chOff x="1596460" y="2327878"/>
            <a:chExt cx="1293551" cy="807235"/>
          </a:xfrm>
        </p:grpSpPr>
        <p:cxnSp>
          <p:nvCxnSpPr>
            <p:cNvPr id="12" name="直接箭头连接符 11"/>
            <p:cNvCxnSpPr/>
            <p:nvPr/>
          </p:nvCxnSpPr>
          <p:spPr>
            <a:xfrm>
              <a:off x="2532564" y="2697210"/>
              <a:ext cx="357447" cy="437903"/>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596460" y="2327878"/>
              <a:ext cx="1152128" cy="369332"/>
            </a:xfrm>
            <a:prstGeom prst="rect">
              <a:avLst/>
            </a:prstGeom>
            <a:noFill/>
          </p:spPr>
          <p:txBody>
            <a:bodyPr wrap="square" rtlCol="0">
              <a:spAutoFit/>
            </a:bodyPr>
            <a:lstStyle/>
            <a:p>
              <a:r>
                <a:rPr lang="zh-CN" altLang="en-US" dirty="0"/>
                <a:t>数据管理</a:t>
              </a:r>
            </a:p>
          </p:txBody>
        </p:sp>
      </p:grpSp>
      <p:grpSp>
        <p:nvGrpSpPr>
          <p:cNvPr id="18" name="组合 17"/>
          <p:cNvGrpSpPr/>
          <p:nvPr/>
        </p:nvGrpSpPr>
        <p:grpSpPr>
          <a:xfrm>
            <a:off x="1612087" y="4300525"/>
            <a:ext cx="1152128" cy="957106"/>
            <a:chOff x="1612087" y="4300525"/>
            <a:chExt cx="1152128" cy="957106"/>
          </a:xfrm>
        </p:grpSpPr>
        <p:cxnSp>
          <p:nvCxnSpPr>
            <p:cNvPr id="15" name="直接箭头连接符 14"/>
            <p:cNvCxnSpPr/>
            <p:nvPr/>
          </p:nvCxnSpPr>
          <p:spPr>
            <a:xfrm flipV="1">
              <a:off x="1972127" y="4300525"/>
              <a:ext cx="216024" cy="648072"/>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612087" y="4888299"/>
              <a:ext cx="1152128" cy="369332"/>
            </a:xfrm>
            <a:prstGeom prst="rect">
              <a:avLst/>
            </a:prstGeom>
            <a:noFill/>
          </p:spPr>
          <p:txBody>
            <a:bodyPr wrap="square" rtlCol="0">
              <a:spAutoFit/>
            </a:bodyPr>
            <a:lstStyle/>
            <a:p>
              <a:r>
                <a:rPr lang="zh-CN" altLang="en-US" dirty="0"/>
                <a:t>数据传输</a:t>
              </a:r>
            </a:p>
          </p:txBody>
        </p:sp>
      </p:grpSp>
    </p:spTree>
    <p:extLst>
      <p:ext uri="{BB962C8B-B14F-4D97-AF65-F5344CB8AC3E}">
        <p14:creationId xmlns:p14="http://schemas.microsoft.com/office/powerpoint/2010/main" val="279919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endParaRPr lang="zh-CN" altLang="en-US" dirty="0"/>
          </a:p>
        </p:txBody>
      </p:sp>
      <p:pic>
        <p:nvPicPr>
          <p:cNvPr id="4" name="图片 3"/>
          <p:cNvPicPr>
            <a:picLocks noChangeAspect="1"/>
          </p:cNvPicPr>
          <p:nvPr/>
        </p:nvPicPr>
        <p:blipFill>
          <a:blip r:embed="rId2"/>
          <a:stretch>
            <a:fillRect/>
          </a:stretch>
        </p:blipFill>
        <p:spPr>
          <a:xfrm>
            <a:off x="2123728" y="1052736"/>
            <a:ext cx="4464496" cy="3134944"/>
          </a:xfrm>
          <a:prstGeom prst="rect">
            <a:avLst/>
          </a:prstGeom>
        </p:spPr>
      </p:pic>
      <p:pic>
        <p:nvPicPr>
          <p:cNvPr id="5" name="图片 4"/>
          <p:cNvPicPr>
            <a:picLocks noChangeAspect="1"/>
          </p:cNvPicPr>
          <p:nvPr/>
        </p:nvPicPr>
        <p:blipFill>
          <a:blip r:embed="rId3"/>
          <a:stretch>
            <a:fillRect/>
          </a:stretch>
        </p:blipFill>
        <p:spPr>
          <a:xfrm>
            <a:off x="251520" y="4221088"/>
            <a:ext cx="4371407" cy="2016224"/>
          </a:xfrm>
          <a:prstGeom prst="rect">
            <a:avLst/>
          </a:prstGeom>
        </p:spPr>
      </p:pic>
      <p:pic>
        <p:nvPicPr>
          <p:cNvPr id="6" name="图片 5"/>
          <p:cNvPicPr>
            <a:picLocks noChangeAspect="1"/>
          </p:cNvPicPr>
          <p:nvPr/>
        </p:nvPicPr>
        <p:blipFill>
          <a:blip r:embed="rId4"/>
          <a:stretch>
            <a:fillRect/>
          </a:stretch>
        </p:blipFill>
        <p:spPr>
          <a:xfrm>
            <a:off x="4788024" y="4293096"/>
            <a:ext cx="4091897" cy="1944216"/>
          </a:xfrm>
          <a:prstGeom prst="rect">
            <a:avLst/>
          </a:prstGeom>
        </p:spPr>
      </p:pic>
    </p:spTree>
    <p:extLst>
      <p:ext uri="{BB962C8B-B14F-4D97-AF65-F5344CB8AC3E}">
        <p14:creationId xmlns:p14="http://schemas.microsoft.com/office/powerpoint/2010/main" val="1635961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多媒体网络概述</a:t>
            </a:r>
            <a:endParaRPr lang="en-US" altLang="zh-CN" b="0" dirty="0"/>
          </a:p>
          <a:p>
            <a:r>
              <a:rPr lang="zh-CN" altLang="en-US" b="0" dirty="0"/>
              <a:t>互联网基础</a:t>
            </a:r>
            <a:endParaRPr lang="en-US" altLang="zh-CN" b="0" dirty="0"/>
          </a:p>
          <a:p>
            <a:pPr lvl="1"/>
            <a:r>
              <a:rPr lang="en-US" altLang="zh-CN" dirty="0"/>
              <a:t>ISO-OSI</a:t>
            </a:r>
            <a:r>
              <a:rPr lang="zh-CN" altLang="en-US" dirty="0"/>
              <a:t>模型</a:t>
            </a:r>
            <a:endParaRPr lang="en-US" altLang="zh-CN" dirty="0"/>
          </a:p>
          <a:p>
            <a:r>
              <a:rPr lang="zh-CN" altLang="en-US" b="0" dirty="0"/>
              <a:t>多媒体应用</a:t>
            </a:r>
            <a:endParaRPr lang="en-US" altLang="zh-CN" b="0" dirty="0"/>
          </a:p>
          <a:p>
            <a:pPr lvl="1"/>
            <a:r>
              <a:rPr lang="zh-CN" altLang="en-US" dirty="0"/>
              <a:t>多媒体传输协议</a:t>
            </a:r>
            <a:endParaRPr lang="en-US" altLang="zh-CN" dirty="0"/>
          </a:p>
          <a:p>
            <a:pPr marL="342900" lvl="1" indent="-342900">
              <a:buFont typeface="Arial" pitchFamily="34" charset="0"/>
              <a:buChar char="•"/>
            </a:pPr>
            <a:r>
              <a:rPr lang="zh-CN" altLang="en-US" sz="3200" dirty="0">
                <a:solidFill>
                  <a:srgbClr val="0000FF"/>
                </a:solidFill>
              </a:rPr>
              <a:t>互联网新技术</a:t>
            </a:r>
            <a:endParaRPr lang="en-US" altLang="zh-CN" sz="3200" dirty="0">
              <a:solidFill>
                <a:srgbClr val="0000FF"/>
              </a:solidFill>
            </a:endParaRPr>
          </a:p>
          <a:p>
            <a:pPr lvl="1"/>
            <a:endParaRPr lang="en-US" altLang="zh-CN" dirty="0"/>
          </a:p>
          <a:p>
            <a:pPr marL="0" indent="0">
              <a:buNone/>
            </a:pPr>
            <a:endParaRPr lang="zh-CN" altLang="en-US" b="0" dirty="0"/>
          </a:p>
        </p:txBody>
      </p:sp>
      <p:sp>
        <p:nvSpPr>
          <p:cNvPr id="3" name="标题 2"/>
          <p:cNvSpPr>
            <a:spLocks noGrp="1"/>
          </p:cNvSpPr>
          <p:nvPr>
            <p:ph type="title"/>
          </p:nvPr>
        </p:nvSpPr>
        <p:spPr/>
        <p:txBody>
          <a:bodyPr>
            <a:normAutofit fontScale="90000"/>
          </a:bodyPr>
          <a:lstStyle/>
          <a:p>
            <a:r>
              <a:rPr lang="zh-CN" altLang="en-US" dirty="0"/>
              <a:t>第</a:t>
            </a:r>
            <a:r>
              <a:rPr lang="en-US" altLang="zh-CN" dirty="0"/>
              <a:t>4</a:t>
            </a:r>
            <a:r>
              <a:rPr lang="zh-CN" altLang="en-US" dirty="0"/>
              <a:t>章</a:t>
            </a:r>
            <a:r>
              <a:rPr lang="en-US" altLang="zh-CN" dirty="0"/>
              <a:t> </a:t>
            </a:r>
            <a:r>
              <a:rPr lang="zh-CN" altLang="en-US" dirty="0"/>
              <a:t>多媒体通信与网络</a:t>
            </a:r>
          </a:p>
        </p:txBody>
      </p:sp>
      <p:sp>
        <p:nvSpPr>
          <p:cNvPr id="4" name="灯片编号占位符 3">
            <a:extLst>
              <a:ext uri="{FF2B5EF4-FFF2-40B4-BE49-F238E27FC236}">
                <a16:creationId xmlns:a16="http://schemas.microsoft.com/office/drawing/2014/main" id="{9492CF68-847C-4AB0-8417-ABA915ADA149}"/>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4</a:t>
            </a:fld>
            <a:endParaRPr lang="zh-CN" altLang="en-US"/>
          </a:p>
        </p:txBody>
      </p:sp>
    </p:spTree>
    <p:extLst>
      <p:ext uri="{BB962C8B-B14F-4D97-AF65-F5344CB8AC3E}">
        <p14:creationId xmlns:p14="http://schemas.microsoft.com/office/powerpoint/2010/main" val="4223395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8D25DAE-8C97-461D-947E-3B16EAC25084}"/>
              </a:ext>
            </a:extLst>
          </p:cNvPr>
          <p:cNvSpPr>
            <a:spLocks noGrp="1"/>
          </p:cNvSpPr>
          <p:nvPr>
            <p:ph idx="1"/>
          </p:nvPr>
        </p:nvSpPr>
        <p:spPr/>
        <p:txBody>
          <a:bodyPr/>
          <a:lstStyle/>
          <a:p>
            <a:r>
              <a:rPr lang="zh-CN" altLang="en-US" b="0" dirty="0">
                <a:solidFill>
                  <a:schemeClr val="tx1"/>
                </a:solidFill>
              </a:rPr>
              <a:t>早期互联网主要是基于文字的应用</a:t>
            </a:r>
            <a:endParaRPr lang="en-US" altLang="zh-CN" b="0" dirty="0">
              <a:solidFill>
                <a:schemeClr val="tx1"/>
              </a:solidFill>
            </a:endParaRPr>
          </a:p>
          <a:p>
            <a:r>
              <a:rPr lang="zh-CN" altLang="en-US" b="0" dirty="0">
                <a:solidFill>
                  <a:schemeClr val="tx1"/>
                </a:solidFill>
              </a:rPr>
              <a:t>从</a:t>
            </a:r>
            <a:r>
              <a:rPr lang="en-US" altLang="zh-CN" b="0" dirty="0">
                <a:solidFill>
                  <a:schemeClr val="tx1"/>
                </a:solidFill>
              </a:rPr>
              <a:t>20</a:t>
            </a:r>
            <a:r>
              <a:rPr lang="zh-CN" altLang="en-US" b="0" dirty="0">
                <a:solidFill>
                  <a:schemeClr val="tx1"/>
                </a:solidFill>
              </a:rPr>
              <a:t>世纪</a:t>
            </a:r>
            <a:r>
              <a:rPr lang="en-US" altLang="zh-CN" b="0" dirty="0">
                <a:solidFill>
                  <a:schemeClr val="tx1"/>
                </a:solidFill>
              </a:rPr>
              <a:t>80</a:t>
            </a:r>
            <a:r>
              <a:rPr lang="zh-CN" altLang="en-US" b="0" dirty="0">
                <a:solidFill>
                  <a:schemeClr val="tx1"/>
                </a:solidFill>
              </a:rPr>
              <a:t>年代中期出现</a:t>
            </a:r>
            <a:r>
              <a:rPr lang="en-US" altLang="zh-CN" b="0" dirty="0">
                <a:solidFill>
                  <a:schemeClr val="tx1"/>
                </a:solidFill>
              </a:rPr>
              <a:t>web</a:t>
            </a:r>
            <a:r>
              <a:rPr lang="zh-CN" altLang="en-US" b="0" dirty="0">
                <a:solidFill>
                  <a:schemeClr val="tx1"/>
                </a:solidFill>
              </a:rPr>
              <a:t>浏览器后，互联网上应用开始发生巨变</a:t>
            </a:r>
            <a:endParaRPr lang="en-US" altLang="zh-CN" b="0" dirty="0">
              <a:solidFill>
                <a:schemeClr val="tx1"/>
              </a:solidFill>
            </a:endParaRPr>
          </a:p>
          <a:p>
            <a:r>
              <a:rPr lang="en-US" altLang="zh-CN" b="0" dirty="0">
                <a:solidFill>
                  <a:schemeClr val="tx1"/>
                </a:solidFill>
              </a:rPr>
              <a:t>21</a:t>
            </a:r>
            <a:r>
              <a:rPr lang="zh-CN" altLang="en-US" b="0" dirty="0">
                <a:solidFill>
                  <a:schemeClr val="tx1"/>
                </a:solidFill>
              </a:rPr>
              <a:t>世纪后，多媒体技术和互联网技术汇集速度加快</a:t>
            </a:r>
            <a:endParaRPr lang="en-US" altLang="zh-CN" b="0" dirty="0">
              <a:solidFill>
                <a:schemeClr val="tx1"/>
              </a:solidFill>
            </a:endParaRPr>
          </a:p>
          <a:p>
            <a:endParaRPr lang="zh-CN" altLang="en-US" dirty="0"/>
          </a:p>
        </p:txBody>
      </p:sp>
      <p:sp>
        <p:nvSpPr>
          <p:cNvPr id="3" name="标题 2">
            <a:extLst>
              <a:ext uri="{FF2B5EF4-FFF2-40B4-BE49-F238E27FC236}">
                <a16:creationId xmlns:a16="http://schemas.microsoft.com/office/drawing/2014/main" id="{D5205B76-BA7E-40E6-8A07-25393F9573DE}"/>
              </a:ext>
            </a:extLst>
          </p:cNvPr>
          <p:cNvSpPr>
            <a:spLocks noGrp="1"/>
          </p:cNvSpPr>
          <p:nvPr>
            <p:ph type="title"/>
          </p:nvPr>
        </p:nvSpPr>
        <p:spPr/>
        <p:txBody>
          <a:bodyPr>
            <a:normAutofit fontScale="90000"/>
          </a:bodyPr>
          <a:lstStyle/>
          <a:p>
            <a:r>
              <a:rPr lang="zh-CN" altLang="en-US" dirty="0"/>
              <a:t>多媒体网络概述</a:t>
            </a:r>
          </a:p>
        </p:txBody>
      </p:sp>
      <p:sp>
        <p:nvSpPr>
          <p:cNvPr id="4" name="矩形 3">
            <a:extLst>
              <a:ext uri="{FF2B5EF4-FFF2-40B4-BE49-F238E27FC236}">
                <a16:creationId xmlns:a16="http://schemas.microsoft.com/office/drawing/2014/main" id="{4C019D26-90B1-4164-B244-EBDFE419A849}"/>
              </a:ext>
            </a:extLst>
          </p:cNvPr>
          <p:cNvSpPr/>
          <p:nvPr/>
        </p:nvSpPr>
        <p:spPr>
          <a:xfrm>
            <a:off x="4788024" y="4293096"/>
            <a:ext cx="273630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多媒体应用</a:t>
            </a:r>
          </a:p>
        </p:txBody>
      </p:sp>
      <p:sp>
        <p:nvSpPr>
          <p:cNvPr id="5" name="矩形 4">
            <a:extLst>
              <a:ext uri="{FF2B5EF4-FFF2-40B4-BE49-F238E27FC236}">
                <a16:creationId xmlns:a16="http://schemas.microsoft.com/office/drawing/2014/main" id="{EE33AFB0-1723-4F88-AF56-8AB36B42AC18}"/>
              </a:ext>
            </a:extLst>
          </p:cNvPr>
          <p:cNvSpPr/>
          <p:nvPr/>
        </p:nvSpPr>
        <p:spPr>
          <a:xfrm>
            <a:off x="1211537" y="4293096"/>
            <a:ext cx="273630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基于文字的应用</a:t>
            </a:r>
          </a:p>
        </p:txBody>
      </p:sp>
      <p:sp>
        <p:nvSpPr>
          <p:cNvPr id="6" name="文本框 5">
            <a:extLst>
              <a:ext uri="{FF2B5EF4-FFF2-40B4-BE49-F238E27FC236}">
                <a16:creationId xmlns:a16="http://schemas.microsoft.com/office/drawing/2014/main" id="{DA6DEC69-9ED7-401C-AD8F-F40531395949}"/>
              </a:ext>
            </a:extLst>
          </p:cNvPr>
          <p:cNvSpPr txBox="1"/>
          <p:nvPr/>
        </p:nvSpPr>
        <p:spPr>
          <a:xfrm>
            <a:off x="1670884" y="5133193"/>
            <a:ext cx="1677089" cy="461665"/>
          </a:xfrm>
          <a:prstGeom prst="rect">
            <a:avLst/>
          </a:prstGeom>
          <a:noFill/>
        </p:spPr>
        <p:txBody>
          <a:bodyPr wrap="square" rtlCol="0">
            <a:spAutoFit/>
          </a:bodyPr>
          <a:lstStyle/>
          <a:p>
            <a:pPr algn="ctr"/>
            <a:r>
              <a:rPr lang="zh-CN" altLang="en-US" sz="2400" b="1" dirty="0">
                <a:solidFill>
                  <a:srgbClr val="FF0000"/>
                </a:solidFill>
              </a:rPr>
              <a:t>可靠性</a:t>
            </a:r>
          </a:p>
        </p:txBody>
      </p:sp>
      <p:sp>
        <p:nvSpPr>
          <p:cNvPr id="7" name="文本框 6">
            <a:extLst>
              <a:ext uri="{FF2B5EF4-FFF2-40B4-BE49-F238E27FC236}">
                <a16:creationId xmlns:a16="http://schemas.microsoft.com/office/drawing/2014/main" id="{197099E1-EE9F-4020-B8B1-EAB4703C14E1}"/>
              </a:ext>
            </a:extLst>
          </p:cNvPr>
          <p:cNvSpPr txBox="1"/>
          <p:nvPr/>
        </p:nvSpPr>
        <p:spPr>
          <a:xfrm>
            <a:off x="4883945" y="5120932"/>
            <a:ext cx="2736304" cy="461665"/>
          </a:xfrm>
          <a:prstGeom prst="rect">
            <a:avLst/>
          </a:prstGeom>
          <a:noFill/>
        </p:spPr>
        <p:txBody>
          <a:bodyPr wrap="square" rtlCol="0">
            <a:spAutoFit/>
          </a:bodyPr>
          <a:lstStyle/>
          <a:p>
            <a:pPr algn="ctr"/>
            <a:r>
              <a:rPr lang="zh-CN" altLang="en-US" sz="2400" b="1" dirty="0">
                <a:solidFill>
                  <a:srgbClr val="FF0000"/>
                </a:solidFill>
              </a:rPr>
              <a:t>声音和视像的质量</a:t>
            </a:r>
          </a:p>
        </p:txBody>
      </p:sp>
      <p:sp>
        <p:nvSpPr>
          <p:cNvPr id="8" name="文本框 7">
            <a:extLst>
              <a:ext uri="{FF2B5EF4-FFF2-40B4-BE49-F238E27FC236}">
                <a16:creationId xmlns:a16="http://schemas.microsoft.com/office/drawing/2014/main" id="{47FDF86D-702E-4EFE-8525-FEBD1A3CFF61}"/>
              </a:ext>
            </a:extLst>
          </p:cNvPr>
          <p:cNvSpPr txBox="1"/>
          <p:nvPr/>
        </p:nvSpPr>
        <p:spPr>
          <a:xfrm>
            <a:off x="4115771" y="4499930"/>
            <a:ext cx="504056" cy="369332"/>
          </a:xfrm>
          <a:prstGeom prst="rect">
            <a:avLst/>
          </a:prstGeom>
          <a:noFill/>
        </p:spPr>
        <p:txBody>
          <a:bodyPr wrap="square" rtlCol="0">
            <a:spAutoFit/>
          </a:bodyPr>
          <a:lstStyle/>
          <a:p>
            <a:r>
              <a:rPr lang="en-US" altLang="zh-CN" dirty="0"/>
              <a:t>VS.</a:t>
            </a:r>
            <a:endParaRPr lang="zh-CN" altLang="en-US" dirty="0"/>
          </a:p>
        </p:txBody>
      </p:sp>
      <p:sp>
        <p:nvSpPr>
          <p:cNvPr id="9" name="灯片编号占位符 8">
            <a:extLst>
              <a:ext uri="{FF2B5EF4-FFF2-40B4-BE49-F238E27FC236}">
                <a16:creationId xmlns:a16="http://schemas.microsoft.com/office/drawing/2014/main" id="{2910EA1A-B22B-44C3-AC5C-C902499AE43C}"/>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5</a:t>
            </a:fld>
            <a:endParaRPr lang="zh-CN" altLang="en-US"/>
          </a:p>
        </p:txBody>
      </p:sp>
    </p:spTree>
    <p:extLst>
      <p:ext uri="{BB962C8B-B14F-4D97-AF65-F5344CB8AC3E}">
        <p14:creationId xmlns:p14="http://schemas.microsoft.com/office/powerpoint/2010/main" val="2193477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787C721-A3D4-417F-BE6D-924C9CD64DD7}"/>
              </a:ext>
            </a:extLst>
          </p:cNvPr>
          <p:cNvSpPr>
            <a:spLocks noGrp="1"/>
          </p:cNvSpPr>
          <p:nvPr>
            <p:ph idx="1"/>
          </p:nvPr>
        </p:nvSpPr>
        <p:spPr>
          <a:xfrm>
            <a:off x="255014" y="1196752"/>
            <a:ext cx="8637465" cy="4525963"/>
          </a:xfrm>
        </p:spPr>
        <p:txBody>
          <a:bodyPr/>
          <a:lstStyle/>
          <a:p>
            <a:r>
              <a:rPr lang="zh-CN" altLang="en-US" dirty="0"/>
              <a:t>多媒体网络（</a:t>
            </a:r>
            <a:r>
              <a:rPr lang="en-US" altLang="zh-CN" dirty="0"/>
              <a:t> multimedia Internet</a:t>
            </a:r>
            <a:r>
              <a:rPr lang="zh-CN" altLang="en-US" dirty="0"/>
              <a:t>，</a:t>
            </a:r>
            <a:r>
              <a:rPr lang="en-US" altLang="zh-CN" dirty="0"/>
              <a:t>multimedia network </a:t>
            </a:r>
            <a:r>
              <a:rPr lang="zh-CN" altLang="en-US" dirty="0"/>
              <a:t>）</a:t>
            </a:r>
            <a:endParaRPr lang="en-US" altLang="zh-CN" dirty="0"/>
          </a:p>
          <a:p>
            <a:pPr lvl="1"/>
            <a:r>
              <a:rPr lang="zh-CN" altLang="en-US" sz="3200" b="0" dirty="0"/>
              <a:t>用传输媒体把计算机和相关设备连接在一起的高速计算机网络</a:t>
            </a:r>
            <a:endParaRPr lang="en-US" altLang="zh-CN" sz="3200" b="0" dirty="0"/>
          </a:p>
          <a:p>
            <a:pPr lvl="1"/>
            <a:endParaRPr lang="en-US" altLang="zh-CN" b="0" dirty="0"/>
          </a:p>
          <a:p>
            <a:r>
              <a:rPr lang="zh-CN" altLang="en-US" dirty="0"/>
              <a:t>多媒体网络是计算机网络</a:t>
            </a:r>
            <a:endParaRPr lang="en-US" altLang="zh-CN" dirty="0"/>
          </a:p>
          <a:p>
            <a:r>
              <a:rPr lang="zh-CN" altLang="en-US" dirty="0"/>
              <a:t>多媒体网络是</a:t>
            </a:r>
            <a:r>
              <a:rPr lang="zh-CN" altLang="en-US" dirty="0">
                <a:solidFill>
                  <a:srgbClr val="FF0000"/>
                </a:solidFill>
              </a:rPr>
              <a:t>高速</a:t>
            </a:r>
            <a:r>
              <a:rPr lang="zh-CN" altLang="en-US" dirty="0"/>
              <a:t>计算机网络</a:t>
            </a:r>
          </a:p>
        </p:txBody>
      </p:sp>
      <p:sp>
        <p:nvSpPr>
          <p:cNvPr id="3" name="标题 2">
            <a:extLst>
              <a:ext uri="{FF2B5EF4-FFF2-40B4-BE49-F238E27FC236}">
                <a16:creationId xmlns:a16="http://schemas.microsoft.com/office/drawing/2014/main" id="{887FE648-7AE3-42F2-8673-B93BD43B1334}"/>
              </a:ext>
            </a:extLst>
          </p:cNvPr>
          <p:cNvSpPr>
            <a:spLocks noGrp="1"/>
          </p:cNvSpPr>
          <p:nvPr>
            <p:ph type="title"/>
          </p:nvPr>
        </p:nvSpPr>
        <p:spPr/>
        <p:txBody>
          <a:bodyPr>
            <a:normAutofit fontScale="90000"/>
          </a:bodyPr>
          <a:lstStyle/>
          <a:p>
            <a:r>
              <a:rPr lang="zh-CN" altLang="en-US" dirty="0"/>
              <a:t>多媒体网络概述</a:t>
            </a:r>
          </a:p>
        </p:txBody>
      </p:sp>
      <p:sp>
        <p:nvSpPr>
          <p:cNvPr id="4" name="灯片编号占位符 3">
            <a:extLst>
              <a:ext uri="{FF2B5EF4-FFF2-40B4-BE49-F238E27FC236}">
                <a16:creationId xmlns:a16="http://schemas.microsoft.com/office/drawing/2014/main" id="{219DFDAF-9BED-4096-9FF2-161A608F5C92}"/>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6</a:t>
            </a:fld>
            <a:endParaRPr lang="zh-CN" altLang="en-US"/>
          </a:p>
        </p:txBody>
      </p:sp>
    </p:spTree>
    <p:extLst>
      <p:ext uri="{BB962C8B-B14F-4D97-AF65-F5344CB8AC3E}">
        <p14:creationId xmlns:p14="http://schemas.microsoft.com/office/powerpoint/2010/main" val="971586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CA41E26-ACD3-4657-AA8F-B3A041E184AC}"/>
              </a:ext>
            </a:extLst>
          </p:cNvPr>
          <p:cNvSpPr>
            <a:spLocks noGrp="1"/>
          </p:cNvSpPr>
          <p:nvPr>
            <p:ph idx="1"/>
          </p:nvPr>
        </p:nvSpPr>
        <p:spPr/>
        <p:txBody>
          <a:bodyPr>
            <a:normAutofit/>
          </a:bodyPr>
          <a:lstStyle/>
          <a:p>
            <a:r>
              <a:rPr lang="zh-CN" altLang="en-US" dirty="0"/>
              <a:t>多媒体作品制作，数据压缩和编码，多媒体网络整合在一起</a:t>
            </a:r>
            <a:endParaRPr lang="en-US" altLang="zh-CN" dirty="0"/>
          </a:p>
          <a:p>
            <a:endParaRPr lang="zh-CN" altLang="en-US" dirty="0"/>
          </a:p>
        </p:txBody>
      </p:sp>
      <p:sp>
        <p:nvSpPr>
          <p:cNvPr id="3" name="标题 2">
            <a:extLst>
              <a:ext uri="{FF2B5EF4-FFF2-40B4-BE49-F238E27FC236}">
                <a16:creationId xmlns:a16="http://schemas.microsoft.com/office/drawing/2014/main" id="{15877002-E38F-4080-8A14-F770440B2730}"/>
              </a:ext>
            </a:extLst>
          </p:cNvPr>
          <p:cNvSpPr>
            <a:spLocks noGrp="1"/>
          </p:cNvSpPr>
          <p:nvPr>
            <p:ph type="title"/>
          </p:nvPr>
        </p:nvSpPr>
        <p:spPr/>
        <p:txBody>
          <a:bodyPr>
            <a:normAutofit fontScale="90000"/>
          </a:bodyPr>
          <a:lstStyle/>
          <a:p>
            <a:r>
              <a:rPr lang="zh-CN" altLang="en-US" dirty="0"/>
              <a:t>多媒体网络结构</a:t>
            </a:r>
          </a:p>
        </p:txBody>
      </p:sp>
      <p:pic>
        <p:nvPicPr>
          <p:cNvPr id="1026" name="Picture 2" descr="Multimedia communication network">
            <a:extLst>
              <a:ext uri="{FF2B5EF4-FFF2-40B4-BE49-F238E27FC236}">
                <a16:creationId xmlns:a16="http://schemas.microsoft.com/office/drawing/2014/main" id="{7447F489-8DAC-4F7E-910C-566F89FA5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420888"/>
            <a:ext cx="5616624" cy="3728193"/>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8F179009-0167-4AFD-AE8F-90F2C42EAA4E}"/>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7</a:t>
            </a:fld>
            <a:endParaRPr lang="zh-CN" altLang="en-US"/>
          </a:p>
        </p:txBody>
      </p:sp>
    </p:spTree>
    <p:extLst>
      <p:ext uri="{BB962C8B-B14F-4D97-AF65-F5344CB8AC3E}">
        <p14:creationId xmlns:p14="http://schemas.microsoft.com/office/powerpoint/2010/main" val="28979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BCB4A6-5C07-475F-81E7-7B9C7BF3AECA}"/>
              </a:ext>
            </a:extLst>
          </p:cNvPr>
          <p:cNvSpPr>
            <a:spLocks noGrp="1"/>
          </p:cNvSpPr>
          <p:nvPr>
            <p:ph idx="1"/>
          </p:nvPr>
        </p:nvSpPr>
        <p:spPr>
          <a:xfrm>
            <a:off x="255014" y="1196753"/>
            <a:ext cx="8709473" cy="3672408"/>
          </a:xfrm>
        </p:spPr>
        <p:txBody>
          <a:bodyPr/>
          <a:lstStyle/>
          <a:p>
            <a:r>
              <a:rPr lang="zh-CN" altLang="en-US" dirty="0"/>
              <a:t>多媒体网络的标志是支持实时多媒体（</a:t>
            </a:r>
            <a:r>
              <a:rPr lang="en-US" altLang="zh-CN" dirty="0"/>
              <a:t>real-time multimedia</a:t>
            </a:r>
            <a:r>
              <a:rPr lang="zh-CN" altLang="en-US" dirty="0"/>
              <a:t>）</a:t>
            </a:r>
            <a:endParaRPr lang="en-US" altLang="zh-CN" dirty="0"/>
          </a:p>
          <a:p>
            <a:pPr marL="914400" lvl="1" indent="-457200">
              <a:buFont typeface="Arial" panose="020B0604020202020204" pitchFamily="34" charset="0"/>
              <a:buChar char="•"/>
            </a:pPr>
            <a:r>
              <a:rPr lang="zh-CN" altLang="en-US" b="0" dirty="0"/>
              <a:t>实时多媒体信息除了多媒体本身的基本特点之外，还具有数据率高、时延及时延抖动要求高、实时交互、同步以及支持</a:t>
            </a:r>
            <a:r>
              <a:rPr lang="en-US" altLang="zh-CN" b="0" dirty="0"/>
              <a:t>QoS</a:t>
            </a:r>
            <a:r>
              <a:rPr lang="zh-CN" altLang="en-US" b="0" dirty="0"/>
              <a:t>（</a:t>
            </a:r>
            <a:r>
              <a:rPr lang="en" altLang="zh-CN" b="0" dirty="0"/>
              <a:t>Quality of Service</a:t>
            </a:r>
            <a:r>
              <a:rPr lang="zh-CN" altLang="en-US" b="0" dirty="0"/>
              <a:t>）等重要特性</a:t>
            </a:r>
            <a:endParaRPr lang="en-US" altLang="zh-CN" dirty="0"/>
          </a:p>
          <a:p>
            <a:pPr marL="914400" lvl="1" indent="-457200">
              <a:buFont typeface="Arial" panose="020B0604020202020204" pitchFamily="34" charset="0"/>
              <a:buChar char="•"/>
            </a:pPr>
            <a:r>
              <a:rPr lang="zh-CN" altLang="en-US" dirty="0"/>
              <a:t>远程教学，远程视频</a:t>
            </a:r>
          </a:p>
        </p:txBody>
      </p:sp>
      <p:sp>
        <p:nvSpPr>
          <p:cNvPr id="3" name="标题 2">
            <a:extLst>
              <a:ext uri="{FF2B5EF4-FFF2-40B4-BE49-F238E27FC236}">
                <a16:creationId xmlns:a16="http://schemas.microsoft.com/office/drawing/2014/main" id="{647CFA34-EC8B-4714-9286-048F1FD98D63}"/>
              </a:ext>
            </a:extLst>
          </p:cNvPr>
          <p:cNvSpPr>
            <a:spLocks noGrp="1"/>
          </p:cNvSpPr>
          <p:nvPr>
            <p:ph type="title"/>
          </p:nvPr>
        </p:nvSpPr>
        <p:spPr/>
        <p:txBody>
          <a:bodyPr>
            <a:normAutofit fontScale="90000"/>
          </a:bodyPr>
          <a:lstStyle/>
          <a:p>
            <a:r>
              <a:rPr lang="zh-CN" altLang="en-US" dirty="0"/>
              <a:t>多媒体网络结构</a:t>
            </a:r>
          </a:p>
        </p:txBody>
      </p:sp>
      <p:sp>
        <p:nvSpPr>
          <p:cNvPr id="4" name="灯片编号占位符 3">
            <a:extLst>
              <a:ext uri="{FF2B5EF4-FFF2-40B4-BE49-F238E27FC236}">
                <a16:creationId xmlns:a16="http://schemas.microsoft.com/office/drawing/2014/main" id="{4008D495-003E-474C-B612-8161E62F33C2}"/>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8</a:t>
            </a:fld>
            <a:endParaRPr lang="zh-CN" altLang="en-US"/>
          </a:p>
        </p:txBody>
      </p:sp>
      <p:sp>
        <p:nvSpPr>
          <p:cNvPr id="5" name="文本框 4">
            <a:extLst>
              <a:ext uri="{FF2B5EF4-FFF2-40B4-BE49-F238E27FC236}">
                <a16:creationId xmlns:a16="http://schemas.microsoft.com/office/drawing/2014/main" id="{0DB3FFED-01C0-8EF5-1334-9FDED3D3D2D0}"/>
              </a:ext>
            </a:extLst>
          </p:cNvPr>
          <p:cNvSpPr txBox="1"/>
          <p:nvPr/>
        </p:nvSpPr>
        <p:spPr>
          <a:xfrm>
            <a:off x="755576" y="5445224"/>
            <a:ext cx="7405234" cy="923330"/>
          </a:xfrm>
          <a:prstGeom prst="rect">
            <a:avLst/>
          </a:prstGeom>
          <a:noFill/>
        </p:spPr>
        <p:txBody>
          <a:bodyPr wrap="square" rtlCol="0">
            <a:spAutoFit/>
          </a:bodyPr>
          <a:lstStyle/>
          <a:p>
            <a:r>
              <a:rPr kumimoji="1" lang="en-US" altLang="zh-CN" i="1" dirty="0"/>
              <a:t>Hint: </a:t>
            </a:r>
            <a:r>
              <a:rPr kumimoji="1" lang="zh-CN" altLang="en-US" i="1" dirty="0"/>
              <a:t>后面会提到。在有限的带宽资源下，</a:t>
            </a:r>
            <a:r>
              <a:rPr kumimoji="1" lang="en-US" altLang="zh-CN" i="1" dirty="0"/>
              <a:t>QoS</a:t>
            </a:r>
            <a:r>
              <a:rPr kumimoji="1" lang="zh-CN" altLang="en-US" i="1" dirty="0"/>
              <a:t>为各种业务分配带宽，为业务提供端到端的服务质量保证。 例如，语音、视频和重要的数据应用在网络设备中可以通过配置</a:t>
            </a:r>
            <a:r>
              <a:rPr kumimoji="1" lang="en" altLang="zh-CN" i="1" dirty="0"/>
              <a:t>QoS</a:t>
            </a:r>
            <a:r>
              <a:rPr kumimoji="1" lang="zh-CN" altLang="en-US" i="1" dirty="0"/>
              <a:t>优先得到服务。</a:t>
            </a:r>
          </a:p>
        </p:txBody>
      </p:sp>
    </p:spTree>
    <p:extLst>
      <p:ext uri="{BB962C8B-B14F-4D97-AF65-F5344CB8AC3E}">
        <p14:creationId xmlns:p14="http://schemas.microsoft.com/office/powerpoint/2010/main" val="4217047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77E7376-A8E8-4849-BD40-19BEEF815A43}"/>
              </a:ext>
            </a:extLst>
          </p:cNvPr>
          <p:cNvSpPr>
            <a:spLocks noGrp="1"/>
          </p:cNvSpPr>
          <p:nvPr>
            <p:ph idx="1"/>
          </p:nvPr>
        </p:nvSpPr>
        <p:spPr>
          <a:xfrm>
            <a:off x="255014" y="1196752"/>
            <a:ext cx="8637465" cy="4525963"/>
          </a:xfrm>
        </p:spPr>
        <p:txBody>
          <a:bodyPr/>
          <a:lstStyle/>
          <a:p>
            <a:r>
              <a:rPr lang="zh-CN" altLang="en-US" dirty="0"/>
              <a:t>网络技术</a:t>
            </a:r>
            <a:endParaRPr lang="en-US" altLang="zh-CN" dirty="0"/>
          </a:p>
          <a:p>
            <a:pPr marL="914400" lvl="1" indent="-457200">
              <a:buFont typeface="Arial" panose="020B0604020202020204" pitchFamily="34" charset="0"/>
              <a:buChar char="•"/>
            </a:pPr>
            <a:r>
              <a:rPr lang="zh-CN" altLang="en-US" dirty="0">
                <a:solidFill>
                  <a:schemeClr val="accent2"/>
                </a:solidFill>
              </a:rPr>
              <a:t>多媒体数据</a:t>
            </a:r>
            <a:r>
              <a:rPr lang="zh-CN" altLang="en-US" dirty="0"/>
              <a:t>：</a:t>
            </a:r>
            <a:r>
              <a:rPr lang="zh-CN" altLang="en-US" b="1" dirty="0"/>
              <a:t>组合文图声像的数据</a:t>
            </a:r>
            <a:endParaRPr lang="en-US" altLang="zh-CN" b="1" dirty="0"/>
          </a:p>
          <a:p>
            <a:pPr marL="914400" lvl="1" indent="-457200">
              <a:buFont typeface="Arial" panose="020B0604020202020204" pitchFamily="34" charset="0"/>
              <a:buChar char="•"/>
            </a:pPr>
            <a:r>
              <a:rPr lang="zh-CN" altLang="en-US" dirty="0">
                <a:solidFill>
                  <a:schemeClr val="accent2"/>
                </a:solidFill>
              </a:rPr>
              <a:t>实时传输</a:t>
            </a:r>
            <a:r>
              <a:rPr lang="zh-CN" altLang="en-US" dirty="0"/>
              <a:t>：接受和发送几乎同时完成</a:t>
            </a:r>
            <a:endParaRPr lang="en-US" altLang="zh-CN" dirty="0"/>
          </a:p>
          <a:p>
            <a:pPr marL="914400" lvl="1" indent="-457200">
              <a:buFont typeface="Arial" panose="020B0604020202020204" pitchFamily="34" charset="0"/>
              <a:buChar char="•"/>
            </a:pPr>
            <a:r>
              <a:rPr lang="zh-CN" altLang="en-US" dirty="0">
                <a:solidFill>
                  <a:schemeClr val="accent2"/>
                </a:solidFill>
              </a:rPr>
              <a:t>方法</a:t>
            </a:r>
            <a:r>
              <a:rPr lang="zh-CN" altLang="en-US" dirty="0"/>
              <a:t>：实时传输协议，实时控制协议，资源保留设置协议，实时流媒体播放协议</a:t>
            </a:r>
            <a:r>
              <a:rPr lang="en-US" altLang="zh-CN" dirty="0"/>
              <a:t>……</a:t>
            </a:r>
          </a:p>
          <a:p>
            <a:r>
              <a:rPr lang="zh-CN" altLang="en-US" dirty="0"/>
              <a:t>应用技术</a:t>
            </a:r>
            <a:endParaRPr lang="en-US" altLang="zh-CN" dirty="0"/>
          </a:p>
          <a:p>
            <a:pPr marL="914400" lvl="1" indent="-457200">
              <a:buFont typeface="Arial" panose="020B0604020202020204" pitchFamily="34" charset="0"/>
              <a:buChar char="•"/>
            </a:pPr>
            <a:r>
              <a:rPr lang="zh-CN" altLang="en-US" b="0" dirty="0">
                <a:solidFill>
                  <a:schemeClr val="accent2"/>
                </a:solidFill>
              </a:rPr>
              <a:t>需要网络支撑的多媒体应用软件</a:t>
            </a:r>
            <a:endParaRPr lang="en-US" altLang="zh-CN" b="0" dirty="0">
              <a:solidFill>
                <a:schemeClr val="accent2"/>
              </a:solidFill>
            </a:endParaRPr>
          </a:p>
          <a:p>
            <a:pPr marL="914400" lvl="1" indent="-457200">
              <a:buFont typeface="Arial" panose="020B0604020202020204" pitchFamily="34" charset="0"/>
              <a:buChar char="•"/>
            </a:pPr>
            <a:r>
              <a:rPr lang="en-US" altLang="zh-CN" dirty="0"/>
              <a:t>web app, mobile app</a:t>
            </a:r>
            <a:endParaRPr lang="en-US" altLang="zh-CN" b="0" dirty="0"/>
          </a:p>
          <a:p>
            <a:endParaRPr lang="zh-CN" altLang="en-US" dirty="0"/>
          </a:p>
        </p:txBody>
      </p:sp>
      <p:sp>
        <p:nvSpPr>
          <p:cNvPr id="3" name="标题 2">
            <a:extLst>
              <a:ext uri="{FF2B5EF4-FFF2-40B4-BE49-F238E27FC236}">
                <a16:creationId xmlns:a16="http://schemas.microsoft.com/office/drawing/2014/main" id="{9AE418BD-303B-4BC2-84C8-514FA16F7C1B}"/>
              </a:ext>
            </a:extLst>
          </p:cNvPr>
          <p:cNvSpPr>
            <a:spLocks noGrp="1"/>
          </p:cNvSpPr>
          <p:nvPr>
            <p:ph type="title"/>
          </p:nvPr>
        </p:nvSpPr>
        <p:spPr/>
        <p:txBody>
          <a:bodyPr>
            <a:normAutofit fontScale="90000"/>
          </a:bodyPr>
          <a:lstStyle/>
          <a:p>
            <a:r>
              <a:rPr lang="zh-CN" altLang="en-US" dirty="0"/>
              <a:t>多媒体网络技术</a:t>
            </a:r>
          </a:p>
        </p:txBody>
      </p:sp>
      <p:sp>
        <p:nvSpPr>
          <p:cNvPr id="4" name="灯片编号占位符 3">
            <a:extLst>
              <a:ext uri="{FF2B5EF4-FFF2-40B4-BE49-F238E27FC236}">
                <a16:creationId xmlns:a16="http://schemas.microsoft.com/office/drawing/2014/main" id="{BF4CD33B-D336-4844-BD82-B3E0889E4F11}"/>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9</a:t>
            </a:fld>
            <a:endParaRPr lang="zh-CN" altLang="en-US"/>
          </a:p>
        </p:txBody>
      </p:sp>
    </p:spTree>
    <p:extLst>
      <p:ext uri="{BB962C8B-B14F-4D97-AF65-F5344CB8AC3E}">
        <p14:creationId xmlns:p14="http://schemas.microsoft.com/office/powerpoint/2010/main" val="296767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276E44-3806-4FA1-AA40-EA62807227A8}"/>
              </a:ext>
            </a:extLst>
          </p:cNvPr>
          <p:cNvSpPr>
            <a:spLocks noGrp="1"/>
          </p:cNvSpPr>
          <p:nvPr>
            <p:ph idx="1"/>
          </p:nvPr>
        </p:nvSpPr>
        <p:spPr>
          <a:xfrm>
            <a:off x="255014" y="1196752"/>
            <a:ext cx="8565457" cy="5112568"/>
          </a:xfrm>
        </p:spPr>
        <p:txBody>
          <a:bodyPr>
            <a:normAutofit/>
          </a:bodyPr>
          <a:lstStyle/>
          <a:p>
            <a:r>
              <a:rPr lang="zh-CN" altLang="en-US" dirty="0"/>
              <a:t>典型应用</a:t>
            </a:r>
            <a:endParaRPr lang="en-US" altLang="zh-CN" dirty="0"/>
          </a:p>
          <a:p>
            <a:r>
              <a:rPr lang="zh-CN" altLang="en-US" b="0" dirty="0"/>
              <a:t>使用标准的</a:t>
            </a:r>
            <a:r>
              <a:rPr lang="en-US" altLang="zh-CN" b="0" dirty="0"/>
              <a:t>web</a:t>
            </a:r>
            <a:r>
              <a:rPr lang="zh-CN" altLang="en-US" b="0" dirty="0"/>
              <a:t>服务器，把声音数据和电视数据直接传输到媒体播放器</a:t>
            </a:r>
            <a:endParaRPr lang="en-US" altLang="zh-CN" b="0" dirty="0"/>
          </a:p>
          <a:p>
            <a:pPr lvl="1"/>
            <a:r>
              <a:rPr lang="zh-CN" altLang="en-US" dirty="0"/>
              <a:t>网络广播</a:t>
            </a:r>
            <a:endParaRPr lang="en-US" altLang="zh-CN" dirty="0"/>
          </a:p>
          <a:p>
            <a:pPr lvl="1"/>
            <a:r>
              <a:rPr lang="zh-CN" altLang="en-US" dirty="0"/>
              <a:t>网络电话</a:t>
            </a:r>
            <a:endParaRPr lang="en-US" altLang="zh-CN" dirty="0"/>
          </a:p>
          <a:p>
            <a:pPr lvl="1"/>
            <a:r>
              <a:rPr lang="zh-CN" altLang="en-US" dirty="0"/>
              <a:t>电视会议</a:t>
            </a:r>
            <a:endParaRPr lang="en-US" altLang="zh-CN" dirty="0"/>
          </a:p>
          <a:p>
            <a:pPr lvl="1"/>
            <a:r>
              <a:rPr lang="zh-CN" altLang="en-US" dirty="0"/>
              <a:t>影视点播</a:t>
            </a:r>
            <a:endParaRPr lang="en-US" altLang="zh-CN" dirty="0"/>
          </a:p>
          <a:p>
            <a:pPr lvl="1"/>
            <a:r>
              <a:rPr lang="zh-CN" altLang="en-US" dirty="0"/>
              <a:t>声音点播</a:t>
            </a:r>
            <a:endParaRPr lang="en-US" altLang="zh-CN" dirty="0"/>
          </a:p>
          <a:p>
            <a:pPr lvl="1"/>
            <a:r>
              <a:rPr lang="zh-CN" altLang="en-US" dirty="0"/>
              <a:t>远程教育</a:t>
            </a:r>
          </a:p>
        </p:txBody>
      </p:sp>
      <p:sp>
        <p:nvSpPr>
          <p:cNvPr id="3" name="标题 2">
            <a:extLst>
              <a:ext uri="{FF2B5EF4-FFF2-40B4-BE49-F238E27FC236}">
                <a16:creationId xmlns:a16="http://schemas.microsoft.com/office/drawing/2014/main" id="{B8A561EB-F5B3-4542-8FFC-83A5D26ED790}"/>
              </a:ext>
            </a:extLst>
          </p:cNvPr>
          <p:cNvSpPr>
            <a:spLocks noGrp="1"/>
          </p:cNvSpPr>
          <p:nvPr>
            <p:ph type="title"/>
          </p:nvPr>
        </p:nvSpPr>
        <p:spPr/>
        <p:txBody>
          <a:bodyPr>
            <a:normAutofit fontScale="90000"/>
          </a:bodyPr>
          <a:lstStyle/>
          <a:p>
            <a:r>
              <a:rPr lang="zh-CN" altLang="en-US" dirty="0"/>
              <a:t>互联网上多媒体应用</a:t>
            </a:r>
          </a:p>
        </p:txBody>
      </p:sp>
      <p:sp>
        <p:nvSpPr>
          <p:cNvPr id="4" name="灯片编号占位符 3">
            <a:extLst>
              <a:ext uri="{FF2B5EF4-FFF2-40B4-BE49-F238E27FC236}">
                <a16:creationId xmlns:a16="http://schemas.microsoft.com/office/drawing/2014/main" id="{F552BFD9-40E6-40B5-8AB2-C0EB7116429F}"/>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10</a:t>
            </a:fld>
            <a:endParaRPr lang="zh-CN" altLang="en-US"/>
          </a:p>
        </p:txBody>
      </p:sp>
    </p:spTree>
    <p:extLst>
      <p:ext uri="{BB962C8B-B14F-4D97-AF65-F5344CB8AC3E}">
        <p14:creationId xmlns:p14="http://schemas.microsoft.com/office/powerpoint/2010/main" val="3162739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276E44-3806-4FA1-AA40-EA62807227A8}"/>
              </a:ext>
            </a:extLst>
          </p:cNvPr>
          <p:cNvSpPr>
            <a:spLocks noGrp="1"/>
          </p:cNvSpPr>
          <p:nvPr>
            <p:ph idx="1"/>
          </p:nvPr>
        </p:nvSpPr>
        <p:spPr>
          <a:xfrm>
            <a:off x="255014" y="1196752"/>
            <a:ext cx="8493449" cy="4968552"/>
          </a:xfrm>
        </p:spPr>
        <p:txBody>
          <a:bodyPr>
            <a:normAutofit/>
          </a:bodyPr>
          <a:lstStyle/>
          <a:p>
            <a:r>
              <a:rPr lang="zh-CN" altLang="en-US" dirty="0"/>
              <a:t>流媒体（</a:t>
            </a:r>
            <a:r>
              <a:rPr lang="en-US" altLang="zh-CN" dirty="0"/>
              <a:t>steaming media</a:t>
            </a:r>
            <a:r>
              <a:rPr lang="zh-CN" altLang="en-US" dirty="0"/>
              <a:t>）传输</a:t>
            </a:r>
            <a:endParaRPr lang="en-US" altLang="zh-CN" dirty="0"/>
          </a:p>
          <a:p>
            <a:r>
              <a:rPr lang="zh-CN" altLang="en-US" b="0" dirty="0"/>
              <a:t>使用单独的流媒体服务器，把声音数据和电视数据传输到媒体播放器</a:t>
            </a:r>
            <a:endParaRPr lang="en-US" altLang="zh-CN" b="0" dirty="0"/>
          </a:p>
          <a:p>
            <a:endParaRPr lang="en-US" altLang="zh-CN" b="0" dirty="0"/>
          </a:p>
          <a:p>
            <a:r>
              <a:rPr lang="zh-CN" altLang="en-US" dirty="0">
                <a:solidFill>
                  <a:srgbClr val="FF0000"/>
                </a:solidFill>
              </a:rPr>
              <a:t>流媒体是一边发送一边接收的多媒体</a:t>
            </a:r>
            <a:endParaRPr lang="en-US" altLang="zh-CN" dirty="0">
              <a:solidFill>
                <a:srgbClr val="FF0000"/>
              </a:solidFill>
            </a:endParaRPr>
          </a:p>
          <a:p>
            <a:pPr lvl="1"/>
            <a:r>
              <a:rPr lang="zh-CN" altLang="en-US" dirty="0"/>
              <a:t>采用流式传输方式，用户不必像采用下载方式那样需要等到整个文件全部下载完毕再观看出，而只需经过几秒或几十秒的启动延时就可以在用户的计算机上进行播放和观看</a:t>
            </a:r>
            <a:endParaRPr lang="en-US" altLang="zh-CN" dirty="0"/>
          </a:p>
          <a:p>
            <a:endParaRPr lang="en-US" altLang="zh-CN" b="0" dirty="0"/>
          </a:p>
          <a:p>
            <a:pPr lvl="1"/>
            <a:endParaRPr lang="zh-CN" altLang="en-US" dirty="0"/>
          </a:p>
        </p:txBody>
      </p:sp>
      <p:sp>
        <p:nvSpPr>
          <p:cNvPr id="3" name="标题 2">
            <a:extLst>
              <a:ext uri="{FF2B5EF4-FFF2-40B4-BE49-F238E27FC236}">
                <a16:creationId xmlns:a16="http://schemas.microsoft.com/office/drawing/2014/main" id="{B8A561EB-F5B3-4542-8FFC-83A5D26ED790}"/>
              </a:ext>
            </a:extLst>
          </p:cNvPr>
          <p:cNvSpPr>
            <a:spLocks noGrp="1"/>
          </p:cNvSpPr>
          <p:nvPr>
            <p:ph type="title"/>
          </p:nvPr>
        </p:nvSpPr>
        <p:spPr/>
        <p:txBody>
          <a:bodyPr>
            <a:normAutofit fontScale="90000"/>
          </a:bodyPr>
          <a:lstStyle/>
          <a:p>
            <a:r>
              <a:rPr lang="zh-CN" altLang="en-US" dirty="0"/>
              <a:t>互联网上多媒体应用</a:t>
            </a:r>
          </a:p>
        </p:txBody>
      </p:sp>
      <p:sp>
        <p:nvSpPr>
          <p:cNvPr id="4" name="灯片编号占位符 3">
            <a:extLst>
              <a:ext uri="{FF2B5EF4-FFF2-40B4-BE49-F238E27FC236}">
                <a16:creationId xmlns:a16="http://schemas.microsoft.com/office/drawing/2014/main" id="{20648DE9-0FEB-46C8-B620-9B19AA45C3CF}"/>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11</a:t>
            </a:fld>
            <a:endParaRPr lang="zh-CN" altLang="en-US"/>
          </a:p>
        </p:txBody>
      </p:sp>
    </p:spTree>
    <p:extLst>
      <p:ext uri="{BB962C8B-B14F-4D97-AF65-F5344CB8AC3E}">
        <p14:creationId xmlns:p14="http://schemas.microsoft.com/office/powerpoint/2010/main" val="938088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5390C89-8B5E-41BD-9E51-BDC52B2DD325}"/>
              </a:ext>
            </a:extLst>
          </p:cNvPr>
          <p:cNvSpPr>
            <a:spLocks noGrp="1"/>
          </p:cNvSpPr>
          <p:nvPr>
            <p:ph idx="1"/>
          </p:nvPr>
        </p:nvSpPr>
        <p:spPr/>
        <p:txBody>
          <a:bodyPr/>
          <a:lstStyle/>
          <a:p>
            <a:r>
              <a:rPr lang="zh-CN" altLang="en-US" b="0" dirty="0"/>
              <a:t>两个关键条件：</a:t>
            </a:r>
            <a:endParaRPr lang="en-US" altLang="zh-CN" b="0" dirty="0"/>
          </a:p>
          <a:p>
            <a:r>
              <a:rPr lang="zh-CN" altLang="en-US" b="0" dirty="0"/>
              <a:t>一是缓存，二是合适的传输协议。</a:t>
            </a:r>
            <a:endParaRPr lang="zh-CN" altLang="en-US" dirty="0"/>
          </a:p>
        </p:txBody>
      </p:sp>
      <p:sp>
        <p:nvSpPr>
          <p:cNvPr id="3" name="标题 2">
            <a:extLst>
              <a:ext uri="{FF2B5EF4-FFF2-40B4-BE49-F238E27FC236}">
                <a16:creationId xmlns:a16="http://schemas.microsoft.com/office/drawing/2014/main" id="{9E39BBE6-2E67-405F-AE44-C644D87A0B5B}"/>
              </a:ext>
            </a:extLst>
          </p:cNvPr>
          <p:cNvSpPr>
            <a:spLocks noGrp="1"/>
          </p:cNvSpPr>
          <p:nvPr>
            <p:ph type="title"/>
          </p:nvPr>
        </p:nvSpPr>
        <p:spPr/>
        <p:txBody>
          <a:bodyPr>
            <a:normAutofit fontScale="90000"/>
          </a:bodyPr>
          <a:lstStyle/>
          <a:p>
            <a:r>
              <a:rPr lang="zh-CN" altLang="en-US" dirty="0"/>
              <a:t>互联网上多媒体应用</a:t>
            </a:r>
          </a:p>
        </p:txBody>
      </p:sp>
      <p:pic>
        <p:nvPicPr>
          <p:cNvPr id="4" name="图片 3">
            <a:extLst>
              <a:ext uri="{FF2B5EF4-FFF2-40B4-BE49-F238E27FC236}">
                <a16:creationId xmlns:a16="http://schemas.microsoft.com/office/drawing/2014/main" id="{446F6C3B-EDF5-4FE9-857F-FE0452AD1EFC}"/>
              </a:ext>
            </a:extLst>
          </p:cNvPr>
          <p:cNvPicPr>
            <a:picLocks noChangeAspect="1"/>
          </p:cNvPicPr>
          <p:nvPr/>
        </p:nvPicPr>
        <p:blipFill>
          <a:blip r:embed="rId2"/>
          <a:stretch>
            <a:fillRect/>
          </a:stretch>
        </p:blipFill>
        <p:spPr>
          <a:xfrm>
            <a:off x="563727" y="2636912"/>
            <a:ext cx="8016546" cy="3660103"/>
          </a:xfrm>
          <a:prstGeom prst="rect">
            <a:avLst/>
          </a:prstGeom>
        </p:spPr>
      </p:pic>
      <p:sp>
        <p:nvSpPr>
          <p:cNvPr id="5" name="灯片编号占位符 4">
            <a:extLst>
              <a:ext uri="{FF2B5EF4-FFF2-40B4-BE49-F238E27FC236}">
                <a16:creationId xmlns:a16="http://schemas.microsoft.com/office/drawing/2014/main" id="{52E024E0-60AF-4F69-9BF7-798445B21EFF}"/>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12</a:t>
            </a:fld>
            <a:endParaRPr lang="zh-CN" altLang="en-US"/>
          </a:p>
        </p:txBody>
      </p:sp>
    </p:spTree>
    <p:extLst>
      <p:ext uri="{BB962C8B-B14F-4D97-AF65-F5344CB8AC3E}">
        <p14:creationId xmlns:p14="http://schemas.microsoft.com/office/powerpoint/2010/main" val="1300591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3E4840-535F-4F81-9D35-4FF2C79DECA8}"/>
              </a:ext>
            </a:extLst>
          </p:cNvPr>
          <p:cNvSpPr>
            <a:spLocks noGrp="1"/>
          </p:cNvSpPr>
          <p:nvPr>
            <p:ph idx="1"/>
          </p:nvPr>
        </p:nvSpPr>
        <p:spPr>
          <a:xfrm>
            <a:off x="255014" y="1196752"/>
            <a:ext cx="8493449" cy="4968552"/>
          </a:xfrm>
        </p:spPr>
        <p:txBody>
          <a:bodyPr/>
          <a:lstStyle/>
          <a:p>
            <a:r>
              <a:rPr lang="zh-CN" altLang="en-US" dirty="0"/>
              <a:t>服务质量</a:t>
            </a:r>
            <a:r>
              <a:rPr lang="en-US" altLang="zh-CN" dirty="0"/>
              <a:t>(Quality of Service, QoS)</a:t>
            </a:r>
          </a:p>
          <a:p>
            <a:r>
              <a:rPr lang="zh-CN" altLang="en-US" b="0" dirty="0"/>
              <a:t>互联网多媒体应用程序提供网络软硬件资源保障的性能，用有限的资源和最低的成本提供最好的服务</a:t>
            </a:r>
            <a:endParaRPr lang="en-US" altLang="zh-CN" b="0" dirty="0"/>
          </a:p>
          <a:p>
            <a:r>
              <a:rPr lang="zh-CN" altLang="en-US" b="0" dirty="0"/>
              <a:t>多媒体应用对互联网要求很高，声音要连续，图像要清晰，声像要同步</a:t>
            </a:r>
            <a:endParaRPr lang="en-US" altLang="zh-CN" b="0" dirty="0"/>
          </a:p>
          <a:p>
            <a:r>
              <a:rPr lang="en-US" altLang="zh-CN" b="0" dirty="0"/>
              <a:t>QoS</a:t>
            </a:r>
            <a:r>
              <a:rPr lang="zh-CN" altLang="en-US" b="0" dirty="0"/>
              <a:t>主要体现在流媒体在网络上产生的时延、抖动、丢包率和吞吐量等性能指标上</a:t>
            </a:r>
            <a:endParaRPr lang="en-US" altLang="zh-CN" b="0" dirty="0"/>
          </a:p>
          <a:p>
            <a:endParaRPr lang="zh-CN" altLang="en-US" b="0" dirty="0"/>
          </a:p>
        </p:txBody>
      </p:sp>
      <p:sp>
        <p:nvSpPr>
          <p:cNvPr id="3" name="标题 2">
            <a:extLst>
              <a:ext uri="{FF2B5EF4-FFF2-40B4-BE49-F238E27FC236}">
                <a16:creationId xmlns:a16="http://schemas.microsoft.com/office/drawing/2014/main" id="{8506A7F9-E5F2-4D6B-A91D-0C6C18C9F415}"/>
              </a:ext>
            </a:extLst>
          </p:cNvPr>
          <p:cNvSpPr>
            <a:spLocks noGrp="1"/>
          </p:cNvSpPr>
          <p:nvPr>
            <p:ph type="title"/>
          </p:nvPr>
        </p:nvSpPr>
        <p:spPr/>
        <p:txBody>
          <a:bodyPr>
            <a:normAutofit fontScale="90000"/>
          </a:bodyPr>
          <a:lstStyle/>
          <a:p>
            <a:r>
              <a:rPr lang="zh-CN" altLang="en-US" dirty="0"/>
              <a:t>互联网络的服务质量（</a:t>
            </a:r>
            <a:r>
              <a:rPr lang="en-US" altLang="zh-CN" dirty="0"/>
              <a:t>QoS</a:t>
            </a:r>
            <a:r>
              <a:rPr lang="zh-CN" altLang="en-US" dirty="0"/>
              <a:t>）</a:t>
            </a:r>
          </a:p>
        </p:txBody>
      </p:sp>
      <p:sp>
        <p:nvSpPr>
          <p:cNvPr id="4" name="灯片编号占位符 3">
            <a:extLst>
              <a:ext uri="{FF2B5EF4-FFF2-40B4-BE49-F238E27FC236}">
                <a16:creationId xmlns:a16="http://schemas.microsoft.com/office/drawing/2014/main" id="{0236C30D-4A76-4875-8EBE-0BCAE705C421}"/>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13</a:t>
            </a:fld>
            <a:endParaRPr lang="zh-CN" altLang="en-US"/>
          </a:p>
        </p:txBody>
      </p:sp>
    </p:spTree>
    <p:extLst>
      <p:ext uri="{BB962C8B-B14F-4D97-AF65-F5344CB8AC3E}">
        <p14:creationId xmlns:p14="http://schemas.microsoft.com/office/powerpoint/2010/main" val="1873336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F9E419-FFCA-4D88-9D24-A1CF8305886E}"/>
              </a:ext>
            </a:extLst>
          </p:cNvPr>
          <p:cNvSpPr>
            <a:spLocks noGrp="1"/>
          </p:cNvSpPr>
          <p:nvPr>
            <p:ph idx="1"/>
          </p:nvPr>
        </p:nvSpPr>
        <p:spPr>
          <a:xfrm>
            <a:off x="255014" y="1196752"/>
            <a:ext cx="8637465" cy="4968552"/>
          </a:xfrm>
        </p:spPr>
        <p:txBody>
          <a:bodyPr>
            <a:normAutofit fontScale="92500" lnSpcReduction="10000"/>
          </a:bodyPr>
          <a:lstStyle/>
          <a:p>
            <a:r>
              <a:rPr lang="zh-CN" altLang="en-US" dirty="0"/>
              <a:t>时延</a:t>
            </a:r>
            <a:r>
              <a:rPr lang="en-US" altLang="zh-CN" dirty="0"/>
              <a:t>delay:</a:t>
            </a:r>
            <a:r>
              <a:rPr lang="zh-CN" altLang="en-US" b="0" dirty="0">
                <a:solidFill>
                  <a:schemeClr val="tx1"/>
                </a:solidFill>
              </a:rPr>
              <a:t>消息在发送者和接收者之间的往返时间</a:t>
            </a:r>
            <a:endParaRPr lang="en-US" altLang="zh-CN" b="0" dirty="0">
              <a:solidFill>
                <a:schemeClr val="tx1"/>
              </a:solidFill>
            </a:endParaRPr>
          </a:p>
          <a:p>
            <a:r>
              <a:rPr lang="zh-CN" altLang="en-US" dirty="0"/>
              <a:t>抖动</a:t>
            </a:r>
            <a:r>
              <a:rPr lang="en-US" altLang="zh-CN" dirty="0"/>
              <a:t>jitter:</a:t>
            </a:r>
            <a:r>
              <a:rPr lang="zh-CN" altLang="en-US" b="0" dirty="0">
                <a:solidFill>
                  <a:schemeClr val="tx1"/>
                </a:solidFill>
              </a:rPr>
              <a:t>每个数据包到达目的地的延迟时间不是恒定的</a:t>
            </a:r>
            <a:endParaRPr lang="en-US" altLang="zh-CN" b="0" dirty="0">
              <a:solidFill>
                <a:schemeClr val="tx1"/>
              </a:solidFill>
            </a:endParaRPr>
          </a:p>
          <a:p>
            <a:r>
              <a:rPr lang="zh-CN" altLang="en-US" dirty="0"/>
              <a:t>丢包率</a:t>
            </a:r>
            <a:r>
              <a:rPr lang="en-US" altLang="zh-CN" dirty="0"/>
              <a:t>packet loss ratio:</a:t>
            </a:r>
            <a:r>
              <a:rPr lang="zh-CN" altLang="en-US" b="0" dirty="0">
                <a:solidFill>
                  <a:schemeClr val="tx1"/>
                </a:solidFill>
              </a:rPr>
              <a:t>丢失数据包占发送数据包的百分比，网络可靠性的衡量指标</a:t>
            </a:r>
            <a:endParaRPr lang="en-US" altLang="zh-CN" b="0" dirty="0">
              <a:solidFill>
                <a:schemeClr val="tx1"/>
              </a:solidFill>
            </a:endParaRPr>
          </a:p>
          <a:p>
            <a:r>
              <a:rPr lang="zh-CN" altLang="en-US" dirty="0"/>
              <a:t>吞吐率</a:t>
            </a:r>
            <a:r>
              <a:rPr lang="en-US" altLang="zh-CN" dirty="0"/>
              <a:t>throughput:</a:t>
            </a:r>
            <a:r>
              <a:rPr lang="zh-CN" altLang="en-US" b="0" dirty="0">
                <a:solidFill>
                  <a:schemeClr val="tx1"/>
                </a:solidFill>
              </a:rPr>
              <a:t>系统</a:t>
            </a:r>
            <a:r>
              <a:rPr lang="zh-CN" altLang="en-US" dirty="0">
                <a:solidFill>
                  <a:schemeClr val="tx1"/>
                </a:solidFill>
              </a:rPr>
              <a:t>实际的</a:t>
            </a:r>
            <a:r>
              <a:rPr lang="zh-CN" altLang="en-US" b="0" dirty="0">
                <a:solidFill>
                  <a:schemeClr val="tx1"/>
                </a:solidFill>
              </a:rPr>
              <a:t>传输能力，软指标</a:t>
            </a:r>
            <a:endParaRPr lang="en-US" altLang="zh-CN" b="0" dirty="0">
              <a:solidFill>
                <a:schemeClr val="tx1"/>
              </a:solidFill>
            </a:endParaRPr>
          </a:p>
          <a:p>
            <a:r>
              <a:rPr lang="zh-CN" altLang="en-US" dirty="0"/>
              <a:t>带宽</a:t>
            </a:r>
            <a:r>
              <a:rPr lang="en-US" altLang="zh-CN" dirty="0"/>
              <a:t>bandwidth:</a:t>
            </a:r>
            <a:r>
              <a:rPr lang="zh-CN" altLang="en-US" dirty="0">
                <a:solidFill>
                  <a:schemeClr val="tx1"/>
                </a:solidFill>
              </a:rPr>
              <a:t>线路的</a:t>
            </a:r>
            <a:r>
              <a:rPr lang="zh-CN" altLang="en-US" b="0" dirty="0">
                <a:solidFill>
                  <a:schemeClr val="tx1"/>
                </a:solidFill>
              </a:rPr>
              <a:t>传输能力，硬指标</a:t>
            </a:r>
            <a:endParaRPr lang="en-US" altLang="zh-CN" b="0" dirty="0">
              <a:solidFill>
                <a:schemeClr val="tx1"/>
              </a:solidFill>
            </a:endParaRPr>
          </a:p>
          <a:p>
            <a:r>
              <a:rPr lang="zh-CN" altLang="en-US" dirty="0"/>
              <a:t>服务可用性</a:t>
            </a:r>
            <a:r>
              <a:rPr lang="en-US" altLang="zh-CN" dirty="0"/>
              <a:t>service availability:</a:t>
            </a:r>
            <a:r>
              <a:rPr lang="zh-CN" altLang="en-US" b="0" dirty="0">
                <a:solidFill>
                  <a:schemeClr val="tx1"/>
                </a:solidFill>
              </a:rPr>
              <a:t>用户连接网络时，获取网络资源的难易程度</a:t>
            </a:r>
          </a:p>
        </p:txBody>
      </p:sp>
      <p:sp>
        <p:nvSpPr>
          <p:cNvPr id="3" name="标题 2">
            <a:extLst>
              <a:ext uri="{FF2B5EF4-FFF2-40B4-BE49-F238E27FC236}">
                <a16:creationId xmlns:a16="http://schemas.microsoft.com/office/drawing/2014/main" id="{A23237F4-2EB2-4170-881A-27B7CECAB5DE}"/>
              </a:ext>
            </a:extLst>
          </p:cNvPr>
          <p:cNvSpPr>
            <a:spLocks noGrp="1"/>
          </p:cNvSpPr>
          <p:nvPr>
            <p:ph type="title"/>
          </p:nvPr>
        </p:nvSpPr>
        <p:spPr/>
        <p:txBody>
          <a:bodyPr>
            <a:normAutofit fontScale="90000"/>
          </a:bodyPr>
          <a:lstStyle/>
          <a:p>
            <a:r>
              <a:rPr lang="zh-CN" altLang="en-US" dirty="0"/>
              <a:t>互联网络的服务质量（</a:t>
            </a:r>
            <a:r>
              <a:rPr lang="en-US" altLang="zh-CN" dirty="0"/>
              <a:t>QoS</a:t>
            </a:r>
            <a:r>
              <a:rPr lang="zh-CN" altLang="en-US" dirty="0"/>
              <a:t>）</a:t>
            </a:r>
          </a:p>
        </p:txBody>
      </p:sp>
      <p:sp>
        <p:nvSpPr>
          <p:cNvPr id="4" name="灯片编号占位符 3">
            <a:extLst>
              <a:ext uri="{FF2B5EF4-FFF2-40B4-BE49-F238E27FC236}">
                <a16:creationId xmlns:a16="http://schemas.microsoft.com/office/drawing/2014/main" id="{E0BF2DDC-4835-4917-9D74-2D894D84FE3F}"/>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14</a:t>
            </a:fld>
            <a:endParaRPr lang="zh-CN" altLang="en-US"/>
          </a:p>
        </p:txBody>
      </p:sp>
    </p:spTree>
    <p:extLst>
      <p:ext uri="{BB962C8B-B14F-4D97-AF65-F5344CB8AC3E}">
        <p14:creationId xmlns:p14="http://schemas.microsoft.com/office/powerpoint/2010/main" val="3947743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40558DB-BE31-49D4-B8F7-14F018904728}"/>
              </a:ext>
            </a:extLst>
          </p:cNvPr>
          <p:cNvSpPr>
            <a:spLocks noGrp="1"/>
          </p:cNvSpPr>
          <p:nvPr>
            <p:ph idx="1"/>
          </p:nvPr>
        </p:nvSpPr>
        <p:spPr/>
        <p:txBody>
          <a:bodyPr/>
          <a:lstStyle/>
          <a:p>
            <a:r>
              <a:rPr lang="zh-CN" altLang="en-US" dirty="0"/>
              <a:t>多媒体服务质量主要体现在网络为视听应用提供的服务质量</a:t>
            </a:r>
            <a:endParaRPr lang="en-US" altLang="zh-CN" dirty="0"/>
          </a:p>
          <a:p>
            <a:pPr lvl="1"/>
            <a:r>
              <a:rPr lang="zh-CN" altLang="en-US" dirty="0"/>
              <a:t>影视中的配音，声音和画面要同步，尤其是嘴唇动作和声音的同步要求更高</a:t>
            </a:r>
            <a:endParaRPr lang="en-US" altLang="zh-CN" dirty="0"/>
          </a:p>
          <a:p>
            <a:pPr marL="342900" lvl="1" indent="-342900">
              <a:buFont typeface="Arial" pitchFamily="34" charset="0"/>
              <a:buChar char="•"/>
            </a:pPr>
            <a:r>
              <a:rPr lang="zh-CN" altLang="en-US" sz="3200" b="1" dirty="0">
                <a:solidFill>
                  <a:srgbClr val="0000FF"/>
                </a:solidFill>
              </a:rPr>
              <a:t>四个主要参数：时延，抖动，丢包率和吞吐率</a:t>
            </a:r>
          </a:p>
        </p:txBody>
      </p:sp>
      <p:sp>
        <p:nvSpPr>
          <p:cNvPr id="3" name="标题 2">
            <a:extLst>
              <a:ext uri="{FF2B5EF4-FFF2-40B4-BE49-F238E27FC236}">
                <a16:creationId xmlns:a16="http://schemas.microsoft.com/office/drawing/2014/main" id="{F8C2BB7B-D550-4799-A542-42A71A5895C7}"/>
              </a:ext>
            </a:extLst>
          </p:cNvPr>
          <p:cNvSpPr>
            <a:spLocks noGrp="1"/>
          </p:cNvSpPr>
          <p:nvPr>
            <p:ph type="title"/>
          </p:nvPr>
        </p:nvSpPr>
        <p:spPr/>
        <p:txBody>
          <a:bodyPr>
            <a:normAutofit fontScale="90000"/>
          </a:bodyPr>
          <a:lstStyle/>
          <a:p>
            <a:r>
              <a:rPr lang="zh-CN" altLang="en-US" dirty="0"/>
              <a:t>多媒体服务质量</a:t>
            </a:r>
          </a:p>
        </p:txBody>
      </p:sp>
      <p:sp>
        <p:nvSpPr>
          <p:cNvPr id="4" name="灯片编号占位符 3">
            <a:extLst>
              <a:ext uri="{FF2B5EF4-FFF2-40B4-BE49-F238E27FC236}">
                <a16:creationId xmlns:a16="http://schemas.microsoft.com/office/drawing/2014/main" id="{41B58563-926C-4B76-82EF-9E400ACAEFDD}"/>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15</a:t>
            </a:fld>
            <a:endParaRPr lang="zh-CN" altLang="en-US"/>
          </a:p>
        </p:txBody>
      </p:sp>
    </p:spTree>
    <p:extLst>
      <p:ext uri="{BB962C8B-B14F-4D97-AF65-F5344CB8AC3E}">
        <p14:creationId xmlns:p14="http://schemas.microsoft.com/office/powerpoint/2010/main" val="3637553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F9E419-FFCA-4D88-9D24-A1CF8305886E}"/>
              </a:ext>
            </a:extLst>
          </p:cNvPr>
          <p:cNvSpPr>
            <a:spLocks noGrp="1"/>
          </p:cNvSpPr>
          <p:nvPr>
            <p:ph idx="1"/>
          </p:nvPr>
        </p:nvSpPr>
        <p:spPr>
          <a:xfrm>
            <a:off x="255014" y="1196753"/>
            <a:ext cx="8709473" cy="4680520"/>
          </a:xfrm>
        </p:spPr>
        <p:txBody>
          <a:bodyPr/>
          <a:lstStyle/>
          <a:p>
            <a:r>
              <a:rPr lang="en-US" altLang="zh-CN" dirty="0"/>
              <a:t>ITU-T</a:t>
            </a:r>
            <a:r>
              <a:rPr lang="zh-CN" altLang="en-US" dirty="0"/>
              <a:t>对会话时延的要求</a:t>
            </a:r>
          </a:p>
        </p:txBody>
      </p:sp>
      <p:sp>
        <p:nvSpPr>
          <p:cNvPr id="3" name="标题 2">
            <a:extLst>
              <a:ext uri="{FF2B5EF4-FFF2-40B4-BE49-F238E27FC236}">
                <a16:creationId xmlns:a16="http://schemas.microsoft.com/office/drawing/2014/main" id="{A23237F4-2EB2-4170-881A-27B7CECAB5DE}"/>
              </a:ext>
            </a:extLst>
          </p:cNvPr>
          <p:cNvSpPr>
            <a:spLocks noGrp="1"/>
          </p:cNvSpPr>
          <p:nvPr>
            <p:ph type="title"/>
          </p:nvPr>
        </p:nvSpPr>
        <p:spPr/>
        <p:txBody>
          <a:bodyPr>
            <a:normAutofit fontScale="90000"/>
          </a:bodyPr>
          <a:lstStyle/>
          <a:p>
            <a:r>
              <a:rPr lang="zh-CN" altLang="en-US" dirty="0"/>
              <a:t>多媒体服务质量</a:t>
            </a:r>
          </a:p>
        </p:txBody>
      </p:sp>
      <p:pic>
        <p:nvPicPr>
          <p:cNvPr id="1026" name="Picture 2" descr="VOIP - Bufferbloat.net">
            <a:extLst>
              <a:ext uri="{FF2B5EF4-FFF2-40B4-BE49-F238E27FC236}">
                <a16:creationId xmlns:a16="http://schemas.microsoft.com/office/drawing/2014/main" id="{6BDBD500-7E9D-40B2-81F5-F55E5D0FB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184623"/>
            <a:ext cx="5010150" cy="3476625"/>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6FFE25F9-1AF6-474A-ABAB-9CCD9401E3F0}"/>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16</a:t>
            </a:fld>
            <a:endParaRPr lang="zh-CN" altLang="en-US"/>
          </a:p>
        </p:txBody>
      </p:sp>
      <p:sp>
        <p:nvSpPr>
          <p:cNvPr id="5" name="文本框 4">
            <a:extLst>
              <a:ext uri="{FF2B5EF4-FFF2-40B4-BE49-F238E27FC236}">
                <a16:creationId xmlns:a16="http://schemas.microsoft.com/office/drawing/2014/main" id="{1B25DC06-582B-3BD6-AB92-260D96E53231}"/>
              </a:ext>
            </a:extLst>
          </p:cNvPr>
          <p:cNvSpPr txBox="1"/>
          <p:nvPr/>
        </p:nvSpPr>
        <p:spPr>
          <a:xfrm>
            <a:off x="611560" y="5953386"/>
            <a:ext cx="3810146" cy="369332"/>
          </a:xfrm>
          <a:prstGeom prst="rect">
            <a:avLst/>
          </a:prstGeom>
          <a:noFill/>
        </p:spPr>
        <p:txBody>
          <a:bodyPr wrap="none" rtlCol="0">
            <a:spAutoFit/>
          </a:bodyPr>
          <a:lstStyle/>
          <a:p>
            <a:r>
              <a:rPr kumimoji="1" lang="en-US" altLang="zh-CN" i="1" dirty="0"/>
              <a:t>Hint</a:t>
            </a:r>
            <a:r>
              <a:rPr kumimoji="1" lang="zh-CN" altLang="en-US" i="1" dirty="0"/>
              <a:t>：国际电信联盟电信标准化部门</a:t>
            </a:r>
          </a:p>
        </p:txBody>
      </p:sp>
    </p:spTree>
    <p:extLst>
      <p:ext uri="{BB962C8B-B14F-4D97-AF65-F5344CB8AC3E}">
        <p14:creationId xmlns:p14="http://schemas.microsoft.com/office/powerpoint/2010/main" val="2567428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F9E419-FFCA-4D88-9D24-A1CF8305886E}"/>
              </a:ext>
            </a:extLst>
          </p:cNvPr>
          <p:cNvSpPr>
            <a:spLocks noGrp="1"/>
          </p:cNvSpPr>
          <p:nvPr>
            <p:ph idx="1"/>
          </p:nvPr>
        </p:nvSpPr>
        <p:spPr>
          <a:xfrm>
            <a:off x="255014" y="1196752"/>
            <a:ext cx="8493449" cy="5040560"/>
          </a:xfrm>
        </p:spPr>
        <p:txBody>
          <a:bodyPr>
            <a:normAutofit fontScale="92500" lnSpcReduction="10000"/>
          </a:bodyPr>
          <a:lstStyle/>
          <a:p>
            <a:r>
              <a:rPr lang="zh-CN" altLang="en-US" dirty="0"/>
              <a:t>声音应用的服务质量要求</a:t>
            </a:r>
            <a:endParaRPr lang="en-US" altLang="zh-CN" dirty="0"/>
          </a:p>
          <a:p>
            <a:r>
              <a:rPr lang="zh-CN" altLang="en-US" u="sng" dirty="0"/>
              <a:t>现场</a:t>
            </a:r>
            <a:r>
              <a:rPr lang="zh-CN" altLang="en-US" dirty="0"/>
              <a:t>交互应用：</a:t>
            </a:r>
            <a:endParaRPr lang="en-US" altLang="zh-CN" dirty="0"/>
          </a:p>
          <a:p>
            <a:pPr lvl="1"/>
            <a:r>
              <a:rPr lang="zh-CN" altLang="en-US" dirty="0"/>
              <a:t>实时电视会议、网络电话</a:t>
            </a:r>
            <a:endParaRPr lang="en-US" altLang="zh-CN" dirty="0"/>
          </a:p>
          <a:p>
            <a:pPr lvl="1"/>
            <a:r>
              <a:rPr lang="zh-CN" altLang="en-US" dirty="0"/>
              <a:t>时延不超过</a:t>
            </a:r>
            <a:r>
              <a:rPr lang="en-US" altLang="zh-CN" dirty="0"/>
              <a:t>400ms</a:t>
            </a:r>
          </a:p>
          <a:p>
            <a:r>
              <a:rPr lang="zh-CN" altLang="en-US" dirty="0"/>
              <a:t>交互应用：</a:t>
            </a:r>
            <a:endParaRPr lang="en-US" altLang="zh-CN" dirty="0"/>
          </a:p>
          <a:p>
            <a:pPr lvl="1"/>
            <a:r>
              <a:rPr lang="zh-CN" altLang="en-US" dirty="0"/>
              <a:t>音乐影视点播</a:t>
            </a:r>
            <a:endParaRPr lang="en-US" altLang="zh-CN" dirty="0"/>
          </a:p>
          <a:p>
            <a:pPr lvl="1"/>
            <a:r>
              <a:rPr lang="en-US" altLang="zh-CN" dirty="0"/>
              <a:t>1~5s</a:t>
            </a:r>
            <a:r>
              <a:rPr lang="zh-CN" altLang="en-US" dirty="0"/>
              <a:t>都可以接受</a:t>
            </a:r>
            <a:endParaRPr lang="en-US" altLang="zh-CN" dirty="0"/>
          </a:p>
          <a:p>
            <a:r>
              <a:rPr lang="zh-CN" altLang="en-US" dirty="0"/>
              <a:t>非实时交互应用：</a:t>
            </a:r>
            <a:endParaRPr lang="en-US" altLang="zh-CN" dirty="0"/>
          </a:p>
          <a:p>
            <a:pPr lvl="1"/>
            <a:r>
              <a:rPr lang="zh-CN" altLang="en-US" dirty="0"/>
              <a:t>现场声音广播，电视广播</a:t>
            </a:r>
            <a:endParaRPr lang="en-US" altLang="zh-CN" dirty="0"/>
          </a:p>
          <a:p>
            <a:pPr lvl="1"/>
            <a:r>
              <a:rPr lang="en-US" altLang="zh-CN" dirty="0"/>
              <a:t>&gt;10s</a:t>
            </a:r>
            <a:endParaRPr lang="zh-CN" altLang="en-US" dirty="0"/>
          </a:p>
        </p:txBody>
      </p:sp>
      <p:sp>
        <p:nvSpPr>
          <p:cNvPr id="3" name="标题 2">
            <a:extLst>
              <a:ext uri="{FF2B5EF4-FFF2-40B4-BE49-F238E27FC236}">
                <a16:creationId xmlns:a16="http://schemas.microsoft.com/office/drawing/2014/main" id="{A23237F4-2EB2-4170-881A-27B7CECAB5DE}"/>
              </a:ext>
            </a:extLst>
          </p:cNvPr>
          <p:cNvSpPr>
            <a:spLocks noGrp="1"/>
          </p:cNvSpPr>
          <p:nvPr>
            <p:ph type="title"/>
          </p:nvPr>
        </p:nvSpPr>
        <p:spPr/>
        <p:txBody>
          <a:bodyPr>
            <a:normAutofit fontScale="90000"/>
          </a:bodyPr>
          <a:lstStyle/>
          <a:p>
            <a:r>
              <a:rPr lang="zh-CN" altLang="en-US" dirty="0"/>
              <a:t>多媒体服务质量</a:t>
            </a:r>
          </a:p>
        </p:txBody>
      </p:sp>
      <p:sp>
        <p:nvSpPr>
          <p:cNvPr id="4" name="灯片编号占位符 3">
            <a:extLst>
              <a:ext uri="{FF2B5EF4-FFF2-40B4-BE49-F238E27FC236}">
                <a16:creationId xmlns:a16="http://schemas.microsoft.com/office/drawing/2014/main" id="{D56C33F3-4DF2-4F58-8E24-C3BFF439A92F}"/>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17</a:t>
            </a:fld>
            <a:endParaRPr lang="zh-CN" altLang="en-US"/>
          </a:p>
        </p:txBody>
      </p:sp>
    </p:spTree>
    <p:extLst>
      <p:ext uri="{BB962C8B-B14F-4D97-AF65-F5344CB8AC3E}">
        <p14:creationId xmlns:p14="http://schemas.microsoft.com/office/powerpoint/2010/main" val="2071363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F9E419-FFCA-4D88-9D24-A1CF8305886E}"/>
              </a:ext>
            </a:extLst>
          </p:cNvPr>
          <p:cNvSpPr>
            <a:spLocks noGrp="1"/>
          </p:cNvSpPr>
          <p:nvPr>
            <p:ph idx="1"/>
          </p:nvPr>
        </p:nvSpPr>
        <p:spPr/>
        <p:txBody>
          <a:bodyPr/>
          <a:lstStyle/>
          <a:p>
            <a:r>
              <a:rPr lang="zh-CN" altLang="en-US" dirty="0"/>
              <a:t>视像应用的服务质量要求</a:t>
            </a:r>
            <a:endParaRPr lang="en-US" altLang="zh-CN" dirty="0"/>
          </a:p>
          <a:p>
            <a:r>
              <a:rPr lang="zh-CN" altLang="en-US" dirty="0"/>
              <a:t>满足人对视像分辨率的最低要求</a:t>
            </a:r>
            <a:endParaRPr lang="en-US" altLang="zh-CN" dirty="0"/>
          </a:p>
          <a:p>
            <a:pPr lvl="1"/>
            <a:r>
              <a:rPr lang="zh-CN" altLang="en-US" dirty="0"/>
              <a:t>帧速率 </a:t>
            </a:r>
            <a:r>
              <a:rPr lang="en-US" altLang="zh-CN" dirty="0"/>
              <a:t>fps</a:t>
            </a:r>
          </a:p>
          <a:p>
            <a:pPr lvl="1"/>
            <a:r>
              <a:rPr lang="zh-CN" altLang="en-US" dirty="0"/>
              <a:t>图像分辨率 像素</a:t>
            </a:r>
          </a:p>
        </p:txBody>
      </p:sp>
      <p:sp>
        <p:nvSpPr>
          <p:cNvPr id="3" name="标题 2">
            <a:extLst>
              <a:ext uri="{FF2B5EF4-FFF2-40B4-BE49-F238E27FC236}">
                <a16:creationId xmlns:a16="http://schemas.microsoft.com/office/drawing/2014/main" id="{A23237F4-2EB2-4170-881A-27B7CECAB5DE}"/>
              </a:ext>
            </a:extLst>
          </p:cNvPr>
          <p:cNvSpPr>
            <a:spLocks noGrp="1"/>
          </p:cNvSpPr>
          <p:nvPr>
            <p:ph type="title"/>
          </p:nvPr>
        </p:nvSpPr>
        <p:spPr/>
        <p:txBody>
          <a:bodyPr>
            <a:normAutofit fontScale="90000"/>
          </a:bodyPr>
          <a:lstStyle/>
          <a:p>
            <a:r>
              <a:rPr lang="zh-CN" altLang="en-US" dirty="0"/>
              <a:t>多媒体服务质量</a:t>
            </a:r>
          </a:p>
        </p:txBody>
      </p:sp>
      <p:pic>
        <p:nvPicPr>
          <p:cNvPr id="4" name="图片 3">
            <a:extLst>
              <a:ext uri="{FF2B5EF4-FFF2-40B4-BE49-F238E27FC236}">
                <a16:creationId xmlns:a16="http://schemas.microsoft.com/office/drawing/2014/main" id="{1F695221-599D-4F79-B973-FDAC45FEA673}"/>
              </a:ext>
            </a:extLst>
          </p:cNvPr>
          <p:cNvPicPr>
            <a:picLocks noChangeAspect="1"/>
          </p:cNvPicPr>
          <p:nvPr/>
        </p:nvPicPr>
        <p:blipFill>
          <a:blip r:embed="rId2"/>
          <a:stretch>
            <a:fillRect/>
          </a:stretch>
        </p:blipFill>
        <p:spPr>
          <a:xfrm>
            <a:off x="1889956" y="3429000"/>
            <a:ext cx="5364088" cy="2682044"/>
          </a:xfrm>
          <a:prstGeom prst="rect">
            <a:avLst/>
          </a:prstGeom>
        </p:spPr>
      </p:pic>
      <p:sp>
        <p:nvSpPr>
          <p:cNvPr id="5" name="矩形 4">
            <a:extLst>
              <a:ext uri="{FF2B5EF4-FFF2-40B4-BE49-F238E27FC236}">
                <a16:creationId xmlns:a16="http://schemas.microsoft.com/office/drawing/2014/main" id="{54F0D765-CCC7-4773-A263-1D0A2D206C52}"/>
              </a:ext>
            </a:extLst>
          </p:cNvPr>
          <p:cNvSpPr/>
          <p:nvPr/>
        </p:nvSpPr>
        <p:spPr>
          <a:xfrm>
            <a:off x="3707904" y="2959614"/>
            <a:ext cx="3185487" cy="369332"/>
          </a:xfrm>
          <a:prstGeom prst="rect">
            <a:avLst/>
          </a:prstGeom>
        </p:spPr>
        <p:txBody>
          <a:bodyPr wrap="none">
            <a:spAutoFit/>
          </a:bodyPr>
          <a:lstStyle/>
          <a:p>
            <a:r>
              <a:rPr lang="zh-CN" altLang="en-US" dirty="0">
                <a:solidFill>
                  <a:srgbClr val="4D4D4D"/>
                </a:solidFill>
                <a:latin typeface="-apple-system"/>
              </a:rPr>
              <a:t>人眼分辨能力存在一定的极限</a:t>
            </a:r>
            <a:endParaRPr lang="zh-CN" altLang="en-US" dirty="0"/>
          </a:p>
        </p:txBody>
      </p:sp>
      <p:sp>
        <p:nvSpPr>
          <p:cNvPr id="6" name="灯片编号占位符 5">
            <a:extLst>
              <a:ext uri="{FF2B5EF4-FFF2-40B4-BE49-F238E27FC236}">
                <a16:creationId xmlns:a16="http://schemas.microsoft.com/office/drawing/2014/main" id="{056D5933-E8CC-4ABF-8FEE-A1B275FA5251}"/>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18</a:t>
            </a:fld>
            <a:endParaRPr lang="zh-CN" altLang="en-US"/>
          </a:p>
        </p:txBody>
      </p:sp>
    </p:spTree>
    <p:extLst>
      <p:ext uri="{BB962C8B-B14F-4D97-AF65-F5344CB8AC3E}">
        <p14:creationId xmlns:p14="http://schemas.microsoft.com/office/powerpoint/2010/main" val="978941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F9E419-FFCA-4D88-9D24-A1CF8305886E}"/>
              </a:ext>
            </a:extLst>
          </p:cNvPr>
          <p:cNvSpPr>
            <a:spLocks noGrp="1"/>
          </p:cNvSpPr>
          <p:nvPr>
            <p:ph idx="1"/>
          </p:nvPr>
        </p:nvSpPr>
        <p:spPr/>
        <p:txBody>
          <a:bodyPr/>
          <a:lstStyle/>
          <a:p>
            <a:r>
              <a:rPr lang="zh-CN" altLang="en-US" dirty="0"/>
              <a:t>提高</a:t>
            </a:r>
            <a:r>
              <a:rPr lang="en-US" altLang="zh-CN" dirty="0"/>
              <a:t>QoS</a:t>
            </a:r>
            <a:r>
              <a:rPr lang="zh-CN" altLang="en-US" dirty="0"/>
              <a:t>措施</a:t>
            </a:r>
            <a:endParaRPr lang="en-US" altLang="zh-CN" dirty="0"/>
          </a:p>
          <a:p>
            <a:pPr marL="914400" lvl="1" indent="-457200">
              <a:buFont typeface="Arial" panose="020B0604020202020204" pitchFamily="34" charset="0"/>
              <a:buChar char="•"/>
            </a:pPr>
            <a:r>
              <a:rPr lang="zh-CN" altLang="en-US" dirty="0"/>
              <a:t>超量配置</a:t>
            </a:r>
            <a:endParaRPr lang="en-US" altLang="zh-CN" dirty="0"/>
          </a:p>
          <a:p>
            <a:pPr marL="914400" lvl="1" indent="-457200">
              <a:buFont typeface="Arial" panose="020B0604020202020204" pitchFamily="34" charset="0"/>
              <a:buChar char="•"/>
            </a:pPr>
            <a:r>
              <a:rPr lang="zh-CN" altLang="en-US" dirty="0"/>
              <a:t>缓冲存储</a:t>
            </a:r>
            <a:endParaRPr lang="en-US" altLang="zh-CN" dirty="0"/>
          </a:p>
          <a:p>
            <a:pPr marL="914400" lvl="1" indent="-457200">
              <a:buFont typeface="Arial" panose="020B0604020202020204" pitchFamily="34" charset="0"/>
              <a:buChar char="•"/>
            </a:pPr>
            <a:r>
              <a:rPr lang="zh-CN" altLang="en-US" dirty="0"/>
              <a:t>交通整形</a:t>
            </a:r>
            <a:endParaRPr lang="en-US" altLang="zh-CN" dirty="0"/>
          </a:p>
          <a:p>
            <a:pPr marL="914400" lvl="1" indent="-457200">
              <a:buFont typeface="Arial" panose="020B0604020202020204" pitchFamily="34" charset="0"/>
              <a:buChar char="•"/>
            </a:pPr>
            <a:r>
              <a:rPr lang="zh-CN" altLang="en-US" dirty="0"/>
              <a:t>调度技术</a:t>
            </a:r>
          </a:p>
        </p:txBody>
      </p:sp>
      <p:sp>
        <p:nvSpPr>
          <p:cNvPr id="3" name="标题 2">
            <a:extLst>
              <a:ext uri="{FF2B5EF4-FFF2-40B4-BE49-F238E27FC236}">
                <a16:creationId xmlns:a16="http://schemas.microsoft.com/office/drawing/2014/main" id="{A23237F4-2EB2-4170-881A-27B7CECAB5DE}"/>
              </a:ext>
            </a:extLst>
          </p:cNvPr>
          <p:cNvSpPr>
            <a:spLocks noGrp="1"/>
          </p:cNvSpPr>
          <p:nvPr>
            <p:ph type="title"/>
          </p:nvPr>
        </p:nvSpPr>
        <p:spPr/>
        <p:txBody>
          <a:bodyPr>
            <a:normAutofit fontScale="90000"/>
          </a:bodyPr>
          <a:lstStyle/>
          <a:p>
            <a:r>
              <a:rPr lang="zh-CN" altLang="en-US" dirty="0"/>
              <a:t>多媒体服务质量</a:t>
            </a:r>
          </a:p>
        </p:txBody>
      </p:sp>
      <p:pic>
        <p:nvPicPr>
          <p:cNvPr id="2050" name="Picture 2" descr="漏桶、令牌桶限流的Go语言实现- Q1mi - 博客园">
            <a:extLst>
              <a:ext uri="{FF2B5EF4-FFF2-40B4-BE49-F238E27FC236}">
                <a16:creationId xmlns:a16="http://schemas.microsoft.com/office/drawing/2014/main" id="{3DC4C609-3D0C-4ADF-A999-0C44A82045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4088" y="1556792"/>
            <a:ext cx="2754873" cy="2448272"/>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1BA06B4E-FD42-4CBE-8741-E5E0B278D81C}"/>
              </a:ext>
            </a:extLst>
          </p:cNvPr>
          <p:cNvSpPr>
            <a:spLocks noGrp="1"/>
          </p:cNvSpPr>
          <p:nvPr>
            <p:ph type="sldNum" sz="quarter" idx="12"/>
          </p:nvPr>
        </p:nvSpPr>
        <p:spPr>
          <a:xfrm>
            <a:off x="323528" y="6427791"/>
            <a:ext cx="21336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4BA984-46A0-4F46-990E-EC790E6934B4}" type="slidenum">
              <a:rPr lang="zh-CN" altLang="en-US" smtClean="0"/>
              <a:pPr/>
              <a:t>19</a:t>
            </a:fld>
            <a:endParaRPr lang="zh-CN" altLang="en-US"/>
          </a:p>
        </p:txBody>
      </p:sp>
    </p:spTree>
    <p:extLst>
      <p:ext uri="{BB962C8B-B14F-4D97-AF65-F5344CB8AC3E}">
        <p14:creationId xmlns:p14="http://schemas.microsoft.com/office/powerpoint/2010/main" val="84180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solidFill>
                  <a:schemeClr val="bg1">
                    <a:lumMod val="85000"/>
                  </a:schemeClr>
                </a:solidFill>
              </a:rPr>
              <a:t>多媒体网络概述</a:t>
            </a:r>
            <a:endParaRPr lang="en-US" altLang="zh-CN" b="0" dirty="0">
              <a:solidFill>
                <a:schemeClr val="bg1">
                  <a:lumMod val="85000"/>
                </a:schemeClr>
              </a:solidFill>
            </a:endParaRPr>
          </a:p>
          <a:p>
            <a:r>
              <a:rPr lang="zh-CN" altLang="en-US" b="0" dirty="0"/>
              <a:t>互联网基础</a:t>
            </a:r>
            <a:endParaRPr lang="en-US" altLang="zh-CN" b="0" dirty="0"/>
          </a:p>
          <a:p>
            <a:pPr lvl="1"/>
            <a:r>
              <a:rPr lang="en-US" altLang="zh-CN" dirty="0"/>
              <a:t>ISO-OSI</a:t>
            </a:r>
            <a:r>
              <a:rPr lang="zh-CN" altLang="en-US" dirty="0"/>
              <a:t>模型</a:t>
            </a:r>
            <a:endParaRPr lang="en-US" altLang="zh-CN" dirty="0"/>
          </a:p>
          <a:p>
            <a:r>
              <a:rPr lang="zh-CN" altLang="en-US" b="0" dirty="0">
                <a:solidFill>
                  <a:schemeClr val="bg1">
                    <a:lumMod val="85000"/>
                  </a:schemeClr>
                </a:solidFill>
              </a:rPr>
              <a:t>多媒体应用</a:t>
            </a:r>
            <a:endParaRPr lang="en-US" altLang="zh-CN" b="0" dirty="0">
              <a:solidFill>
                <a:schemeClr val="bg1">
                  <a:lumMod val="85000"/>
                </a:schemeClr>
              </a:solidFill>
            </a:endParaRPr>
          </a:p>
          <a:p>
            <a:pPr lvl="1"/>
            <a:r>
              <a:rPr lang="zh-CN" altLang="en-US" dirty="0">
                <a:solidFill>
                  <a:schemeClr val="bg1">
                    <a:lumMod val="85000"/>
                  </a:schemeClr>
                </a:solidFill>
              </a:rPr>
              <a:t>多媒体传输协议</a:t>
            </a:r>
            <a:endParaRPr lang="en-US" altLang="zh-CN" dirty="0">
              <a:solidFill>
                <a:schemeClr val="bg1">
                  <a:lumMod val="85000"/>
                </a:schemeClr>
              </a:solidFill>
            </a:endParaRPr>
          </a:p>
          <a:p>
            <a:pPr marL="342900" lvl="1" indent="-342900">
              <a:buFont typeface="Arial" pitchFamily="34" charset="0"/>
              <a:buChar char="•"/>
            </a:pPr>
            <a:r>
              <a:rPr lang="zh-CN" altLang="en-US" sz="3200" dirty="0">
                <a:solidFill>
                  <a:schemeClr val="bg1">
                    <a:lumMod val="85000"/>
                  </a:schemeClr>
                </a:solidFill>
              </a:rPr>
              <a:t>互联网新技术</a:t>
            </a:r>
            <a:endParaRPr lang="en-US" altLang="zh-CN" sz="3200" dirty="0">
              <a:solidFill>
                <a:schemeClr val="bg1">
                  <a:lumMod val="85000"/>
                </a:schemeClr>
              </a:solidFill>
            </a:endParaRPr>
          </a:p>
          <a:p>
            <a:pPr lvl="1"/>
            <a:endParaRPr lang="en-US" altLang="zh-CN" dirty="0"/>
          </a:p>
          <a:p>
            <a:pPr marL="0" indent="0">
              <a:buNone/>
            </a:pPr>
            <a:endParaRPr lang="zh-CN" altLang="en-US" b="0" dirty="0"/>
          </a:p>
        </p:txBody>
      </p:sp>
      <p:sp>
        <p:nvSpPr>
          <p:cNvPr id="3" name="标题 2"/>
          <p:cNvSpPr>
            <a:spLocks noGrp="1"/>
          </p:cNvSpPr>
          <p:nvPr>
            <p:ph type="title"/>
          </p:nvPr>
        </p:nvSpPr>
        <p:spPr/>
        <p:txBody>
          <a:bodyPr>
            <a:normAutofit fontScale="90000"/>
          </a:bodyPr>
          <a:lstStyle/>
          <a:p>
            <a:r>
              <a:rPr lang="zh-CN" altLang="en-US" dirty="0"/>
              <a:t>第</a:t>
            </a:r>
            <a:r>
              <a:rPr lang="en-US" altLang="zh-CN" dirty="0"/>
              <a:t>4</a:t>
            </a:r>
            <a:r>
              <a:rPr lang="zh-CN" altLang="en-US" dirty="0"/>
              <a:t>章 多媒体通信与网络</a:t>
            </a:r>
          </a:p>
        </p:txBody>
      </p:sp>
    </p:spTree>
    <p:extLst>
      <p:ext uri="{BB962C8B-B14F-4D97-AF65-F5344CB8AC3E}">
        <p14:creationId xmlns:p14="http://schemas.microsoft.com/office/powerpoint/2010/main" val="1931777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mj-ea"/>
              </a:rPr>
              <a:t>4.1 </a:t>
            </a:r>
            <a:r>
              <a:rPr lang="zh-CN" altLang="zh-CN" dirty="0">
                <a:latin typeface="+mj-ea"/>
              </a:rPr>
              <a:t>因特网</a:t>
            </a:r>
            <a:endParaRPr lang="zh-CN" altLang="en-US" dirty="0">
              <a:latin typeface="+mj-ea"/>
            </a:endParaRPr>
          </a:p>
        </p:txBody>
      </p:sp>
      <p:sp>
        <p:nvSpPr>
          <p:cNvPr id="3" name="内容占位符 2"/>
          <p:cNvSpPr>
            <a:spLocks noGrp="1"/>
          </p:cNvSpPr>
          <p:nvPr>
            <p:ph idx="1"/>
          </p:nvPr>
        </p:nvSpPr>
        <p:spPr>
          <a:xfrm>
            <a:off x="251520" y="1052736"/>
            <a:ext cx="8229600" cy="2952328"/>
          </a:xfrm>
        </p:spPr>
        <p:txBody>
          <a:bodyPr>
            <a:normAutofit lnSpcReduction="10000"/>
          </a:bodyPr>
          <a:lstStyle/>
          <a:p>
            <a:pPr algn="just">
              <a:lnSpc>
                <a:spcPct val="120000"/>
              </a:lnSpc>
            </a:pPr>
            <a:r>
              <a:rPr lang="en-US" altLang="zh-CN" b="0" dirty="0">
                <a:latin typeface="微软雅黑" pitchFamily="34" charset="-122"/>
                <a:ea typeface="微软雅黑" pitchFamily="34" charset="-122"/>
              </a:rPr>
              <a:t>Internet</a:t>
            </a:r>
            <a:r>
              <a:rPr lang="zh-CN" altLang="en-US" b="0" dirty="0">
                <a:latin typeface="微软雅黑" pitchFamily="34" charset="-122"/>
                <a:ea typeface="微软雅黑" pitchFamily="34" charset="-122"/>
              </a:rPr>
              <a:t>，俗称因特网，是一个由遍及全世界、利用</a:t>
            </a:r>
            <a:r>
              <a:rPr lang="en-US" altLang="zh-CN" b="0" dirty="0">
                <a:latin typeface="微软雅黑" pitchFamily="34" charset="-122"/>
                <a:ea typeface="微软雅黑" pitchFamily="34" charset="-122"/>
              </a:rPr>
              <a:t>TCP/IP</a:t>
            </a:r>
            <a:r>
              <a:rPr lang="zh-CN" altLang="en-US" b="0" dirty="0">
                <a:latin typeface="微软雅黑" pitchFamily="34" charset="-122"/>
                <a:ea typeface="微软雅黑" pitchFamily="34" charset="-122"/>
              </a:rPr>
              <a:t>通信协议所建立的各种各样的网络组成的国际互联网络，其最初的来源仅仅是美国国防部的一个军事网络</a:t>
            </a:r>
            <a:r>
              <a:rPr lang="en-US" altLang="zh-CN" b="0" dirty="0" err="1">
                <a:latin typeface="微软雅黑" pitchFamily="34" charset="-122"/>
                <a:ea typeface="微软雅黑" pitchFamily="34" charset="-122"/>
              </a:rPr>
              <a:t>ARPAnet</a:t>
            </a:r>
            <a:r>
              <a:rPr lang="zh-CN" altLang="en-US" b="0" dirty="0">
                <a:latin typeface="微软雅黑" pitchFamily="34" charset="-122"/>
                <a:ea typeface="微软雅黑" pitchFamily="34" charset="-122"/>
              </a:rPr>
              <a:t>。</a:t>
            </a:r>
          </a:p>
        </p:txBody>
      </p:sp>
      <p:sp>
        <p:nvSpPr>
          <p:cNvPr id="4" name="灯片编号占位符 3"/>
          <p:cNvSpPr>
            <a:spLocks noGrp="1"/>
          </p:cNvSpPr>
          <p:nvPr>
            <p:ph type="sldNum" sz="quarter" idx="4294967295"/>
          </p:nvPr>
        </p:nvSpPr>
        <p:spPr>
          <a:xfrm>
            <a:off x="4114800" y="6400800"/>
            <a:ext cx="914400" cy="283464"/>
          </a:xfrm>
          <a:prstGeom prst="rect">
            <a:avLst/>
          </a:prstGeom>
        </p:spPr>
        <p:txBody>
          <a:bodyPr/>
          <a:lstStyle/>
          <a:p>
            <a:fld id="{0C913308-F349-4B6D-A68A-DD1791B4A57B}" type="slidenum">
              <a:rPr lang="zh-CN" altLang="en-US" smtClean="0"/>
              <a:t>21</a:t>
            </a:fld>
            <a:endParaRPr lang="zh-CN" altLang="en-US"/>
          </a:p>
        </p:txBody>
      </p:sp>
      <p:pic>
        <p:nvPicPr>
          <p:cNvPr id="5" name="图片 4"/>
          <p:cNvPicPr>
            <a:picLocks noChangeAspect="1"/>
          </p:cNvPicPr>
          <p:nvPr/>
        </p:nvPicPr>
        <p:blipFill>
          <a:blip r:embed="rId2"/>
          <a:stretch>
            <a:fillRect/>
          </a:stretch>
        </p:blipFill>
        <p:spPr>
          <a:xfrm>
            <a:off x="2589183" y="3938048"/>
            <a:ext cx="3965634" cy="2434190"/>
          </a:xfrm>
          <a:prstGeom prst="rect">
            <a:avLst/>
          </a:prstGeom>
        </p:spPr>
      </p:pic>
    </p:spTree>
    <p:extLst>
      <p:ext uri="{BB962C8B-B14F-4D97-AF65-F5344CB8AC3E}">
        <p14:creationId xmlns:p14="http://schemas.microsoft.com/office/powerpoint/2010/main" val="1112710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4.1 </a:t>
            </a:r>
            <a:r>
              <a:rPr lang="zh-CN" altLang="en-US" dirty="0"/>
              <a:t>发展历史</a:t>
            </a:r>
          </a:p>
        </p:txBody>
      </p:sp>
      <p:sp>
        <p:nvSpPr>
          <p:cNvPr id="3" name="内容占位符 2"/>
          <p:cNvSpPr>
            <a:spLocks noGrp="1"/>
          </p:cNvSpPr>
          <p:nvPr>
            <p:ph idx="1"/>
          </p:nvPr>
        </p:nvSpPr>
        <p:spPr>
          <a:xfrm>
            <a:off x="251520" y="1052736"/>
            <a:ext cx="8229600" cy="5472608"/>
          </a:xfrm>
        </p:spPr>
        <p:txBody>
          <a:bodyPr>
            <a:normAutofit lnSpcReduction="10000"/>
          </a:bodyPr>
          <a:lstStyle/>
          <a:p>
            <a:r>
              <a:rPr lang="en-US" altLang="zh-CN" dirty="0"/>
              <a:t>1986</a:t>
            </a:r>
            <a:r>
              <a:rPr lang="zh-CN" altLang="en-US" dirty="0"/>
              <a:t>年</a:t>
            </a:r>
            <a:endParaRPr lang="en-US" altLang="zh-CN" dirty="0"/>
          </a:p>
          <a:p>
            <a:pPr lvl="1"/>
            <a:r>
              <a:rPr lang="zh-CN" altLang="en-US" dirty="0"/>
              <a:t>美国国家科学基金会把全美</a:t>
            </a:r>
            <a:r>
              <a:rPr lang="en-US" altLang="zh-CN" dirty="0"/>
              <a:t>6</a:t>
            </a:r>
            <a:r>
              <a:rPr lang="zh-CN" altLang="en-US" dirty="0"/>
              <a:t>个超级计算机中心连接组成教育科研网</a:t>
            </a:r>
            <a:r>
              <a:rPr lang="en-US" altLang="zh-CN" dirty="0" err="1"/>
              <a:t>NSFnet</a:t>
            </a:r>
            <a:r>
              <a:rPr lang="zh-CN" altLang="en-US" dirty="0"/>
              <a:t>。</a:t>
            </a:r>
          </a:p>
          <a:p>
            <a:r>
              <a:rPr lang="en-US" altLang="zh-CN" dirty="0"/>
              <a:t>1989</a:t>
            </a:r>
            <a:r>
              <a:rPr lang="zh-CN" altLang="en-US" dirty="0"/>
              <a:t>年</a:t>
            </a:r>
            <a:endParaRPr lang="en-US" altLang="zh-CN" dirty="0"/>
          </a:p>
          <a:p>
            <a:pPr lvl="1"/>
            <a:r>
              <a:rPr lang="zh-CN" altLang="en-US" dirty="0"/>
              <a:t>正式使用</a:t>
            </a:r>
            <a:r>
              <a:rPr lang="en-US" altLang="zh-CN" dirty="0"/>
              <a:t>Internet</a:t>
            </a:r>
            <a:r>
              <a:rPr lang="zh-CN" altLang="en-US" dirty="0"/>
              <a:t>这个名称。</a:t>
            </a:r>
          </a:p>
          <a:p>
            <a:r>
              <a:rPr lang="en-US" altLang="zh-CN" dirty="0"/>
              <a:t>1992</a:t>
            </a:r>
            <a:r>
              <a:rPr lang="zh-CN" altLang="en-US" dirty="0"/>
              <a:t>年</a:t>
            </a:r>
            <a:endParaRPr lang="en-US" altLang="zh-CN" dirty="0"/>
          </a:p>
          <a:p>
            <a:pPr lvl="1"/>
            <a:r>
              <a:rPr lang="en-US" altLang="zh-CN" dirty="0"/>
              <a:t>Internet</a:t>
            </a:r>
            <a:r>
              <a:rPr lang="zh-CN" altLang="en-US" dirty="0"/>
              <a:t>中的几个商用网络向用户提供联网服务：通信、信息发布、数据检索等。</a:t>
            </a:r>
            <a:endParaRPr lang="en-US" altLang="zh-CN" dirty="0"/>
          </a:p>
          <a:p>
            <a:pPr marL="342900" lvl="1" indent="-342900">
              <a:buFont typeface="Arial" pitchFamily="34" charset="0"/>
              <a:buChar char="•"/>
            </a:pPr>
            <a:r>
              <a:rPr lang="en-US" altLang="zh-CN" sz="3200" b="1" dirty="0">
                <a:solidFill>
                  <a:srgbClr val="0000FF"/>
                </a:solidFill>
              </a:rPr>
              <a:t>1987</a:t>
            </a:r>
            <a:r>
              <a:rPr lang="zh-CN" altLang="en-US" sz="3200" b="1" dirty="0">
                <a:solidFill>
                  <a:srgbClr val="0000FF"/>
                </a:solidFill>
              </a:rPr>
              <a:t>年</a:t>
            </a:r>
            <a:endParaRPr lang="en-US" altLang="zh-CN" sz="3200" b="1" dirty="0">
              <a:solidFill>
                <a:srgbClr val="0000FF"/>
              </a:solidFill>
            </a:endParaRPr>
          </a:p>
          <a:p>
            <a:pPr lvl="1"/>
            <a:r>
              <a:rPr lang="zh-CN" altLang="en-US" dirty="0"/>
              <a:t>中科院计算所建立网络节点，并发送了中国第一封邮件</a:t>
            </a:r>
            <a:r>
              <a:rPr lang="en-US" altLang="zh-CN" dirty="0"/>
              <a:t>“</a:t>
            </a:r>
            <a:r>
              <a:rPr lang="zh-CN" altLang="en-US" dirty="0"/>
              <a:t>越过长城长城，走向世界</a:t>
            </a:r>
            <a:r>
              <a:rPr lang="en-US" altLang="zh-CN" dirty="0"/>
              <a:t>”</a:t>
            </a:r>
          </a:p>
          <a:p>
            <a:pPr lvl="1"/>
            <a:endParaRPr lang="zh-CN" altLang="en-US" dirty="0"/>
          </a:p>
          <a:p>
            <a:endParaRPr lang="zh-CN" altLang="en-US" dirty="0"/>
          </a:p>
        </p:txBody>
      </p:sp>
      <p:sp>
        <p:nvSpPr>
          <p:cNvPr id="4" name="灯片编号占位符 3"/>
          <p:cNvSpPr>
            <a:spLocks noGrp="1"/>
          </p:cNvSpPr>
          <p:nvPr>
            <p:ph type="sldNum" sz="quarter" idx="4294967295"/>
          </p:nvPr>
        </p:nvSpPr>
        <p:spPr>
          <a:xfrm>
            <a:off x="4114800" y="6400800"/>
            <a:ext cx="914400" cy="283464"/>
          </a:xfrm>
          <a:prstGeom prst="rect">
            <a:avLst/>
          </a:prstGeom>
        </p:spPr>
        <p:txBody>
          <a:bodyPr/>
          <a:lstStyle/>
          <a:p>
            <a:fld id="{0C913308-F349-4B6D-A68A-DD1791B4A57B}" type="slidenum">
              <a:rPr lang="zh-CN" altLang="en-US" smtClean="0"/>
              <a:t>22</a:t>
            </a:fld>
            <a:endParaRPr lang="zh-CN" altLang="en-US"/>
          </a:p>
        </p:txBody>
      </p:sp>
      <p:pic>
        <p:nvPicPr>
          <p:cNvPr id="5" name="图片 4"/>
          <p:cNvPicPr>
            <a:picLocks noChangeAspect="1"/>
          </p:cNvPicPr>
          <p:nvPr/>
        </p:nvPicPr>
        <p:blipFill>
          <a:blip r:embed="rId2"/>
          <a:stretch>
            <a:fillRect/>
          </a:stretch>
        </p:blipFill>
        <p:spPr>
          <a:xfrm>
            <a:off x="3491880" y="2899308"/>
            <a:ext cx="5727994" cy="3626036"/>
          </a:xfrm>
          <a:prstGeom prst="rect">
            <a:avLst/>
          </a:prstGeom>
        </p:spPr>
      </p:pic>
    </p:spTree>
    <p:extLst>
      <p:ext uri="{BB962C8B-B14F-4D97-AF65-F5344CB8AC3E}">
        <p14:creationId xmlns:p14="http://schemas.microsoft.com/office/powerpoint/2010/main" val="155139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4.1 </a:t>
            </a:r>
            <a:r>
              <a:rPr lang="zh-CN" altLang="en-US" dirty="0"/>
              <a:t>网络分层结构</a:t>
            </a:r>
          </a:p>
        </p:txBody>
      </p:sp>
      <p:sp>
        <p:nvSpPr>
          <p:cNvPr id="4" name="TextBox 3"/>
          <p:cNvSpPr txBox="1"/>
          <p:nvPr/>
        </p:nvSpPr>
        <p:spPr>
          <a:xfrm>
            <a:off x="323528" y="1124744"/>
            <a:ext cx="6336704" cy="584775"/>
          </a:xfrm>
          <a:prstGeom prst="rect">
            <a:avLst/>
          </a:prstGeom>
          <a:noFill/>
        </p:spPr>
        <p:txBody>
          <a:bodyPr wrap="square" rtlCol="0">
            <a:spAutoFit/>
          </a:bodyPr>
          <a:lstStyle/>
          <a:p>
            <a:r>
              <a:rPr lang="en-US" altLang="zh-CN" sz="3200" dirty="0">
                <a:solidFill>
                  <a:srgbClr val="0000FF"/>
                </a:solidFill>
              </a:rPr>
              <a:t>ISO-OSI</a:t>
            </a:r>
            <a:r>
              <a:rPr lang="zh-CN" altLang="en-US" sz="3200" dirty="0">
                <a:solidFill>
                  <a:srgbClr val="0000FF"/>
                </a:solidFill>
              </a:rPr>
              <a:t>模型把网络分为</a:t>
            </a:r>
            <a:r>
              <a:rPr lang="en-US" altLang="zh-CN" sz="3200" dirty="0">
                <a:solidFill>
                  <a:srgbClr val="0000FF"/>
                </a:solidFill>
              </a:rPr>
              <a:t>7</a:t>
            </a:r>
            <a:r>
              <a:rPr lang="zh-CN" altLang="en-US" sz="3200" dirty="0">
                <a:solidFill>
                  <a:srgbClr val="0000FF"/>
                </a:solidFill>
              </a:rPr>
              <a:t>层的结构</a:t>
            </a:r>
          </a:p>
        </p:txBody>
      </p:sp>
      <p:pic>
        <p:nvPicPr>
          <p:cNvPr id="60420" name="Picture 4" descr="http://d.hiphotos.baidu.com/baike/c%3DbaikeA1%2C10%2C95/sign=df0fac5097dda144ce093be3dbdcb5e3/b21c8701a18b87d6f4a7a35c070828381e30e924b999ddb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263407" y="2204864"/>
            <a:ext cx="6362700" cy="3503659"/>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3779912" y="3861048"/>
            <a:ext cx="1152128" cy="369332"/>
          </a:xfrm>
          <a:prstGeom prst="rect">
            <a:avLst/>
          </a:prstGeom>
          <a:noFill/>
        </p:spPr>
        <p:txBody>
          <a:bodyPr wrap="square" rtlCol="0">
            <a:spAutoFit/>
          </a:bodyPr>
          <a:lstStyle/>
          <a:p>
            <a:pPr algn="ctr"/>
            <a:r>
              <a:rPr lang="zh-CN" altLang="en-US" dirty="0"/>
              <a:t>转发</a:t>
            </a:r>
          </a:p>
        </p:txBody>
      </p:sp>
    </p:spTree>
    <p:extLst>
      <p:ext uri="{BB962C8B-B14F-4D97-AF65-F5344CB8AC3E}">
        <p14:creationId xmlns:p14="http://schemas.microsoft.com/office/powerpoint/2010/main" val="3033979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4.1.1 </a:t>
            </a:r>
            <a:r>
              <a:rPr lang="zh-CN" altLang="en-US" dirty="0"/>
              <a:t>网络分层</a:t>
            </a:r>
            <a:r>
              <a:rPr lang="en-US" altLang="zh-CN" dirty="0"/>
              <a:t>-</a:t>
            </a:r>
            <a:r>
              <a:rPr lang="zh-CN" altLang="en-US" dirty="0"/>
              <a:t>物理层</a:t>
            </a:r>
          </a:p>
        </p:txBody>
      </p:sp>
      <p:pic>
        <p:nvPicPr>
          <p:cNvPr id="62466" name="Picture 2" descr="http://image.beekka.com/blog/201205/bg20120529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221088"/>
            <a:ext cx="5372100" cy="19526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95536" y="1124744"/>
            <a:ext cx="8398185" cy="1077218"/>
          </a:xfrm>
          <a:prstGeom prst="rect">
            <a:avLst/>
          </a:prstGeom>
        </p:spPr>
        <p:txBody>
          <a:bodyPr wrap="square">
            <a:spAutoFit/>
          </a:bodyPr>
          <a:lstStyle/>
          <a:p>
            <a:r>
              <a:rPr lang="zh-CN" altLang="en-US" sz="3200" dirty="0">
                <a:solidFill>
                  <a:srgbClr val="0000FF"/>
                </a:solidFill>
              </a:rPr>
              <a:t>电脑要组网先要把电脑连起来，可以用光缆、电缆、双绞线、无线电波等方式。</a:t>
            </a:r>
          </a:p>
        </p:txBody>
      </p:sp>
      <p:sp>
        <p:nvSpPr>
          <p:cNvPr id="5" name="矩形 4"/>
          <p:cNvSpPr/>
          <p:nvPr/>
        </p:nvSpPr>
        <p:spPr>
          <a:xfrm>
            <a:off x="378307" y="2327806"/>
            <a:ext cx="8136904" cy="1569660"/>
          </a:xfrm>
          <a:prstGeom prst="rect">
            <a:avLst/>
          </a:prstGeom>
        </p:spPr>
        <p:txBody>
          <a:bodyPr wrap="square">
            <a:spAutoFit/>
          </a:bodyPr>
          <a:lstStyle/>
          <a:p>
            <a:r>
              <a:rPr lang="zh-CN" altLang="en-US" sz="3200" dirty="0">
                <a:solidFill>
                  <a:srgbClr val="0000FF"/>
                </a:solidFill>
              </a:rPr>
              <a:t>物理层是把电脑连接起来的物理手段。它主要规定了网络的一些电气特性，作用是负责传送</a:t>
            </a:r>
            <a:r>
              <a:rPr lang="en-US" altLang="zh-CN" sz="3200" dirty="0">
                <a:solidFill>
                  <a:srgbClr val="0000FF"/>
                </a:solidFill>
              </a:rPr>
              <a:t>0</a:t>
            </a:r>
            <a:r>
              <a:rPr lang="zh-CN" altLang="en-US" sz="3200" dirty="0">
                <a:solidFill>
                  <a:srgbClr val="0000FF"/>
                </a:solidFill>
              </a:rPr>
              <a:t>和</a:t>
            </a:r>
            <a:r>
              <a:rPr lang="en-US" altLang="zh-CN" sz="3200" dirty="0">
                <a:solidFill>
                  <a:srgbClr val="0000FF"/>
                </a:solidFill>
              </a:rPr>
              <a:t>1</a:t>
            </a:r>
            <a:r>
              <a:rPr lang="zh-CN" altLang="en-US" sz="3200" dirty="0">
                <a:solidFill>
                  <a:srgbClr val="0000FF"/>
                </a:solidFill>
              </a:rPr>
              <a:t>的电信号。</a:t>
            </a:r>
          </a:p>
        </p:txBody>
      </p:sp>
    </p:spTree>
    <p:extLst>
      <p:ext uri="{BB962C8B-B14F-4D97-AF65-F5344CB8AC3E}">
        <p14:creationId xmlns:p14="http://schemas.microsoft.com/office/powerpoint/2010/main" val="2606825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2880320"/>
          </a:xfrm>
        </p:spPr>
        <p:txBody>
          <a:bodyPr/>
          <a:lstStyle/>
          <a:p>
            <a:r>
              <a:rPr lang="zh-CN" altLang="en-US" b="0" dirty="0"/>
              <a:t>链路层在物理层的上方，确定了</a:t>
            </a:r>
            <a:r>
              <a:rPr lang="en-US" altLang="zh-CN" b="0" dirty="0"/>
              <a:t>0</a:t>
            </a:r>
            <a:r>
              <a:rPr lang="zh-CN" altLang="en-US" b="0" dirty="0"/>
              <a:t>和</a:t>
            </a:r>
            <a:r>
              <a:rPr lang="en-US" altLang="zh-CN" b="0" dirty="0"/>
              <a:t>1</a:t>
            </a:r>
            <a:r>
              <a:rPr lang="zh-CN" altLang="en-US" b="0" dirty="0"/>
              <a:t>的分组方式。</a:t>
            </a:r>
            <a:endParaRPr lang="en-US" altLang="zh-CN" b="0" dirty="0"/>
          </a:p>
          <a:p>
            <a:r>
              <a:rPr lang="zh-CN" altLang="en-US" b="0" dirty="0"/>
              <a:t>“以太网”协议规定，一组电信号构成一个数据包，叫做</a:t>
            </a:r>
            <a:r>
              <a:rPr lang="en-US" altLang="zh-CN" b="0" dirty="0"/>
              <a:t>“</a:t>
            </a:r>
            <a:r>
              <a:rPr lang="zh-CN" altLang="en-US" b="0" dirty="0"/>
              <a:t>帧</a:t>
            </a:r>
            <a:r>
              <a:rPr lang="en-US" altLang="zh-CN" b="0" dirty="0"/>
              <a:t>”</a:t>
            </a:r>
            <a:r>
              <a:rPr lang="zh-CN" altLang="en-US" b="0" dirty="0"/>
              <a:t>。每一帧分成两个部分：标头和数据。</a:t>
            </a:r>
          </a:p>
          <a:p>
            <a:endParaRPr lang="zh-CN" altLang="en-US" b="0" dirty="0"/>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链路层</a:t>
            </a:r>
            <a:endParaRPr lang="zh-CN" altLang="en-US" dirty="0"/>
          </a:p>
        </p:txBody>
      </p:sp>
      <p:pic>
        <p:nvPicPr>
          <p:cNvPr id="63490" name="Picture 2" descr="http://image.beekka.com/blog/201205/bg201205290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933056"/>
            <a:ext cx="6191250" cy="106680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755576" y="5157192"/>
            <a:ext cx="7535621" cy="923330"/>
          </a:xfrm>
          <a:prstGeom prst="rect">
            <a:avLst/>
          </a:prstGeom>
        </p:spPr>
        <p:txBody>
          <a:bodyPr wrap="square">
            <a:spAutoFit/>
          </a:bodyPr>
          <a:lstStyle/>
          <a:p>
            <a:pPr>
              <a:lnSpc>
                <a:spcPct val="150000"/>
              </a:lnSpc>
            </a:pPr>
            <a:r>
              <a:rPr lang="en-US" altLang="zh-CN" dirty="0">
                <a:solidFill>
                  <a:srgbClr val="FF0000"/>
                </a:solidFill>
              </a:rPr>
              <a:t>"</a:t>
            </a:r>
            <a:r>
              <a:rPr lang="zh-CN" altLang="en-US" dirty="0">
                <a:solidFill>
                  <a:srgbClr val="FF0000"/>
                </a:solidFill>
              </a:rPr>
              <a:t>标头</a:t>
            </a:r>
            <a:r>
              <a:rPr lang="en-US" altLang="zh-CN" dirty="0">
                <a:solidFill>
                  <a:srgbClr val="FF0000"/>
                </a:solidFill>
              </a:rPr>
              <a:t>"</a:t>
            </a:r>
            <a:r>
              <a:rPr lang="zh-CN" altLang="en-US" dirty="0">
                <a:solidFill>
                  <a:srgbClr val="FF0000"/>
                </a:solidFill>
              </a:rPr>
              <a:t>包含数据包的一些说明项，比如发送者、接受者、数据类型等等；</a:t>
            </a:r>
            <a:endParaRPr lang="en-US" altLang="zh-CN" dirty="0">
              <a:solidFill>
                <a:srgbClr val="FF0000"/>
              </a:solidFill>
            </a:endParaRPr>
          </a:p>
          <a:p>
            <a:pPr>
              <a:lnSpc>
                <a:spcPct val="150000"/>
              </a:lnSpc>
            </a:pPr>
            <a:r>
              <a:rPr lang="en-US" altLang="zh-CN" dirty="0">
                <a:solidFill>
                  <a:srgbClr val="FF0000"/>
                </a:solidFill>
              </a:rPr>
              <a:t>"</a:t>
            </a:r>
            <a:r>
              <a:rPr lang="zh-CN" altLang="en-US" dirty="0">
                <a:solidFill>
                  <a:srgbClr val="FF0000"/>
                </a:solidFill>
              </a:rPr>
              <a:t>数据</a:t>
            </a:r>
            <a:r>
              <a:rPr lang="en-US" altLang="zh-CN" dirty="0">
                <a:solidFill>
                  <a:srgbClr val="FF0000"/>
                </a:solidFill>
              </a:rPr>
              <a:t>"</a:t>
            </a:r>
            <a:r>
              <a:rPr lang="zh-CN" altLang="en-US" dirty="0">
                <a:solidFill>
                  <a:srgbClr val="FF0000"/>
                </a:solidFill>
              </a:rPr>
              <a:t>则是数据包的具体内容。</a:t>
            </a:r>
          </a:p>
        </p:txBody>
      </p:sp>
    </p:spTree>
    <p:extLst>
      <p:ext uri="{BB962C8B-B14F-4D97-AF65-F5344CB8AC3E}">
        <p14:creationId xmlns:p14="http://schemas.microsoft.com/office/powerpoint/2010/main" val="2577620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052736"/>
            <a:ext cx="8229600" cy="3024336"/>
          </a:xfrm>
        </p:spPr>
        <p:txBody>
          <a:bodyPr>
            <a:normAutofit/>
          </a:bodyPr>
          <a:lstStyle/>
          <a:p>
            <a:r>
              <a:rPr lang="en-US" altLang="zh-CN" b="0" dirty="0"/>
              <a:t>MAC</a:t>
            </a:r>
            <a:r>
              <a:rPr lang="zh-CN" altLang="en-US" b="0" dirty="0"/>
              <a:t>地址：发送者和接受者的标示</a:t>
            </a:r>
          </a:p>
          <a:p>
            <a:pPr lvl="1"/>
            <a:r>
              <a:rPr lang="zh-CN" altLang="en-US" dirty="0"/>
              <a:t>以太网中，数据包从一块网卡，传送到另一块网卡。网卡的地址，就是数据包的发送地址和接收地址，这叫做</a:t>
            </a:r>
            <a:r>
              <a:rPr lang="en-US" altLang="zh-CN" dirty="0"/>
              <a:t>MAC</a:t>
            </a:r>
            <a:r>
              <a:rPr lang="zh-CN" altLang="en-US" dirty="0"/>
              <a:t>地址。</a:t>
            </a:r>
            <a:endParaRPr lang="en-US" altLang="zh-CN" dirty="0"/>
          </a:p>
          <a:p>
            <a:pPr lvl="1"/>
            <a:r>
              <a:rPr lang="zh-CN" altLang="en-US" dirty="0"/>
              <a:t>网卡出厂的时候，都有一个全世界独一无二的</a:t>
            </a:r>
            <a:r>
              <a:rPr lang="en-US" altLang="zh-CN" dirty="0"/>
              <a:t>MAC</a:t>
            </a:r>
            <a:r>
              <a:rPr lang="zh-CN" altLang="en-US" dirty="0"/>
              <a:t>地址，长度是</a:t>
            </a:r>
            <a:r>
              <a:rPr lang="en-US" altLang="zh-CN" dirty="0"/>
              <a:t>48</a:t>
            </a:r>
            <a:r>
              <a:rPr lang="zh-CN" altLang="en-US" dirty="0"/>
              <a:t>个二进制位。</a:t>
            </a:r>
            <a:endParaRPr lang="en-US" altLang="zh-CN" dirty="0"/>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链路层</a:t>
            </a:r>
            <a:endParaRPr lang="zh-CN"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4005064"/>
            <a:ext cx="475297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4854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040560"/>
          </a:xfrm>
        </p:spPr>
        <p:txBody>
          <a:bodyPr>
            <a:normAutofit/>
          </a:bodyPr>
          <a:lstStyle/>
          <a:p>
            <a:r>
              <a:rPr lang="en-US" altLang="zh-CN" b="0" dirty="0"/>
              <a:t>MAC</a:t>
            </a:r>
            <a:r>
              <a:rPr lang="zh-CN" altLang="en-US" b="0" dirty="0"/>
              <a:t>地址：发送者和接受者的标示</a:t>
            </a:r>
          </a:p>
          <a:p>
            <a:pPr marL="971550" lvl="1" indent="-514350">
              <a:lnSpc>
                <a:spcPct val="130000"/>
              </a:lnSpc>
              <a:buFont typeface="+mj-lt"/>
              <a:buAutoNum type="arabicPeriod"/>
            </a:pPr>
            <a:r>
              <a:rPr lang="zh-CN" altLang="en-US" sz="3200" dirty="0"/>
              <a:t>以太网中，数据不是准确送到接收方，而是向本网络内所有计算机发送，让每台计算机自己判断，是否为接收方。</a:t>
            </a:r>
            <a:endParaRPr lang="en-US" altLang="zh-CN" sz="3200" dirty="0"/>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链接层</a:t>
            </a:r>
            <a:endParaRPr lang="zh-CN" altLang="en-US" dirty="0"/>
          </a:p>
        </p:txBody>
      </p:sp>
    </p:spTree>
    <p:extLst>
      <p:ext uri="{BB962C8B-B14F-4D97-AF65-F5344CB8AC3E}">
        <p14:creationId xmlns:p14="http://schemas.microsoft.com/office/powerpoint/2010/main" val="198919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936104"/>
          </a:xfrm>
        </p:spPr>
        <p:txBody>
          <a:bodyPr>
            <a:normAutofit/>
          </a:bodyPr>
          <a:lstStyle/>
          <a:p>
            <a:r>
              <a:rPr lang="zh-CN" altLang="en-US" b="0" dirty="0"/>
              <a:t>以太网通信：广播</a:t>
            </a:r>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链接层</a:t>
            </a:r>
            <a:endParaRPr lang="zh-CN" altLang="en-US" dirty="0"/>
          </a:p>
        </p:txBody>
      </p:sp>
      <p:pic>
        <p:nvPicPr>
          <p:cNvPr id="64514" name="Picture 2" descr="http://image.beekka.com/blog/201205/bg201205290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244711"/>
            <a:ext cx="4936142" cy="374441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5458929" y="2252358"/>
            <a:ext cx="3685071" cy="830997"/>
          </a:xfrm>
          <a:prstGeom prst="rect">
            <a:avLst/>
          </a:prstGeom>
        </p:spPr>
        <p:txBody>
          <a:bodyPr wrap="square">
            <a:spAutoFit/>
          </a:bodyPr>
          <a:lstStyle/>
          <a:p>
            <a:r>
              <a:rPr lang="en-US" altLang="zh-CN" sz="2400" b="1" dirty="0">
                <a:solidFill>
                  <a:srgbClr val="FF0000"/>
                </a:solidFill>
              </a:rPr>
              <a:t>1</a:t>
            </a:r>
            <a:r>
              <a:rPr lang="zh-CN" altLang="en-US" sz="2400" b="1" dirty="0">
                <a:solidFill>
                  <a:srgbClr val="FF0000"/>
                </a:solidFill>
              </a:rPr>
              <a:t>号计算机向</a:t>
            </a:r>
            <a:r>
              <a:rPr lang="en-US" altLang="zh-CN" sz="2400" b="1" dirty="0">
                <a:solidFill>
                  <a:srgbClr val="FF0000"/>
                </a:solidFill>
              </a:rPr>
              <a:t>2</a:t>
            </a:r>
            <a:r>
              <a:rPr lang="zh-CN" altLang="en-US" sz="2400" b="1" dirty="0">
                <a:solidFill>
                  <a:srgbClr val="FF0000"/>
                </a:solidFill>
              </a:rPr>
              <a:t>号计算机发送一个数据包，</a:t>
            </a:r>
          </a:p>
        </p:txBody>
      </p:sp>
    </p:spTree>
    <p:extLst>
      <p:ext uri="{BB962C8B-B14F-4D97-AF65-F5344CB8AC3E}">
        <p14:creationId xmlns:p14="http://schemas.microsoft.com/office/powerpoint/2010/main" val="493327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124744"/>
            <a:ext cx="8229600" cy="5040560"/>
          </a:xfrm>
        </p:spPr>
        <p:txBody>
          <a:bodyPr>
            <a:normAutofit/>
          </a:bodyPr>
          <a:lstStyle/>
          <a:p>
            <a:pPr lvl="1"/>
            <a:r>
              <a:rPr lang="zh-CN" altLang="en-US" sz="3200" dirty="0"/>
              <a:t>载波监听多路访问</a:t>
            </a:r>
            <a:r>
              <a:rPr lang="en-US" altLang="zh-CN" sz="3200" dirty="0"/>
              <a:t>/</a:t>
            </a:r>
            <a:r>
              <a:rPr lang="zh-CN" altLang="en-US" sz="3200" dirty="0"/>
              <a:t>冲突检测机制</a:t>
            </a:r>
            <a:r>
              <a:rPr lang="en-US" altLang="zh-CN" sz="3200" dirty="0"/>
              <a:t>:</a:t>
            </a:r>
          </a:p>
          <a:p>
            <a:pPr lvl="2">
              <a:lnSpc>
                <a:spcPct val="120000"/>
              </a:lnSpc>
            </a:pPr>
            <a:r>
              <a:rPr lang="zh-CN" altLang="en-US" sz="2800" dirty="0"/>
              <a:t>发送数据前 先侦听信道是否空闲 </a:t>
            </a:r>
            <a:r>
              <a:rPr lang="en-US" altLang="zh-CN" sz="2800" dirty="0"/>
              <a:t>,</a:t>
            </a:r>
            <a:r>
              <a:rPr lang="zh-CN" altLang="en-US" sz="2800" dirty="0"/>
              <a:t>若空闲，则立即发送数据。若信道忙碌，则等待一段时间至信道中的信息传输结束后再发送数据；</a:t>
            </a:r>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链接层</a:t>
            </a:r>
            <a:endParaRPr lang="zh-CN" altLang="en-US" dirty="0"/>
          </a:p>
        </p:txBody>
      </p:sp>
      <p:grpSp>
        <p:nvGrpSpPr>
          <p:cNvPr id="7" name="组合 6"/>
          <p:cNvGrpSpPr/>
          <p:nvPr/>
        </p:nvGrpSpPr>
        <p:grpSpPr>
          <a:xfrm>
            <a:off x="1835696" y="3356992"/>
            <a:ext cx="5390476" cy="2576770"/>
            <a:chOff x="1835696" y="3356992"/>
            <a:chExt cx="5390476" cy="2576770"/>
          </a:xfrm>
        </p:grpSpPr>
        <p:pic>
          <p:nvPicPr>
            <p:cNvPr id="5" name="图片 4"/>
            <p:cNvPicPr>
              <a:picLocks noChangeAspect="1"/>
            </p:cNvPicPr>
            <p:nvPr/>
          </p:nvPicPr>
          <p:blipFill>
            <a:blip r:embed="rId3"/>
            <a:stretch>
              <a:fillRect/>
            </a:stretch>
          </p:blipFill>
          <p:spPr>
            <a:xfrm>
              <a:off x="1835696" y="3429000"/>
              <a:ext cx="5390476" cy="2504762"/>
            </a:xfrm>
            <a:prstGeom prst="rect">
              <a:avLst/>
            </a:prstGeom>
          </p:spPr>
        </p:pic>
        <p:pic>
          <p:nvPicPr>
            <p:cNvPr id="6" name="图片 5"/>
            <p:cNvPicPr>
              <a:picLocks noChangeAspect="1"/>
            </p:cNvPicPr>
            <p:nvPr/>
          </p:nvPicPr>
          <p:blipFill>
            <a:blip r:embed="rId4"/>
            <a:stretch>
              <a:fillRect/>
            </a:stretch>
          </p:blipFill>
          <p:spPr>
            <a:xfrm>
              <a:off x="2195736" y="3356992"/>
              <a:ext cx="1247619" cy="971429"/>
            </a:xfrm>
            <a:prstGeom prst="rect">
              <a:avLst/>
            </a:prstGeom>
          </p:spPr>
        </p:pic>
      </p:grpSp>
      <p:sp>
        <p:nvSpPr>
          <p:cNvPr id="8" name="文本框 7"/>
          <p:cNvSpPr txBox="1"/>
          <p:nvPr/>
        </p:nvSpPr>
        <p:spPr>
          <a:xfrm>
            <a:off x="2123728" y="3645024"/>
            <a:ext cx="720080" cy="461665"/>
          </a:xfrm>
          <a:prstGeom prst="rect">
            <a:avLst/>
          </a:prstGeom>
          <a:noFill/>
        </p:spPr>
        <p:txBody>
          <a:bodyPr wrap="square" rtlCol="0">
            <a:spAutoFit/>
          </a:bodyPr>
          <a:lstStyle/>
          <a:p>
            <a:r>
              <a:rPr lang="en-US" altLang="zh-CN" sz="2400" b="1" dirty="0"/>
              <a:t>1</a:t>
            </a:r>
            <a:endParaRPr lang="zh-CN" altLang="en-US" sz="2400" b="1" dirty="0"/>
          </a:p>
        </p:txBody>
      </p:sp>
      <p:sp>
        <p:nvSpPr>
          <p:cNvPr id="9" name="文本框 8"/>
          <p:cNvSpPr txBox="1"/>
          <p:nvPr/>
        </p:nvSpPr>
        <p:spPr>
          <a:xfrm>
            <a:off x="4283968" y="4797152"/>
            <a:ext cx="720080" cy="461665"/>
          </a:xfrm>
          <a:prstGeom prst="rect">
            <a:avLst/>
          </a:prstGeom>
          <a:noFill/>
        </p:spPr>
        <p:txBody>
          <a:bodyPr wrap="square" rtlCol="0">
            <a:spAutoFit/>
          </a:bodyPr>
          <a:lstStyle/>
          <a:p>
            <a:r>
              <a:rPr lang="en-US" altLang="zh-CN" sz="2400" b="1" dirty="0">
                <a:solidFill>
                  <a:srgbClr val="FF0000"/>
                </a:solidFill>
              </a:rPr>
              <a:t>2</a:t>
            </a:r>
            <a:endParaRPr lang="zh-CN" altLang="en-US" sz="2400" b="1" dirty="0">
              <a:solidFill>
                <a:srgbClr val="FF0000"/>
              </a:solidFill>
            </a:endParaRPr>
          </a:p>
        </p:txBody>
      </p:sp>
    </p:spTree>
    <p:extLst>
      <p:ext uri="{BB962C8B-B14F-4D97-AF65-F5344CB8AC3E}">
        <p14:creationId xmlns:p14="http://schemas.microsoft.com/office/powerpoint/2010/main" val="2992612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124744"/>
            <a:ext cx="8229600" cy="3096344"/>
          </a:xfrm>
        </p:spPr>
        <p:txBody>
          <a:bodyPr>
            <a:normAutofit/>
          </a:bodyPr>
          <a:lstStyle/>
          <a:p>
            <a:pPr lvl="1"/>
            <a:r>
              <a:rPr lang="zh-CN" altLang="en-US" sz="3200" dirty="0"/>
              <a:t>载波监听多路访问</a:t>
            </a:r>
            <a:r>
              <a:rPr lang="en-US" altLang="zh-CN" sz="3200" dirty="0"/>
              <a:t>/</a:t>
            </a:r>
            <a:r>
              <a:rPr lang="zh-CN" altLang="en-US" sz="3200" dirty="0"/>
              <a:t>冲突检测机制</a:t>
            </a:r>
            <a:r>
              <a:rPr lang="en-US" altLang="zh-CN" sz="3200" dirty="0"/>
              <a:t>:</a:t>
            </a:r>
            <a:endParaRPr lang="en-US" altLang="zh-CN" sz="2800" dirty="0"/>
          </a:p>
          <a:p>
            <a:pPr lvl="2">
              <a:lnSpc>
                <a:spcPct val="120000"/>
              </a:lnSpc>
            </a:pPr>
            <a:r>
              <a:rPr lang="zh-CN" altLang="en-US" sz="2800" dirty="0"/>
              <a:t>若在上一段信息发送结束后，同时有两个或两个以上的节点都提出发送请求，则判定为冲突。若侦听到冲突</a:t>
            </a:r>
            <a:r>
              <a:rPr lang="en-US" altLang="zh-CN" sz="2800" dirty="0"/>
              <a:t>,</a:t>
            </a:r>
            <a:r>
              <a:rPr lang="zh-CN" altLang="en-US" sz="2800" dirty="0"/>
              <a:t>则立即停止发送数据，等待一段随机时间</a:t>
            </a:r>
            <a:r>
              <a:rPr lang="en-US" altLang="zh-CN" sz="2800" dirty="0"/>
              <a:t>,</a:t>
            </a:r>
            <a:r>
              <a:rPr lang="zh-CN" altLang="en-US" sz="2800" dirty="0"/>
              <a:t>再重新尝试。</a:t>
            </a:r>
            <a:endParaRPr lang="en-US" altLang="zh-CN" sz="2800" dirty="0"/>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链接层</a:t>
            </a:r>
            <a:endParaRPr lang="zh-CN" altLang="en-US" dirty="0"/>
          </a:p>
        </p:txBody>
      </p:sp>
      <p:pic>
        <p:nvPicPr>
          <p:cNvPr id="4" name="图片 3"/>
          <p:cNvPicPr>
            <a:picLocks noChangeAspect="1"/>
          </p:cNvPicPr>
          <p:nvPr/>
        </p:nvPicPr>
        <p:blipFill>
          <a:blip r:embed="rId3"/>
          <a:stretch>
            <a:fillRect/>
          </a:stretch>
        </p:blipFill>
        <p:spPr>
          <a:xfrm>
            <a:off x="1691680" y="3861048"/>
            <a:ext cx="5371429" cy="2152381"/>
          </a:xfrm>
          <a:prstGeom prst="rect">
            <a:avLst/>
          </a:prstGeom>
        </p:spPr>
      </p:pic>
    </p:spTree>
    <p:extLst>
      <p:ext uri="{BB962C8B-B14F-4D97-AF65-F5344CB8AC3E}">
        <p14:creationId xmlns:p14="http://schemas.microsoft.com/office/powerpoint/2010/main" val="3084316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1728192"/>
          </a:xfrm>
        </p:spPr>
        <p:txBody>
          <a:bodyPr/>
          <a:lstStyle/>
          <a:p>
            <a:r>
              <a:rPr lang="zh-CN" altLang="en-US" b="0" dirty="0"/>
              <a:t>以太网的问题</a:t>
            </a:r>
            <a:endParaRPr lang="en-US" altLang="zh-CN" b="0" dirty="0"/>
          </a:p>
          <a:p>
            <a:pPr lvl="1"/>
            <a:r>
              <a:rPr lang="zh-CN" altLang="en-US" dirty="0"/>
              <a:t>所有的计算机在同一个子网才能通信</a:t>
            </a:r>
            <a:endParaRPr lang="en-US" altLang="zh-CN" dirty="0"/>
          </a:p>
          <a:p>
            <a:pPr lvl="1"/>
            <a:r>
              <a:rPr lang="zh-CN" altLang="en-US" dirty="0"/>
              <a:t>每个包都会发到所有的其他计算机</a:t>
            </a:r>
            <a:endParaRPr lang="en-US" altLang="zh-CN" dirty="0"/>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4.1.2 </a:t>
            </a:r>
            <a:r>
              <a:rPr lang="zh-CN" altLang="en-US" b="1" dirty="0"/>
              <a:t>网络分层</a:t>
            </a:r>
            <a:r>
              <a:rPr lang="en-US" altLang="zh-CN" b="1" dirty="0"/>
              <a:t>-</a:t>
            </a:r>
            <a:r>
              <a:rPr lang="zh-CN" altLang="en-US" b="1" dirty="0"/>
              <a:t>网络层</a:t>
            </a:r>
            <a:endParaRPr lang="zh-CN" altLang="en-US" dirty="0"/>
          </a:p>
        </p:txBody>
      </p:sp>
      <p:sp>
        <p:nvSpPr>
          <p:cNvPr id="5" name="矩形 4"/>
          <p:cNvSpPr/>
          <p:nvPr/>
        </p:nvSpPr>
        <p:spPr>
          <a:xfrm>
            <a:off x="251520" y="2860684"/>
            <a:ext cx="8280920" cy="1569660"/>
          </a:xfrm>
          <a:prstGeom prst="rect">
            <a:avLst/>
          </a:prstGeom>
        </p:spPr>
        <p:txBody>
          <a:bodyPr wrap="square">
            <a:spAutoFit/>
          </a:bodyPr>
          <a:lstStyle/>
          <a:p>
            <a:pPr marL="457200" indent="-457200">
              <a:buFont typeface="Arial" pitchFamily="34" charset="0"/>
              <a:buChar char="•"/>
            </a:pPr>
            <a:r>
              <a:rPr lang="zh-CN" altLang="en-US" sz="3200" dirty="0">
                <a:solidFill>
                  <a:srgbClr val="0000FF"/>
                </a:solidFill>
                <a:latin typeface="+mn-ea"/>
              </a:rPr>
              <a:t>网络层提出“网络地址” ，区分不同的计算机是否属于同一个子网络。对不同子网的通信，采用路由的模式。</a:t>
            </a:r>
          </a:p>
        </p:txBody>
      </p:sp>
      <p:grpSp>
        <p:nvGrpSpPr>
          <p:cNvPr id="14" name="组合 13"/>
          <p:cNvGrpSpPr/>
          <p:nvPr/>
        </p:nvGrpSpPr>
        <p:grpSpPr>
          <a:xfrm>
            <a:off x="545628" y="4834915"/>
            <a:ext cx="4326562" cy="1405529"/>
            <a:chOff x="1784296" y="4690471"/>
            <a:chExt cx="4326562" cy="1405529"/>
          </a:xfrm>
        </p:grpSpPr>
        <p:pic>
          <p:nvPicPr>
            <p:cNvPr id="66562" name="Picture 2" descr="http://image.beekka.com/blog/201205/bg2012052914.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3239" r="54828" b="1766"/>
            <a:stretch/>
          </p:blipFill>
          <p:spPr bwMode="auto">
            <a:xfrm>
              <a:off x="1784296" y="4942304"/>
              <a:ext cx="1203528" cy="115369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150" y="4690471"/>
              <a:ext cx="146685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5032855"/>
              <a:ext cx="146685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直接连接符 11"/>
            <p:cNvCxnSpPr/>
            <p:nvPr/>
          </p:nvCxnSpPr>
          <p:spPr>
            <a:xfrm flipV="1">
              <a:off x="4305888" y="5193672"/>
              <a:ext cx="932186" cy="1624"/>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905512" y="5195296"/>
              <a:ext cx="442352"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7" name="Picture 2" descr="http://image.beekka.com/blog/201205/bg2012052914.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8808" r="54828" b="1766"/>
          <a:stretch/>
        </p:blipFill>
        <p:spPr bwMode="auto">
          <a:xfrm>
            <a:off x="3668662" y="6088075"/>
            <a:ext cx="1203528" cy="19774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p:cNvSpPr/>
          <p:nvPr/>
        </p:nvSpPr>
        <p:spPr>
          <a:xfrm>
            <a:off x="5102696" y="4530968"/>
            <a:ext cx="3429744" cy="646331"/>
          </a:xfrm>
          <a:prstGeom prst="rect">
            <a:avLst/>
          </a:prstGeom>
        </p:spPr>
        <p:txBody>
          <a:bodyPr wrap="square">
            <a:spAutoFit/>
          </a:bodyPr>
          <a:lstStyle/>
          <a:p>
            <a:r>
              <a:rPr lang="zh-CN" altLang="en-US" b="1" dirty="0">
                <a:solidFill>
                  <a:srgbClr val="0070C0"/>
                </a:solidFill>
              </a:rPr>
              <a:t>每台计算机有了两种地址，一种是</a:t>
            </a:r>
            <a:r>
              <a:rPr lang="en-US" altLang="zh-CN" b="1" dirty="0">
                <a:solidFill>
                  <a:srgbClr val="0070C0"/>
                </a:solidFill>
              </a:rPr>
              <a:t>MAC</a:t>
            </a:r>
            <a:r>
              <a:rPr lang="zh-CN" altLang="en-US" b="1" dirty="0">
                <a:solidFill>
                  <a:srgbClr val="0070C0"/>
                </a:solidFill>
              </a:rPr>
              <a:t>地址，另一种是网络地址。</a:t>
            </a:r>
          </a:p>
        </p:txBody>
      </p:sp>
      <p:sp>
        <p:nvSpPr>
          <p:cNvPr id="16" name="矩形 15"/>
          <p:cNvSpPr/>
          <p:nvPr/>
        </p:nvSpPr>
        <p:spPr>
          <a:xfrm>
            <a:off x="5220072" y="5362492"/>
            <a:ext cx="3687192" cy="646331"/>
          </a:xfrm>
          <a:prstGeom prst="rect">
            <a:avLst/>
          </a:prstGeom>
        </p:spPr>
        <p:txBody>
          <a:bodyPr wrap="square">
            <a:spAutoFit/>
          </a:bodyPr>
          <a:lstStyle/>
          <a:p>
            <a:r>
              <a:rPr lang="en-US" altLang="zh-CN" b="1" dirty="0">
                <a:solidFill>
                  <a:srgbClr val="0070C0"/>
                </a:solidFill>
              </a:rPr>
              <a:t>ARP</a:t>
            </a:r>
            <a:r>
              <a:rPr lang="zh-CN" altLang="en-US" b="1" dirty="0">
                <a:solidFill>
                  <a:srgbClr val="0070C0"/>
                </a:solidFill>
              </a:rPr>
              <a:t>协议：通过目标设备的</a:t>
            </a:r>
            <a:r>
              <a:rPr lang="en-US" altLang="zh-CN" b="1" dirty="0">
                <a:solidFill>
                  <a:srgbClr val="0070C0"/>
                </a:solidFill>
              </a:rPr>
              <a:t>IP</a:t>
            </a:r>
            <a:r>
              <a:rPr lang="zh-CN" altLang="en-US" b="1" dirty="0">
                <a:solidFill>
                  <a:srgbClr val="0070C0"/>
                </a:solidFill>
              </a:rPr>
              <a:t>地址，查询目标设备的</a:t>
            </a:r>
            <a:r>
              <a:rPr lang="en-US" altLang="zh-CN" b="1" dirty="0">
                <a:solidFill>
                  <a:srgbClr val="0070C0"/>
                </a:solidFill>
              </a:rPr>
              <a:t>MAC</a:t>
            </a:r>
            <a:r>
              <a:rPr lang="zh-CN" altLang="en-US" b="1" dirty="0">
                <a:solidFill>
                  <a:srgbClr val="0070C0"/>
                </a:solidFill>
              </a:rPr>
              <a:t>地址</a:t>
            </a:r>
          </a:p>
        </p:txBody>
      </p:sp>
    </p:spTree>
    <p:extLst>
      <p:ext uri="{BB962C8B-B14F-4D97-AF65-F5344CB8AC3E}">
        <p14:creationId xmlns:p14="http://schemas.microsoft.com/office/powerpoint/2010/main" val="148289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2448761"/>
          </a:xfrm>
        </p:spPr>
        <p:txBody>
          <a:bodyPr>
            <a:normAutofit fontScale="92500" lnSpcReduction="10000"/>
          </a:bodyPr>
          <a:lstStyle/>
          <a:p>
            <a:r>
              <a:rPr lang="en-US" altLang="zh-CN" b="0" dirty="0"/>
              <a:t>IP</a:t>
            </a:r>
            <a:r>
              <a:rPr lang="zh-CN" altLang="en-US" b="0" dirty="0"/>
              <a:t>地址</a:t>
            </a:r>
            <a:endParaRPr lang="en-US" altLang="zh-CN" b="0" dirty="0"/>
          </a:p>
          <a:p>
            <a:pPr marL="0" indent="0">
              <a:buNone/>
            </a:pPr>
            <a:r>
              <a:rPr lang="en-US" altLang="zh-CN" b="0" dirty="0">
                <a:solidFill>
                  <a:schemeClr val="tx1"/>
                </a:solidFill>
              </a:rPr>
              <a:t>      </a:t>
            </a:r>
            <a:r>
              <a:rPr lang="zh-CN" altLang="en-US" b="0" dirty="0">
                <a:solidFill>
                  <a:schemeClr val="tx1"/>
                </a:solidFill>
              </a:rPr>
              <a:t>规定网络地址的协议，叫做</a:t>
            </a:r>
            <a:r>
              <a:rPr lang="en-US" altLang="zh-CN" b="0" dirty="0">
                <a:solidFill>
                  <a:schemeClr val="tx1"/>
                </a:solidFill>
              </a:rPr>
              <a:t>IP</a:t>
            </a:r>
            <a:r>
              <a:rPr lang="zh-CN" altLang="en-US" b="0" dirty="0">
                <a:solidFill>
                  <a:schemeClr val="tx1"/>
                </a:solidFill>
              </a:rPr>
              <a:t>协议。它所定义的地址，就被称为</a:t>
            </a:r>
            <a:r>
              <a:rPr lang="en-US" altLang="zh-CN" b="0" dirty="0">
                <a:solidFill>
                  <a:schemeClr val="tx1"/>
                </a:solidFill>
              </a:rPr>
              <a:t>IP</a:t>
            </a:r>
            <a:r>
              <a:rPr lang="zh-CN" altLang="en-US" b="0" dirty="0">
                <a:solidFill>
                  <a:schemeClr val="tx1"/>
                </a:solidFill>
              </a:rPr>
              <a:t>地址。</a:t>
            </a:r>
          </a:p>
          <a:p>
            <a:pPr marL="0" indent="0">
              <a:buNone/>
            </a:pPr>
            <a:r>
              <a:rPr lang="en-US" altLang="zh-CN" b="0" dirty="0">
                <a:solidFill>
                  <a:schemeClr val="tx1"/>
                </a:solidFill>
              </a:rPr>
              <a:t>      </a:t>
            </a:r>
            <a:r>
              <a:rPr lang="zh-CN" altLang="en-US" b="0" dirty="0">
                <a:solidFill>
                  <a:schemeClr val="tx1"/>
                </a:solidFill>
              </a:rPr>
              <a:t>目前广泛采用的是</a:t>
            </a:r>
            <a:r>
              <a:rPr lang="en-US" altLang="zh-CN" b="0" dirty="0">
                <a:solidFill>
                  <a:schemeClr val="tx1"/>
                </a:solidFill>
              </a:rPr>
              <a:t>IP</a:t>
            </a:r>
            <a:r>
              <a:rPr lang="zh-CN" altLang="en-US" b="0" dirty="0">
                <a:solidFill>
                  <a:schemeClr val="tx1"/>
                </a:solidFill>
              </a:rPr>
              <a:t>协议称</a:t>
            </a:r>
            <a:r>
              <a:rPr lang="en-US" altLang="zh-CN" b="0" dirty="0">
                <a:solidFill>
                  <a:schemeClr val="tx1"/>
                </a:solidFill>
              </a:rPr>
              <a:t>IPv4</a:t>
            </a:r>
            <a:r>
              <a:rPr lang="zh-CN" altLang="en-US" b="0" dirty="0">
                <a:solidFill>
                  <a:schemeClr val="tx1"/>
                </a:solidFill>
              </a:rPr>
              <a:t>。这个版本规定，网络地址由</a:t>
            </a:r>
            <a:r>
              <a:rPr lang="en-US" altLang="zh-CN" b="0" dirty="0">
                <a:solidFill>
                  <a:schemeClr val="tx1"/>
                </a:solidFill>
              </a:rPr>
              <a:t>32</a:t>
            </a:r>
            <a:r>
              <a:rPr lang="zh-CN" altLang="en-US" b="0" dirty="0">
                <a:solidFill>
                  <a:schemeClr val="tx1"/>
                </a:solidFill>
              </a:rPr>
              <a:t>个二进制位组成。</a:t>
            </a:r>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18" name="内容占位符 1"/>
          <p:cNvSpPr txBox="1">
            <a:spLocks/>
          </p:cNvSpPr>
          <p:nvPr/>
        </p:nvSpPr>
        <p:spPr>
          <a:xfrm>
            <a:off x="374848" y="3789040"/>
            <a:ext cx="8229600" cy="2448761"/>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b="0" dirty="0"/>
              <a:t>ARP</a:t>
            </a:r>
            <a:r>
              <a:rPr lang="zh-CN" altLang="en-US" b="0" dirty="0"/>
              <a:t>协议</a:t>
            </a:r>
            <a:endParaRPr lang="en-US" altLang="zh-CN" b="0" dirty="0"/>
          </a:p>
          <a:p>
            <a:pPr marL="0" indent="0">
              <a:buNone/>
            </a:pPr>
            <a:r>
              <a:rPr lang="zh-CN" altLang="en-US" b="0" dirty="0">
                <a:solidFill>
                  <a:schemeClr val="tx1"/>
                </a:solidFill>
              </a:rPr>
              <a:t>    </a:t>
            </a:r>
            <a:r>
              <a:rPr lang="zh-CN" altLang="en-US" sz="3000" b="0" dirty="0">
                <a:solidFill>
                  <a:schemeClr val="tx1"/>
                </a:solidFill>
              </a:rPr>
              <a:t>每台计算机有了两种地址，一种是</a:t>
            </a:r>
            <a:r>
              <a:rPr lang="en-US" altLang="zh-CN" sz="3000" b="0" dirty="0">
                <a:solidFill>
                  <a:schemeClr val="tx1"/>
                </a:solidFill>
              </a:rPr>
              <a:t>MAC</a:t>
            </a:r>
            <a:r>
              <a:rPr lang="zh-CN" altLang="en-US" sz="3000" b="0" dirty="0">
                <a:solidFill>
                  <a:schemeClr val="tx1"/>
                </a:solidFill>
              </a:rPr>
              <a:t>地址，另一种是网络地址。</a:t>
            </a:r>
          </a:p>
          <a:p>
            <a:pPr marL="0" indent="0">
              <a:buNone/>
            </a:pPr>
            <a:r>
              <a:rPr lang="en-US" altLang="zh-CN" b="0" dirty="0">
                <a:solidFill>
                  <a:schemeClr val="tx1"/>
                </a:solidFill>
              </a:rPr>
              <a:t>     ARP</a:t>
            </a:r>
            <a:r>
              <a:rPr lang="zh-CN" altLang="en-US" b="0" dirty="0">
                <a:solidFill>
                  <a:schemeClr val="tx1"/>
                </a:solidFill>
              </a:rPr>
              <a:t>协议：通过目标设备的</a:t>
            </a:r>
            <a:r>
              <a:rPr lang="en-US" altLang="zh-CN" b="0" dirty="0">
                <a:solidFill>
                  <a:schemeClr val="tx1"/>
                </a:solidFill>
              </a:rPr>
              <a:t>IP</a:t>
            </a:r>
            <a:r>
              <a:rPr lang="zh-CN" altLang="en-US" b="0" dirty="0">
                <a:solidFill>
                  <a:schemeClr val="tx1"/>
                </a:solidFill>
              </a:rPr>
              <a:t>地址，查询目标设备的</a:t>
            </a:r>
            <a:r>
              <a:rPr lang="en-US" altLang="zh-CN" b="0" dirty="0">
                <a:solidFill>
                  <a:schemeClr val="tx1"/>
                </a:solidFill>
              </a:rPr>
              <a:t>MAC</a:t>
            </a:r>
            <a:r>
              <a:rPr lang="zh-CN" altLang="en-US" b="0" dirty="0">
                <a:solidFill>
                  <a:schemeClr val="tx1"/>
                </a:solidFill>
              </a:rPr>
              <a:t>地址。</a:t>
            </a:r>
          </a:p>
        </p:txBody>
      </p:sp>
    </p:spTree>
    <p:extLst>
      <p:ext uri="{BB962C8B-B14F-4D97-AF65-F5344CB8AC3E}">
        <p14:creationId xmlns:p14="http://schemas.microsoft.com/office/powerpoint/2010/main" val="3802312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a:xfrm>
            <a:off x="395536" y="1833164"/>
            <a:ext cx="8229600" cy="4525963"/>
          </a:xfrm>
        </p:spPr>
        <p:txBody>
          <a:bodyPr>
            <a:normAutofit fontScale="92500"/>
          </a:bodyPr>
          <a:lstStyle/>
          <a:p>
            <a:r>
              <a:rPr lang="zh-CN" altLang="en-US" b="0" dirty="0"/>
              <a:t>互联网协议（英语：</a:t>
            </a:r>
            <a:r>
              <a:rPr lang="en-US" altLang="zh-CN" b="0" dirty="0"/>
              <a:t>Internet Protocol</a:t>
            </a:r>
            <a:r>
              <a:rPr lang="zh-CN" altLang="en-US" b="0" dirty="0"/>
              <a:t>，</a:t>
            </a:r>
            <a:r>
              <a:rPr lang="en-US" altLang="zh-CN" b="0" dirty="0"/>
              <a:t>IP</a:t>
            </a:r>
            <a:r>
              <a:rPr lang="zh-CN" altLang="en-US" b="0" dirty="0"/>
              <a:t>），是用于报文交换网络的一种面向数据的协议。</a:t>
            </a:r>
          </a:p>
          <a:p>
            <a:r>
              <a:rPr lang="en-US" altLang="zh-CN" b="0" dirty="0"/>
              <a:t>IP</a:t>
            </a:r>
            <a:r>
              <a:rPr lang="zh-CN" altLang="en-US" b="0" dirty="0"/>
              <a:t>是在</a:t>
            </a:r>
            <a:r>
              <a:rPr lang="en-US" altLang="zh-CN" b="0" dirty="0"/>
              <a:t>TCP/IP</a:t>
            </a:r>
            <a:r>
              <a:rPr lang="zh-CN" altLang="en-US" b="0" dirty="0"/>
              <a:t>协议中网络层的主要协议，任务是根据源主机和目的主机的地址传送数据。</a:t>
            </a:r>
            <a:endParaRPr lang="en-US" altLang="zh-CN" b="0" dirty="0"/>
          </a:p>
          <a:p>
            <a:r>
              <a:rPr lang="en-US" altLang="zh-CN" b="0" dirty="0"/>
              <a:t>IP</a:t>
            </a:r>
            <a:r>
              <a:rPr lang="zh-CN" altLang="en-US" b="0" dirty="0"/>
              <a:t>定义了寻址方法和数据报的封装结构 。第一个架构的主要版本，现在称为</a:t>
            </a:r>
            <a:r>
              <a:rPr lang="en-US" altLang="zh-CN" b="0" dirty="0"/>
              <a:t>IPv4</a:t>
            </a:r>
            <a:r>
              <a:rPr lang="zh-CN" altLang="en-US" b="0" dirty="0"/>
              <a:t>，仍然是最主要的互联网协议</a:t>
            </a:r>
            <a:endParaRPr lang="en-US" altLang="zh-CN" b="0" dirty="0"/>
          </a:p>
          <a:p>
            <a:r>
              <a:rPr lang="zh-CN" altLang="en-US" b="0" dirty="0"/>
              <a:t>目前，</a:t>
            </a:r>
            <a:r>
              <a:rPr lang="en-US" altLang="zh-CN" b="0" dirty="0"/>
              <a:t>IPv4</a:t>
            </a:r>
            <a:r>
              <a:rPr lang="zh-CN" altLang="en-US" b="0" dirty="0"/>
              <a:t>的地址基本用完，</a:t>
            </a:r>
            <a:r>
              <a:rPr lang="en-US" altLang="zh-CN" b="0" dirty="0"/>
              <a:t>IPv6</a:t>
            </a:r>
            <a:r>
              <a:rPr lang="zh-CN" altLang="en-US" b="0" dirty="0"/>
              <a:t>逐渐得到广泛应用。</a:t>
            </a:r>
            <a:endParaRPr lang="en-US" altLang="zh-CN" b="0" dirty="0"/>
          </a:p>
        </p:txBody>
      </p:sp>
      <p:sp>
        <p:nvSpPr>
          <p:cNvPr id="4" name="文本框 3"/>
          <p:cNvSpPr txBox="1"/>
          <p:nvPr/>
        </p:nvSpPr>
        <p:spPr>
          <a:xfrm>
            <a:off x="250824" y="1063723"/>
            <a:ext cx="2304952" cy="769441"/>
          </a:xfrm>
          <a:prstGeom prst="rect">
            <a:avLst/>
          </a:prstGeom>
          <a:noFill/>
        </p:spPr>
        <p:txBody>
          <a:bodyPr wrap="square" rtlCol="0">
            <a:spAutoFit/>
          </a:bodyPr>
          <a:lstStyle/>
          <a:p>
            <a:r>
              <a:rPr lang="en-US" altLang="zh-CN" sz="4400" dirty="0">
                <a:solidFill>
                  <a:srgbClr val="0000FF"/>
                </a:solidFill>
              </a:rPr>
              <a:t>IP</a:t>
            </a:r>
            <a:r>
              <a:rPr lang="zh-CN" altLang="en-US" sz="4400" dirty="0">
                <a:solidFill>
                  <a:srgbClr val="0000FF"/>
                </a:solidFill>
              </a:rPr>
              <a:t>协议</a:t>
            </a:r>
          </a:p>
        </p:txBody>
      </p:sp>
    </p:spTree>
    <p:extLst>
      <p:ext uri="{BB962C8B-B14F-4D97-AF65-F5344CB8AC3E}">
        <p14:creationId xmlns:p14="http://schemas.microsoft.com/office/powerpoint/2010/main" val="2847673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4" name="文本框 3"/>
          <p:cNvSpPr txBox="1"/>
          <p:nvPr/>
        </p:nvSpPr>
        <p:spPr>
          <a:xfrm>
            <a:off x="467544" y="1052736"/>
            <a:ext cx="2304952" cy="769441"/>
          </a:xfrm>
          <a:prstGeom prst="rect">
            <a:avLst/>
          </a:prstGeom>
          <a:noFill/>
        </p:spPr>
        <p:txBody>
          <a:bodyPr wrap="square" rtlCol="0">
            <a:spAutoFit/>
          </a:bodyPr>
          <a:lstStyle/>
          <a:p>
            <a:r>
              <a:rPr lang="en-US" altLang="zh-CN" sz="4400" dirty="0">
                <a:solidFill>
                  <a:srgbClr val="0000FF"/>
                </a:solidFill>
              </a:rPr>
              <a:t>IP</a:t>
            </a:r>
            <a:r>
              <a:rPr lang="zh-CN" altLang="en-US" sz="4400" dirty="0">
                <a:solidFill>
                  <a:srgbClr val="0000FF"/>
                </a:solidFill>
              </a:rPr>
              <a:t>报文</a:t>
            </a:r>
          </a:p>
        </p:txBody>
      </p:sp>
      <p:pic>
        <p:nvPicPr>
          <p:cNvPr id="6" name="图片 5"/>
          <p:cNvPicPr>
            <a:picLocks noChangeAspect="1"/>
          </p:cNvPicPr>
          <p:nvPr/>
        </p:nvPicPr>
        <p:blipFill>
          <a:blip r:embed="rId2"/>
          <a:stretch>
            <a:fillRect/>
          </a:stretch>
        </p:blipFill>
        <p:spPr>
          <a:xfrm>
            <a:off x="1043608" y="2132856"/>
            <a:ext cx="6628571" cy="2800000"/>
          </a:xfrm>
          <a:prstGeom prst="rect">
            <a:avLst/>
          </a:prstGeom>
        </p:spPr>
      </p:pic>
    </p:spTree>
    <p:extLst>
      <p:ext uri="{BB962C8B-B14F-4D97-AF65-F5344CB8AC3E}">
        <p14:creationId xmlns:p14="http://schemas.microsoft.com/office/powerpoint/2010/main" val="320389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p:txBody>
          <a:bodyPr/>
          <a:lstStyle/>
          <a:p>
            <a:pPr lvl="1"/>
            <a:r>
              <a:rPr lang="zh-CN" altLang="en-US" dirty="0">
                <a:solidFill>
                  <a:srgbClr val="000000"/>
                </a:solidFill>
              </a:rPr>
              <a:t>IP地址用于标识设备在网络中的具体位置. </a:t>
            </a:r>
          </a:p>
          <a:p>
            <a:pPr lvl="1"/>
            <a:r>
              <a:rPr lang="zh-CN" altLang="en-US" dirty="0">
                <a:solidFill>
                  <a:srgbClr val="000000"/>
                </a:solidFill>
              </a:rPr>
              <a:t>每个主机 (计算机, 网络设备, 外围设备) 都有独一无二的IP地址</a:t>
            </a:r>
          </a:p>
          <a:p>
            <a:pPr lvl="1"/>
            <a:r>
              <a:rPr lang="zh-CN" altLang="en-US" dirty="0">
                <a:solidFill>
                  <a:srgbClr val="000000"/>
                </a:solidFill>
              </a:rPr>
              <a:t>主机 ID:</a:t>
            </a:r>
          </a:p>
          <a:p>
            <a:pPr lvl="2"/>
            <a:r>
              <a:rPr lang="zh-CN" altLang="en-US" dirty="0">
                <a:solidFill>
                  <a:srgbClr val="000000"/>
                </a:solidFill>
              </a:rPr>
              <a:t>标识每个独立的主机</a:t>
            </a:r>
          </a:p>
          <a:p>
            <a:pPr lvl="2"/>
            <a:r>
              <a:rPr lang="zh-CN" altLang="en-US" dirty="0">
                <a:solidFill>
                  <a:srgbClr val="000000"/>
                </a:solidFill>
              </a:rPr>
              <a:t>由组织分配给各设备</a:t>
            </a:r>
          </a:p>
          <a:p>
            <a:endParaRPr lang="zh-CN" altLang="en-US" dirty="0"/>
          </a:p>
        </p:txBody>
      </p:sp>
    </p:spTree>
    <p:extLst>
      <p:ext uri="{BB962C8B-B14F-4D97-AF65-F5344CB8AC3E}">
        <p14:creationId xmlns:p14="http://schemas.microsoft.com/office/powerpoint/2010/main" val="232725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
                                            <p:txEl>
                                              <p:pRg st="4" end="4"/>
                                            </p:txEl>
                                          </p:spTgt>
                                        </p:tgtEl>
                                        <p:attrNameLst>
                                          <p:attrName>fillcolor</p:attrName>
                                        </p:attrNameLst>
                                      </p:cBhvr>
                                      <p:to>
                                        <a:schemeClr val="hlink"/>
                                      </p:to>
                                    </p:animClr>
                                    <p:set>
                                      <p:cBhvr>
                                        <p:cTn id="7" dur="2000" fill="hold"/>
                                        <p:tgtEl>
                                          <p:spTgt spid="3">
                                            <p:txEl>
                                              <p:pRg st="4" end="4"/>
                                            </p:txEl>
                                          </p:spTgt>
                                        </p:tgtEl>
                                        <p:attrNameLst>
                                          <p:attrName>fill.type</p:attrName>
                                        </p:attrNameLst>
                                      </p:cBhvr>
                                      <p:to>
                                        <p:strVal val="solid"/>
                                      </p:to>
                                    </p:set>
                                    <p:set>
                                      <p:cBhvr>
                                        <p:cTn id="8" dur="20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a:xfrm>
            <a:off x="255015" y="1196752"/>
            <a:ext cx="8229600" cy="4968552"/>
          </a:xfrm>
        </p:spPr>
        <p:txBody>
          <a:bodyPr>
            <a:normAutofit/>
          </a:bodyPr>
          <a:lstStyle/>
          <a:p>
            <a:r>
              <a:rPr lang="zh-CN" altLang="en-US" b="0" dirty="0"/>
              <a:t>互联网号码分配局，是一家互联网地址指派机构，管理国际互联网中使用的</a:t>
            </a:r>
            <a:r>
              <a:rPr lang="en-US" altLang="zh-CN" b="0" dirty="0"/>
              <a:t>IP</a:t>
            </a:r>
            <a:r>
              <a:rPr lang="zh-CN" altLang="en-US" b="0" dirty="0"/>
              <a:t>地址、域名和许多其它参数的机构。</a:t>
            </a:r>
            <a:endParaRPr lang="en-US" altLang="zh-CN" b="0" dirty="0"/>
          </a:p>
          <a:p>
            <a:r>
              <a:rPr lang="zh-CN" altLang="en-US" b="0" dirty="0"/>
              <a:t>区域互联网注册管理机构</a:t>
            </a:r>
            <a:r>
              <a:rPr lang="en-US" altLang="zh-CN" b="0" dirty="0"/>
              <a:t>,</a:t>
            </a:r>
            <a:r>
              <a:rPr lang="zh-CN" altLang="en-US" b="0" dirty="0"/>
              <a:t>是管理世界上某特定地区</a:t>
            </a:r>
            <a:r>
              <a:rPr lang="en-US" altLang="zh-CN" b="0" dirty="0"/>
              <a:t>Internet</a:t>
            </a:r>
            <a:r>
              <a:rPr lang="zh-CN" altLang="en-US" b="0" dirty="0"/>
              <a:t>资源的组织。现在世界上有五个正在运作的区域互联网注册管理机构。</a:t>
            </a:r>
          </a:p>
        </p:txBody>
      </p:sp>
    </p:spTree>
    <p:extLst>
      <p:ext uri="{BB962C8B-B14F-4D97-AF65-F5344CB8AC3E}">
        <p14:creationId xmlns:p14="http://schemas.microsoft.com/office/powerpoint/2010/main" val="3532814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a:xfrm>
            <a:off x="539552" y="1988840"/>
            <a:ext cx="7886700" cy="2575708"/>
          </a:xfrm>
        </p:spPr>
        <p:txBody>
          <a:bodyPr>
            <a:normAutofit fontScale="85000" lnSpcReduction="10000"/>
          </a:bodyPr>
          <a:lstStyle/>
          <a:p>
            <a:r>
              <a:rPr lang="zh-CN" altLang="en-US" dirty="0"/>
              <a:t>点分十进制：</a:t>
            </a:r>
            <a:r>
              <a:rPr lang="en-US" altLang="zh-CN" dirty="0"/>
              <a:t>202.116.83.77</a:t>
            </a:r>
          </a:p>
          <a:p>
            <a:r>
              <a:rPr lang="zh-CN" altLang="en-US" dirty="0"/>
              <a:t>二进制：</a:t>
            </a:r>
            <a:r>
              <a:rPr lang="en-US" altLang="zh-CN" dirty="0"/>
              <a:t>11001010 01110100 01010011 01001101</a:t>
            </a:r>
          </a:p>
          <a:p>
            <a:r>
              <a:rPr lang="zh-CN" altLang="en-US" dirty="0"/>
              <a:t>十六进制 </a:t>
            </a:r>
            <a:r>
              <a:rPr lang="en-US" altLang="zh-CN" dirty="0"/>
              <a:t>CA.74.53.4D</a:t>
            </a:r>
          </a:p>
          <a:p>
            <a:endParaRPr lang="en-US" altLang="zh-CN" dirty="0"/>
          </a:p>
          <a:p>
            <a:pPr marL="0" indent="0">
              <a:buNone/>
            </a:pPr>
            <a:r>
              <a:rPr lang="en-US" altLang="zh-CN" dirty="0"/>
              <a:t>IP</a:t>
            </a:r>
            <a:r>
              <a:rPr lang="zh-CN" altLang="en-US" dirty="0"/>
              <a:t>地址个数：</a:t>
            </a:r>
            <a:r>
              <a:rPr lang="en-US" altLang="zh-CN" dirty="0"/>
              <a:t>2^32=4294967296</a:t>
            </a:r>
          </a:p>
          <a:p>
            <a:pPr marL="0" indent="0">
              <a:buNone/>
            </a:pPr>
            <a:endParaRPr lang="zh-CN" altLang="en-US" dirty="0"/>
          </a:p>
        </p:txBody>
      </p:sp>
      <p:sp>
        <p:nvSpPr>
          <p:cNvPr id="11" name="圆角矩形 10"/>
          <p:cNvSpPr/>
          <p:nvPr/>
        </p:nvSpPr>
        <p:spPr>
          <a:xfrm>
            <a:off x="2743801" y="4745976"/>
            <a:ext cx="2438399" cy="7044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5281684" y="4742529"/>
            <a:ext cx="682136" cy="7078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746487" y="4742529"/>
            <a:ext cx="3217333" cy="707886"/>
          </a:xfrm>
          <a:prstGeom prst="rect">
            <a:avLst/>
          </a:prstGeom>
          <a:noFill/>
        </p:spPr>
        <p:txBody>
          <a:bodyPr wrap="square" rtlCol="0">
            <a:spAutoFit/>
          </a:bodyPr>
          <a:lstStyle/>
          <a:p>
            <a:r>
              <a:rPr lang="en-US" altLang="zh-CN" sz="4000" dirty="0">
                <a:solidFill>
                  <a:schemeClr val="bg1"/>
                </a:solidFill>
              </a:rPr>
              <a:t>202.116.83.77</a:t>
            </a:r>
            <a:endParaRPr lang="en-US" altLang="zh-CN" dirty="0">
              <a:solidFill>
                <a:schemeClr val="bg1"/>
              </a:solidFill>
            </a:endParaRPr>
          </a:p>
        </p:txBody>
      </p:sp>
      <p:sp>
        <p:nvSpPr>
          <p:cNvPr id="10" name="矩形标注 9"/>
          <p:cNvSpPr/>
          <p:nvPr/>
        </p:nvSpPr>
        <p:spPr>
          <a:xfrm>
            <a:off x="1977377" y="5699599"/>
            <a:ext cx="1842448" cy="569376"/>
          </a:xfrm>
          <a:prstGeom prst="wedgeRectCallout">
            <a:avLst>
              <a:gd name="adj1" fmla="val 39167"/>
              <a:gd name="adj2" fmla="val -933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网络号</a:t>
            </a:r>
          </a:p>
        </p:txBody>
      </p:sp>
      <p:sp>
        <p:nvSpPr>
          <p:cNvPr id="12" name="矩形标注 11"/>
          <p:cNvSpPr/>
          <p:nvPr/>
        </p:nvSpPr>
        <p:spPr>
          <a:xfrm>
            <a:off x="5622752" y="5699599"/>
            <a:ext cx="1842448" cy="569376"/>
          </a:xfrm>
          <a:prstGeom prst="wedgeRectCallout">
            <a:avLst>
              <a:gd name="adj1" fmla="val -52685"/>
              <a:gd name="adj2" fmla="val -980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主机号</a:t>
            </a:r>
          </a:p>
        </p:txBody>
      </p:sp>
      <p:sp>
        <p:nvSpPr>
          <p:cNvPr id="13" name="文本框 12"/>
          <p:cNvSpPr txBox="1"/>
          <p:nvPr/>
        </p:nvSpPr>
        <p:spPr>
          <a:xfrm>
            <a:off x="323528" y="1124744"/>
            <a:ext cx="2304952" cy="707886"/>
          </a:xfrm>
          <a:prstGeom prst="rect">
            <a:avLst/>
          </a:prstGeom>
          <a:noFill/>
        </p:spPr>
        <p:txBody>
          <a:bodyPr wrap="square" rtlCol="0">
            <a:spAutoFit/>
          </a:bodyPr>
          <a:lstStyle/>
          <a:p>
            <a:r>
              <a:rPr lang="en-US" altLang="zh-CN" sz="4000" dirty="0">
                <a:solidFill>
                  <a:srgbClr val="0000FF"/>
                </a:solidFill>
              </a:rPr>
              <a:t>IP</a:t>
            </a:r>
            <a:r>
              <a:rPr lang="zh-CN" altLang="en-US" sz="4000" dirty="0">
                <a:solidFill>
                  <a:srgbClr val="0000FF"/>
                </a:solidFill>
              </a:rPr>
              <a:t>地址</a:t>
            </a:r>
          </a:p>
        </p:txBody>
      </p:sp>
    </p:spTree>
    <p:extLst>
      <p:ext uri="{BB962C8B-B14F-4D97-AF65-F5344CB8AC3E}">
        <p14:creationId xmlns:p14="http://schemas.microsoft.com/office/powerpoint/2010/main" val="1654832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pic>
        <p:nvPicPr>
          <p:cNvPr id="4" name="Picture 2" descr="301P_960"/>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t="18659"/>
          <a:stretch/>
        </p:blipFill>
        <p:spPr bwMode="auto">
          <a:xfrm>
            <a:off x="649046" y="4123752"/>
            <a:ext cx="7886700" cy="1883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表格 4"/>
          <p:cNvGraphicFramePr>
            <a:graphicFrameLocks noGrp="1"/>
          </p:cNvGraphicFramePr>
          <p:nvPr>
            <p:extLst>
              <p:ext uri="{D42A27DB-BD31-4B8C-83A1-F6EECF244321}">
                <p14:modId xmlns:p14="http://schemas.microsoft.com/office/powerpoint/2010/main" val="3867979033"/>
              </p:ext>
            </p:extLst>
          </p:nvPr>
        </p:nvGraphicFramePr>
        <p:xfrm>
          <a:off x="683568" y="1268760"/>
          <a:ext cx="7836846" cy="2494280"/>
        </p:xfrm>
        <a:graphic>
          <a:graphicData uri="http://schemas.openxmlformats.org/drawingml/2006/table">
            <a:tbl>
              <a:tblPr firstRow="1" bandRow="1">
                <a:tableStyleId>{5C22544A-7EE6-4342-B048-85BDC9FD1C3A}</a:tableStyleId>
              </a:tblPr>
              <a:tblGrid>
                <a:gridCol w="1306141">
                  <a:extLst>
                    <a:ext uri="{9D8B030D-6E8A-4147-A177-3AD203B41FA5}">
                      <a16:colId xmlns:a16="http://schemas.microsoft.com/office/drawing/2014/main" val="20000"/>
                    </a:ext>
                  </a:extLst>
                </a:gridCol>
                <a:gridCol w="1306141">
                  <a:extLst>
                    <a:ext uri="{9D8B030D-6E8A-4147-A177-3AD203B41FA5}">
                      <a16:colId xmlns:a16="http://schemas.microsoft.com/office/drawing/2014/main" val="20001"/>
                    </a:ext>
                  </a:extLst>
                </a:gridCol>
                <a:gridCol w="1306141">
                  <a:extLst>
                    <a:ext uri="{9D8B030D-6E8A-4147-A177-3AD203B41FA5}">
                      <a16:colId xmlns:a16="http://schemas.microsoft.com/office/drawing/2014/main" val="20002"/>
                    </a:ext>
                  </a:extLst>
                </a:gridCol>
                <a:gridCol w="1306141">
                  <a:extLst>
                    <a:ext uri="{9D8B030D-6E8A-4147-A177-3AD203B41FA5}">
                      <a16:colId xmlns:a16="http://schemas.microsoft.com/office/drawing/2014/main" val="20003"/>
                    </a:ext>
                  </a:extLst>
                </a:gridCol>
                <a:gridCol w="1306141">
                  <a:extLst>
                    <a:ext uri="{9D8B030D-6E8A-4147-A177-3AD203B41FA5}">
                      <a16:colId xmlns:a16="http://schemas.microsoft.com/office/drawing/2014/main" val="20004"/>
                    </a:ext>
                  </a:extLst>
                </a:gridCol>
                <a:gridCol w="1306141">
                  <a:extLst>
                    <a:ext uri="{9D8B030D-6E8A-4147-A177-3AD203B41FA5}">
                      <a16:colId xmlns:a16="http://schemas.microsoft.com/office/drawing/2014/main" val="20005"/>
                    </a:ext>
                  </a:extLst>
                </a:gridCol>
              </a:tblGrid>
              <a:tr h="640080">
                <a:tc>
                  <a:txBody>
                    <a:bodyPr/>
                    <a:lstStyle/>
                    <a:p>
                      <a:r>
                        <a:rPr lang="zh-CN" altLang="en-US" dirty="0"/>
                        <a:t>类别</a:t>
                      </a:r>
                    </a:p>
                  </a:txBody>
                  <a:tcPr/>
                </a:tc>
                <a:tc>
                  <a:txBody>
                    <a:bodyPr/>
                    <a:lstStyle/>
                    <a:p>
                      <a:r>
                        <a:rPr lang="zh-CN" altLang="en-US" dirty="0"/>
                        <a:t>前缀</a:t>
                      </a:r>
                    </a:p>
                  </a:txBody>
                  <a:tcPr/>
                </a:tc>
                <a:tc>
                  <a:txBody>
                    <a:bodyPr/>
                    <a:lstStyle/>
                    <a:p>
                      <a:r>
                        <a:rPr lang="zh-CN" altLang="en-US" dirty="0"/>
                        <a:t>范围</a:t>
                      </a:r>
                    </a:p>
                  </a:txBody>
                  <a:tcPr/>
                </a:tc>
                <a:tc>
                  <a:txBody>
                    <a:bodyPr/>
                    <a:lstStyle/>
                    <a:p>
                      <a:r>
                        <a:rPr lang="zh-CN" altLang="en-US" dirty="0"/>
                        <a:t>网络地址位数</a:t>
                      </a:r>
                    </a:p>
                  </a:txBody>
                  <a:tcPr/>
                </a:tc>
                <a:tc>
                  <a:txBody>
                    <a:bodyPr/>
                    <a:lstStyle/>
                    <a:p>
                      <a:r>
                        <a:rPr lang="zh-CN" altLang="en-US" dirty="0"/>
                        <a:t>网络数</a:t>
                      </a:r>
                    </a:p>
                  </a:txBody>
                  <a:tcPr/>
                </a:tc>
                <a:tc>
                  <a:txBody>
                    <a:bodyPr/>
                    <a:lstStyle/>
                    <a:p>
                      <a:r>
                        <a:rPr lang="zh-CN" altLang="en-US" dirty="0"/>
                        <a:t>每网络主机数</a:t>
                      </a:r>
                    </a:p>
                  </a:txBody>
                  <a:tcPr/>
                </a:tc>
                <a:extLst>
                  <a:ext uri="{0D108BD9-81ED-4DB2-BD59-A6C34878D82A}">
                    <a16:rowId xmlns:a16="http://schemas.microsoft.com/office/drawing/2014/main" val="10000"/>
                  </a:ext>
                </a:extLst>
              </a:tr>
              <a:tr h="370840">
                <a:tc>
                  <a:txBody>
                    <a:bodyPr/>
                    <a:lstStyle/>
                    <a:p>
                      <a:r>
                        <a:rPr lang="en-US" altLang="zh-CN" dirty="0"/>
                        <a:t>A</a:t>
                      </a:r>
                      <a:r>
                        <a:rPr lang="zh-CN" altLang="en-US" dirty="0"/>
                        <a:t>类</a:t>
                      </a:r>
                    </a:p>
                  </a:txBody>
                  <a:tcPr/>
                </a:tc>
                <a:tc>
                  <a:txBody>
                    <a:bodyPr/>
                    <a:lstStyle/>
                    <a:p>
                      <a:r>
                        <a:rPr lang="en-US" altLang="zh-CN" dirty="0"/>
                        <a:t>0</a:t>
                      </a:r>
                      <a:endParaRPr lang="zh-CN" altLang="en-US" dirty="0"/>
                    </a:p>
                  </a:txBody>
                  <a:tcPr/>
                </a:tc>
                <a:tc>
                  <a:txBody>
                    <a:bodyPr/>
                    <a:lstStyle/>
                    <a:p>
                      <a:r>
                        <a:rPr lang="en-US" altLang="zh-CN" dirty="0"/>
                        <a:t>1 – 127</a:t>
                      </a:r>
                      <a:endParaRPr lang="zh-CN" altLang="en-US" dirty="0"/>
                    </a:p>
                  </a:txBody>
                  <a:tcPr/>
                </a:tc>
                <a:tc>
                  <a:txBody>
                    <a:bodyPr/>
                    <a:lstStyle/>
                    <a:p>
                      <a:r>
                        <a:rPr lang="en-US" altLang="zh-CN" dirty="0"/>
                        <a:t>8</a:t>
                      </a:r>
                      <a:endParaRPr lang="zh-CN" altLang="en-US" dirty="0"/>
                    </a:p>
                  </a:txBody>
                  <a:tcPr/>
                </a:tc>
                <a:tc>
                  <a:txBody>
                    <a:bodyPr/>
                    <a:lstStyle/>
                    <a:p>
                      <a:r>
                        <a:rPr lang="en-US" altLang="zh-CN" sz="1800" b="0" i="0" kern="1200" dirty="0">
                          <a:solidFill>
                            <a:schemeClr val="dk1"/>
                          </a:solidFill>
                          <a:effectLst/>
                          <a:latin typeface="+mn-lt"/>
                          <a:ea typeface="+mn-ea"/>
                          <a:cs typeface="+mn-cs"/>
                        </a:rPr>
                        <a:t>128</a:t>
                      </a:r>
                      <a:endParaRPr lang="zh-CN" altLang="en-US" dirty="0"/>
                    </a:p>
                  </a:txBody>
                  <a:tcPr/>
                </a:tc>
                <a:tc>
                  <a:txBody>
                    <a:bodyPr/>
                    <a:lstStyle/>
                    <a:p>
                      <a:r>
                        <a:rPr lang="en-US" altLang="zh-CN" sz="1800" b="0" i="0" kern="1200" dirty="0">
                          <a:solidFill>
                            <a:schemeClr val="dk1"/>
                          </a:solidFill>
                          <a:effectLst/>
                          <a:latin typeface="+mn-lt"/>
                          <a:ea typeface="+mn-ea"/>
                          <a:cs typeface="+mn-cs"/>
                        </a:rPr>
                        <a:t>16,777,214</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B</a:t>
                      </a:r>
                      <a:r>
                        <a:rPr lang="zh-CN" altLang="en-US" dirty="0"/>
                        <a:t>类</a:t>
                      </a:r>
                    </a:p>
                  </a:txBody>
                  <a:tcPr/>
                </a:tc>
                <a:tc>
                  <a:txBody>
                    <a:bodyPr/>
                    <a:lstStyle/>
                    <a:p>
                      <a:r>
                        <a:rPr lang="en-US" altLang="zh-CN" dirty="0"/>
                        <a:t>10</a:t>
                      </a:r>
                      <a:endParaRPr lang="zh-CN" altLang="en-US" dirty="0"/>
                    </a:p>
                  </a:txBody>
                  <a:tcPr/>
                </a:tc>
                <a:tc>
                  <a:txBody>
                    <a:bodyPr/>
                    <a:lstStyle/>
                    <a:p>
                      <a:r>
                        <a:rPr lang="en-US" altLang="zh-CN" dirty="0"/>
                        <a:t>128 – 191</a:t>
                      </a:r>
                      <a:endParaRPr lang="zh-CN" altLang="en-US" dirty="0"/>
                    </a:p>
                  </a:txBody>
                  <a:tcPr/>
                </a:tc>
                <a:tc>
                  <a:txBody>
                    <a:bodyPr/>
                    <a:lstStyle/>
                    <a:p>
                      <a:r>
                        <a:rPr lang="en-US" altLang="zh-CN" dirty="0"/>
                        <a:t>16</a:t>
                      </a:r>
                      <a:endParaRPr lang="zh-CN" altLang="en-US" dirty="0"/>
                    </a:p>
                  </a:txBody>
                  <a:tcPr/>
                </a:tc>
                <a:tc>
                  <a:txBody>
                    <a:bodyPr/>
                    <a:lstStyle/>
                    <a:p>
                      <a:r>
                        <a:rPr lang="en-US" altLang="zh-CN" sz="1800" b="0" i="0" kern="1200" dirty="0">
                          <a:solidFill>
                            <a:schemeClr val="dk1"/>
                          </a:solidFill>
                          <a:effectLst/>
                          <a:latin typeface="+mn-lt"/>
                          <a:ea typeface="+mn-ea"/>
                          <a:cs typeface="+mn-cs"/>
                        </a:rPr>
                        <a:t>16,384</a:t>
                      </a:r>
                      <a:endParaRPr lang="zh-CN" altLang="en-US" dirty="0"/>
                    </a:p>
                  </a:txBody>
                  <a:tcPr/>
                </a:tc>
                <a:tc>
                  <a:txBody>
                    <a:bodyPr/>
                    <a:lstStyle/>
                    <a:p>
                      <a:r>
                        <a:rPr lang="en-US" altLang="zh-CN" sz="1800" b="0" i="0" kern="1200" dirty="0">
                          <a:solidFill>
                            <a:schemeClr val="dk1"/>
                          </a:solidFill>
                          <a:effectLst/>
                          <a:latin typeface="+mn-lt"/>
                          <a:ea typeface="+mn-ea"/>
                          <a:cs typeface="+mn-cs"/>
                        </a:rPr>
                        <a:t>65,534</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C</a:t>
                      </a:r>
                      <a:r>
                        <a:rPr lang="zh-CN" altLang="en-US" dirty="0"/>
                        <a:t>类</a:t>
                      </a:r>
                    </a:p>
                  </a:txBody>
                  <a:tcPr/>
                </a:tc>
                <a:tc>
                  <a:txBody>
                    <a:bodyPr/>
                    <a:lstStyle/>
                    <a:p>
                      <a:r>
                        <a:rPr lang="en-US" altLang="zh-CN" dirty="0"/>
                        <a:t>110</a:t>
                      </a:r>
                      <a:endParaRPr lang="zh-CN" altLang="en-US" dirty="0"/>
                    </a:p>
                  </a:txBody>
                  <a:tcPr/>
                </a:tc>
                <a:tc>
                  <a:txBody>
                    <a:bodyPr/>
                    <a:lstStyle/>
                    <a:p>
                      <a:r>
                        <a:rPr lang="en-US" altLang="zh-CN" dirty="0"/>
                        <a:t>192 – 223</a:t>
                      </a:r>
                      <a:endParaRPr lang="zh-CN" altLang="en-US" dirty="0"/>
                    </a:p>
                  </a:txBody>
                  <a:tcPr/>
                </a:tc>
                <a:tc>
                  <a:txBody>
                    <a:bodyPr/>
                    <a:lstStyle/>
                    <a:p>
                      <a:r>
                        <a:rPr lang="en-US" altLang="zh-CN" dirty="0"/>
                        <a:t>24</a:t>
                      </a:r>
                      <a:endParaRPr lang="zh-CN" altLang="en-US" dirty="0"/>
                    </a:p>
                  </a:txBody>
                  <a:tcPr/>
                </a:tc>
                <a:tc>
                  <a:txBody>
                    <a:bodyPr/>
                    <a:lstStyle/>
                    <a:p>
                      <a:r>
                        <a:rPr lang="en-US" altLang="zh-CN" dirty="0">
                          <a:effectLst/>
                        </a:rPr>
                        <a:t>2,097,152</a:t>
                      </a:r>
                    </a:p>
                  </a:txBody>
                  <a:tcPr anchor="ctr"/>
                </a:tc>
                <a:tc>
                  <a:txBody>
                    <a:bodyPr/>
                    <a:lstStyle/>
                    <a:p>
                      <a:r>
                        <a:rPr lang="en-US" altLang="zh-CN" sz="1800" b="0" i="0" kern="1200" dirty="0">
                          <a:solidFill>
                            <a:schemeClr val="dk1"/>
                          </a:solidFill>
                          <a:effectLst/>
                          <a:latin typeface="+mn-lt"/>
                          <a:ea typeface="+mn-ea"/>
                          <a:cs typeface="+mn-cs"/>
                        </a:rPr>
                        <a:t>254</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a:t>D</a:t>
                      </a:r>
                      <a:r>
                        <a:rPr lang="zh-CN" altLang="en-US" dirty="0"/>
                        <a:t>类</a:t>
                      </a:r>
                    </a:p>
                  </a:txBody>
                  <a:tcPr/>
                </a:tc>
                <a:tc>
                  <a:txBody>
                    <a:bodyPr/>
                    <a:lstStyle/>
                    <a:p>
                      <a:r>
                        <a:rPr lang="en-US" altLang="zh-CN" dirty="0"/>
                        <a:t>1110</a:t>
                      </a:r>
                      <a:endParaRPr lang="zh-CN" altLang="en-US" dirty="0"/>
                    </a:p>
                  </a:txBody>
                  <a:tcPr/>
                </a:tc>
                <a:tc>
                  <a:txBody>
                    <a:bodyPr/>
                    <a:lstStyle/>
                    <a:p>
                      <a:r>
                        <a:rPr lang="en-US" altLang="zh-CN" dirty="0"/>
                        <a:t>224 – 239</a:t>
                      </a:r>
                      <a:endParaRPr lang="zh-CN" altLang="en-US" dirty="0"/>
                    </a:p>
                  </a:txBody>
                  <a:tcPr/>
                </a:tc>
                <a:tc>
                  <a:txBody>
                    <a:bodyPr/>
                    <a:lstStyle/>
                    <a:p>
                      <a:r>
                        <a:rPr lang="zh-CN" altLang="en-US" dirty="0"/>
                        <a:t>未定义</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未定义</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未定义</a:t>
                      </a:r>
                    </a:p>
                  </a:txBody>
                  <a:tcPr/>
                </a:tc>
                <a:extLst>
                  <a:ext uri="{0D108BD9-81ED-4DB2-BD59-A6C34878D82A}">
                    <a16:rowId xmlns:a16="http://schemas.microsoft.com/office/drawing/2014/main" val="10004"/>
                  </a:ext>
                </a:extLst>
              </a:tr>
              <a:tr h="370840">
                <a:tc>
                  <a:txBody>
                    <a:bodyPr/>
                    <a:lstStyle/>
                    <a:p>
                      <a:r>
                        <a:rPr lang="en-US" altLang="zh-CN" dirty="0"/>
                        <a:t>E</a:t>
                      </a:r>
                      <a:r>
                        <a:rPr lang="zh-CN" altLang="en-US" dirty="0"/>
                        <a:t>类</a:t>
                      </a:r>
                    </a:p>
                  </a:txBody>
                  <a:tcPr/>
                </a:tc>
                <a:tc>
                  <a:txBody>
                    <a:bodyPr/>
                    <a:lstStyle/>
                    <a:p>
                      <a:r>
                        <a:rPr lang="en-US" altLang="zh-CN" dirty="0"/>
                        <a:t>1111</a:t>
                      </a:r>
                      <a:endParaRPr lang="zh-CN" altLang="en-US" dirty="0"/>
                    </a:p>
                  </a:txBody>
                  <a:tcPr/>
                </a:tc>
                <a:tc>
                  <a:txBody>
                    <a:bodyPr/>
                    <a:lstStyle/>
                    <a:p>
                      <a:r>
                        <a:rPr lang="en-US" altLang="zh-CN" dirty="0"/>
                        <a:t>240 – 255</a:t>
                      </a:r>
                      <a:endParaRPr lang="zh-CN" altLang="en-US" dirty="0"/>
                    </a:p>
                  </a:txBody>
                  <a:tcPr/>
                </a:tc>
                <a:tc>
                  <a:txBody>
                    <a:bodyPr/>
                    <a:lstStyle/>
                    <a:p>
                      <a:r>
                        <a:rPr lang="zh-CN" altLang="en-US" dirty="0"/>
                        <a:t>未定义</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未定义</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未定义</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96835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a:xfrm>
            <a:off x="611560" y="2132856"/>
            <a:ext cx="7886700" cy="3168352"/>
          </a:xfrm>
        </p:spPr>
        <p:txBody>
          <a:bodyPr>
            <a:normAutofit fontScale="92500"/>
          </a:bodyPr>
          <a:lstStyle/>
          <a:p>
            <a:pPr>
              <a:lnSpc>
                <a:spcPct val="120000"/>
              </a:lnSpc>
            </a:pPr>
            <a:r>
              <a:rPr lang="zh-CN" altLang="en-US" b="0" dirty="0"/>
              <a:t>在</a:t>
            </a:r>
            <a:r>
              <a:rPr lang="en-US" altLang="zh-CN" b="0" dirty="0"/>
              <a:t>IPv4</a:t>
            </a:r>
            <a:r>
              <a:rPr lang="zh-CN" altLang="en-US" b="0" dirty="0"/>
              <a:t>所允许的大约四十亿地址中，</a:t>
            </a:r>
            <a:r>
              <a:rPr lang="en-US" altLang="zh-CN" b="0" dirty="0"/>
              <a:t>3</a:t>
            </a:r>
            <a:r>
              <a:rPr lang="zh-CN" altLang="en-US" b="0" dirty="0"/>
              <a:t>个地址块被保留作私有网络。</a:t>
            </a:r>
            <a:endParaRPr lang="en-US" altLang="zh-CN" b="0" dirty="0"/>
          </a:p>
          <a:p>
            <a:pPr>
              <a:lnSpc>
                <a:spcPct val="120000"/>
              </a:lnSpc>
            </a:pPr>
            <a:r>
              <a:rPr lang="zh-CN" altLang="en-US" b="0" dirty="0"/>
              <a:t>这些地址块在私有网络之外不可路由，私有网络之内的主机也不能直接与公共网络通信。</a:t>
            </a:r>
            <a:endParaRPr lang="en-US" altLang="zh-CN" b="0" dirty="0"/>
          </a:p>
          <a:p>
            <a:pPr>
              <a:lnSpc>
                <a:spcPct val="120000"/>
              </a:lnSpc>
            </a:pPr>
            <a:r>
              <a:rPr lang="zh-CN" altLang="en-US" b="0" dirty="0"/>
              <a:t>需要通过网络地址转换。</a:t>
            </a:r>
          </a:p>
        </p:txBody>
      </p:sp>
      <p:sp>
        <p:nvSpPr>
          <p:cNvPr id="5" name="文本框 4"/>
          <p:cNvSpPr txBox="1"/>
          <p:nvPr/>
        </p:nvSpPr>
        <p:spPr>
          <a:xfrm>
            <a:off x="467544" y="1268760"/>
            <a:ext cx="2880320" cy="584775"/>
          </a:xfrm>
          <a:prstGeom prst="rect">
            <a:avLst/>
          </a:prstGeom>
          <a:noFill/>
        </p:spPr>
        <p:txBody>
          <a:bodyPr wrap="square" rtlCol="0">
            <a:spAutoFit/>
          </a:bodyPr>
          <a:lstStyle/>
          <a:p>
            <a:r>
              <a:rPr lang="zh-CN" altLang="en-US" sz="3200" dirty="0"/>
              <a:t>私有网络</a:t>
            </a:r>
          </a:p>
        </p:txBody>
      </p:sp>
    </p:spTree>
    <p:extLst>
      <p:ext uri="{BB962C8B-B14F-4D97-AF65-F5344CB8AC3E}">
        <p14:creationId xmlns:p14="http://schemas.microsoft.com/office/powerpoint/2010/main" val="1948419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998254303"/>
              </p:ext>
            </p:extLst>
          </p:nvPr>
        </p:nvGraphicFramePr>
        <p:xfrm>
          <a:off x="539552" y="2636912"/>
          <a:ext cx="8204419" cy="2499360"/>
        </p:xfrm>
        <a:graphic>
          <a:graphicData uri="http://schemas.openxmlformats.org/drawingml/2006/table">
            <a:tbl>
              <a:tblPr firstRow="1" bandRow="1">
                <a:tableStyleId>{5C22544A-7EE6-4342-B048-85BDC9FD1C3A}</a:tableStyleId>
              </a:tblPr>
              <a:tblGrid>
                <a:gridCol w="793250">
                  <a:extLst>
                    <a:ext uri="{9D8B030D-6E8A-4147-A177-3AD203B41FA5}">
                      <a16:colId xmlns:a16="http://schemas.microsoft.com/office/drawing/2014/main" val="20000"/>
                    </a:ext>
                  </a:extLst>
                </a:gridCol>
                <a:gridCol w="2111036">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gridCol w="1930400">
                  <a:extLst>
                    <a:ext uri="{9D8B030D-6E8A-4147-A177-3AD203B41FA5}">
                      <a16:colId xmlns:a16="http://schemas.microsoft.com/office/drawing/2014/main" val="20003"/>
                    </a:ext>
                  </a:extLst>
                </a:gridCol>
                <a:gridCol w="1794933">
                  <a:extLst>
                    <a:ext uri="{9D8B030D-6E8A-4147-A177-3AD203B41FA5}">
                      <a16:colId xmlns:a16="http://schemas.microsoft.com/office/drawing/2014/main" val="20004"/>
                    </a:ext>
                  </a:extLst>
                </a:gridCol>
              </a:tblGrid>
              <a:tr h="370840">
                <a:tc>
                  <a:txBody>
                    <a:bodyPr/>
                    <a:lstStyle/>
                    <a:p>
                      <a:r>
                        <a:rPr lang="zh-CN" altLang="en-US" sz="2000" dirty="0"/>
                        <a:t>类别</a:t>
                      </a:r>
                    </a:p>
                  </a:txBody>
                  <a:tcPr/>
                </a:tc>
                <a:tc>
                  <a:txBody>
                    <a:bodyPr/>
                    <a:lstStyle/>
                    <a:p>
                      <a:r>
                        <a:rPr lang="zh-CN" altLang="en-US" sz="2000" dirty="0"/>
                        <a:t>前缀</a:t>
                      </a:r>
                    </a:p>
                  </a:txBody>
                  <a:tcPr/>
                </a:tc>
                <a:tc>
                  <a:txBody>
                    <a:bodyPr/>
                    <a:lstStyle/>
                    <a:p>
                      <a:r>
                        <a:rPr lang="zh-CN" altLang="en-US" sz="2000" dirty="0"/>
                        <a:t>地址数量</a:t>
                      </a:r>
                    </a:p>
                  </a:txBody>
                  <a:tcPr/>
                </a:tc>
                <a:tc>
                  <a:txBody>
                    <a:bodyPr/>
                    <a:lstStyle/>
                    <a:p>
                      <a:r>
                        <a:rPr lang="zh-CN" altLang="en-US" sz="2000" dirty="0"/>
                        <a:t>有类描述</a:t>
                      </a:r>
                    </a:p>
                  </a:txBody>
                  <a:tcPr/>
                </a:tc>
                <a:tc>
                  <a:txBody>
                    <a:bodyPr/>
                    <a:lstStyle/>
                    <a:p>
                      <a:r>
                        <a:rPr lang="zh-CN" altLang="en-US" sz="2000" dirty="0"/>
                        <a:t>最大地址块</a:t>
                      </a:r>
                    </a:p>
                  </a:txBody>
                  <a:tcPr/>
                </a:tc>
                <a:extLst>
                  <a:ext uri="{0D108BD9-81ED-4DB2-BD59-A6C34878D82A}">
                    <a16:rowId xmlns:a16="http://schemas.microsoft.com/office/drawing/2014/main" val="10000"/>
                  </a:ext>
                </a:extLst>
              </a:tr>
              <a:tr h="640080">
                <a:tc>
                  <a:txBody>
                    <a:bodyPr/>
                    <a:lstStyle/>
                    <a:p>
                      <a:r>
                        <a:rPr lang="en-US" altLang="zh-CN" sz="2000" dirty="0"/>
                        <a:t>A</a:t>
                      </a:r>
                      <a:r>
                        <a:rPr lang="zh-CN" altLang="en-US" sz="2000" dirty="0"/>
                        <a:t>类</a:t>
                      </a:r>
                    </a:p>
                  </a:txBody>
                  <a:tcPr/>
                </a:tc>
                <a:tc>
                  <a:txBody>
                    <a:bodyPr/>
                    <a:lstStyle/>
                    <a:p>
                      <a:r>
                        <a:rPr lang="en-US" altLang="zh-CN" sz="2000" dirty="0"/>
                        <a:t>10.0.0.0</a:t>
                      </a:r>
                      <a:r>
                        <a:rPr lang="en-US" altLang="zh-CN" sz="2000" baseline="0" dirty="0"/>
                        <a:t> -10.255.255.255</a:t>
                      </a:r>
                      <a:endParaRPr lang="zh-CN" altLang="en-US" sz="2000" dirty="0"/>
                    </a:p>
                  </a:txBody>
                  <a:tcPr/>
                </a:tc>
                <a:tc>
                  <a:txBody>
                    <a:bodyPr/>
                    <a:lstStyle/>
                    <a:p>
                      <a:r>
                        <a:rPr lang="en-US" altLang="zh-CN" sz="2000" dirty="0"/>
                        <a:t>16,777,216</a:t>
                      </a:r>
                      <a:endParaRPr lang="zh-CN" altLang="en-US" sz="2000" dirty="0"/>
                    </a:p>
                  </a:txBody>
                  <a:tcPr/>
                </a:tc>
                <a:tc>
                  <a:txBody>
                    <a:bodyPr/>
                    <a:lstStyle/>
                    <a:p>
                      <a:r>
                        <a:rPr lang="en-US" altLang="zh-CN" sz="2000" dirty="0"/>
                        <a:t>1</a:t>
                      </a:r>
                      <a:r>
                        <a:rPr lang="zh-CN" altLang="en-US" sz="2000" dirty="0"/>
                        <a:t>个</a:t>
                      </a:r>
                      <a:r>
                        <a:rPr lang="en-US" altLang="zh-CN" sz="2000" dirty="0"/>
                        <a:t>A</a:t>
                      </a:r>
                      <a:r>
                        <a:rPr lang="zh-CN" altLang="en-US" sz="2000" dirty="0"/>
                        <a:t>类</a:t>
                      </a:r>
                    </a:p>
                  </a:txBody>
                  <a:tcPr/>
                </a:tc>
                <a:tc>
                  <a:txBody>
                    <a:bodyPr/>
                    <a:lstStyle/>
                    <a:p>
                      <a:r>
                        <a:rPr lang="en-US" altLang="zh-CN" sz="2000" dirty="0"/>
                        <a:t>10.0.0.0/8</a:t>
                      </a:r>
                      <a:endParaRPr lang="zh-CN" altLang="en-US" sz="2000" dirty="0"/>
                    </a:p>
                  </a:txBody>
                  <a:tcPr/>
                </a:tc>
                <a:extLst>
                  <a:ext uri="{0D108BD9-81ED-4DB2-BD59-A6C34878D82A}">
                    <a16:rowId xmlns:a16="http://schemas.microsoft.com/office/drawing/2014/main" val="10001"/>
                  </a:ext>
                </a:extLst>
              </a:tr>
              <a:tr h="640080">
                <a:tc>
                  <a:txBody>
                    <a:bodyPr/>
                    <a:lstStyle/>
                    <a:p>
                      <a:r>
                        <a:rPr lang="en-US" altLang="zh-CN" sz="2000" dirty="0"/>
                        <a:t>B</a:t>
                      </a:r>
                      <a:r>
                        <a:rPr lang="zh-CN" altLang="en-US" sz="2000" dirty="0"/>
                        <a:t>类</a:t>
                      </a:r>
                    </a:p>
                  </a:txBody>
                  <a:tcPr/>
                </a:tc>
                <a:tc>
                  <a:txBody>
                    <a:bodyPr/>
                    <a:lstStyle/>
                    <a:p>
                      <a:r>
                        <a:rPr lang="en-US" altLang="zh-CN" sz="2000" dirty="0"/>
                        <a:t>172.16.0.0 -172.31.255.255</a:t>
                      </a:r>
                      <a:endParaRPr lang="zh-CN" altLang="en-US" sz="2000" dirty="0"/>
                    </a:p>
                  </a:txBody>
                  <a:tcPr/>
                </a:tc>
                <a:tc>
                  <a:txBody>
                    <a:bodyPr/>
                    <a:lstStyle/>
                    <a:p>
                      <a:r>
                        <a:rPr lang="en-US" altLang="zh-CN" sz="2000" dirty="0"/>
                        <a:t>1,048,576</a:t>
                      </a:r>
                      <a:endParaRPr lang="zh-CN" altLang="en-US" sz="2000" dirty="0"/>
                    </a:p>
                  </a:txBody>
                  <a:tcPr/>
                </a:tc>
                <a:tc>
                  <a:txBody>
                    <a:bodyPr/>
                    <a:lstStyle/>
                    <a:p>
                      <a:r>
                        <a:rPr lang="zh-CN" altLang="en-US" sz="2000" dirty="0"/>
                        <a:t>连续的</a:t>
                      </a:r>
                      <a:r>
                        <a:rPr lang="en-US" altLang="zh-CN" sz="2000" dirty="0"/>
                        <a:t>16</a:t>
                      </a:r>
                      <a:r>
                        <a:rPr lang="zh-CN" altLang="en-US" sz="2000" dirty="0"/>
                        <a:t>个</a:t>
                      </a:r>
                      <a:r>
                        <a:rPr lang="en-US" altLang="zh-CN" sz="2000" dirty="0"/>
                        <a:t>B</a:t>
                      </a:r>
                      <a:r>
                        <a:rPr lang="zh-CN" altLang="en-US" sz="2000" dirty="0"/>
                        <a:t>类</a:t>
                      </a:r>
                    </a:p>
                  </a:txBody>
                  <a:tcPr/>
                </a:tc>
                <a:tc>
                  <a:txBody>
                    <a:bodyPr/>
                    <a:lstStyle/>
                    <a:p>
                      <a:r>
                        <a:rPr lang="en-US" altLang="zh-CN" sz="2000" dirty="0"/>
                        <a:t>172.16.0.0/12</a:t>
                      </a:r>
                      <a:endParaRPr lang="zh-CN" altLang="en-US" sz="2000" dirty="0"/>
                    </a:p>
                  </a:txBody>
                  <a:tcPr/>
                </a:tc>
                <a:extLst>
                  <a:ext uri="{0D108BD9-81ED-4DB2-BD59-A6C34878D82A}">
                    <a16:rowId xmlns:a16="http://schemas.microsoft.com/office/drawing/2014/main" val="10002"/>
                  </a:ext>
                </a:extLst>
              </a:tr>
              <a:tr h="640080">
                <a:tc>
                  <a:txBody>
                    <a:bodyPr/>
                    <a:lstStyle/>
                    <a:p>
                      <a:r>
                        <a:rPr lang="en-US" altLang="zh-CN" sz="2000" dirty="0"/>
                        <a:t>C</a:t>
                      </a:r>
                      <a:r>
                        <a:rPr lang="zh-CN" altLang="en-US" sz="2000" dirty="0"/>
                        <a:t>类</a:t>
                      </a:r>
                    </a:p>
                  </a:txBody>
                  <a:tcPr/>
                </a:tc>
                <a:tc>
                  <a:txBody>
                    <a:bodyPr/>
                    <a:lstStyle/>
                    <a:p>
                      <a:r>
                        <a:rPr lang="en-US" altLang="zh-CN" sz="2000" dirty="0"/>
                        <a:t>192.168.0.0</a:t>
                      </a:r>
                      <a:r>
                        <a:rPr lang="en-US" altLang="zh-CN" sz="2000" baseline="0" dirty="0"/>
                        <a:t> - </a:t>
                      </a:r>
                      <a:r>
                        <a:rPr lang="en-US" altLang="zh-CN" sz="2000" dirty="0"/>
                        <a:t>192.168.255.255</a:t>
                      </a:r>
                      <a:endParaRPr lang="zh-CN" altLang="en-US" sz="2000" dirty="0"/>
                    </a:p>
                  </a:txBody>
                  <a:tcPr/>
                </a:tc>
                <a:tc>
                  <a:txBody>
                    <a:bodyPr/>
                    <a:lstStyle/>
                    <a:p>
                      <a:r>
                        <a:rPr lang="en-US" altLang="zh-CN" sz="2000" dirty="0"/>
                        <a:t>65,536</a:t>
                      </a:r>
                      <a:endParaRPr lang="zh-CN" altLang="en-US" sz="2000" dirty="0"/>
                    </a:p>
                  </a:txBody>
                  <a:tcPr/>
                </a:tc>
                <a:tc>
                  <a:txBody>
                    <a:bodyPr/>
                    <a:lstStyle/>
                    <a:p>
                      <a:r>
                        <a:rPr lang="zh-CN" altLang="en-US" sz="2000" dirty="0"/>
                        <a:t>连续的</a:t>
                      </a:r>
                      <a:r>
                        <a:rPr lang="en-US" altLang="zh-CN" sz="2000" dirty="0"/>
                        <a:t>256</a:t>
                      </a:r>
                      <a:r>
                        <a:rPr lang="zh-CN" altLang="en-US" sz="2000" dirty="0"/>
                        <a:t>个</a:t>
                      </a:r>
                      <a:r>
                        <a:rPr lang="en-US" altLang="zh-CN" sz="2000" dirty="0"/>
                        <a:t>C</a:t>
                      </a:r>
                      <a:r>
                        <a:rPr lang="zh-CN" altLang="en-US" sz="2000" dirty="0"/>
                        <a:t>类</a:t>
                      </a:r>
                    </a:p>
                  </a:txBody>
                  <a:tcPr/>
                </a:tc>
                <a:tc>
                  <a:txBody>
                    <a:bodyPr/>
                    <a:lstStyle/>
                    <a:p>
                      <a:r>
                        <a:rPr lang="en-US" altLang="zh-CN" sz="2000" dirty="0">
                          <a:effectLst/>
                        </a:rPr>
                        <a:t>192.168.0.0/16</a:t>
                      </a:r>
                    </a:p>
                  </a:txBody>
                  <a:tcPr anchor="ctr"/>
                </a:tc>
                <a:extLst>
                  <a:ext uri="{0D108BD9-81ED-4DB2-BD59-A6C34878D82A}">
                    <a16:rowId xmlns:a16="http://schemas.microsoft.com/office/drawing/2014/main" val="10003"/>
                  </a:ext>
                </a:extLst>
              </a:tr>
            </a:tbl>
          </a:graphicData>
        </a:graphic>
      </p:graphicFrame>
      <p:sp>
        <p:nvSpPr>
          <p:cNvPr id="5" name="文本框 4"/>
          <p:cNvSpPr txBox="1"/>
          <p:nvPr/>
        </p:nvSpPr>
        <p:spPr>
          <a:xfrm>
            <a:off x="467544" y="1268760"/>
            <a:ext cx="2880320" cy="584775"/>
          </a:xfrm>
          <a:prstGeom prst="rect">
            <a:avLst/>
          </a:prstGeom>
          <a:noFill/>
        </p:spPr>
        <p:txBody>
          <a:bodyPr wrap="square" rtlCol="0">
            <a:spAutoFit/>
          </a:bodyPr>
          <a:lstStyle/>
          <a:p>
            <a:r>
              <a:rPr lang="zh-CN" altLang="en-US" sz="3200" b="1" dirty="0"/>
              <a:t>私有网络</a:t>
            </a:r>
          </a:p>
        </p:txBody>
      </p:sp>
    </p:spTree>
    <p:extLst>
      <p:ext uri="{BB962C8B-B14F-4D97-AF65-F5344CB8AC3E}">
        <p14:creationId xmlns:p14="http://schemas.microsoft.com/office/powerpoint/2010/main" val="2262454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3" name="内容占位符 2"/>
          <p:cNvSpPr>
            <a:spLocks noGrp="1"/>
          </p:cNvSpPr>
          <p:nvPr>
            <p:ph idx="1"/>
          </p:nvPr>
        </p:nvSpPr>
        <p:spPr>
          <a:xfrm>
            <a:off x="467544" y="1700808"/>
            <a:ext cx="8229600" cy="4525963"/>
          </a:xfrm>
        </p:spPr>
        <p:txBody>
          <a:bodyPr>
            <a:normAutofit/>
          </a:bodyPr>
          <a:lstStyle/>
          <a:p>
            <a:r>
              <a:rPr lang="zh-CN" altLang="en-US" sz="2800" b="0" dirty="0"/>
              <a:t>用于区分</a:t>
            </a:r>
            <a:r>
              <a:rPr lang="en-US" altLang="zh-CN" sz="2800" b="0" dirty="0"/>
              <a:t>IP</a:t>
            </a:r>
            <a:r>
              <a:rPr lang="zh-CN" altLang="en-US" sz="2800" b="0" dirty="0"/>
              <a:t>地址哪些位是网络号，哪些位是主机号</a:t>
            </a:r>
            <a:endParaRPr lang="en-US" altLang="zh-CN" sz="2800" b="0" dirty="0"/>
          </a:p>
          <a:p>
            <a:r>
              <a:rPr lang="zh-CN" altLang="en-US" sz="2800" b="0" dirty="0"/>
              <a:t>格式与</a:t>
            </a:r>
            <a:r>
              <a:rPr lang="en-US" altLang="zh-CN" sz="2800" b="0" dirty="0"/>
              <a:t>IP</a:t>
            </a:r>
            <a:r>
              <a:rPr lang="zh-CN" altLang="en-US" sz="2800" b="0" dirty="0"/>
              <a:t>地址一样为</a:t>
            </a:r>
            <a:r>
              <a:rPr lang="en-US" altLang="zh-CN" sz="2800" b="0" dirty="0"/>
              <a:t>32</a:t>
            </a:r>
            <a:r>
              <a:rPr lang="zh-CN" altLang="en-US" sz="2800" b="0" dirty="0"/>
              <a:t>位，前面全未</a:t>
            </a:r>
            <a:r>
              <a:rPr lang="en-US" altLang="zh-CN" sz="2800" b="0" dirty="0"/>
              <a:t>1</a:t>
            </a:r>
            <a:r>
              <a:rPr lang="zh-CN" altLang="en-US" sz="2800" b="0" dirty="0"/>
              <a:t>的位表示网络，后面全为</a:t>
            </a:r>
            <a:r>
              <a:rPr lang="en-US" altLang="zh-CN" sz="2800" b="0" dirty="0"/>
              <a:t>0</a:t>
            </a:r>
            <a:r>
              <a:rPr lang="zh-CN" altLang="en-US" sz="2800" b="0" dirty="0"/>
              <a:t>的位表示主机号</a:t>
            </a:r>
            <a:endParaRPr lang="en-US" altLang="zh-CN" sz="2800" b="0" dirty="0"/>
          </a:p>
          <a:p>
            <a:r>
              <a:rPr lang="zh-CN" altLang="en-US" sz="2800" b="0" dirty="0"/>
              <a:t>如</a:t>
            </a:r>
            <a:r>
              <a:rPr lang="en-US" altLang="zh-CN" sz="2800" b="0" dirty="0"/>
              <a:t>255.255.255.0</a:t>
            </a:r>
            <a:r>
              <a:rPr lang="zh-CN" altLang="en-US" sz="2800" b="0" dirty="0"/>
              <a:t>表示</a:t>
            </a:r>
            <a:r>
              <a:rPr lang="en-US" altLang="zh-CN" sz="2800" b="0" dirty="0"/>
              <a:t>24</a:t>
            </a:r>
            <a:r>
              <a:rPr lang="zh-CN" altLang="en-US" sz="2800" b="0" dirty="0"/>
              <a:t>位网络号，</a:t>
            </a:r>
            <a:r>
              <a:rPr lang="en-US" altLang="zh-CN" sz="2800" b="0" dirty="0"/>
              <a:t>8</a:t>
            </a:r>
            <a:r>
              <a:rPr lang="zh-CN" altLang="en-US" sz="2800" b="0" dirty="0"/>
              <a:t>位主机号</a:t>
            </a:r>
            <a:endParaRPr lang="en-US" altLang="zh-CN" sz="2800" b="0" dirty="0"/>
          </a:p>
          <a:p>
            <a:r>
              <a:rPr lang="zh-CN" altLang="en-US" sz="2800" b="0" dirty="0"/>
              <a:t>另一种表示的方法是</a:t>
            </a:r>
            <a:r>
              <a:rPr lang="en-US" altLang="zh-CN" sz="2800" b="0" dirty="0"/>
              <a:t>CIDR</a:t>
            </a:r>
            <a:r>
              <a:rPr lang="zh-CN" altLang="en-US" sz="2800" b="0" dirty="0"/>
              <a:t>的表示，如</a:t>
            </a:r>
            <a:r>
              <a:rPr lang="en-US" altLang="zh-CN" sz="2800" b="0" dirty="0"/>
              <a:t>192.168.1.1/24</a:t>
            </a:r>
            <a:r>
              <a:rPr lang="zh-CN" altLang="en-US" sz="2800" b="0" dirty="0"/>
              <a:t>表示</a:t>
            </a:r>
            <a:r>
              <a:rPr lang="en-US" altLang="zh-CN" sz="2800" b="0" dirty="0"/>
              <a:t>24</a:t>
            </a:r>
            <a:r>
              <a:rPr lang="zh-CN" altLang="en-US" sz="2800" b="0" dirty="0"/>
              <a:t>位网络号</a:t>
            </a:r>
            <a:endParaRPr lang="en-US" altLang="zh-CN" sz="2800" b="0" dirty="0"/>
          </a:p>
        </p:txBody>
      </p:sp>
      <p:sp>
        <p:nvSpPr>
          <p:cNvPr id="5" name="文本框 4"/>
          <p:cNvSpPr txBox="1"/>
          <p:nvPr/>
        </p:nvSpPr>
        <p:spPr>
          <a:xfrm>
            <a:off x="467544" y="1131178"/>
            <a:ext cx="2880320" cy="584775"/>
          </a:xfrm>
          <a:prstGeom prst="rect">
            <a:avLst/>
          </a:prstGeom>
          <a:noFill/>
        </p:spPr>
        <p:txBody>
          <a:bodyPr wrap="square" rtlCol="0">
            <a:spAutoFit/>
          </a:bodyPr>
          <a:lstStyle/>
          <a:p>
            <a:r>
              <a:rPr lang="zh-CN" altLang="en-US" sz="3200" b="1" dirty="0"/>
              <a:t>子网掩码</a:t>
            </a:r>
          </a:p>
        </p:txBody>
      </p:sp>
    </p:spTree>
    <p:extLst>
      <p:ext uri="{BB962C8B-B14F-4D97-AF65-F5344CB8AC3E}">
        <p14:creationId xmlns:p14="http://schemas.microsoft.com/office/powerpoint/2010/main" val="2943040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192088" y="260648"/>
            <a:ext cx="7239000" cy="609600"/>
          </a:xfrm>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113668" name="Rectangle 4"/>
          <p:cNvSpPr>
            <a:spLocks noChangeArrowheads="1"/>
          </p:cNvSpPr>
          <p:nvPr/>
        </p:nvSpPr>
        <p:spPr bwMode="auto">
          <a:xfrm>
            <a:off x="684213" y="2089150"/>
            <a:ext cx="3457575" cy="539750"/>
          </a:xfrm>
          <a:prstGeom prst="rect">
            <a:avLst/>
          </a:prstGeom>
          <a:solidFill>
            <a:srgbClr val="CC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ea typeface="华文细黑" pitchFamily="2" charset="-122"/>
              </a:rPr>
              <a:t>网络号</a:t>
            </a:r>
          </a:p>
        </p:txBody>
      </p:sp>
      <p:sp>
        <p:nvSpPr>
          <p:cNvPr id="113669" name="Rectangle 5"/>
          <p:cNvSpPr>
            <a:spLocks noChangeArrowheads="1"/>
          </p:cNvSpPr>
          <p:nvPr/>
        </p:nvSpPr>
        <p:spPr bwMode="auto">
          <a:xfrm>
            <a:off x="4141788" y="2089150"/>
            <a:ext cx="3598862" cy="539750"/>
          </a:xfrm>
          <a:prstGeom prst="rect">
            <a:avLst/>
          </a:prstGeom>
          <a:solidFill>
            <a:srgbClr val="0099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ea typeface="华文细黑" pitchFamily="2" charset="-122"/>
              </a:rPr>
              <a:t>                         </a:t>
            </a:r>
            <a:r>
              <a:rPr lang="zh-CN" altLang="en-US" sz="2000">
                <a:ea typeface="华文细黑" pitchFamily="2" charset="-122"/>
              </a:rPr>
              <a:t>主机号</a:t>
            </a:r>
          </a:p>
        </p:txBody>
      </p:sp>
      <p:sp>
        <p:nvSpPr>
          <p:cNvPr id="113680" name="Rectangle 16"/>
          <p:cNvSpPr>
            <a:spLocks noChangeArrowheads="1"/>
          </p:cNvSpPr>
          <p:nvPr/>
        </p:nvSpPr>
        <p:spPr bwMode="auto">
          <a:xfrm>
            <a:off x="684213" y="4329113"/>
            <a:ext cx="3457575" cy="539750"/>
          </a:xfrm>
          <a:prstGeom prst="rect">
            <a:avLst/>
          </a:prstGeom>
          <a:solidFill>
            <a:srgbClr val="CC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ea typeface="华文细黑" pitchFamily="2" charset="-122"/>
              </a:rPr>
              <a:t>11111111111111111</a:t>
            </a:r>
          </a:p>
        </p:txBody>
      </p:sp>
      <p:sp>
        <p:nvSpPr>
          <p:cNvPr id="113681" name="Rectangle 17"/>
          <p:cNvSpPr>
            <a:spLocks noChangeArrowheads="1"/>
          </p:cNvSpPr>
          <p:nvPr/>
        </p:nvSpPr>
        <p:spPr bwMode="auto">
          <a:xfrm>
            <a:off x="4141788" y="4329113"/>
            <a:ext cx="3598862" cy="539750"/>
          </a:xfrm>
          <a:prstGeom prst="rect">
            <a:avLst/>
          </a:prstGeom>
          <a:solidFill>
            <a:srgbClr val="0099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ea typeface="华文细黑" pitchFamily="2" charset="-122"/>
              </a:rPr>
              <a:t>                         00000000</a:t>
            </a:r>
          </a:p>
        </p:txBody>
      </p:sp>
      <p:sp>
        <p:nvSpPr>
          <p:cNvPr id="113683" name="Line 19"/>
          <p:cNvSpPr>
            <a:spLocks noChangeShapeType="1"/>
          </p:cNvSpPr>
          <p:nvPr/>
        </p:nvSpPr>
        <p:spPr bwMode="auto">
          <a:xfrm>
            <a:off x="684213" y="4041775"/>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4" name="Line 20"/>
          <p:cNvSpPr>
            <a:spLocks noChangeShapeType="1"/>
          </p:cNvSpPr>
          <p:nvPr/>
        </p:nvSpPr>
        <p:spPr bwMode="auto">
          <a:xfrm>
            <a:off x="684213" y="4127500"/>
            <a:ext cx="6477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5" name="Line 21"/>
          <p:cNvSpPr>
            <a:spLocks noChangeShapeType="1"/>
          </p:cNvSpPr>
          <p:nvPr/>
        </p:nvSpPr>
        <p:spPr bwMode="auto">
          <a:xfrm>
            <a:off x="4140200" y="4041775"/>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6" name="Line 22"/>
          <p:cNvSpPr>
            <a:spLocks noChangeShapeType="1"/>
          </p:cNvSpPr>
          <p:nvPr/>
        </p:nvSpPr>
        <p:spPr bwMode="auto">
          <a:xfrm>
            <a:off x="3487738" y="4127500"/>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87" name="Text Box 23"/>
          <p:cNvSpPr txBox="1">
            <a:spLocks noChangeArrowheads="1"/>
          </p:cNvSpPr>
          <p:nvPr/>
        </p:nvSpPr>
        <p:spPr bwMode="auto">
          <a:xfrm>
            <a:off x="1763713" y="389731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ea typeface="华文细黑" pitchFamily="2" charset="-122"/>
              </a:rPr>
              <a:t>网络号</a:t>
            </a:r>
          </a:p>
        </p:txBody>
      </p:sp>
      <p:sp>
        <p:nvSpPr>
          <p:cNvPr id="113691" name="Line 27"/>
          <p:cNvSpPr>
            <a:spLocks noChangeShapeType="1"/>
          </p:cNvSpPr>
          <p:nvPr/>
        </p:nvSpPr>
        <p:spPr bwMode="auto">
          <a:xfrm>
            <a:off x="7740650" y="4056063"/>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4" name="Line 30"/>
          <p:cNvSpPr>
            <a:spLocks noChangeShapeType="1"/>
          </p:cNvSpPr>
          <p:nvPr/>
        </p:nvSpPr>
        <p:spPr bwMode="auto">
          <a:xfrm>
            <a:off x="4140200" y="4127500"/>
            <a:ext cx="441325"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7" name="Line 33"/>
          <p:cNvSpPr>
            <a:spLocks noChangeShapeType="1"/>
          </p:cNvSpPr>
          <p:nvPr/>
        </p:nvSpPr>
        <p:spPr bwMode="auto">
          <a:xfrm>
            <a:off x="7296150" y="4127500"/>
            <a:ext cx="4413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8" name="Line 34"/>
          <p:cNvSpPr>
            <a:spLocks noChangeShapeType="1"/>
          </p:cNvSpPr>
          <p:nvPr/>
        </p:nvSpPr>
        <p:spPr bwMode="auto">
          <a:xfrm>
            <a:off x="4139952" y="4127500"/>
            <a:ext cx="2164011"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699" name="Text Box 35"/>
          <p:cNvSpPr txBox="1">
            <a:spLocks noChangeArrowheads="1"/>
          </p:cNvSpPr>
          <p:nvPr/>
        </p:nvSpPr>
        <p:spPr bwMode="auto">
          <a:xfrm>
            <a:off x="6329363" y="389731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ea typeface="华文细黑" pitchFamily="2" charset="-122"/>
              </a:rPr>
              <a:t>主机号</a:t>
            </a:r>
          </a:p>
        </p:txBody>
      </p:sp>
      <p:sp>
        <p:nvSpPr>
          <p:cNvPr id="113664" name="Rectangle 0"/>
          <p:cNvSpPr>
            <a:spLocks noChangeArrowheads="1"/>
          </p:cNvSpPr>
          <p:nvPr/>
        </p:nvSpPr>
        <p:spPr bwMode="auto">
          <a:xfrm>
            <a:off x="971550" y="1125538"/>
            <a:ext cx="24479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10000"/>
              </a:spcBef>
              <a:spcAft>
                <a:spcPct val="25000"/>
              </a:spcAft>
              <a:buClr>
                <a:schemeClr val="tx1"/>
              </a:buClr>
              <a:buSzPct val="80000"/>
              <a:buFont typeface="Wingdings" pitchFamily="2" charset="2"/>
              <a:buNone/>
            </a:pPr>
            <a:r>
              <a:rPr lang="en-US" altLang="zh-CN" sz="3000" b="1">
                <a:solidFill>
                  <a:srgbClr val="000000"/>
                </a:solidFill>
                <a:ea typeface="华文细黑" pitchFamily="2" charset="-122"/>
              </a:rPr>
              <a:t>IP</a:t>
            </a:r>
            <a:r>
              <a:rPr lang="zh-CN" altLang="en-US" sz="3000" b="1">
                <a:solidFill>
                  <a:srgbClr val="000000"/>
                </a:solidFill>
                <a:ea typeface="华文细黑" pitchFamily="2" charset="-122"/>
              </a:rPr>
              <a:t>地址</a:t>
            </a:r>
          </a:p>
        </p:txBody>
      </p:sp>
      <p:sp>
        <p:nvSpPr>
          <p:cNvPr id="113665" name="Rectangle 1"/>
          <p:cNvSpPr>
            <a:spLocks noChangeArrowheads="1"/>
          </p:cNvSpPr>
          <p:nvPr/>
        </p:nvSpPr>
        <p:spPr bwMode="auto">
          <a:xfrm>
            <a:off x="971550" y="2997200"/>
            <a:ext cx="266382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10000"/>
              </a:spcBef>
              <a:spcAft>
                <a:spcPct val="25000"/>
              </a:spcAft>
              <a:buClr>
                <a:schemeClr val="tx1"/>
              </a:buClr>
              <a:buSzPct val="80000"/>
              <a:buFont typeface="Wingdings" pitchFamily="2" charset="2"/>
              <a:buNone/>
            </a:pPr>
            <a:r>
              <a:rPr lang="zh-CN" altLang="en-US" sz="3000" b="1">
                <a:solidFill>
                  <a:srgbClr val="000000"/>
                </a:solidFill>
                <a:ea typeface="华文细黑" pitchFamily="2" charset="-122"/>
              </a:rPr>
              <a:t>子网掩码</a:t>
            </a:r>
          </a:p>
        </p:txBody>
      </p:sp>
    </p:spTree>
    <p:extLst>
      <p:ext uri="{BB962C8B-B14F-4D97-AF65-F5344CB8AC3E}">
        <p14:creationId xmlns:p14="http://schemas.microsoft.com/office/powerpoint/2010/main" val="4022522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23528" y="188640"/>
            <a:ext cx="7239000" cy="609600"/>
          </a:xfrm>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208899" name="Rectangle 3"/>
          <p:cNvSpPr>
            <a:spLocks noGrp="1" noChangeArrowheads="1"/>
          </p:cNvSpPr>
          <p:nvPr>
            <p:ph type="body" idx="1"/>
          </p:nvPr>
        </p:nvSpPr>
        <p:spPr>
          <a:xfrm>
            <a:off x="611560" y="1988840"/>
            <a:ext cx="7343775" cy="2087563"/>
          </a:xfrm>
        </p:spPr>
        <p:txBody>
          <a:bodyPr/>
          <a:lstStyle/>
          <a:p>
            <a:r>
              <a:rPr lang="en-US" altLang="zh-CN" b="0" dirty="0"/>
              <a:t>A</a:t>
            </a:r>
            <a:r>
              <a:rPr lang="zh-CN" altLang="en-US" b="0" dirty="0"/>
              <a:t>类地址默认掩码为</a:t>
            </a:r>
            <a:r>
              <a:rPr lang="en-US" altLang="zh-CN" b="0" dirty="0"/>
              <a:t>255.0.0.0</a:t>
            </a:r>
          </a:p>
          <a:p>
            <a:r>
              <a:rPr lang="en-US" altLang="zh-CN" b="0" dirty="0"/>
              <a:t>B</a:t>
            </a:r>
            <a:r>
              <a:rPr lang="zh-CN" altLang="en-US" b="0" dirty="0"/>
              <a:t>类地址默认掩码为</a:t>
            </a:r>
            <a:r>
              <a:rPr lang="en-US" altLang="zh-CN" b="0" dirty="0"/>
              <a:t>255.255.0.0</a:t>
            </a:r>
          </a:p>
          <a:p>
            <a:r>
              <a:rPr lang="en-US" altLang="zh-CN" b="0" dirty="0"/>
              <a:t>C</a:t>
            </a:r>
            <a:r>
              <a:rPr lang="zh-CN" altLang="en-US" b="0" dirty="0"/>
              <a:t>类地址默认掩码为</a:t>
            </a:r>
            <a:r>
              <a:rPr lang="en-US" altLang="zh-CN" b="0" dirty="0"/>
              <a:t>255.255.255.0</a:t>
            </a:r>
          </a:p>
        </p:txBody>
      </p:sp>
    </p:spTree>
    <p:extLst>
      <p:ext uri="{BB962C8B-B14F-4D97-AF65-F5344CB8AC3E}">
        <p14:creationId xmlns:p14="http://schemas.microsoft.com/office/powerpoint/2010/main" val="1781893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18" name="内容占位符 1"/>
          <p:cNvSpPr txBox="1">
            <a:spLocks/>
          </p:cNvSpPr>
          <p:nvPr/>
        </p:nvSpPr>
        <p:spPr>
          <a:xfrm>
            <a:off x="323528" y="1124744"/>
            <a:ext cx="8229600" cy="2448761"/>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ARP</a:t>
            </a:r>
            <a:r>
              <a:rPr lang="zh-CN" altLang="en-US" dirty="0"/>
              <a:t>协议</a:t>
            </a:r>
            <a:endParaRPr lang="en-US" altLang="zh-CN" dirty="0"/>
          </a:p>
          <a:p>
            <a:pPr marL="0" indent="0">
              <a:buNone/>
            </a:pPr>
            <a:r>
              <a:rPr lang="zh-CN" altLang="en-US" b="0" dirty="0">
                <a:solidFill>
                  <a:schemeClr val="tx1"/>
                </a:solidFill>
              </a:rPr>
              <a:t>    </a:t>
            </a:r>
            <a:r>
              <a:rPr lang="zh-CN" altLang="en-US" sz="3000" b="0" dirty="0">
                <a:solidFill>
                  <a:schemeClr val="tx1"/>
                </a:solidFill>
              </a:rPr>
              <a:t>每台计算机有了两种地址，一种是</a:t>
            </a:r>
            <a:r>
              <a:rPr lang="en-US" altLang="zh-CN" sz="3000" b="0" dirty="0">
                <a:solidFill>
                  <a:schemeClr val="tx1"/>
                </a:solidFill>
              </a:rPr>
              <a:t>MAC</a:t>
            </a:r>
            <a:r>
              <a:rPr lang="zh-CN" altLang="en-US" sz="3000" b="0" dirty="0">
                <a:solidFill>
                  <a:schemeClr val="tx1"/>
                </a:solidFill>
              </a:rPr>
              <a:t>地址，另一种是网络地址。</a:t>
            </a:r>
          </a:p>
          <a:p>
            <a:pPr marL="0" indent="0">
              <a:buNone/>
            </a:pPr>
            <a:r>
              <a:rPr lang="en-US" altLang="zh-CN" b="0" dirty="0">
                <a:solidFill>
                  <a:schemeClr val="tx1"/>
                </a:solidFill>
              </a:rPr>
              <a:t>     ARP</a:t>
            </a:r>
            <a:r>
              <a:rPr lang="zh-CN" altLang="en-US" b="0" dirty="0">
                <a:solidFill>
                  <a:schemeClr val="tx1"/>
                </a:solidFill>
              </a:rPr>
              <a:t>协议：通过目标设备的</a:t>
            </a:r>
            <a:r>
              <a:rPr lang="en-US" altLang="zh-CN" b="0" dirty="0">
                <a:solidFill>
                  <a:schemeClr val="tx1"/>
                </a:solidFill>
              </a:rPr>
              <a:t>IP</a:t>
            </a:r>
            <a:r>
              <a:rPr lang="zh-CN" altLang="en-US" b="0" dirty="0">
                <a:solidFill>
                  <a:schemeClr val="tx1"/>
                </a:solidFill>
              </a:rPr>
              <a:t>地址，查询目标设备的</a:t>
            </a:r>
            <a:r>
              <a:rPr lang="en-US" altLang="zh-CN" b="0" dirty="0">
                <a:solidFill>
                  <a:schemeClr val="tx1"/>
                </a:solidFill>
              </a:rPr>
              <a:t>MAC</a:t>
            </a:r>
            <a:r>
              <a:rPr lang="zh-CN" altLang="en-US" b="0" dirty="0">
                <a:solidFill>
                  <a:schemeClr val="tx1"/>
                </a:solidFill>
              </a:rPr>
              <a:t>地址。</a:t>
            </a:r>
          </a:p>
        </p:txBody>
      </p:sp>
      <p:pic>
        <p:nvPicPr>
          <p:cNvPr id="1028" name="Picture 4" descr="http://cisco.chinaitlab.com/imgfiles/2005.11.22.13.55.42.2.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773522"/>
            <a:ext cx="5960264" cy="2391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815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18" name="内容占位符 1"/>
          <p:cNvSpPr txBox="1">
            <a:spLocks/>
          </p:cNvSpPr>
          <p:nvPr/>
        </p:nvSpPr>
        <p:spPr>
          <a:xfrm>
            <a:off x="323528" y="1124745"/>
            <a:ext cx="8229600" cy="93610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ARP</a:t>
            </a:r>
            <a:r>
              <a:rPr lang="zh-CN" altLang="en-US" dirty="0"/>
              <a:t>协议 </a:t>
            </a:r>
            <a:r>
              <a:rPr lang="en-US" altLang="zh-CN" dirty="0"/>
              <a:t>vs IP</a:t>
            </a:r>
            <a:r>
              <a:rPr lang="zh-CN" altLang="en-US" dirty="0"/>
              <a:t>协议</a:t>
            </a:r>
            <a:endParaRPr lang="en-US" altLang="zh-CN" dirty="0"/>
          </a:p>
        </p:txBody>
      </p:sp>
      <p:sp>
        <p:nvSpPr>
          <p:cNvPr id="2" name="矩形 1"/>
          <p:cNvSpPr/>
          <p:nvPr/>
        </p:nvSpPr>
        <p:spPr>
          <a:xfrm>
            <a:off x="539552" y="1844824"/>
            <a:ext cx="7920880" cy="830997"/>
          </a:xfrm>
          <a:prstGeom prst="rect">
            <a:avLst/>
          </a:prstGeom>
        </p:spPr>
        <p:txBody>
          <a:bodyPr wrap="square">
            <a:spAutoFit/>
          </a:bodyPr>
          <a:lstStyle/>
          <a:p>
            <a:r>
              <a:rPr lang="zh-CN" altLang="en-US" sz="2400" dirty="0">
                <a:solidFill>
                  <a:srgbClr val="1A1A1A"/>
                </a:solidFill>
                <a:latin typeface="-apple-system"/>
              </a:rPr>
              <a:t>数据转发的时候，路由器都会把原来的二层数据包剥下来，换上自己的</a:t>
            </a:r>
            <a:r>
              <a:rPr lang="en-US" altLang="zh-CN" sz="2400" dirty="0">
                <a:solidFill>
                  <a:srgbClr val="1A1A1A"/>
                </a:solidFill>
                <a:latin typeface="-apple-system"/>
              </a:rPr>
              <a:t>MAC</a:t>
            </a:r>
            <a:r>
              <a:rPr lang="zh-CN" altLang="en-US" sz="2400" dirty="0">
                <a:solidFill>
                  <a:srgbClr val="1A1A1A"/>
                </a:solidFill>
                <a:latin typeface="-apple-system"/>
              </a:rPr>
              <a:t>。</a:t>
            </a:r>
            <a:endParaRPr lang="zh-CN" altLang="en-US" sz="2400" dirty="0"/>
          </a:p>
        </p:txBody>
      </p:sp>
      <p:sp>
        <p:nvSpPr>
          <p:cNvPr id="4" name="矩形 3"/>
          <p:cNvSpPr/>
          <p:nvPr/>
        </p:nvSpPr>
        <p:spPr>
          <a:xfrm>
            <a:off x="899592" y="2852936"/>
            <a:ext cx="7128792" cy="400110"/>
          </a:xfrm>
          <a:prstGeom prst="rect">
            <a:avLst/>
          </a:prstGeom>
        </p:spPr>
        <p:txBody>
          <a:bodyPr wrap="square">
            <a:spAutoFit/>
          </a:bodyPr>
          <a:lstStyle/>
          <a:p>
            <a:r>
              <a:rPr lang="zh-CN" altLang="en-US" sz="2000" dirty="0">
                <a:solidFill>
                  <a:srgbClr val="1A1A1A"/>
                </a:solidFill>
                <a:latin typeface="-apple-system"/>
              </a:rPr>
              <a:t>假设从</a:t>
            </a:r>
            <a:r>
              <a:rPr lang="en-US" altLang="zh-CN" sz="2000" dirty="0">
                <a:solidFill>
                  <a:srgbClr val="1A1A1A"/>
                </a:solidFill>
                <a:latin typeface="-apple-system"/>
              </a:rPr>
              <a:t>A</a:t>
            </a:r>
            <a:r>
              <a:rPr lang="zh-CN" altLang="en-US" sz="2000" dirty="0">
                <a:solidFill>
                  <a:srgbClr val="1A1A1A"/>
                </a:solidFill>
                <a:latin typeface="-apple-system"/>
              </a:rPr>
              <a:t>到</a:t>
            </a:r>
            <a:r>
              <a:rPr lang="en-US" altLang="zh-CN" sz="2000" dirty="0">
                <a:solidFill>
                  <a:srgbClr val="1A1A1A"/>
                </a:solidFill>
                <a:latin typeface="-apple-system"/>
              </a:rPr>
              <a:t>B</a:t>
            </a:r>
            <a:r>
              <a:rPr lang="zh-CN" altLang="en-US" sz="2000" dirty="0">
                <a:solidFill>
                  <a:srgbClr val="1A1A1A"/>
                </a:solidFill>
                <a:latin typeface="-apple-system"/>
              </a:rPr>
              <a:t>，中间要经过</a:t>
            </a:r>
            <a:r>
              <a:rPr lang="en-US" altLang="zh-CN" sz="2000" dirty="0">
                <a:solidFill>
                  <a:srgbClr val="1A1A1A"/>
                </a:solidFill>
                <a:latin typeface="-apple-system"/>
              </a:rPr>
              <a:t>2</a:t>
            </a:r>
            <a:r>
              <a:rPr lang="zh-CN" altLang="en-US" sz="2000" dirty="0">
                <a:solidFill>
                  <a:srgbClr val="1A1A1A"/>
                </a:solidFill>
                <a:latin typeface="-apple-system"/>
              </a:rPr>
              <a:t>个路由器：</a:t>
            </a:r>
            <a:r>
              <a:rPr lang="en-US" altLang="zh-CN" sz="2000" dirty="0">
                <a:solidFill>
                  <a:srgbClr val="1A1A1A"/>
                </a:solidFill>
                <a:latin typeface="-apple-system"/>
              </a:rPr>
              <a:t>A, R1, R2, B</a:t>
            </a:r>
            <a:endParaRPr lang="zh-CN" altLang="en-US" sz="2000" dirty="0"/>
          </a:p>
        </p:txBody>
      </p:sp>
      <p:sp>
        <p:nvSpPr>
          <p:cNvPr id="5" name="矩形 4"/>
          <p:cNvSpPr/>
          <p:nvPr/>
        </p:nvSpPr>
        <p:spPr>
          <a:xfrm>
            <a:off x="683568" y="3356992"/>
            <a:ext cx="7992888" cy="1323439"/>
          </a:xfrm>
          <a:prstGeom prst="rect">
            <a:avLst/>
          </a:prstGeom>
        </p:spPr>
        <p:txBody>
          <a:bodyPr wrap="square">
            <a:spAutoFit/>
          </a:bodyPr>
          <a:lstStyle/>
          <a:p>
            <a:pPr marL="342900" indent="-342900">
              <a:buAutoNum type="arabicPeriod"/>
            </a:pPr>
            <a:r>
              <a:rPr lang="zh-CN" altLang="en-US" sz="2000" dirty="0">
                <a:solidFill>
                  <a:srgbClr val="1A1A1A"/>
                </a:solidFill>
                <a:latin typeface="-apple-system"/>
              </a:rPr>
              <a:t>对于</a:t>
            </a:r>
            <a:r>
              <a:rPr lang="en-US" altLang="zh-CN" sz="2000" dirty="0">
                <a:solidFill>
                  <a:srgbClr val="1A1A1A"/>
                </a:solidFill>
                <a:latin typeface="-apple-system"/>
              </a:rPr>
              <a:t>A</a:t>
            </a:r>
            <a:r>
              <a:rPr lang="zh-CN" altLang="en-US" sz="2000" dirty="0">
                <a:solidFill>
                  <a:srgbClr val="1A1A1A"/>
                </a:solidFill>
                <a:latin typeface="-apple-system"/>
              </a:rPr>
              <a:t>来说，</a:t>
            </a:r>
            <a:r>
              <a:rPr lang="en-US" altLang="zh-CN" sz="2000" dirty="0">
                <a:solidFill>
                  <a:srgbClr val="1A1A1A"/>
                </a:solidFill>
                <a:latin typeface="-apple-system"/>
              </a:rPr>
              <a:t>B</a:t>
            </a:r>
            <a:r>
              <a:rPr lang="zh-CN" altLang="en-US" sz="2000" dirty="0">
                <a:solidFill>
                  <a:srgbClr val="1A1A1A"/>
                </a:solidFill>
                <a:latin typeface="-apple-system"/>
              </a:rPr>
              <a:t>不在本地链路上，且</a:t>
            </a:r>
            <a:r>
              <a:rPr lang="en-US" altLang="zh-CN" sz="2000" dirty="0">
                <a:solidFill>
                  <a:srgbClr val="1A1A1A"/>
                </a:solidFill>
                <a:latin typeface="-apple-system"/>
              </a:rPr>
              <a:t>B</a:t>
            </a:r>
            <a:r>
              <a:rPr lang="zh-CN" altLang="en-US" sz="2000" dirty="0">
                <a:solidFill>
                  <a:srgbClr val="1A1A1A"/>
                </a:solidFill>
                <a:latin typeface="-apple-system"/>
              </a:rPr>
              <a:t>的地址对应路由是</a:t>
            </a:r>
            <a:r>
              <a:rPr lang="en-US" altLang="zh-CN" sz="2000" dirty="0">
                <a:solidFill>
                  <a:srgbClr val="1A1A1A"/>
                </a:solidFill>
                <a:latin typeface="-apple-system"/>
              </a:rPr>
              <a:t>R1</a:t>
            </a:r>
            <a:r>
              <a:rPr lang="zh-CN" altLang="en-US" sz="2000" dirty="0">
                <a:solidFill>
                  <a:srgbClr val="1A1A1A"/>
                </a:solidFill>
                <a:latin typeface="-apple-system"/>
              </a:rPr>
              <a:t>的地址，于是它需要发送一个数据包给</a:t>
            </a:r>
            <a:r>
              <a:rPr lang="en-US" altLang="zh-CN" sz="2000" dirty="0">
                <a:solidFill>
                  <a:srgbClr val="1A1A1A"/>
                </a:solidFill>
                <a:latin typeface="-apple-system"/>
              </a:rPr>
              <a:t>R1，</a:t>
            </a:r>
            <a:r>
              <a:rPr lang="zh-CN" altLang="en-US" sz="2000" dirty="0">
                <a:solidFill>
                  <a:srgbClr val="1A1A1A"/>
                </a:solidFill>
                <a:latin typeface="-apple-system"/>
              </a:rPr>
              <a:t>数据包中，</a:t>
            </a:r>
            <a:r>
              <a:rPr lang="en-US" altLang="zh-CN" sz="2000" dirty="0"/>
              <a:t>IP</a:t>
            </a:r>
            <a:r>
              <a:rPr lang="zh-CN" altLang="en-US" sz="2000" dirty="0"/>
              <a:t>源地址：</a:t>
            </a:r>
            <a:r>
              <a:rPr lang="en-US" altLang="zh-CN" sz="2000" dirty="0"/>
              <a:t>A</a:t>
            </a:r>
            <a:r>
              <a:rPr lang="zh-CN" altLang="en-US" sz="2000" dirty="0"/>
              <a:t>，</a:t>
            </a:r>
            <a:r>
              <a:rPr lang="en-US" altLang="zh-CN" sz="2000" dirty="0"/>
              <a:t>IP</a:t>
            </a:r>
            <a:r>
              <a:rPr lang="zh-CN" altLang="en-US" sz="2000" dirty="0"/>
              <a:t>目的地址：</a:t>
            </a:r>
            <a:r>
              <a:rPr lang="en-US" altLang="zh-CN" sz="2000" dirty="0"/>
              <a:t>B。</a:t>
            </a:r>
            <a:r>
              <a:rPr lang="zh-CN" altLang="en-US" sz="2000" dirty="0"/>
              <a:t>以太网</a:t>
            </a:r>
            <a:r>
              <a:rPr lang="en-US" altLang="zh-CN" sz="2000" dirty="0"/>
              <a:t>MAC</a:t>
            </a:r>
            <a:r>
              <a:rPr lang="zh-CN" altLang="en-US" sz="2000" dirty="0"/>
              <a:t>源地址：</a:t>
            </a:r>
            <a:r>
              <a:rPr lang="en-US" altLang="zh-CN" sz="2000" dirty="0"/>
              <a:t>A</a:t>
            </a:r>
            <a:r>
              <a:rPr lang="zh-CN" altLang="en-US" sz="2000" dirty="0"/>
              <a:t>，以太网</a:t>
            </a:r>
            <a:r>
              <a:rPr lang="en-US" altLang="zh-CN" sz="2000" dirty="0"/>
              <a:t>MAC</a:t>
            </a:r>
            <a:r>
              <a:rPr lang="zh-CN" altLang="en-US" sz="2000" dirty="0"/>
              <a:t>目的地址：</a:t>
            </a:r>
            <a:r>
              <a:rPr lang="en-US" altLang="zh-CN" sz="2000" dirty="0"/>
              <a:t>R1。</a:t>
            </a:r>
            <a:endParaRPr lang="en-US" altLang="zh-CN" sz="2000" dirty="0">
              <a:solidFill>
                <a:srgbClr val="1A1A1A"/>
              </a:solidFill>
              <a:latin typeface="-apple-system"/>
            </a:endParaRPr>
          </a:p>
          <a:p>
            <a:pPr marL="342900" indent="-342900">
              <a:buAutoNum type="arabicPeriod"/>
            </a:pPr>
            <a:endParaRPr lang="zh-CN" altLang="en-US" sz="2000" dirty="0"/>
          </a:p>
        </p:txBody>
      </p:sp>
      <p:sp>
        <p:nvSpPr>
          <p:cNvPr id="6" name="矩形 5"/>
          <p:cNvSpPr/>
          <p:nvPr/>
        </p:nvSpPr>
        <p:spPr>
          <a:xfrm>
            <a:off x="683568" y="4581128"/>
            <a:ext cx="7992888" cy="707886"/>
          </a:xfrm>
          <a:prstGeom prst="rect">
            <a:avLst/>
          </a:prstGeom>
        </p:spPr>
        <p:txBody>
          <a:bodyPr wrap="square">
            <a:spAutoFit/>
          </a:bodyPr>
          <a:lstStyle/>
          <a:p>
            <a:pPr marL="360000" indent="-396000"/>
            <a:r>
              <a:rPr lang="en-US" altLang="zh-CN" sz="2000" dirty="0">
                <a:solidFill>
                  <a:srgbClr val="1A1A1A"/>
                </a:solidFill>
                <a:latin typeface="-apple-system"/>
              </a:rPr>
              <a:t>2. R1</a:t>
            </a:r>
            <a:r>
              <a:rPr lang="zh-CN" altLang="en-US" sz="2000" dirty="0">
                <a:solidFill>
                  <a:srgbClr val="1A1A1A"/>
                </a:solidFill>
                <a:latin typeface="-apple-system"/>
              </a:rPr>
              <a:t>向</a:t>
            </a:r>
            <a:r>
              <a:rPr lang="en-US" altLang="zh-CN" sz="2000" dirty="0">
                <a:solidFill>
                  <a:srgbClr val="1A1A1A"/>
                </a:solidFill>
                <a:latin typeface="-apple-system"/>
              </a:rPr>
              <a:t>R2 </a:t>
            </a:r>
            <a:r>
              <a:rPr lang="zh-CN" altLang="en-US" sz="2000" dirty="0">
                <a:solidFill>
                  <a:srgbClr val="1A1A1A"/>
                </a:solidFill>
                <a:latin typeface="-apple-system"/>
              </a:rPr>
              <a:t>发出数据包则是：</a:t>
            </a:r>
            <a:r>
              <a:rPr lang="en-US" altLang="zh-CN" sz="2000" dirty="0">
                <a:solidFill>
                  <a:srgbClr val="1A1A1A"/>
                </a:solidFill>
                <a:latin typeface="-apple-system"/>
              </a:rPr>
              <a:t>IP</a:t>
            </a:r>
            <a:r>
              <a:rPr lang="zh-CN" altLang="en-US" sz="2000" dirty="0">
                <a:solidFill>
                  <a:srgbClr val="1A1A1A"/>
                </a:solidFill>
                <a:latin typeface="-apple-system"/>
              </a:rPr>
              <a:t>源地址：</a:t>
            </a:r>
            <a:r>
              <a:rPr lang="en-US" altLang="zh-CN" sz="2000" dirty="0">
                <a:solidFill>
                  <a:srgbClr val="1A1A1A"/>
                </a:solidFill>
                <a:latin typeface="-apple-system"/>
              </a:rPr>
              <a:t>A</a:t>
            </a:r>
            <a:r>
              <a:rPr lang="zh-CN" altLang="en-US" sz="2000" dirty="0">
                <a:solidFill>
                  <a:srgbClr val="1A1A1A"/>
                </a:solidFill>
                <a:latin typeface="-apple-system"/>
              </a:rPr>
              <a:t>，</a:t>
            </a:r>
            <a:r>
              <a:rPr lang="en-US" altLang="zh-CN" sz="2000" dirty="0">
                <a:solidFill>
                  <a:srgbClr val="1A1A1A"/>
                </a:solidFill>
                <a:latin typeface="-apple-system"/>
              </a:rPr>
              <a:t>IP</a:t>
            </a:r>
            <a:r>
              <a:rPr lang="zh-CN" altLang="en-US" sz="2000" dirty="0">
                <a:solidFill>
                  <a:srgbClr val="1A1A1A"/>
                </a:solidFill>
                <a:latin typeface="-apple-system"/>
              </a:rPr>
              <a:t>目的地址：</a:t>
            </a:r>
            <a:r>
              <a:rPr lang="en-US" altLang="zh-CN" sz="2000" dirty="0">
                <a:solidFill>
                  <a:srgbClr val="1A1A1A"/>
                </a:solidFill>
                <a:latin typeface="-apple-system"/>
              </a:rPr>
              <a:t>B。 </a:t>
            </a:r>
            <a:r>
              <a:rPr lang="zh-CN" altLang="en-US" sz="2000" dirty="0">
                <a:solidFill>
                  <a:srgbClr val="1A1A1A"/>
                </a:solidFill>
                <a:latin typeface="-apple-system"/>
              </a:rPr>
              <a:t>以太网</a:t>
            </a:r>
            <a:r>
              <a:rPr lang="en-US" altLang="zh-CN" sz="2000" dirty="0">
                <a:solidFill>
                  <a:srgbClr val="1A1A1A"/>
                </a:solidFill>
                <a:latin typeface="-apple-system"/>
              </a:rPr>
              <a:t>MAC</a:t>
            </a:r>
            <a:r>
              <a:rPr lang="zh-CN" altLang="en-US" sz="2000" dirty="0">
                <a:solidFill>
                  <a:srgbClr val="1A1A1A"/>
                </a:solidFill>
                <a:latin typeface="-apple-system"/>
              </a:rPr>
              <a:t>源地址：</a:t>
            </a:r>
            <a:r>
              <a:rPr lang="en-US" altLang="zh-CN" sz="2000" dirty="0">
                <a:solidFill>
                  <a:srgbClr val="1A1A1A"/>
                </a:solidFill>
                <a:latin typeface="-apple-system"/>
              </a:rPr>
              <a:t>R1</a:t>
            </a:r>
            <a:r>
              <a:rPr lang="zh-CN" altLang="en-US" sz="2000" dirty="0">
                <a:solidFill>
                  <a:srgbClr val="1A1A1A"/>
                </a:solidFill>
                <a:latin typeface="-apple-system"/>
              </a:rPr>
              <a:t>，以太网</a:t>
            </a:r>
            <a:r>
              <a:rPr lang="en-US" altLang="zh-CN" sz="2000" dirty="0">
                <a:solidFill>
                  <a:srgbClr val="1A1A1A"/>
                </a:solidFill>
                <a:latin typeface="-apple-system"/>
              </a:rPr>
              <a:t>MAC</a:t>
            </a:r>
            <a:r>
              <a:rPr lang="zh-CN" altLang="en-US" sz="2000" dirty="0">
                <a:solidFill>
                  <a:srgbClr val="1A1A1A"/>
                </a:solidFill>
                <a:latin typeface="-apple-system"/>
              </a:rPr>
              <a:t>目的地址：</a:t>
            </a:r>
            <a:r>
              <a:rPr lang="en-US" altLang="zh-CN" sz="2000" dirty="0">
                <a:solidFill>
                  <a:srgbClr val="1A1A1A"/>
                </a:solidFill>
                <a:latin typeface="-apple-system"/>
              </a:rPr>
              <a:t>R2。</a:t>
            </a:r>
            <a:endParaRPr lang="zh-CN" altLang="en-US" sz="2000" dirty="0"/>
          </a:p>
        </p:txBody>
      </p:sp>
      <p:sp>
        <p:nvSpPr>
          <p:cNvPr id="7" name="矩形 6"/>
          <p:cNvSpPr/>
          <p:nvPr/>
        </p:nvSpPr>
        <p:spPr>
          <a:xfrm>
            <a:off x="755576" y="5445224"/>
            <a:ext cx="7992888" cy="707886"/>
          </a:xfrm>
          <a:prstGeom prst="rect">
            <a:avLst/>
          </a:prstGeom>
        </p:spPr>
        <p:txBody>
          <a:bodyPr wrap="square">
            <a:spAutoFit/>
          </a:bodyPr>
          <a:lstStyle/>
          <a:p>
            <a:pPr marL="360000" indent="-360000"/>
            <a:r>
              <a:rPr lang="en-US" altLang="zh-CN" sz="2000" dirty="0">
                <a:solidFill>
                  <a:srgbClr val="1A1A1A"/>
                </a:solidFill>
                <a:latin typeface="-apple-system"/>
              </a:rPr>
              <a:t>3. R2</a:t>
            </a:r>
            <a:r>
              <a:rPr lang="zh-CN" altLang="en-US" sz="2000" dirty="0">
                <a:solidFill>
                  <a:srgbClr val="1A1A1A"/>
                </a:solidFill>
                <a:latin typeface="-apple-system"/>
              </a:rPr>
              <a:t>数据包发送给</a:t>
            </a:r>
            <a:r>
              <a:rPr lang="en-US" altLang="zh-CN" sz="2000" dirty="0">
                <a:solidFill>
                  <a:srgbClr val="1A1A1A"/>
                </a:solidFill>
                <a:latin typeface="-apple-system"/>
              </a:rPr>
              <a:t>B</a:t>
            </a:r>
            <a:r>
              <a:rPr lang="zh-CN" altLang="en-US" sz="2000" dirty="0">
                <a:solidFill>
                  <a:srgbClr val="1A1A1A"/>
                </a:solidFill>
                <a:latin typeface="-apple-system"/>
              </a:rPr>
              <a:t>：</a:t>
            </a:r>
            <a:r>
              <a:rPr lang="en-US" altLang="zh-CN" sz="2000" dirty="0">
                <a:solidFill>
                  <a:srgbClr val="1A1A1A"/>
                </a:solidFill>
                <a:latin typeface="-apple-system"/>
              </a:rPr>
              <a:t>IP</a:t>
            </a:r>
            <a:r>
              <a:rPr lang="zh-CN" altLang="en-US" sz="2000" dirty="0">
                <a:solidFill>
                  <a:srgbClr val="1A1A1A"/>
                </a:solidFill>
                <a:latin typeface="-apple-system"/>
              </a:rPr>
              <a:t>源地址：</a:t>
            </a:r>
            <a:r>
              <a:rPr lang="en-US" altLang="zh-CN" sz="2000" dirty="0">
                <a:solidFill>
                  <a:srgbClr val="1A1A1A"/>
                </a:solidFill>
                <a:latin typeface="-apple-system"/>
              </a:rPr>
              <a:t>A</a:t>
            </a:r>
            <a:r>
              <a:rPr lang="zh-CN" altLang="en-US" sz="2000" dirty="0">
                <a:solidFill>
                  <a:srgbClr val="1A1A1A"/>
                </a:solidFill>
                <a:latin typeface="-apple-system"/>
              </a:rPr>
              <a:t>，</a:t>
            </a:r>
            <a:r>
              <a:rPr lang="en-US" altLang="zh-CN" sz="2000" dirty="0">
                <a:solidFill>
                  <a:srgbClr val="1A1A1A"/>
                </a:solidFill>
                <a:latin typeface="-apple-system"/>
              </a:rPr>
              <a:t>IP</a:t>
            </a:r>
            <a:r>
              <a:rPr lang="zh-CN" altLang="en-US" sz="2000" dirty="0">
                <a:solidFill>
                  <a:srgbClr val="1A1A1A"/>
                </a:solidFill>
                <a:latin typeface="-apple-system"/>
              </a:rPr>
              <a:t>目的地址：</a:t>
            </a:r>
            <a:r>
              <a:rPr lang="en-US" altLang="zh-CN" sz="2000" dirty="0">
                <a:solidFill>
                  <a:srgbClr val="1A1A1A"/>
                </a:solidFill>
                <a:latin typeface="-apple-system"/>
              </a:rPr>
              <a:t>B。 </a:t>
            </a:r>
            <a:r>
              <a:rPr lang="zh-CN" altLang="en-US" sz="2000" dirty="0">
                <a:solidFill>
                  <a:srgbClr val="1A1A1A"/>
                </a:solidFill>
                <a:latin typeface="-apple-system"/>
              </a:rPr>
              <a:t>以太网</a:t>
            </a:r>
            <a:r>
              <a:rPr lang="en-US" altLang="zh-CN" sz="2000" dirty="0">
                <a:solidFill>
                  <a:srgbClr val="1A1A1A"/>
                </a:solidFill>
                <a:latin typeface="-apple-system"/>
              </a:rPr>
              <a:t>MAC</a:t>
            </a:r>
            <a:r>
              <a:rPr lang="zh-CN" altLang="en-US" sz="2000" dirty="0">
                <a:solidFill>
                  <a:srgbClr val="1A1A1A"/>
                </a:solidFill>
                <a:latin typeface="-apple-system"/>
              </a:rPr>
              <a:t>源地址：</a:t>
            </a:r>
            <a:r>
              <a:rPr lang="en-US" altLang="zh-CN" sz="2000" dirty="0">
                <a:solidFill>
                  <a:srgbClr val="1A1A1A"/>
                </a:solidFill>
                <a:latin typeface="-apple-system"/>
              </a:rPr>
              <a:t>R3</a:t>
            </a:r>
            <a:r>
              <a:rPr lang="zh-CN" altLang="en-US" sz="2000" dirty="0">
                <a:solidFill>
                  <a:srgbClr val="1A1A1A"/>
                </a:solidFill>
                <a:latin typeface="-apple-system"/>
              </a:rPr>
              <a:t>，以太网</a:t>
            </a:r>
            <a:r>
              <a:rPr lang="en-US" altLang="zh-CN" sz="2000" dirty="0">
                <a:solidFill>
                  <a:srgbClr val="1A1A1A"/>
                </a:solidFill>
                <a:latin typeface="-apple-system"/>
              </a:rPr>
              <a:t>MAC</a:t>
            </a:r>
            <a:r>
              <a:rPr lang="zh-CN" altLang="en-US" sz="2000" dirty="0">
                <a:solidFill>
                  <a:srgbClr val="1A1A1A"/>
                </a:solidFill>
                <a:latin typeface="-apple-system"/>
              </a:rPr>
              <a:t>目的地址：</a:t>
            </a:r>
            <a:r>
              <a:rPr lang="en-US" altLang="zh-CN" sz="2000" dirty="0">
                <a:solidFill>
                  <a:srgbClr val="1A1A1A"/>
                </a:solidFill>
                <a:latin typeface="-apple-system"/>
              </a:rPr>
              <a:t>B。</a:t>
            </a:r>
            <a:endParaRPr lang="zh-CN" altLang="en-US" sz="2000" dirty="0"/>
          </a:p>
        </p:txBody>
      </p:sp>
    </p:spTree>
    <p:extLst>
      <p:ext uri="{BB962C8B-B14F-4D97-AF65-F5344CB8AC3E}">
        <p14:creationId xmlns:p14="http://schemas.microsoft.com/office/powerpoint/2010/main" val="12879594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4.1.3 </a:t>
            </a:r>
            <a:r>
              <a:rPr lang="zh-CN" altLang="en-US" b="1" dirty="0"/>
              <a:t>网络分层</a:t>
            </a:r>
            <a:r>
              <a:rPr lang="en-US" altLang="zh-CN" b="1" dirty="0"/>
              <a:t>-</a:t>
            </a:r>
            <a:r>
              <a:rPr lang="zh-CN" altLang="en-US" b="1" dirty="0"/>
              <a:t>网络层</a:t>
            </a:r>
            <a:endParaRPr lang="zh-CN" altLang="en-US" dirty="0"/>
          </a:p>
        </p:txBody>
      </p:sp>
      <p:sp>
        <p:nvSpPr>
          <p:cNvPr id="4" name="文本框 3"/>
          <p:cNvSpPr txBox="1"/>
          <p:nvPr/>
        </p:nvSpPr>
        <p:spPr>
          <a:xfrm>
            <a:off x="250824" y="1063723"/>
            <a:ext cx="5689328" cy="769441"/>
          </a:xfrm>
          <a:prstGeom prst="rect">
            <a:avLst/>
          </a:prstGeom>
          <a:noFill/>
        </p:spPr>
        <p:txBody>
          <a:bodyPr wrap="square" rtlCol="0">
            <a:spAutoFit/>
          </a:bodyPr>
          <a:lstStyle/>
          <a:p>
            <a:r>
              <a:rPr lang="zh-CN" altLang="en-US" sz="4400" dirty="0">
                <a:solidFill>
                  <a:srgbClr val="0000FF"/>
                </a:solidFill>
              </a:rPr>
              <a:t>路由</a:t>
            </a:r>
          </a:p>
        </p:txBody>
      </p:sp>
      <p:sp>
        <p:nvSpPr>
          <p:cNvPr id="7" name="矩形 6"/>
          <p:cNvSpPr/>
          <p:nvPr/>
        </p:nvSpPr>
        <p:spPr>
          <a:xfrm>
            <a:off x="703560" y="2003239"/>
            <a:ext cx="7776864" cy="1815882"/>
          </a:xfrm>
          <a:prstGeom prst="rect">
            <a:avLst/>
          </a:prstGeom>
        </p:spPr>
        <p:txBody>
          <a:bodyPr wrap="square">
            <a:spAutoFit/>
          </a:bodyPr>
          <a:lstStyle/>
          <a:p>
            <a:r>
              <a:rPr lang="zh-CN" altLang="en-US" sz="2800" dirty="0">
                <a:solidFill>
                  <a:srgbClr val="4D4D4D"/>
                </a:solidFill>
                <a:latin typeface="-apple-system"/>
              </a:rPr>
              <a:t>在不同的两个网络之间的数据传输需要经过网关（路由器），通过路由器来转发数据报到另一个网络，主机只需要把数据报发送一默认的路由器上，后续就交给路由器来处理了。</a:t>
            </a:r>
            <a:endParaRPr lang="zh-CN" altLang="en-US" sz="2800" dirty="0"/>
          </a:p>
        </p:txBody>
      </p:sp>
      <p:sp>
        <p:nvSpPr>
          <p:cNvPr id="8" name="矩形 7"/>
          <p:cNvSpPr/>
          <p:nvPr/>
        </p:nvSpPr>
        <p:spPr>
          <a:xfrm>
            <a:off x="755576" y="3989196"/>
            <a:ext cx="7776864" cy="954107"/>
          </a:xfrm>
          <a:prstGeom prst="rect">
            <a:avLst/>
          </a:prstGeom>
        </p:spPr>
        <p:txBody>
          <a:bodyPr wrap="square">
            <a:spAutoFit/>
          </a:bodyPr>
          <a:lstStyle/>
          <a:p>
            <a:r>
              <a:rPr lang="zh-CN" altLang="en-US" sz="2800" dirty="0">
                <a:solidFill>
                  <a:srgbClr val="4D4D4D"/>
                </a:solidFill>
                <a:latin typeface="-apple-system"/>
              </a:rPr>
              <a:t>判别目标主机是否属于同一个网络的方法：检查两个</a:t>
            </a:r>
            <a:r>
              <a:rPr lang="en-US" altLang="zh-CN" sz="2800" dirty="0">
                <a:solidFill>
                  <a:srgbClr val="4D4D4D"/>
                </a:solidFill>
                <a:latin typeface="-apple-system"/>
              </a:rPr>
              <a:t>IP</a:t>
            </a:r>
            <a:r>
              <a:rPr lang="zh-CN" altLang="en-US" sz="2800" dirty="0">
                <a:solidFill>
                  <a:srgbClr val="4D4D4D"/>
                </a:solidFill>
                <a:latin typeface="-apple-system"/>
              </a:rPr>
              <a:t>的网络号是否一致。</a:t>
            </a:r>
            <a:endParaRPr lang="zh-CN" altLang="en-US" sz="2800" dirty="0"/>
          </a:p>
        </p:txBody>
      </p:sp>
    </p:spTree>
    <p:extLst>
      <p:ext uri="{BB962C8B-B14F-4D97-AF65-F5344CB8AC3E}">
        <p14:creationId xmlns:p14="http://schemas.microsoft.com/office/powerpoint/2010/main" val="24258835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解决同一台机器多个不同进程的通信问题</a:t>
            </a:r>
            <a:endParaRPr lang="en-US" altLang="zh-CN" b="0" dirty="0"/>
          </a:p>
          <a:p>
            <a:r>
              <a:rPr lang="zh-CN" altLang="en-US" b="0" dirty="0"/>
              <a:t>端口：表示这个数据包到底供哪个程序（进程）使用。</a:t>
            </a:r>
            <a:endParaRPr lang="en-US" altLang="zh-CN" b="0" dirty="0"/>
          </a:p>
          <a:p>
            <a:r>
              <a:rPr lang="en-US" altLang="zh-CN" b="0" dirty="0"/>
              <a:t>"</a:t>
            </a:r>
            <a:r>
              <a:rPr lang="zh-CN" altLang="en-US" b="0" dirty="0"/>
              <a:t>网络层</a:t>
            </a:r>
            <a:r>
              <a:rPr lang="en-US" altLang="zh-CN" b="0" dirty="0"/>
              <a:t>"</a:t>
            </a:r>
            <a:r>
              <a:rPr lang="zh-CN" altLang="en-US" b="0" dirty="0"/>
              <a:t>的功能是建立</a:t>
            </a:r>
            <a:r>
              <a:rPr lang="en-US" altLang="zh-CN" b="0" dirty="0"/>
              <a:t>"</a:t>
            </a:r>
            <a:r>
              <a:rPr lang="zh-CN" altLang="en-US" b="0" dirty="0"/>
              <a:t>主机到主机</a:t>
            </a:r>
            <a:r>
              <a:rPr lang="en-US" altLang="zh-CN" b="0" dirty="0"/>
              <a:t>"</a:t>
            </a:r>
            <a:r>
              <a:rPr lang="zh-CN" altLang="en-US" b="0" dirty="0"/>
              <a:t>的通信。</a:t>
            </a:r>
            <a:r>
              <a:rPr lang="en-US" altLang="zh-CN" b="0" dirty="0"/>
              <a:t>"</a:t>
            </a:r>
            <a:r>
              <a:rPr lang="zh-CN" altLang="en-US" b="0" dirty="0"/>
              <a:t>传输层</a:t>
            </a:r>
            <a:r>
              <a:rPr lang="en-US" altLang="zh-CN" b="0" dirty="0"/>
              <a:t>"</a:t>
            </a:r>
            <a:r>
              <a:rPr lang="zh-CN" altLang="en-US" b="0" dirty="0"/>
              <a:t>的功能，就是建立</a:t>
            </a:r>
            <a:r>
              <a:rPr lang="en-US" altLang="zh-CN" b="0" dirty="0"/>
              <a:t>"</a:t>
            </a:r>
            <a:r>
              <a:rPr lang="zh-CN" altLang="en-US" b="0" dirty="0"/>
              <a:t>端口到端口</a:t>
            </a:r>
            <a:r>
              <a:rPr lang="en-US" altLang="zh-CN" b="0" dirty="0"/>
              <a:t>"</a:t>
            </a:r>
            <a:r>
              <a:rPr lang="zh-CN" altLang="en-US" b="0" dirty="0"/>
              <a:t>的通信。只要确定主机和端口，我们就能实现程序之间的交流。</a:t>
            </a:r>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a:t>
            </a:r>
            <a:endParaRPr lang="zh-CN" altLang="en-US" dirty="0"/>
          </a:p>
        </p:txBody>
      </p:sp>
    </p:spTree>
    <p:extLst>
      <p:ext uri="{BB962C8B-B14F-4D97-AF65-F5344CB8AC3E}">
        <p14:creationId xmlns:p14="http://schemas.microsoft.com/office/powerpoint/2010/main" val="322052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2304256"/>
          </a:xfrm>
        </p:spPr>
        <p:txBody>
          <a:bodyPr/>
          <a:lstStyle/>
          <a:p>
            <a:r>
              <a:rPr lang="en-US" altLang="zh-CN" b="0" dirty="0"/>
              <a:t>UDP</a:t>
            </a:r>
            <a:r>
              <a:rPr lang="zh-CN" altLang="en-US" b="0" dirty="0"/>
              <a:t>协议：面向无连接的协议，提供了</a:t>
            </a:r>
            <a:r>
              <a:rPr lang="en-US" altLang="zh-CN" b="0" dirty="0"/>
              <a:t>IP</a:t>
            </a:r>
            <a:r>
              <a:rPr lang="zh-CN" altLang="en-US" b="0" dirty="0"/>
              <a:t>地址和端口，不负责数据是否到达</a:t>
            </a:r>
            <a:endParaRPr lang="en-US" altLang="zh-CN" b="0" dirty="0"/>
          </a:p>
          <a:p>
            <a:r>
              <a:rPr lang="en-US" altLang="zh-CN" b="0" dirty="0"/>
              <a:t>TCP</a:t>
            </a:r>
            <a:r>
              <a:rPr lang="zh-CN" altLang="en-US" b="0" dirty="0"/>
              <a:t>协议：面向连接的协议。通过三次握手建立连接。</a:t>
            </a:r>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a:t>
            </a:r>
            <a:endParaRPr lang="zh-CN" altLang="en-US" dirty="0"/>
          </a:p>
        </p:txBody>
      </p:sp>
    </p:spTree>
    <p:extLst>
      <p:ext uri="{BB962C8B-B14F-4D97-AF65-F5344CB8AC3E}">
        <p14:creationId xmlns:p14="http://schemas.microsoft.com/office/powerpoint/2010/main" val="276922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4104455"/>
          </a:xfrm>
        </p:spPr>
        <p:txBody>
          <a:bodyPr/>
          <a:lstStyle/>
          <a:p>
            <a:r>
              <a:rPr lang="en-US" altLang="zh-CN" b="0" dirty="0"/>
              <a:t>UDP</a:t>
            </a:r>
            <a:r>
              <a:rPr lang="zh-CN" altLang="en-US" b="0" dirty="0"/>
              <a:t>协议：面向无连接的协议，提供了</a:t>
            </a:r>
            <a:r>
              <a:rPr lang="en-US" altLang="zh-CN" b="0" dirty="0"/>
              <a:t>IP</a:t>
            </a:r>
            <a:r>
              <a:rPr lang="zh-CN" altLang="en-US" b="0" dirty="0"/>
              <a:t>地址和端口，不负责数据是否到达</a:t>
            </a:r>
            <a:endParaRPr lang="en-US" altLang="zh-CN" b="0" dirty="0"/>
          </a:p>
          <a:p>
            <a:r>
              <a:rPr lang="en-US" altLang="zh-CN" b="0" dirty="0"/>
              <a:t>UDP</a:t>
            </a:r>
            <a:r>
              <a:rPr lang="zh-CN" altLang="en-US" b="0" dirty="0"/>
              <a:t>协议以数据包</a:t>
            </a:r>
            <a:r>
              <a:rPr lang="en-US" altLang="zh-CN" b="0" dirty="0"/>
              <a:t>(datagram)</a:t>
            </a:r>
            <a:r>
              <a:rPr lang="zh-CN" altLang="en-US" b="0" dirty="0"/>
              <a:t>的方式传输</a:t>
            </a:r>
            <a:endParaRPr lang="en-US" altLang="zh-CN" b="0" dirty="0"/>
          </a:p>
          <a:p>
            <a:r>
              <a:rPr lang="en-US" altLang="zh-CN" b="0" dirty="0"/>
              <a:t>UDP</a:t>
            </a:r>
            <a:r>
              <a:rPr lang="zh-CN" altLang="en-US" b="0" dirty="0"/>
              <a:t>协议的特点：</a:t>
            </a:r>
            <a:endParaRPr lang="en-US" altLang="zh-CN" b="0" dirty="0"/>
          </a:p>
          <a:p>
            <a:pPr marL="971550" lvl="1" indent="-514350">
              <a:buAutoNum type="arabicPeriod"/>
            </a:pPr>
            <a:r>
              <a:rPr lang="zh-CN" altLang="en-US" dirty="0"/>
              <a:t>速度快</a:t>
            </a:r>
            <a:endParaRPr lang="en-US" altLang="zh-CN" dirty="0"/>
          </a:p>
          <a:p>
            <a:pPr marL="971550" lvl="1" indent="-514350">
              <a:buAutoNum type="arabicPeriod"/>
            </a:pPr>
            <a:r>
              <a:rPr lang="zh-CN" altLang="en-US" dirty="0"/>
              <a:t>不保证信息是否送达</a:t>
            </a:r>
            <a:endParaRPr lang="en-US" altLang="zh-CN" dirty="0"/>
          </a:p>
          <a:p>
            <a:pPr marL="971550" lvl="1" indent="-514350">
              <a:buAutoNum type="arabicPeriod"/>
            </a:pPr>
            <a:r>
              <a:rPr lang="zh-CN" altLang="en-US" dirty="0"/>
              <a:t>占用资源少</a:t>
            </a:r>
            <a:endParaRPr lang="en-US" altLang="zh-CN" dirty="0"/>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 </a:t>
            </a:r>
            <a:r>
              <a:rPr lang="en-US" altLang="zh-CN" b="1" dirty="0"/>
              <a:t>UDP</a:t>
            </a:r>
            <a:r>
              <a:rPr lang="zh-CN" altLang="en-US" b="1" dirty="0"/>
              <a:t>协议</a:t>
            </a:r>
            <a:endParaRPr lang="zh-CN" altLang="en-US" dirty="0"/>
          </a:p>
        </p:txBody>
      </p:sp>
      <p:sp>
        <p:nvSpPr>
          <p:cNvPr id="4" name="AutoShape 2" descr="data:image/jpeg;base64,/9j/4AAQSkZJRgABAQAAAQABAAD/2wCEAAkGBxQSEhQUExQWFBQVFxoYGBUXFBwaGRgYGBgYGBoXGhccHCggGBwlHBUXITEhJSkrLi4uGB8zODMsNygtLisBCgoKDg0OGxAQGywkHyYsNCwsLCwsLCwsLCwsLCwsLCwsLCwsLCwsLCwsLCwsLCwsLCwsLCwsLCwsLCwsLCwsLP/AABEIANQA7gMBEQACEQEDEQH/xAAcAAABBAMBAAAAAAAAAAAAAAAAAwQFBgECBwj/xABFEAACAQIEBAMFBQQHBwUBAAABAhEAAwQSITEFBkFRImFxEzKBkaEUQrHB0QcjUoIVM2JykuHwQ1NzssLD8SQ0ZKLiFv/EABsBAQACAwEBAAAAAAAAAAAAAAADBAECBQYH/8QAOBEAAgIBAwMBBQcEAQQDAQAAAAECAxEEITEFEkFREyJhcYEGMpGxwdHwFEKh4fEVIzNSJDRDFv/aAAwDAQACEQMRAD8A7jQBQBQBQBQBQBQBQBQBQBQBQBQBQBQGCaw2lyDU3B3HzqN31LmS/FDAC6O4+dFfU+JL8UMG01ImnwDNZA04hxBLNt7jGQg1A3nYD1JqK26NcHJ+DWUlFZKJiubsSzeErbH8IUH5lhr9K4c+o3N7bFJ6iedhhwzmvFLfxTNDZzaC5gcq5VIOVZ6yCfOpn1CcYJrGWFqJLctvLHMzX39ndCholSugMbggneNfhVjR652y7J8k9V/e8Ms810ywZoAoAoAoAoAoAoAoAoAoAoAoAoAoAoAoAoAoBK9fC7/Kqeq11OmWZv6eTKi2MLuOY7afjXmtT12+x4r91fiyRQQgWLdSTXMdl98sNuTfzN8JG7YVgJirFnStVXDvcdvoY7kJZaodksd2NjIe0y6zAHWYqSu62D9yTXyYeCG5m4vclbIfIGGZn2JGsLI6afhXa02v1FtbjOX18lDVz7WooqKsRMEid/ODOvx1rXuZQyZZixkmSeprHL3Bi94CZI0MTOm8VntaeAKJiWV86nI2sFdIkRp20JrKm1LujszKbTyh/guO3cNcBuXGCAjOHYkQd9zoY7Va0+ouhYllv1XJJC2UZcnSsFi1u20uISUdQykgiVIkGCARI716NPKydFPIvWQFAFAFAFAFAFAFAFAFAV7Fc4Ya0XW4xW5bJU28pLEjaNIIIggz16VDK+EeSCWohHOeQ5a5qTGM6KjIyiYJBlZidNjtp51iq9WPCMU6iNraRYanLAUAUAUA2xeJy6DeuT1PqS0se2O8nx8PizaMckWzSZOprxk7J2ycpNtk2yF8HYzHXYV2+n9FnZiy7aPp5ZG7FwiSSwo1AANekq0WnqfdCCTNG2zeKtGDBQREaVG6oODhjYEFx3DhLNwkZ1KMCp6jKdD5EV5DW9NeknCUJbN/VG8p+4/kcy4ZhrigWs5uIP6sE6qOq66RtVixxseUsPz8TkOTlsxMWmXEK4Ga2RldZjUAw34bVvGUOztkt1wYXA8RCTABJ7Cq6WeDAy4jhTc9mAYUOGb0H+dTVTUM55wEPrsT4SSO5EfSonjOwGuLwi3cueSFMxOhPn3/AM63hbKGcA6ZyPiWfDQ33GKKf7IAIHwmPhXd6dZKdPveGX9PJuG5Yavk4UAUAUAUAUAUAUAUAUBV+aeTbeMYXA3s7kQWy5gwG0iRr0mar3UKe6eGVrtOrHnOGL8q8rpggxDZ7jQC0QIHQDWPnWaaVXv5NqaFXvyyw1OThQBQCd+7lBNVtXqY6ep2S8f5ZlLLId2JJJ3NeAutlbNzm92T4wAr2vRqa46WMord8v4lC+T79xfCXsp12NdZrJrXLtY/XEqSADvWuCZTjwLVg3E710KJqvqtTHT1uyX/ACZSyMwvtgc3u7Ze8964dGeq5lY+1ReyX5tmz93YqXMfK62Ua7bY5QR4CJgEx73YT2qxq9BGqLnB/Q59tCiu5FYtgSJ0HUjeK5axncrAGgyCfI7GnD2Bm2skAkAHqelEsvcGprANMZfIAKW85EAgNlnuST+VTQUZNKWyMln5T55s5Xt3bP2b2YWAGNzNmzTsszoDr3ruVaiquGFsi3XfBLD2LrwzidrEJntNmWYPQg9iDqKt12xsWYssRmpLKHlSGwUAUAUAUAUAUBq1wDcgVHZdCtZm0vmBFsYg6z6VQn1jSR/uz8ss27Wa/b18/lUP/XdL8fwM9jOdc68/YnD4prNlbaoqqczoWLZhMjxAADb1BqzDWq6PfXwUrrZQl2oR/ZzzXir2NNm/cN1XVjqqjKy6yIAgHUR6fGWq1uWGzWi2UpYZ1WrZcCgIziN2THQfjXkevanvtVK4jz8/+CWC2yNa4BIFXNPr79OsVSwjSVcZcoJrt0faDspSsi3NefD+ZXlpsvZ7Gc1VdX122+HZFdvrvlm8KFF5N3xDHc1Qt6jqbYqMpfoTKKRozE7kmqs7Z2bzbfzZnAKxGxild1le8JNfINZN794upVoKsIIjcGuhZ1fVTj25WMY4NXXF7MquJ5XM/u3Edm6fEb/KooatcSRSnot/dZH4zgd1DAUuO6j5iOlTQ1EJLnBBZppxeMZKvxrijWLrWXQo6lDmMEZGAYnT4j59dK6VFEbIqaeUbS0k4xi/L8fEdW8crqHtkMpJHnIjcbjcetaOhx2kQW1TqeJIHvk+VFBIiNDayN4hBOWehI3GvofrUm/AJPg3GruGNz2EeONCM0BZPzg6mpab5157fJJXZKGcF55Q5o+0zbuFFvDUAGM69WC76demo711dLqHan3cl2i7vW/JaKtk4UAUAUAnduhRqar6jVVaePdY8fqZSyML2NJ20H1ry+r65bZtV7q/z/olUF5GpM71xZzlN5k8s3CtAFAVD9pHCVuYY3gP3lqNe6MwBU+QLT8D3rq9KvcbfZ+H+ZU1lacO7yhr+zfgpXPinEG4CtsdckyW+MCPIedTdU1WWqovjdkejpwu9l/tYpl6z5Gq+m6tqaNs9y9H+/JccEx9YxYbyPavS6PqtOoWOJej/QjcWiMdpJPc142+122Sm/LJksGKhMhQBQBQBQBQBQBWQReM4/YRXIuI7ICcisCSdoHxj0qzXpLZtJppPyQT1FcU9914KVjOacWLhlhbIOqBFIHlJBJ+ddmPT6EsNZOY9ZbnnBS+PXrt23be7q6FwzdSr3WcSewLEAdA1dGuMYNqPH+sHR0Op759j+a/UZ8FxBDFJgXNAZ2Yaqfy+NbWJNZ9CfqFPfX3LlfkXFSSFkAGADB0LRqde5qjLGdjgCWLwxLKCYyvLAdcvTsda2jLtzkIXZoJykgaxO8eceVafIEhydNvG22tyWuNlbzQ7j0AE/yirWmsl7SKRLRJqawdjruHTCgCgEcTfCCevQVR1+thpa+58+F6s2iskVccsZNeH1Gosvn32PLJksGtQGQoAoAoBDG4RLqFLgzI0Sp2MEGD5SKkrslXLujyayipLDFgI0GwrRvJsFYBvbtlthNWaNLdc8Vxb/nqYbSBrZG4IrW3T21bzi18wmjWoDIUAUAUAUAVnACujpOlajUT7cdq9WmRTujFFR5w5hQC7hlZkvDJKkEZ7bCSUbYjoeujaV0F0mWmuTk1JfqVNRqM1tLZlEdlNzIgMtORN2jtoNTV/teMnM7c7o2s5cwzTl65Yn4TpWDHzGt66GLWpILIZ9JEA/GD8K3Swu4lpk65KxeGQGFSWgpJB1MkRHnUktlk9fXia4ymWvh+KLyCsBdAZnN1J+EgVUsgkkzy2rpVNrh/MeB8jqCCwkdpjfQa+tRIrm1tWEOAdDo0aZhBie+o0rKi+cGUnyi08kcDxRum97VrFuRKmyhN0akgM4lR5jefKuloa5byax+pa09cueDpNdMuhQGCYrEpKKywQ+Iu5mn5V4HX6t6m5z8ePkTxWEJ1RNgoAoAoArOHjICKyoNvtxuYCkotcmTFYBKWMSpgbaV7XRdT01kVBPDS87cELizTFYlYgQ0/TzqDqfUtP7LsWJt/4+IjF5I+vIEwUAUAVkBWAArr9EVb1a7/AEePmQ357NjavdHPOZc98OZcU11xKtGR+g8IUrPQ6HTzrk6uM1NvwytZlMgr9oNcVkVlKtKAElgTpEgAmarJtbEak1wbIAJzZhAMAD73QGenetTCNLPgYuIzFcpJAOhBGx9TWcvGDOXwVvi9nLdPZtf1+oNTQeUej6fb30Jemxbf2UcNt4q/ctXGgKhdQDDEyFMeQ/OpIURteJEWt0ynJTfyOp8R5HsXFw6DwpauZ3/juDK3hL7jxFT8NIqytLWkopFV0QwkWHh+At2ECWlyqOnmepJ1JqaFcYLtitiSMVFYQ5itzYKAKAa8QuQsd9K43W9R7PT9q5lt9PJvBZZGV4smCgCgCgCgNg+kedWatR7OHZhPfO6yatZFGvD6np3nX61clrq5ZyvLbwl5yk/wMYNQ4+g/8VHHU1R3w84S8Pjx9fLM4YlXPNgrAM0AUAUACuj07p71k3HOEuSK2zsRmK9H/wDz+mcEt8+X6lb+olkxXmuoaGWkt7G8p7r5FquzvWQqinjgkCa6Wl6pfTYpybkuMNkU6otYWwE1es+0N7b7IpLx5I1po43KDzNy5eF9rtpS6u2bw+8rHU6b76gisUdRjYv+48S8/EpajSSUswWUVTFBkvPZcQ6BS2swXGaD5wRV+LUoKa4ZUsrlD7wqc6p1CXPLR8p6d4NYUk3hGrTSz6jHmLg1wYa3isv7oubeadQddx2lSJqerdP4HY6V3LOeH+gl+zziAscRwrmMpf2Zkf70G2D5QWBmrNTxNHUuj3QZ6Uq+c0KAKAKAKAjOIt4o7D8a8f163u1Ch6L8yaC2GtcI3CgCgNkSR/nVumiM4OUnj6pGreDItjuK3Wljnea/mBkPZ+YotLDzYhkDbEb/AOppLTQjDuc/X8/zM5BEB3NYp09c8d0sZ/jMNmRbHfpW0dLXu3Px8DGWBtjv/rTzrL00M7SWN/TPjHkZNXWOoNV7aVBZUkzZPI1x91kt3GUZmVWIHcgEgR1qOqKlNKXGTWxuMG1yc3t80YlHDG4WE6qYy+hWNB5javRPQ0Sj2pHDjq7U8t/Q6Zh7wdVYbMoYehE/nXCqvt0tjdbw+Dt4VkU2KTXVX2h1CgopLPr6kf8ATRzkxXFttlZJym8tk6SSwjNRmQoAoAoBjc4RYZmZrNtmdgzEoCSwUKCSf7KgfCp1qbUklJ4WxHKuEuULYrA27ihXRWUbAqCB6dq0hbOLzF7mZVxksNDDnXhgucJxKKoARPaKAIj2JDwAPJCPjXrOjxb0jk/Lf7Ga322LB59DEQVMEag9iNQfnVpMvnqng2OF+xZvDa7bRx/Oob866SeUcuSw2h7WTUKAKAKAh8WfG3rXguqS7tXP54/BE8eBGqBsZrACgCgCgCgMUBmgMUBmgMUBmgG+MwaXUZHUMGEHT6jsfOpa7ZQkpJkc64zWGhvi8UmEw+d5KWlUHKJJiFEDzMVvCEr7cLlsw2qob8IR4HzFYxYPsmIYalGEMB3jYjzBNb6nR2UfeW3qYquhZwSjsACSYA1JOwHeqqTbwiVvCyyqYLm83MSLeQezdsqnXNqYDHpqekfhXVs6co09+d1uc6Gucre3GxbK5J0jNAFAFAYoCTXDBrJRtnUg+jAg/jXvum1ez0kI/DP47kDe+TyzfwptkqxXMpKkAzqND6aiojrNeTv37Isb7XhlkEybTPbP8rEqP8DLV+l5gc29YsZc6lIQoAoAoCPfBEkmQJNeZv6JbddOxySy9iRTwhzZwyqNgT3NdbS9Noogo9qb8trk1cmzR8EpM/QVXs6Lpp2d+Gl6Lgz3sa4nClTpMVTX2fi7ufc/zn0NZ2tLbkbxUt/2drk17KWPXO/4EcdS/KMEVwtf06zSTw94+pYrtU0Fc4kCgCgCgCgIBuNX2LNbw+eyjEZswDNlMEqPh2NW/YQW0pblr2MEkpS3JvD3g6q6+6wDD0IkVWku1tMrSWHhilamBpxXArfsvaYkK4gldx10n0qai11TU14NLId8XFkbwjlTD4fKUVmuLr7RnOadtgQIjSIqe/X23ZT4fgjr08Ibrkccb4KmIXxOyHurQD/eXY/j51rptTKp7LPw/Yxdp1dtvn+eCA4RwvC4W5nfEC4y7AAwDtJgtJ+NdO56vUQ7Y1tIk03RLoy7+1v/AAWEcfw/+8H+Fv0qg+m6lf2fkdH/AKdqf/UVXjFg/wC1T4tH41HLQ6hcwZG9FqFzBji3i7be66H0YH86hlRZHmL/AAIpVWR5i/wFqjawRvYyiSQO5qXT1O22Na8sw3hE0K+ixWFgrnm3na3bt43FIE8QvOd4HiOcaA66MK5s4SU3lnYhOLrjtvg6B+wbFzaxVrqtxLkf8RMv/aq5p3tgo6pbpnVKsFUKAKAKAKAKAKARv31Eg79q17493bnf0NZPC3ImpioBNcHrHUqoVz0/Mmvos/qWKam2pGK8YXgoDFAVTjvOS2nW3ZUOSSC5PhBA6Ae98wPWuhRou+LlN4+Bbr0reHLbJWsNzXi3km7Gg8IRQBv/AGZ3017Vct0tUdlEs16atrdEpwvm1rIi6oZBJJUQwkljpsdSdNKrz0qsfu8mLtKn70WXXAXUe2ptEG3EKRtA0jyiIjyrnWRlGTUuTmyznccVoYCgE710IpZjAAknyFbwhKclGPLNoQlOSjHllD4xxd77HcW+ifme5r12j0Nenj6y8s9Vo9FCiPrLyyOq8XgoAoDEUBvbusvusV9CR+FaSrhL7yT+hpKuEuUn9B5Y41iE1W8+nc5v+aa0hp6oT74xSfqQT0OnnzBfkSNrnTEoJZkYDq6AfVYq37WRTs6NpXxlfX9yjczYYY2/dxCOhuPBa2pBEqiroZkTlnXvUM33PJHLpihDEJZx6k1+wvE5cZft7Z7Gb423Uf8AcNSad7tHE1S2R26rZRCgCgCgGPECRBBInSvO9bsupcZ1yaT2eCSGGaYfGwIMkjrUGi63GurstTbXn1DhvsY/pA9h86w/tDPDxBfiZ9maW7DP4u/WotFptXqLf6pSxvz+y9BLtx2sUuYE9DPlXU1el1zbnXc+OOP9EUYwXgZkV5CakpNS58/MsIK0MhQFZ5z4qbaC0hhnEsRuE2j46/AHvV3S1Zfcy5pKe59z4RQMXZLL4feUyvqK6dUlF78M6Mo5Ww0ttJlNG6pMMCd4B0IO8VYa2xLj1I0/KNrxc++coHUwPiACZPbWsRUV93cy2/Ja/wBnnEmW4bR0tOP3YO+YAkt/MPwFUOoVpxz/AHLkqamruj3rwdDrjlAKArnOWLyotsffMn0WNPmR8q7fRaVKx2Px+bOx0elSm7H4/U57zDxL2FqV99tF8u7fD8SK9Izu2z7UU1OK31/2tz4sT9DWhT75LyObfMWIH359VX9Kzk3V0/Uc2+bLw3W2fgR+dMmy1Eh1b5v/AIrXyf8AUVnJstQ/KLFgcSbiB8pTNqATrHfSsliEu5ZwY4hjVsoXb4DqT2rDeDLeCj8Q4g95pc6dF6D0H51G2RvcbKxBkaEdRWpg6H+yTEj7dbJHicXFYxqfAX1P8oraltXI4XVK0oNpejO6iumefCgCgCgEcVazKR16VR6jpv6jTyh55XzRtF4ZEV4FrHJOFYAvYxRURuK62i6tZpoqvCcc/U0cExW7jpGgjzNXtR1/ui1VHD9X+xhQ9RmTXnZScm5PlkgVqBHF3siM+UtlUnKNzAmK2gu6SRmKy0ihphDiblu5cf8ArmbNGyqoMAH+WK71NEfdj4Ozj2cMR8EpwzguHuKW9lcUhmUC6SCcpgNCn3TuKvy0tcXtuV1fY1l7DTF8mo5l7iydgtvL0mB4p6VoqZLiRt7VPwRp5LcN4UWOhZ5/EVpKFz2Nozr8iiYC5hsRYzxJdToZ0zAEagdPxqpdTKKw/JI5KyDSOjCuFjBxTNYBSOb7k4iP4UA+cn8xXqujwxp8+rPTdIjijPqzn3G7ftcUiH3baBj8TP18IrqMuSXdal4Q/ZAdwD6ihawhB+H2jvbX5R+FDV1QfgbvwSyfukejH85oaPTwErfLiFh4midQY269qGj0y9S1gVkmwUzmXG+0ulR7tvQev3j+XwqOTI28siK0MBQFm/ZxiCnEsJqYNyCJ08SMv5ipacd6OJ1b7v0/U9J10DzgUAUAUAUBGY6xBzDY/jXkOtaH2U/bQXuvn4P/AGSwl4GtcEkCgCgCgCgMVkFD4lhVw+IFpXZUYSCdkLyBHlpBPn5V2tHc5YbOzprnKPdJZJzhPDXtHV5HauvGLRvqtTC1bIZJx+0ULvPtrbNkQAgEEwJbWDH4VspQay3v6G0tBappR+60sv029CQ4lxB7eWELTv5Vq5uLWCKjTRtTUpYKxxC8llrKoCwtBjDMSZdi2516yB0ECqurt7ppiqn2aaR0HCuHVSmqsBl8wRpXnPZznZ2Lls489m8m2LBRoPwPevT0/ZyGPfm/ov8Ako26mUXhIhsZw6y7m5cWWMdTGgA2B8q7mn0NVEFCOcL1N49Z1VcFCMsL5DDE2rFkNcWzbVo97IMzEaKC0TU8oxgs4NNPdq9dequ+W/O/gpl6y7MWMEkyTPU1z3lvJ9GqhGuChHhCRw7dqwSZNDbI6H5UGRXBr4vQUMMdYq9kRm/hUn5CayzR8HOmaTJ3NQkRisGQoCW5RuZcdhD/APJs/W4o/Ot6/vI43VFlfRnqMV0jzQUAUAUAUBq6AiDUdlcbIOEllMETibBQ+XQ14fqHT56WfrF8P9/iTxlkSrnGwUAUAUAUBEcd4EuJKEsVKzJAmVPTy16+tWKb3WmsZJ6b3VnHkjsRib2FbIbRu2tPZlXGeAAIOYgH6V6DptstR7n4v0M26qqEO6bw/QaXOGWFZr0uVEubYAJ08RA/SrarXtFHjLOpDqU7KPcw1jlCt/jhv2g2HIAYaMw18xGyn51Y1OkthmHk8+uqQjZ2zi8eppwblYli2IhlMEQ0ljMyT2Inz16V5a/UdrwufJ0rNZGUV7MvvDbHWIA0Arp9C0fc3qJ/Jfqzm2SFOK4fOhj3hqPzFepi8MqXQ7ovBUSZqY5L35K7xvF5myj3V+p6/Lb51S1E8vHoe9+z3T/YU+2n96X+F/vk3PL1/wBh7fKMkZonxZf4o7RrUfs3jJ011Kj23sc78fDInieCX7doXXtlUMakiROxK7isODSyb16+iy32UXv/ADyR9aFwKAjuYbkYe55gD5sBWJcGsuCi1CRhQyFAP+Af+6w57X7R+VxTW9bxJHG6rJRSz6M9TW76tOVlMbwQYroKSfDPMppilbGQoAoAoAoDV0BEGo7aoWRcJrKYI7EYMjUaj6ivJ6/o06szq3j6eV+5LGfqNK4ZIZrACgCgCgKpx7Hp9q9jPjFtWjyJbQeYEH417DotE1o/aY27mcnXxfcpGuGBny61a1LjjHnwT9Ihd7Xuh93yVXlu6Fxl3DKYR2YpmBXKQJIykAjwyP5R3rt6mMp6WF0lulvgzqtL7W3EPX/B0rDslq2Bm2nc6z6V4DWUW26ltrZ+fGP3OhTpHBKEctC3D+KmVk+FQARHfdjAPw2Fej0dmFGEeFtgk1OnjXFv6/6E+KcVZ5VZVevc+vYeVdmMTz12octlsiA4pi/Zpp7x0H6/CtbbOyPxLfR9B/V6hJ/dW7/b6lYrnn0rGNjpfJnE1vYcWzGe0AjKeq7KfQgR6g1ZrllHj+qaaVN7l4luhvzTizfJwdgB3MG4Z0RVIME95j/RpPL91G/T61RjVW7RXHq2UDEWGtuyMIZSQR5iqzWNj1VdkbIqceGJ1g3Ijmk/+nPmy/j/AJVrLg1nwUuojQKAKAtHKWGFxLgPR0YH0k1V1Njg1g8j9pG1Ov5MuOEvG2wdSVYagr36T5d6oVycJd0dmeajJxeUXLCc7KXh7eVP4w0x5kRt8a7FfVE5YksL1LcdSm8NFtUzXWLRmgCgCgCgCgG97Cq3ke4rm6vpdGo3aw/Vfzc2UmjmfEeegcS+GsCQpK+2mZZfeCpG2hAadY21BrhrpEK5e9LP0wdSOlfs1OX4DW7zJilUm263GUmUZVIYjdSVgg/GpZdOpTxKODEK6pfInOXecbOJhHmzfOhtNPoCrQJBOgmDOlczUdOtrzKO8V5IrqHW9t0WWucQHFOdMWTxC+6kgq4UEdMiqunxBr6z0KhQ6dXFrlZf1ZVs3byWTlG5+59oSzPcZs5LEyVYgGNgcsbeXlVDqlSlPsSxjgjo10tLb2/2fzgXxWLtWib99R4TCMFlpgwB5wDvXN0tWquzTXnHnfY9HqL9Eu2aacsfUuWAwdr2a3XJbOAyqDEgiQT1qajQrmZztV1Fx2gZcAmQoXsAI/8APxroRorjukcazVW2bSewhjFGUsSFCiSSYEeZO1Zd9cdnJfiQeylP7q3Of8Y5iw7XmAvowWACJy7AmGiDqTr5VRla7HlrB7vo1ENLpkntJ7sRt8QtN7txD6OP1rU7KnF+SR4fj3tMXtNBKlZHY/6n4VspY4Ir6K74qM91nJNcocXtYZrrXcxZ4AhZ7kkmepI+Vb1zS5Of1PR26hRjWlhCPNHEcPeZTYt5TJLuRBafIHXXWTWLJJ8G/TdNqKU1bLbwucEHUZ1CF5sP7j+cfga1nwazKdURoFAFAWnkdmBuR7umvZht9J+VU9ZjCfk8j9pPv1/Jlu+94p1MnvrrVHzueZG2ANxkZmBEk+HssgKD+PxrecYp4jx5HB0DkDiN68l03yMwZcqKIS2mWFUHdjoSSSeleg0eo9qn8C/RNzTyWurhOFAFAU/mfnA4PHYWy4RcPeVi91plTJAgzAAOWZGzDaKinZ2ySLdGm9rVKS5Xgttm6HAZSGU6ggyCO4I3qUqPYgefeLHC4G/dUw+XIh7O5CA/CZ+FR2y7YtljS1e0tUf5scT5N4fnN+7IVMNaDMSY95sog94DVzo0zt2huztay5QST8k7auW9chTUliEyiSdWaF3PUmo7KrvvTi/qinBw4iZ4Xbt3cVh7iWmvvbuoJRScgLgFmjQAAkydq1jVKxOvw+fkSXVuEX3bbeTrmKwoRWfN4VBYz2Ak/hVSz7O5f/bn+K/Y5KsPN9++bjM7e87Fj6sST+NfR6q1VCNa4SS/DYiJXgPHThsylc6MZiYIbaQfTceVVtVo1fh5wyvdQrDHHOOnEFRkC21M5SZzHuxEdNIEbms6XSRoy87sVUqs6xypjvtOFtXWjMQQwAgAqxWAOggCB2rwXW9dqtNq50wliK49cNFmNEHu1kmAo7V56zV32ffm39SZQiuERnM+AbEYa5aSMzZYkwNGVt/hW2ktVdqnLgv6C+FGojOfC/Y5VjuBujsj21LKYOxr1VUvaRU48M9lXbRdBTS2fwGF3g69bXyBH4VvmaNnRRLwhueFINsyHyYinfI1/o6nwbrhnHu37o9WJ+lZ9oa/0fpJii3cSu18H+8g/Ss+1Nf6W1cSC7xfE21LN7JgPIz27itlYmRzhdWu54aNeK483sIjkBSbsQNtA1Zlwaxn3Ryyv1GZCgCgLXyXcCpckgeJd/Q1S1cW8YPIfaX/AMlfyf5k9ieIgNtm7mfLTXWoYUuW8jzDkNsHxgG4wdGyKVHhjMRllonSdak/pkksv5m2UsNnXOULmHaxmw0lSfFm98NGzdjEbadq7elhVCH/AGzoUdnb7hO1ZJgoAoBhxjg9jFJ7O/bW4vTMNQdpUjVT5gitZRUlhm8LJVvMXhnP+TCOH8VxHDw59g6h7QY7PlV8o7nKzjzyCoK/cscPB0NR/wB6iN2N1sx9+2HGW2wnsAxN03EYIqltAdcxAhdCSJ3impnHt7c7mnTotW93jDOTcMF1XFoq4S6yG4kEBghJXNpqAWJjb6VRVjivdZ17VCSy8f8AJceDcJdby3cJaDXrcmJ0hgUMqWAIhiPjVmvXaqyLh3ZX0ORZVVHd7FhxuA4hYRr9u3Ysk6uuHQe0juQQwI7hTRwsgu5JL5EftITxGTb+Y94vzG78IxN25bNpyps6ggMbmVMyzrHjPpBro6HNs45Xn8itbBQeEzileiIgoAoC2fs/5huWLvsQpuW7rSVBgoY1cTpEDUeXz819ouk1aqr22e2UVz6r0JqVKUu1eTqOF4lbuSFYSOm1fPJaO5PCjn5F27S2UrM1sOfaDuPnWVodS/8A83+BWyjn/HjOIu/3vyFeq0UJQojGSw8Hr+n/AP1ofL9SRtct5kVhcgsoMFe4nea6CqyitLqTjJpxG7cvOSQr23I3GbUeoiseyJI9Sr8poaXuXbo3tA+mU/nNaOp+hPHqFT/uGN7gpHvWmH8rCtHT8CxHVxfE0McRwi24ynNHUT2rVVpPJvOftI9rIzmXDLbw6KghRcGkk/dbvSfBE4qKwir1GYCgCgJ3lkjxZgcsiYInY7T8K0sPH/ab79fyZKPivZqTJAaFMdmI09P0rSKbeEeXim+BQqIBmSZkQdI212M1qakrwjmG/h5FgquYrIyAhisgTPedToT3qWu6UPuk1dsofdOscscY+1Wc5GV1Yo69A6xMHtqD8a6dNntI5OlVZ3xyS9SkgUAUBV+b+SLGPh2LW7yiFupEwDIDA6MAdtiOhFRWVKZZo1U6dluvQoF+yUZkLFihKFiZJynLJJ9K40/vPJfi8rJrd8DBX8BMe8CIB+9G8VlQecDuWMonsbwrE4V82DdHYAQWaAZjMGHaZ09OtW46edc8xexWjdXNYsM/0nxZHW7duWDbB8dq1bJBHmWGYeoOnY1PZO6O6WfgMaWScYp59WQPPXMd7iCras2WNu2c7m2GcZoIUFgI0BJjzHaux07aPtLPdb4T/nkpWxUXhPJQa7BGTPKnBftd/IZFtRmcjeNgoPQk/QHtVbU3+yhlc+DKLhj/ANn9hv6p3tHz8a/IkH61Qh1Ca+8smcD3gHKNvDEtmNy4RGYgAAdQF1j51U1tr1S7ZbL0RNTa6nmPJJLw1UJZN65FmkcPerZ049Rdq7LeBpc5ow6NcS5cCtbAJ03n7q92Gmnn6x1NLTdbWptc/wAyc7URhCbjErBxxvs93KVVySqnfLsCfM1Hqa41z7U8vz8z1XSpTeni5cePl6nRMMsIo7KB9BW6ONN+82ReImXYKv8AXJDk6iDbSBAkagztud61AqeJMDOVSozAkHcrnnKdgfCuh3zHXw6u4dqH+GZiilhlYqCw7GNR862Rq0V7nPez/P8A9FQ2+DpdM/8AI18Chc3j9yv/ABB/ytVefB2JFQqI0CgFbGHLSRsAST6UMqLayie5fC+wmDmLb6RAkGdJJ2j41HbyfPuvWSlqmm9klj4ElctlrcEE28w/u54kfGBWieDjptA0QImdZkab6QZ10rBgTS0XuFmZR4YAiFAVewGrGN+5rZtYwjbuTWC4fs1e9cvXLTXXFlbZdbduFhiyDM7AZmMaATAE/C7pZ/2ot6Wf9p1irxeCgCgK7zjxtsMiZIDOT4j90CJMd9RVbU3OtLt5ZPp6lY3ko2M4Te9m9wxmgsQT4j1J2iesVRWmnjuZb9vDPahDhvC7uLcXrr5lJ8TFpY5fux02+VTV1ym+5mllkYLtRdavlIQxeES6uS4odTup2Pr3raM5ReY7MG9u2qKAoCqo0AEADyA2rSc+ZSZmMXJ9qKhx7glm/eBKMHY6shifUQQT5xNU9P1XUQl2x3T8Pwdv/p1Lq7pPDX+Sx8L4ZawtsraWBuTuzHuSd66Fls7HmRw8LwLfbR2NR5GBX7Qv8Sj1YUG4opnUaihgpHNHKXtcTae2IW80XY+6QCxfylQf5o710tNq+ytxl44MNGeKWgl11UQqwABsAAIHyri2NuTbPbdOf/xofI2t8Vvrtdb4w3/MDRTkjeWipl/aO7fMV7ZhbcdQVIJ+Rj6Vn2rK8umVv7raF7fMNskF8OJAiVKsY2gZgsCCdJ61urV6FeXTZriSJGxzDYgCWToAUP4rI+tbKyJBPQ3x/tILmJrLPba1czs2fNN1nyjwxCsxyA+QG1RWY5Rc0CnGTjJY29Cp82D9x6OPwNQy4OnLgp1REZauUuTbmL/ePNuz0aNXPZR27t8p6S11ORzdZ1GFD7Vu/wAi0LyC2XL7ZQsRoh2O/XetlpnnORL7Q19jjGt/iSDclWbdkrZz5lXw5n0LeenU+grazTxayuTyWrh7eTsf3iD/AP5/EZGc2yAvQ+8e5AG8VT9hPGcHM/p54zgY4C1ce6VtqSyILgjcw+XTuQY+tI1Scco1jVKSyiz8rcuB7jNi1ItkEAEkMWJHi0MiNfnU9GnbeZrYno07bzNbHSeC8HsYZCLCBQ2pMklu0sdTV6FcYLES7CuMFiJI1ubhQBQHNee7jO1gxmHt0za7W1dWYjvou1U9Q0nFsvaP+5fAmbV1XEqQyn/RqxGSmsoqNOL3G/DeHJYVlSYZs2pmNhA8tK1hWobIzObnyO6kNBO/fVFLOwVRqWJgCsxi5PCBULfOq3cR7JLTNbYwrKJcn+Ip/D9QBJ7CXV9MnKnKlhrx/ssaW+FcveX1LdYsxvvXO0+n9msvk31OpdjwuBVhO9WyqIXsKCrAeEkEBuxI3rGAQZ5XJ1N0Sf7H/wCqGck9g7Hs0VJnKAJiJjyrJgWoCh8+ORiEgkfuxsf7T1R1LxI9j9nlnTSz/wCxWVxOJe9atWDma5IhgCNIlidwAJJ9K1qzItdQuWnXdwsHRDy0sD94c0CTlEE9SB0Hxq17I4EeuWZ96KY1u8uXB7rK3zBrV1tFyvrdL+8mv8jHE8Nu2wWZCFAktIIAHUwdBWri0Xadfp7Woxlu/AzVp2M1rkutETzQP/Tt/eX8f861lwRz4HvJ/ImbLexYIXdbJ3PY3Ow/s/PsZK6vMjga7qeMwq+r/Y6EuKUAAAgDQAAaDtFWTg7vdiyXARNZMGwNAZoDXKJmBMRPWO09qGMG1DJKcDvGSvSJ9NR+tEYJmtjAUAUBQeMYf7OxS+hfDsxNu5BOWTORo1BEwPL6RzgpLEkSRk1uh3hMmUezjL0y7UjFRWEYlJt5Yx41xQ2MkKGzTuY2j9a2MEdY42150TKok7ye1YM4JZ+HBhDhWU7qRII9DWYtxeUYK/iuUDZurfwTZHUz7JycrDqobcAiRBn1FX46zvj2Wrb1NcFqw9wsoYqUJGqtup6g9Dr1Ghqi1h4NhWsAKAKAKAKAY8Q4RZv63UDECAZIIHaQQetRyrjLktabXajT7VSwvTwIcK4BZw7s9sHMwyyxkhZmAegJifQdqxCqMODfWdQu1SSs8emxK1KUhDGYtLSF7jBFG5PnoKw2luzWUlFZZH8UxSXsJfa0wuA23EqZ1ynT18qjsacHgudNlH+qredu5HL7rQraxAP4VzY8n0O3etv4F45E5da3ZFzEy91yHVXJPsgNV0OzdT20HSujCGFlnhNbr5zbhF+7+Yrxbmgpdy2wrIuhn7x6wZ0HSags1LUvd4POW6xxniPBYlsoQDESJ371bW6OgnlZK+/LzuSTdQk+tbGxOcKwZs2whIMEmR5maGB5QBQDXG4+3aEu0Hoo1J+FASfLGEuMxv3VKArlt2zuFJBLN5nKPlWUjDLJWTAUAUBpdthgVYBlO4IkH1FAVnG8mpJfD3GsN2ElT8Nx9R5VjBnJGX8JjbPv2VvqPvJqflv/APWsYM5G9vjlsGHVrbdmX9NfpQyPrOPtN7txT5TB+R1oYHANAZoYCgChkKAb4jPPh2+FYBixnnxbfCgHNZAUAUBG8w8NOJsNaBCklSCRIBVgfyj41pOPcsEdsO+PaMeX+WBhTnF1yxEMAFCN/LE6dDP4kVpCrt8kdVHZvkmb2DtuQXRGIMgsoJBGxk1I4pl2F9sFiMmvqa4/BJeXK407gwR6GsTgprDK061NYZC4XlC0j5izMP4TGvkT1HlpUC0qT3ZWjooqWW8jzjXCDfZSGAyiNR5zVouoR4ZwI2biuXXSdIiZEdT50MOSXJN3DE6EkbgCSI7xtQZQyvY259zD3G8zAH50Cae5mzwvF3vfuW8OvUAy4+R00Pcb0MsmeDcEwlmHDLdff2jsDrvI6DfffXesmncvUm/tlv8AjX/EOmhrIyjfPQyBegNfamgAXTQCZxJnpQGPtJ8qA2u21uLDqrDsygj5GgInE8r4V97QU90JX6Ax9KwZyMDydZVjluXl9HUf9NMDItb5eA2v3/iyH8UNMDI4ThIG9y4fXJ+SCmBkcJwte7fMfpTAybf0WndvmP0pgZNX4YoG7fMfpTAyJfYF7n6fpTAyH2Be5+n6UwMmRgF7n6fpTAyH9Hr3b6fpTAyH9Hr3b6fpTAyH9Hr3b6fpTAyZ/o9e7fT9KYGRK5gB0Zh8v0pgZEH4VP8Atrg9PZ/mlMDI3ucvBt7+I/xqPwSmBk1XgNu2uUM7BjqWInxFV0IA6CmcEVkVLGf5kd2sEnts2UAuSG0HUEzqN/D9TWM7YMKtd+fUMPZGWynS4rMx67KxHodtem0UzyzKisRXqPPZDP5PmLDvlhR9APlWudiTt3+ZB8RsBLNkCYUFhqdDCmfmSfjUkZbsrWQShHH84Hr8OT3tZZrk7fxnyrHc+DdVLn5n/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8" name="Picture 4" descr="http://www.photophoto.cn/m68/059/025/059025006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3429000"/>
            <a:ext cx="3312368" cy="2859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6058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648072"/>
          </a:xfrm>
        </p:spPr>
        <p:txBody>
          <a:bodyPr/>
          <a:lstStyle/>
          <a:p>
            <a:r>
              <a:rPr lang="en-US" altLang="zh-CN" dirty="0"/>
              <a:t>UDP</a:t>
            </a:r>
            <a:r>
              <a:rPr lang="zh-CN" altLang="en-US" dirty="0"/>
              <a:t>报文</a:t>
            </a:r>
            <a:endParaRPr lang="en-US" altLang="zh-CN" dirty="0"/>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 </a:t>
            </a:r>
            <a:r>
              <a:rPr lang="en-US" altLang="zh-CN" b="1" dirty="0"/>
              <a:t>UDP</a:t>
            </a:r>
            <a:r>
              <a:rPr lang="zh-CN" altLang="en-US" b="1" dirty="0"/>
              <a:t>协议</a:t>
            </a:r>
            <a:endParaRPr lang="zh-CN" altLang="en-US" dirty="0"/>
          </a:p>
        </p:txBody>
      </p:sp>
      <p:sp>
        <p:nvSpPr>
          <p:cNvPr id="4" name="AutoShape 2" descr="data:image/jpeg;base64,/9j/4AAQSkZJRgABAQAAAQABAAD/2wCEAAkGBxQSEhQUExQWFBQVFxoYGBUXFBwaGRgYGBgYGBoXGhccHCggGBwlHBUXITEhJSkrLi4uGB8zODMsNygtLisBCgoKDg0OGxAQGywkHyYsNCwsLCwsLCwsLCwsLCwsLCwsLCwsLCwsLCwsLCwsLCwsLCwsLCwsLCwsLCwsLCwsLP/AABEIANQA7gMBEQACEQEDEQH/xAAcAAABBAMBAAAAAAAAAAAAAAAAAwQFBgECBwj/xABFEAACAQIEBAMFBQQHBwUBAAABAhEAAwQSITEFBkFRImFxEzKBkaEUQrHB0QcjUoIVM2JykuHwQ1NzssLD8SQ0ZKLiFv/EABsBAQACAwEBAAAAAAAAAAAAAAADBAECBQYH/8QAOBEAAgIBAwMBBQcEAQQDAQAAAAECAxEEITEFEkFREyJhcYEGMpGxwdHwFEKh4fEVIzNSJDRDFv/aAAwDAQACEQMRAD8A7jQBQBQBQBQBQBQBQBQBQBQBQBQBQBQGCaw2lyDU3B3HzqN31LmS/FDAC6O4+dFfU+JL8UMG01ImnwDNZA04hxBLNt7jGQg1A3nYD1JqK26NcHJ+DWUlFZKJiubsSzeErbH8IUH5lhr9K4c+o3N7bFJ6iedhhwzmvFLfxTNDZzaC5gcq5VIOVZ6yCfOpn1CcYJrGWFqJLctvLHMzX39ndCholSugMbggneNfhVjR652y7J8k9V/e8Ms810ywZoAoAoAoAoAoAoAoAoAoAoAoAoAoAoAoAoAoBK9fC7/Kqeq11OmWZv6eTKi2MLuOY7afjXmtT12+x4r91fiyRQQgWLdSTXMdl98sNuTfzN8JG7YVgJirFnStVXDvcdvoY7kJZaodksd2NjIe0y6zAHWYqSu62D9yTXyYeCG5m4vclbIfIGGZn2JGsLI6afhXa02v1FtbjOX18lDVz7WooqKsRMEid/ODOvx1rXuZQyZZixkmSeprHL3Bi94CZI0MTOm8VntaeAKJiWV86nI2sFdIkRp20JrKm1LujszKbTyh/guO3cNcBuXGCAjOHYkQd9zoY7Va0+ouhYllv1XJJC2UZcnSsFi1u20uISUdQykgiVIkGCARI716NPKydFPIvWQFAFAFAFAFAFAFAFAFAV7Fc4Ya0XW4xW5bJU28pLEjaNIIIggz16VDK+EeSCWohHOeQ5a5qTGM6KjIyiYJBlZidNjtp51iq9WPCMU6iNraRYanLAUAUAUA2xeJy6DeuT1PqS0se2O8nx8PizaMckWzSZOprxk7J2ycpNtk2yF8HYzHXYV2+n9FnZiy7aPp5ZG7FwiSSwo1AANekq0WnqfdCCTNG2zeKtGDBQREaVG6oODhjYEFx3DhLNwkZ1KMCp6jKdD5EV5DW9NeknCUJbN/VG8p+4/kcy4ZhrigWs5uIP6sE6qOq66RtVixxseUsPz8TkOTlsxMWmXEK4Ga2RldZjUAw34bVvGUOztkt1wYXA8RCTABJ7Cq6WeDAy4jhTc9mAYUOGb0H+dTVTUM55wEPrsT4SSO5EfSonjOwGuLwi3cueSFMxOhPn3/AM63hbKGcA6ZyPiWfDQ33GKKf7IAIHwmPhXd6dZKdPveGX9PJuG5Yavk4UAUAUAUAUAUAUAUAUBV+aeTbeMYXA3s7kQWy5gwG0iRr0mar3UKe6eGVrtOrHnOGL8q8rpggxDZ7jQC0QIHQDWPnWaaVXv5NqaFXvyyw1OThQBQCd+7lBNVtXqY6ep2S8f5ZlLLId2JJJ3NeAutlbNzm92T4wAr2vRqa46WMord8v4lC+T79xfCXsp12NdZrJrXLtY/XEqSADvWuCZTjwLVg3E710KJqvqtTHT1uyX/ACZSyMwvtgc3u7Ze8964dGeq5lY+1ReyX5tmz93YqXMfK62Ua7bY5QR4CJgEx73YT2qxq9BGqLnB/Q59tCiu5FYtgSJ0HUjeK5axncrAGgyCfI7GnD2Bm2skAkAHqelEsvcGprANMZfIAKW85EAgNlnuST+VTQUZNKWyMln5T55s5Xt3bP2b2YWAGNzNmzTsszoDr3ruVaiquGFsi3XfBLD2LrwzidrEJntNmWYPQg9iDqKt12xsWYssRmpLKHlSGwUAUAUAUAUAUBq1wDcgVHZdCtZm0vmBFsYg6z6VQn1jSR/uz8ss27Wa/b18/lUP/XdL8fwM9jOdc68/YnD4prNlbaoqqczoWLZhMjxAADb1BqzDWq6PfXwUrrZQl2oR/ZzzXir2NNm/cN1XVjqqjKy6yIAgHUR6fGWq1uWGzWi2UpYZ1WrZcCgIziN2THQfjXkevanvtVK4jz8/+CWC2yNa4BIFXNPr79OsVSwjSVcZcoJrt0faDspSsi3NefD+ZXlpsvZ7Gc1VdX122+HZFdvrvlm8KFF5N3xDHc1Qt6jqbYqMpfoTKKRozE7kmqs7Z2bzbfzZnAKxGxild1le8JNfINZN794upVoKsIIjcGuhZ1fVTj25WMY4NXXF7MquJ5XM/u3Edm6fEb/KooatcSRSnot/dZH4zgd1DAUuO6j5iOlTQ1EJLnBBZppxeMZKvxrijWLrWXQo6lDmMEZGAYnT4j59dK6VFEbIqaeUbS0k4xi/L8fEdW8crqHtkMpJHnIjcbjcetaOhx2kQW1TqeJIHvk+VFBIiNDayN4hBOWehI3GvofrUm/AJPg3GruGNz2EeONCM0BZPzg6mpab5157fJJXZKGcF55Q5o+0zbuFFvDUAGM69WC76demo711dLqHan3cl2i7vW/JaKtk4UAUAUAnduhRqar6jVVaePdY8fqZSyML2NJ20H1ry+r65bZtV7q/z/olUF5GpM71xZzlN5k8s3CtAFAVD9pHCVuYY3gP3lqNe6MwBU+QLT8D3rq9KvcbfZ+H+ZU1lacO7yhr+zfgpXPinEG4CtsdckyW+MCPIedTdU1WWqovjdkejpwu9l/tYpl6z5Gq+m6tqaNs9y9H+/JccEx9YxYbyPavS6PqtOoWOJej/QjcWiMdpJPc142+122Sm/LJksGKhMhQBQBQBQBQBQBWQReM4/YRXIuI7ICcisCSdoHxj0qzXpLZtJppPyQT1FcU9914KVjOacWLhlhbIOqBFIHlJBJ+ddmPT6EsNZOY9ZbnnBS+PXrt23be7q6FwzdSr3WcSewLEAdA1dGuMYNqPH+sHR0Op759j+a/UZ8FxBDFJgXNAZ2Yaqfy+NbWJNZ9CfqFPfX3LlfkXFSSFkAGADB0LRqde5qjLGdjgCWLwxLKCYyvLAdcvTsda2jLtzkIXZoJykgaxO8eceVafIEhydNvG22tyWuNlbzQ7j0AE/yirWmsl7SKRLRJqawdjruHTCgCgEcTfCCevQVR1+thpa+58+F6s2iskVccsZNeH1Gosvn32PLJksGtQGQoAoAoBDG4RLqFLgzI0Sp2MEGD5SKkrslXLujyayipLDFgI0GwrRvJsFYBvbtlthNWaNLdc8Vxb/nqYbSBrZG4IrW3T21bzi18wmjWoDIUAUAUAUAVnACujpOlajUT7cdq9WmRTujFFR5w5hQC7hlZkvDJKkEZ7bCSUbYjoeujaV0F0mWmuTk1JfqVNRqM1tLZlEdlNzIgMtORN2jtoNTV/teMnM7c7o2s5cwzTl65Yn4TpWDHzGt66GLWpILIZ9JEA/GD8K3Swu4lpk65KxeGQGFSWgpJB1MkRHnUktlk9fXia4ymWvh+KLyCsBdAZnN1J+EgVUsgkkzy2rpVNrh/MeB8jqCCwkdpjfQa+tRIrm1tWEOAdDo0aZhBie+o0rKi+cGUnyi08kcDxRum97VrFuRKmyhN0akgM4lR5jefKuloa5byax+pa09cueDpNdMuhQGCYrEpKKywQ+Iu5mn5V4HX6t6m5z8ePkTxWEJ1RNgoAoAoArOHjICKyoNvtxuYCkotcmTFYBKWMSpgbaV7XRdT01kVBPDS87cELizTFYlYgQ0/TzqDqfUtP7LsWJt/4+IjF5I+vIEwUAUAVkBWAArr9EVb1a7/AEePmQ357NjavdHPOZc98OZcU11xKtGR+g8IUrPQ6HTzrk6uM1NvwytZlMgr9oNcVkVlKtKAElgTpEgAmarJtbEak1wbIAJzZhAMAD73QGenetTCNLPgYuIzFcpJAOhBGx9TWcvGDOXwVvi9nLdPZtf1+oNTQeUej6fb30Jemxbf2UcNt4q/ctXGgKhdQDDEyFMeQ/OpIURteJEWt0ynJTfyOp8R5HsXFw6DwpauZ3/juDK3hL7jxFT8NIqytLWkopFV0QwkWHh+At2ECWlyqOnmepJ1JqaFcYLtitiSMVFYQ5itzYKAKAa8QuQsd9K43W9R7PT9q5lt9PJvBZZGV4smCgCgCgCgNg+kedWatR7OHZhPfO6yatZFGvD6np3nX61clrq5ZyvLbwl5yk/wMYNQ4+g/8VHHU1R3w84S8Pjx9fLM4YlXPNgrAM0AUAUACuj07p71k3HOEuSK2zsRmK9H/wDz+mcEt8+X6lb+olkxXmuoaGWkt7G8p7r5FquzvWQqinjgkCa6Wl6pfTYpybkuMNkU6otYWwE1es+0N7b7IpLx5I1po43KDzNy5eF9rtpS6u2bw+8rHU6b76gisUdRjYv+48S8/EpajSSUswWUVTFBkvPZcQ6BS2swXGaD5wRV+LUoKa4ZUsrlD7wqc6p1CXPLR8p6d4NYUk3hGrTSz6jHmLg1wYa3isv7oubeadQddx2lSJqerdP4HY6V3LOeH+gl+zziAscRwrmMpf2Zkf70G2D5QWBmrNTxNHUuj3QZ6Uq+c0KAKAKAKAjOIt4o7D8a8f163u1Ch6L8yaC2GtcI3CgCgNkSR/nVumiM4OUnj6pGreDItjuK3Wljnea/mBkPZ+YotLDzYhkDbEb/AOppLTQjDuc/X8/zM5BEB3NYp09c8d0sZ/jMNmRbHfpW0dLXu3Px8DGWBtjv/rTzrL00M7SWN/TPjHkZNXWOoNV7aVBZUkzZPI1x91kt3GUZmVWIHcgEgR1qOqKlNKXGTWxuMG1yc3t80YlHDG4WE6qYy+hWNB5javRPQ0Sj2pHDjq7U8t/Q6Zh7wdVYbMoYehE/nXCqvt0tjdbw+Dt4VkU2KTXVX2h1CgopLPr6kf8ATRzkxXFttlZJym8tk6SSwjNRmQoAoAoBjc4RYZmZrNtmdgzEoCSwUKCSf7KgfCp1qbUklJ4WxHKuEuULYrA27ihXRWUbAqCB6dq0hbOLzF7mZVxksNDDnXhgucJxKKoARPaKAIj2JDwAPJCPjXrOjxb0jk/Lf7Ga322LB59DEQVMEag9iNQfnVpMvnqng2OF+xZvDa7bRx/Oob866SeUcuSw2h7WTUKAKAKAh8WfG3rXguqS7tXP54/BE8eBGqBsZrACgCgCgCgMUBmgMUBmgMUBmgG+MwaXUZHUMGEHT6jsfOpa7ZQkpJkc64zWGhvi8UmEw+d5KWlUHKJJiFEDzMVvCEr7cLlsw2qob8IR4HzFYxYPsmIYalGEMB3jYjzBNb6nR2UfeW3qYquhZwSjsACSYA1JOwHeqqTbwiVvCyyqYLm83MSLeQezdsqnXNqYDHpqekfhXVs6co09+d1uc6Gucre3GxbK5J0jNAFAFAYoCTXDBrJRtnUg+jAg/jXvum1ez0kI/DP47kDe+TyzfwptkqxXMpKkAzqND6aiojrNeTv37Isb7XhlkEybTPbP8rEqP8DLV+l5gc29YsZc6lIQoAoAoCPfBEkmQJNeZv6JbddOxySy9iRTwhzZwyqNgT3NdbS9Noogo9qb8trk1cmzR8EpM/QVXs6Lpp2d+Gl6Lgz3sa4nClTpMVTX2fi7ufc/zn0NZ2tLbkbxUt/2drk17KWPXO/4EcdS/KMEVwtf06zSTw94+pYrtU0Fc4kCgCgCgCgIBuNX2LNbw+eyjEZswDNlMEqPh2NW/YQW0pblr2MEkpS3JvD3g6q6+6wDD0IkVWku1tMrSWHhilamBpxXArfsvaYkK4gldx10n0qai11TU14NLId8XFkbwjlTD4fKUVmuLr7RnOadtgQIjSIqe/X23ZT4fgjr08Ibrkccb4KmIXxOyHurQD/eXY/j51rptTKp7LPw/Yxdp1dtvn+eCA4RwvC4W5nfEC4y7AAwDtJgtJ+NdO56vUQ7Y1tIk03RLoy7+1v/AAWEcfw/+8H+Fv0qg+m6lf2fkdH/AKdqf/UVXjFg/wC1T4tH41HLQ6hcwZG9FqFzBji3i7be66H0YH86hlRZHmL/AAIpVWR5i/wFqjawRvYyiSQO5qXT1O22Na8sw3hE0K+ixWFgrnm3na3bt43FIE8QvOd4HiOcaA66MK5s4SU3lnYhOLrjtvg6B+wbFzaxVrqtxLkf8RMv/aq5p3tgo6pbpnVKsFUKAKAKAKAKAKARv31Eg79q17493bnf0NZPC3ImpioBNcHrHUqoVz0/Mmvos/qWKam2pGK8YXgoDFAVTjvOS2nW3ZUOSSC5PhBA6Ae98wPWuhRou+LlN4+Bbr0reHLbJWsNzXi3km7Gg8IRQBv/AGZ3017Vct0tUdlEs16atrdEpwvm1rIi6oZBJJUQwkljpsdSdNKrz0qsfu8mLtKn70WXXAXUe2ptEG3EKRtA0jyiIjyrnWRlGTUuTmyznccVoYCgE710IpZjAAknyFbwhKclGPLNoQlOSjHllD4xxd77HcW+ifme5r12j0Nenj6y8s9Vo9FCiPrLyyOq8XgoAoDEUBvbusvusV9CR+FaSrhL7yT+hpKuEuUn9B5Y41iE1W8+nc5v+aa0hp6oT74xSfqQT0OnnzBfkSNrnTEoJZkYDq6AfVYq37WRTs6NpXxlfX9yjczYYY2/dxCOhuPBa2pBEqiroZkTlnXvUM33PJHLpihDEJZx6k1+wvE5cZft7Z7Gb423Uf8AcNSad7tHE1S2R26rZRCgCgCgGPECRBBInSvO9bsupcZ1yaT2eCSGGaYfGwIMkjrUGi63GurstTbXn1DhvsY/pA9h86w/tDPDxBfiZ9maW7DP4u/WotFptXqLf6pSxvz+y9BLtx2sUuYE9DPlXU1el1zbnXc+OOP9EUYwXgZkV5CakpNS58/MsIK0MhQFZ5z4qbaC0hhnEsRuE2j46/AHvV3S1Zfcy5pKe59z4RQMXZLL4feUyvqK6dUlF78M6Mo5Ww0ttJlNG6pMMCd4B0IO8VYa2xLj1I0/KNrxc++coHUwPiACZPbWsRUV93cy2/Ja/wBnnEmW4bR0tOP3YO+YAkt/MPwFUOoVpxz/AHLkqamruj3rwdDrjlAKArnOWLyotsffMn0WNPmR8q7fRaVKx2Px+bOx0elSm7H4/U57zDxL2FqV99tF8u7fD8SK9Izu2z7UU1OK31/2tz4sT9DWhT75LyObfMWIH359VX9Kzk3V0/Uc2+bLw3W2fgR+dMmy1Eh1b5v/AIrXyf8AUVnJstQ/KLFgcSbiB8pTNqATrHfSsliEu5ZwY4hjVsoXb4DqT2rDeDLeCj8Q4g95pc6dF6D0H51G2RvcbKxBkaEdRWpg6H+yTEj7dbJHicXFYxqfAX1P8oraltXI4XVK0oNpejO6iumefCgCgCgEcVazKR16VR6jpv6jTyh55XzRtF4ZEV4FrHJOFYAvYxRURuK62i6tZpoqvCcc/U0cExW7jpGgjzNXtR1/ui1VHD9X+xhQ9RmTXnZScm5PlkgVqBHF3siM+UtlUnKNzAmK2gu6SRmKy0ihphDiblu5cf8ArmbNGyqoMAH+WK71NEfdj4Ozj2cMR8EpwzguHuKW9lcUhmUC6SCcpgNCn3TuKvy0tcXtuV1fY1l7DTF8mo5l7iydgtvL0mB4p6VoqZLiRt7VPwRp5LcN4UWOhZ5/EVpKFz2Nozr8iiYC5hsRYzxJdToZ0zAEagdPxqpdTKKw/JI5KyDSOjCuFjBxTNYBSOb7k4iP4UA+cn8xXqujwxp8+rPTdIjijPqzn3G7ftcUiH3baBj8TP18IrqMuSXdal4Q/ZAdwD6ihawhB+H2jvbX5R+FDV1QfgbvwSyfukejH85oaPTwErfLiFh4midQY269qGj0y9S1gVkmwUzmXG+0ulR7tvQev3j+XwqOTI28siK0MBQFm/ZxiCnEsJqYNyCJ08SMv5ipacd6OJ1b7v0/U9J10DzgUAUAUAUBGY6xBzDY/jXkOtaH2U/bQXuvn4P/AGSwl4GtcEkCgCgCgCgMVkFD4lhVw+IFpXZUYSCdkLyBHlpBPn5V2tHc5YbOzprnKPdJZJzhPDXtHV5HauvGLRvqtTC1bIZJx+0ULvPtrbNkQAgEEwJbWDH4VspQay3v6G0tBappR+60sv029CQ4lxB7eWELTv5Vq5uLWCKjTRtTUpYKxxC8llrKoCwtBjDMSZdi2516yB0ECqurt7ppiqn2aaR0HCuHVSmqsBl8wRpXnPZznZ2Lls489m8m2LBRoPwPevT0/ZyGPfm/ov8Ako26mUXhIhsZw6y7m5cWWMdTGgA2B8q7mn0NVEFCOcL1N49Z1VcFCMsL5DDE2rFkNcWzbVo97IMzEaKC0TU8oxgs4NNPdq9dequ+W/O/gpl6y7MWMEkyTPU1z3lvJ9GqhGuChHhCRw7dqwSZNDbI6H5UGRXBr4vQUMMdYq9kRm/hUn5CayzR8HOmaTJ3NQkRisGQoCW5RuZcdhD/APJs/W4o/Ot6/vI43VFlfRnqMV0jzQUAUAUAUBq6AiDUdlcbIOEllMETibBQ+XQ14fqHT56WfrF8P9/iTxlkSrnGwUAUAUAUBEcd4EuJKEsVKzJAmVPTy16+tWKb3WmsZJ6b3VnHkjsRib2FbIbRu2tPZlXGeAAIOYgH6V6DptstR7n4v0M26qqEO6bw/QaXOGWFZr0uVEubYAJ08RA/SrarXtFHjLOpDqU7KPcw1jlCt/jhv2g2HIAYaMw18xGyn51Y1OkthmHk8+uqQjZ2zi8eppwblYli2IhlMEQ0ljMyT2Inz16V5a/UdrwufJ0rNZGUV7MvvDbHWIA0Arp9C0fc3qJ/Jfqzm2SFOK4fOhj3hqPzFepi8MqXQ7ovBUSZqY5L35K7xvF5myj3V+p6/Lb51S1E8vHoe9+z3T/YU+2n96X+F/vk3PL1/wBh7fKMkZonxZf4o7RrUfs3jJ011Kj23sc78fDInieCX7doXXtlUMakiROxK7isODSyb16+iy32UXv/ADyR9aFwKAjuYbkYe55gD5sBWJcGsuCi1CRhQyFAP+Af+6w57X7R+VxTW9bxJHG6rJRSz6M9TW76tOVlMbwQYroKSfDPMppilbGQoAoAoAoDV0BEGo7aoWRcJrKYI7EYMjUaj6ivJ6/o06szq3j6eV+5LGfqNK4ZIZrACgCgCgKpx7Hp9q9jPjFtWjyJbQeYEH417DotE1o/aY27mcnXxfcpGuGBny61a1LjjHnwT9Ihd7Xuh93yVXlu6Fxl3DKYR2YpmBXKQJIykAjwyP5R3rt6mMp6WF0lulvgzqtL7W3EPX/B0rDslq2Bm2nc6z6V4DWUW26ltrZ+fGP3OhTpHBKEctC3D+KmVk+FQARHfdjAPw2Fej0dmFGEeFtgk1OnjXFv6/6E+KcVZ5VZVevc+vYeVdmMTz12octlsiA4pi/Zpp7x0H6/CtbbOyPxLfR9B/V6hJ/dW7/b6lYrnn0rGNjpfJnE1vYcWzGe0AjKeq7KfQgR6g1ZrllHj+qaaVN7l4luhvzTizfJwdgB3MG4Z0RVIME95j/RpPL91G/T61RjVW7RXHq2UDEWGtuyMIZSQR5iqzWNj1VdkbIqceGJ1g3Ijmk/+nPmy/j/AJVrLg1nwUuojQKAKAtHKWGFxLgPR0YH0k1V1Njg1g8j9pG1Ov5MuOEvG2wdSVYagr36T5d6oVycJd0dmeajJxeUXLCc7KXh7eVP4w0x5kRt8a7FfVE5YksL1LcdSm8NFtUzXWLRmgCgCgCgCgG97Cq3ke4rm6vpdGo3aw/Vfzc2UmjmfEeegcS+GsCQpK+2mZZfeCpG2hAadY21BrhrpEK5e9LP0wdSOlfs1OX4DW7zJilUm263GUmUZVIYjdSVgg/GpZdOpTxKODEK6pfInOXecbOJhHmzfOhtNPoCrQJBOgmDOlczUdOtrzKO8V5IrqHW9t0WWucQHFOdMWTxC+6kgq4UEdMiqunxBr6z0KhQ6dXFrlZf1ZVs3byWTlG5+59oSzPcZs5LEyVYgGNgcsbeXlVDqlSlPsSxjgjo10tLb2/2fzgXxWLtWib99R4TCMFlpgwB5wDvXN0tWquzTXnHnfY9HqL9Eu2aacsfUuWAwdr2a3XJbOAyqDEgiQT1qajQrmZztV1Fx2gZcAmQoXsAI/8APxroRorjukcazVW2bSewhjFGUsSFCiSSYEeZO1Zd9cdnJfiQeylP7q3Of8Y5iw7XmAvowWACJy7AmGiDqTr5VRla7HlrB7vo1ENLpkntJ7sRt8QtN7txD6OP1rU7KnF+SR4fj3tMXtNBKlZHY/6n4VspY4Ir6K74qM91nJNcocXtYZrrXcxZ4AhZ7kkmepI+Vb1zS5Of1PR26hRjWlhCPNHEcPeZTYt5TJLuRBafIHXXWTWLJJ8G/TdNqKU1bLbwucEHUZ1CF5sP7j+cfga1nwazKdURoFAFAWnkdmBuR7umvZht9J+VU9ZjCfk8j9pPv1/Jlu+94p1MnvrrVHzueZG2ANxkZmBEk+HssgKD+PxrecYp4jx5HB0DkDiN68l03yMwZcqKIS2mWFUHdjoSSSeleg0eo9qn8C/RNzTyWurhOFAFAU/mfnA4PHYWy4RcPeVi91plTJAgzAAOWZGzDaKinZ2ySLdGm9rVKS5Xgttm6HAZSGU6ggyCO4I3qUqPYgefeLHC4G/dUw+XIh7O5CA/CZ+FR2y7YtljS1e0tUf5scT5N4fnN+7IVMNaDMSY95sog94DVzo0zt2huztay5QST8k7auW9chTUliEyiSdWaF3PUmo7KrvvTi/qinBw4iZ4Xbt3cVh7iWmvvbuoJRScgLgFmjQAAkydq1jVKxOvw+fkSXVuEX3bbeTrmKwoRWfN4VBYz2Ak/hVSz7O5f/bn+K/Y5KsPN9++bjM7e87Fj6sST+NfR6q1VCNa4SS/DYiJXgPHThsylc6MZiYIbaQfTceVVtVo1fh5wyvdQrDHHOOnEFRkC21M5SZzHuxEdNIEbms6XSRoy87sVUqs6xypjvtOFtXWjMQQwAgAqxWAOggCB2rwXW9dqtNq50wliK49cNFmNEHu1kmAo7V56zV32ffm39SZQiuERnM+AbEYa5aSMzZYkwNGVt/hW2ktVdqnLgv6C+FGojOfC/Y5VjuBujsj21LKYOxr1VUvaRU48M9lXbRdBTS2fwGF3g69bXyBH4VvmaNnRRLwhueFINsyHyYinfI1/o6nwbrhnHu37o9WJ+lZ9oa/0fpJii3cSu18H+8g/Ss+1Nf6W1cSC7xfE21LN7JgPIz27itlYmRzhdWu54aNeK483sIjkBSbsQNtA1Zlwaxn3Ryyv1GZCgCgLXyXcCpckgeJd/Q1S1cW8YPIfaX/AMlfyf5k9ieIgNtm7mfLTXWoYUuW8jzDkNsHxgG4wdGyKVHhjMRllonSdak/pkksv5m2UsNnXOULmHaxmw0lSfFm98NGzdjEbadq7elhVCH/AGzoUdnb7hO1ZJgoAoBhxjg9jFJ7O/bW4vTMNQdpUjVT5gitZRUlhm8LJVvMXhnP+TCOH8VxHDw59g6h7QY7PlV8o7nKzjzyCoK/cscPB0NR/wB6iN2N1sx9+2HGW2wnsAxN03EYIqltAdcxAhdCSJ3impnHt7c7mnTotW93jDOTcMF1XFoq4S6yG4kEBghJXNpqAWJjb6VRVjivdZ17VCSy8f8AJceDcJdby3cJaDXrcmJ0hgUMqWAIhiPjVmvXaqyLh3ZX0ORZVVHd7FhxuA4hYRr9u3Ysk6uuHQe0juQQwI7hTRwsgu5JL5EftITxGTb+Y94vzG78IxN25bNpyps6ggMbmVMyzrHjPpBro6HNs45Xn8itbBQeEzileiIgoAoC2fs/5huWLvsQpuW7rSVBgoY1cTpEDUeXz819ouk1aqr22e2UVz6r0JqVKUu1eTqOF4lbuSFYSOm1fPJaO5PCjn5F27S2UrM1sOfaDuPnWVodS/8A83+BWyjn/HjOIu/3vyFeq0UJQojGSw8Hr+n/AP1ofL9SRtct5kVhcgsoMFe4nea6CqyitLqTjJpxG7cvOSQr23I3GbUeoiseyJI9Sr8poaXuXbo3tA+mU/nNaOp+hPHqFT/uGN7gpHvWmH8rCtHT8CxHVxfE0McRwi24ynNHUT2rVVpPJvOftI9rIzmXDLbw6KghRcGkk/dbvSfBE4qKwir1GYCgCgJ3lkjxZgcsiYInY7T8K0sPH/ab79fyZKPivZqTJAaFMdmI09P0rSKbeEeXim+BQqIBmSZkQdI212M1qakrwjmG/h5FgquYrIyAhisgTPedToT3qWu6UPuk1dsofdOscscY+1Wc5GV1Yo69A6xMHtqD8a6dNntI5OlVZ3xyS9SkgUAUBV+b+SLGPh2LW7yiFupEwDIDA6MAdtiOhFRWVKZZo1U6dluvQoF+yUZkLFihKFiZJynLJJ9K40/vPJfi8rJrd8DBX8BMe8CIB+9G8VlQecDuWMonsbwrE4V82DdHYAQWaAZjMGHaZ09OtW46edc8xexWjdXNYsM/0nxZHW7duWDbB8dq1bJBHmWGYeoOnY1PZO6O6WfgMaWScYp59WQPPXMd7iCras2WNu2c7m2GcZoIUFgI0BJjzHaux07aPtLPdb4T/nkpWxUXhPJQa7BGTPKnBftd/IZFtRmcjeNgoPQk/QHtVbU3+yhlc+DKLhj/ANn9hv6p3tHz8a/IkH61Qh1Ca+8smcD3gHKNvDEtmNy4RGYgAAdQF1j51U1tr1S7ZbL0RNTa6nmPJJLw1UJZN65FmkcPerZ049Rdq7LeBpc5ow6NcS5cCtbAJ03n7q92Gmnn6x1NLTdbWptc/wAyc7URhCbjErBxxvs93KVVySqnfLsCfM1Hqa41z7U8vz8z1XSpTeni5cePl6nRMMsIo7KB9BW6ONN+82ReImXYKv8AXJDk6iDbSBAkagztud61AqeJMDOVSozAkHcrnnKdgfCuh3zHXw6u4dqH+GZiilhlYqCw7GNR862Rq0V7nPez/P8A9FQ2+DpdM/8AI18Chc3j9yv/ABB/ytVefB2JFQqI0CgFbGHLSRsAST6UMqLayie5fC+wmDmLb6RAkGdJJ2j41HbyfPuvWSlqmm9klj4ElctlrcEE28w/u54kfGBWieDjptA0QImdZkab6QZ10rBgTS0XuFmZR4YAiFAVewGrGN+5rZtYwjbuTWC4fs1e9cvXLTXXFlbZdbduFhiyDM7AZmMaATAE/C7pZ/2ot6Wf9p1irxeCgCgK7zjxtsMiZIDOT4j90CJMd9RVbU3OtLt5ZPp6lY3ko2M4Te9m9wxmgsQT4j1J2iesVRWmnjuZb9vDPahDhvC7uLcXrr5lJ8TFpY5fux02+VTV1ym+5mllkYLtRdavlIQxeES6uS4odTup2Pr3raM5ReY7MG9u2qKAoCqo0AEADyA2rSc+ZSZmMXJ9qKhx7glm/eBKMHY6shifUQQT5xNU9P1XUQl2x3T8Pwdv/p1Lq7pPDX+Sx8L4ZawtsraWBuTuzHuSd66Fls7HmRw8LwLfbR2NR5GBX7Qv8Sj1YUG4opnUaihgpHNHKXtcTae2IW80XY+6QCxfylQf5o710tNq+ytxl44MNGeKWgl11UQqwABsAAIHyri2NuTbPbdOf/xofI2t8Vvrtdb4w3/MDRTkjeWipl/aO7fMV7ZhbcdQVIJ+Rj6Vn2rK8umVv7raF7fMNskF8OJAiVKsY2gZgsCCdJ61urV6FeXTZriSJGxzDYgCWToAUP4rI+tbKyJBPQ3x/tILmJrLPba1czs2fNN1nyjwxCsxyA+QG1RWY5Rc0CnGTjJY29Cp82D9x6OPwNQy4OnLgp1REZauUuTbmL/ePNuz0aNXPZR27t8p6S11ORzdZ1GFD7Vu/wAi0LyC2XL7ZQsRoh2O/XetlpnnORL7Q19jjGt/iSDclWbdkrZz5lXw5n0LeenU+grazTxayuTyWrh7eTsf3iD/AP5/EZGc2yAvQ+8e5AG8VT9hPGcHM/p54zgY4C1ce6VtqSyILgjcw+XTuQY+tI1Scco1jVKSyiz8rcuB7jNi1ItkEAEkMWJHi0MiNfnU9GnbeZrYno07bzNbHSeC8HsYZCLCBQ2pMklu0sdTV6FcYLES7CuMFiJI1ubhQBQHNee7jO1gxmHt0za7W1dWYjvou1U9Q0nFsvaP+5fAmbV1XEqQyn/RqxGSmsoqNOL3G/DeHJYVlSYZs2pmNhA8tK1hWobIzObnyO6kNBO/fVFLOwVRqWJgCsxi5PCBULfOq3cR7JLTNbYwrKJcn+Ip/D9QBJ7CXV9MnKnKlhrx/ssaW+FcveX1LdYsxvvXO0+n9msvk31OpdjwuBVhO9WyqIXsKCrAeEkEBuxI3rGAQZ5XJ1N0Sf7H/wCqGck9g7Hs0VJnKAJiJjyrJgWoCh8+ORiEgkfuxsf7T1R1LxI9j9nlnTSz/wCxWVxOJe9atWDma5IhgCNIlidwAJJ9K1qzItdQuWnXdwsHRDy0sD94c0CTlEE9SB0Hxq17I4EeuWZ96KY1u8uXB7rK3zBrV1tFyvrdL+8mv8jHE8Nu2wWZCFAktIIAHUwdBWri0Xadfp7Woxlu/AzVp2M1rkutETzQP/Tt/eX8f861lwRz4HvJ/ImbLexYIXdbJ3PY3Ow/s/PsZK6vMjga7qeMwq+r/Y6EuKUAAAgDQAAaDtFWTg7vdiyXARNZMGwNAZoDXKJmBMRPWO09qGMG1DJKcDvGSvSJ9NR+tEYJmtjAUAUBQeMYf7OxS+hfDsxNu5BOWTORo1BEwPL6RzgpLEkSRk1uh3hMmUezjL0y7UjFRWEYlJt5Yx41xQ2MkKGzTuY2j9a2MEdY42150TKok7ye1YM4JZ+HBhDhWU7qRII9DWYtxeUYK/iuUDZurfwTZHUz7JycrDqobcAiRBn1FX46zvj2Wrb1NcFqw9wsoYqUJGqtup6g9Dr1Ghqi1h4NhWsAKAKAKAKAY8Q4RZv63UDECAZIIHaQQetRyrjLktabXajT7VSwvTwIcK4BZw7s9sHMwyyxkhZmAegJifQdqxCqMODfWdQu1SSs8emxK1KUhDGYtLSF7jBFG5PnoKw2luzWUlFZZH8UxSXsJfa0wuA23EqZ1ynT18qjsacHgudNlH+qredu5HL7rQraxAP4VzY8n0O3etv4F45E5da3ZFzEy91yHVXJPsgNV0OzdT20HSujCGFlnhNbr5zbhF+7+Yrxbmgpdy2wrIuhn7x6wZ0HSags1LUvd4POW6xxniPBYlsoQDESJ371bW6OgnlZK+/LzuSTdQk+tbGxOcKwZs2whIMEmR5maGB5QBQDXG4+3aEu0Hoo1J+FASfLGEuMxv3VKArlt2zuFJBLN5nKPlWUjDLJWTAUAUBpdthgVYBlO4IkH1FAVnG8mpJfD3GsN2ElT8Nx9R5VjBnJGX8JjbPv2VvqPvJqflv/APWsYM5G9vjlsGHVrbdmX9NfpQyPrOPtN7txT5TB+R1oYHANAZoYCgChkKAb4jPPh2+FYBixnnxbfCgHNZAUAUBG8w8NOJsNaBCklSCRIBVgfyj41pOPcsEdsO+PaMeX+WBhTnF1yxEMAFCN/LE6dDP4kVpCrt8kdVHZvkmb2DtuQXRGIMgsoJBGxk1I4pl2F9sFiMmvqa4/BJeXK407gwR6GsTgprDK061NYZC4XlC0j5izMP4TGvkT1HlpUC0qT3ZWjooqWW8jzjXCDfZSGAyiNR5zVouoR4ZwI2biuXXSdIiZEdT50MOSXJN3DE6EkbgCSI7xtQZQyvY259zD3G8zAH50Cae5mzwvF3vfuW8OvUAy4+R00Pcb0MsmeDcEwlmHDLdff2jsDrvI6DfffXesmncvUm/tlv8AjX/EOmhrIyjfPQyBegNfamgAXTQCZxJnpQGPtJ8qA2u21uLDqrDsygj5GgInE8r4V97QU90JX6Ax9KwZyMDydZVjluXl9HUf9NMDItb5eA2v3/iyH8UNMDI4ThIG9y4fXJ+SCmBkcJwte7fMfpTAybf0WndvmP0pgZNX4YoG7fMfpTAyJfYF7n6fpTAyH2Be5+n6UwMmRgF7n6fpTAyH9Hr3b6fpTAyH9Hr3b6fpTAyH9Hr3b6fpTAyZ/o9e7fT9KYGRK5gB0Zh8v0pgZEH4VP8Atrg9PZ/mlMDI3ucvBt7+I/xqPwSmBk1XgNu2uUM7BjqWInxFV0IA6CmcEVkVLGf5kd2sEnts2UAuSG0HUEzqN/D9TWM7YMKtd+fUMPZGWynS4rMx67KxHodtem0UzyzKisRXqPPZDP5PmLDvlhR9APlWudiTt3+ZB8RsBLNkCYUFhqdDCmfmSfjUkZbsrWQShHH84Hr8OT3tZZrk7fxnyrHc+DdVLn5n/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268303821"/>
              </p:ext>
            </p:extLst>
          </p:nvPr>
        </p:nvGraphicFramePr>
        <p:xfrm>
          <a:off x="1043608" y="2348880"/>
          <a:ext cx="6624736" cy="1152128"/>
        </p:xfrm>
        <a:graphic>
          <a:graphicData uri="http://schemas.openxmlformats.org/drawingml/2006/table">
            <a:tbl>
              <a:tblPr/>
              <a:tblGrid>
                <a:gridCol w="3312368">
                  <a:extLst>
                    <a:ext uri="{9D8B030D-6E8A-4147-A177-3AD203B41FA5}">
                      <a16:colId xmlns:a16="http://schemas.microsoft.com/office/drawing/2014/main" val="20000"/>
                    </a:ext>
                  </a:extLst>
                </a:gridCol>
                <a:gridCol w="3312368">
                  <a:extLst>
                    <a:ext uri="{9D8B030D-6E8A-4147-A177-3AD203B41FA5}">
                      <a16:colId xmlns:a16="http://schemas.microsoft.com/office/drawing/2014/main" val="20001"/>
                    </a:ext>
                  </a:extLst>
                </a:gridCol>
              </a:tblGrid>
              <a:tr h="540060">
                <a:tc>
                  <a:txBody>
                    <a:bodyPr/>
                    <a:lstStyle/>
                    <a:p>
                      <a:pPr algn="ctr"/>
                      <a:r>
                        <a:rPr lang="zh-CN" altLang="en-US" dirty="0"/>
                        <a:t>源端口</a:t>
                      </a:r>
                    </a:p>
                  </a:txBody>
                  <a:tcPr anchor="ct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r>
                        <a:rPr lang="zh-CN" altLang="en-US" dirty="0"/>
                        <a:t>目的端口</a:t>
                      </a:r>
                    </a:p>
                  </a:txBody>
                  <a:tcPr anchor="ct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12068">
                <a:tc>
                  <a:txBody>
                    <a:bodyPr/>
                    <a:lstStyle/>
                    <a:p>
                      <a:pPr algn="ctr"/>
                      <a:r>
                        <a:rPr lang="zh-CN" altLang="en-US" dirty="0"/>
                        <a:t>报文长度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t>校验位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文本框 6"/>
          <p:cNvSpPr txBox="1"/>
          <p:nvPr/>
        </p:nvSpPr>
        <p:spPr>
          <a:xfrm>
            <a:off x="899592" y="1988840"/>
            <a:ext cx="360040" cy="369332"/>
          </a:xfrm>
          <a:prstGeom prst="rect">
            <a:avLst/>
          </a:prstGeom>
          <a:noFill/>
        </p:spPr>
        <p:txBody>
          <a:bodyPr wrap="square" rtlCol="0">
            <a:spAutoFit/>
          </a:bodyPr>
          <a:lstStyle/>
          <a:p>
            <a:r>
              <a:rPr lang="en-US" altLang="zh-CN" dirty="0"/>
              <a:t>0</a:t>
            </a:r>
            <a:endParaRPr lang="zh-CN" altLang="en-US" dirty="0"/>
          </a:p>
        </p:txBody>
      </p:sp>
      <p:sp>
        <p:nvSpPr>
          <p:cNvPr id="9" name="文本框 8"/>
          <p:cNvSpPr txBox="1"/>
          <p:nvPr/>
        </p:nvSpPr>
        <p:spPr>
          <a:xfrm>
            <a:off x="4067944" y="1988840"/>
            <a:ext cx="504056" cy="369332"/>
          </a:xfrm>
          <a:prstGeom prst="rect">
            <a:avLst/>
          </a:prstGeom>
          <a:noFill/>
        </p:spPr>
        <p:txBody>
          <a:bodyPr wrap="square" rtlCol="0">
            <a:spAutoFit/>
          </a:bodyPr>
          <a:lstStyle/>
          <a:p>
            <a:r>
              <a:rPr lang="en-US" altLang="zh-CN" dirty="0"/>
              <a:t>16</a:t>
            </a:r>
            <a:endParaRPr lang="zh-CN" altLang="en-US" dirty="0"/>
          </a:p>
        </p:txBody>
      </p:sp>
      <p:sp>
        <p:nvSpPr>
          <p:cNvPr id="10" name="文本框 9"/>
          <p:cNvSpPr txBox="1"/>
          <p:nvPr/>
        </p:nvSpPr>
        <p:spPr>
          <a:xfrm>
            <a:off x="7308304" y="1988840"/>
            <a:ext cx="504056" cy="369332"/>
          </a:xfrm>
          <a:prstGeom prst="rect">
            <a:avLst/>
          </a:prstGeom>
          <a:noFill/>
        </p:spPr>
        <p:txBody>
          <a:bodyPr wrap="square" rtlCol="0">
            <a:spAutoFit/>
          </a:bodyPr>
          <a:lstStyle/>
          <a:p>
            <a:r>
              <a:rPr lang="en-US" altLang="zh-CN" dirty="0"/>
              <a:t>31</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912888968"/>
              </p:ext>
            </p:extLst>
          </p:nvPr>
        </p:nvGraphicFramePr>
        <p:xfrm>
          <a:off x="1043608" y="3506833"/>
          <a:ext cx="6624736" cy="573206"/>
        </p:xfrm>
        <a:graphic>
          <a:graphicData uri="http://schemas.openxmlformats.org/drawingml/2006/table">
            <a:tbl>
              <a:tblPr/>
              <a:tblGrid>
                <a:gridCol w="6624736">
                  <a:extLst>
                    <a:ext uri="{9D8B030D-6E8A-4147-A177-3AD203B41FA5}">
                      <a16:colId xmlns:a16="http://schemas.microsoft.com/office/drawing/2014/main" val="20000"/>
                    </a:ext>
                  </a:extLst>
                </a:gridCol>
              </a:tblGrid>
              <a:tr h="573206">
                <a:tc>
                  <a:txBody>
                    <a:bodyPr/>
                    <a:lstStyle/>
                    <a:p>
                      <a:pPr algn="ctr"/>
                      <a:r>
                        <a:rPr lang="zh-CN" altLang="en-US" dirty="0"/>
                        <a:t>数据</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14433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4104455"/>
          </a:xfrm>
        </p:spPr>
        <p:txBody>
          <a:bodyPr/>
          <a:lstStyle/>
          <a:p>
            <a:r>
              <a:rPr lang="en-US" altLang="zh-CN" b="0" dirty="0"/>
              <a:t>TCP</a:t>
            </a:r>
            <a:r>
              <a:rPr lang="zh-CN" altLang="en-US" b="0" dirty="0"/>
              <a:t>协议：面向连接的协议，通过三次握手建立连接。 </a:t>
            </a:r>
            <a:endParaRPr lang="en-US" altLang="zh-CN" b="0" dirty="0"/>
          </a:p>
          <a:p>
            <a:r>
              <a:rPr lang="en-US" altLang="zh-CN" b="0" dirty="0"/>
              <a:t>TCP</a:t>
            </a:r>
            <a:r>
              <a:rPr lang="zh-CN" altLang="en-US" b="0" dirty="0"/>
              <a:t>协议的特点：</a:t>
            </a:r>
            <a:endParaRPr lang="en-US" altLang="zh-CN" b="0" dirty="0"/>
          </a:p>
          <a:p>
            <a:pPr marL="971550" lvl="1" indent="-514350">
              <a:buAutoNum type="arabicPeriod"/>
            </a:pPr>
            <a:r>
              <a:rPr lang="zh-CN" altLang="en-US" dirty="0"/>
              <a:t>传输可靠</a:t>
            </a:r>
            <a:endParaRPr lang="en-US" altLang="zh-CN" dirty="0"/>
          </a:p>
          <a:p>
            <a:pPr marL="971550" lvl="1" indent="-514350">
              <a:buAutoNum type="arabicPeriod"/>
            </a:pPr>
            <a:r>
              <a:rPr lang="zh-CN" altLang="en-US" dirty="0"/>
              <a:t>通信过程较为复杂</a:t>
            </a:r>
            <a:endParaRPr lang="en-US" altLang="zh-CN" dirty="0"/>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 </a:t>
            </a:r>
            <a:r>
              <a:rPr lang="en-US" altLang="zh-CN" b="1" dirty="0"/>
              <a:t>TCP</a:t>
            </a:r>
            <a:r>
              <a:rPr lang="zh-CN" altLang="en-US" b="1" dirty="0"/>
              <a:t>协议</a:t>
            </a:r>
            <a:endParaRPr lang="zh-CN" altLang="en-US" dirty="0"/>
          </a:p>
        </p:txBody>
      </p:sp>
      <p:grpSp>
        <p:nvGrpSpPr>
          <p:cNvPr id="4" name="组合 3"/>
          <p:cNvGrpSpPr/>
          <p:nvPr/>
        </p:nvGrpSpPr>
        <p:grpSpPr>
          <a:xfrm>
            <a:off x="4716015" y="3488031"/>
            <a:ext cx="4182829" cy="2483321"/>
            <a:chOff x="2195736" y="3609975"/>
            <a:chExt cx="4536504" cy="2483321"/>
          </a:xfrm>
        </p:grpSpPr>
        <p:pic>
          <p:nvPicPr>
            <p:cNvPr id="5" name="Picture 2" descr="http://t2.gstatic.com/images?q=tbn:ANd9GcRkwkY7s1SptKYqZJ09jkqQa35NBlhgi0CMCyAgujT1tDWmX-AZK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195736" y="3609975"/>
              <a:ext cx="4536504" cy="10572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箭头连接符 5"/>
            <p:cNvCxnSpPr/>
            <p:nvPr/>
          </p:nvCxnSpPr>
          <p:spPr>
            <a:xfrm>
              <a:off x="3338339" y="4393679"/>
              <a:ext cx="230425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771800" y="4667250"/>
              <a:ext cx="0" cy="14260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156176" y="4637323"/>
              <a:ext cx="0" cy="14260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2824758" y="4725144"/>
              <a:ext cx="3312368" cy="29156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rot="209179">
              <a:off x="3827537" y="4637367"/>
              <a:ext cx="1656184" cy="246221"/>
            </a:xfrm>
            <a:prstGeom prst="rect">
              <a:avLst/>
            </a:prstGeom>
            <a:noFill/>
          </p:spPr>
          <p:txBody>
            <a:bodyPr wrap="square" rtlCol="0">
              <a:spAutoFit/>
            </a:bodyPr>
            <a:lstStyle/>
            <a:p>
              <a:r>
                <a:rPr lang="zh-CN" altLang="en-US" sz="1000" dirty="0"/>
                <a:t>我可以和你聊天吗？</a:t>
              </a:r>
            </a:p>
          </p:txBody>
        </p:sp>
        <p:cxnSp>
          <p:nvCxnSpPr>
            <p:cNvPr id="11" name="直接箭头连接符 10"/>
            <p:cNvCxnSpPr/>
            <p:nvPr/>
          </p:nvCxnSpPr>
          <p:spPr>
            <a:xfrm flipH="1">
              <a:off x="2824758" y="5069296"/>
              <a:ext cx="3312368" cy="310902"/>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rot="21150353">
              <a:off x="3986952" y="4975152"/>
              <a:ext cx="1656184" cy="246221"/>
            </a:xfrm>
            <a:prstGeom prst="rect">
              <a:avLst/>
            </a:prstGeom>
            <a:noFill/>
          </p:spPr>
          <p:txBody>
            <a:bodyPr wrap="square" rtlCol="0">
              <a:spAutoFit/>
            </a:bodyPr>
            <a:lstStyle/>
            <a:p>
              <a:r>
                <a:rPr lang="zh-CN" altLang="en-US" sz="1000" dirty="0"/>
                <a:t>当然可以了</a:t>
              </a:r>
            </a:p>
          </p:txBody>
        </p:sp>
        <p:cxnSp>
          <p:nvCxnSpPr>
            <p:cNvPr id="13" name="直接箭头连接符 12"/>
            <p:cNvCxnSpPr/>
            <p:nvPr/>
          </p:nvCxnSpPr>
          <p:spPr>
            <a:xfrm>
              <a:off x="2822476" y="5480248"/>
              <a:ext cx="3312368" cy="58312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rot="624940">
              <a:off x="3827536" y="5507998"/>
              <a:ext cx="1656184" cy="246221"/>
            </a:xfrm>
            <a:prstGeom prst="rect">
              <a:avLst/>
            </a:prstGeom>
            <a:noFill/>
          </p:spPr>
          <p:txBody>
            <a:bodyPr wrap="square" rtlCol="0">
              <a:spAutoFit/>
            </a:bodyPr>
            <a:lstStyle/>
            <a:p>
              <a:r>
                <a:rPr lang="zh-CN" altLang="en-US" sz="1000" dirty="0"/>
                <a:t>那我们开始吧</a:t>
              </a:r>
            </a:p>
          </p:txBody>
        </p:sp>
      </p:grpSp>
    </p:spTree>
    <p:extLst>
      <p:ext uri="{BB962C8B-B14F-4D97-AF65-F5344CB8AC3E}">
        <p14:creationId xmlns:p14="http://schemas.microsoft.com/office/powerpoint/2010/main" val="1366138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792087"/>
          </a:xfrm>
        </p:spPr>
        <p:txBody>
          <a:bodyPr>
            <a:normAutofit/>
          </a:bodyPr>
          <a:lstStyle/>
          <a:p>
            <a:r>
              <a:rPr lang="en-US" altLang="zh-CN" b="0" dirty="0"/>
              <a:t>TCP</a:t>
            </a:r>
            <a:r>
              <a:rPr lang="zh-CN" altLang="en-US" b="0" dirty="0"/>
              <a:t>报文</a:t>
            </a:r>
            <a:endParaRPr lang="en-US" altLang="zh-CN" b="0" dirty="0"/>
          </a:p>
        </p:txBody>
      </p:sp>
      <p:sp>
        <p:nvSpPr>
          <p:cNvPr id="3" name="标题 2"/>
          <p:cNvSpPr>
            <a:spLocks noGrp="1"/>
          </p:cNvSpPr>
          <p:nvPr>
            <p:ph type="title"/>
          </p:nvPr>
        </p:nvSpPr>
        <p:spPr/>
        <p:txBody>
          <a:bodyPr>
            <a:normAutofit fontScale="90000"/>
          </a:bodyPr>
          <a:lstStyle/>
          <a:p>
            <a:r>
              <a:rPr lang="en-US" altLang="zh-CN" b="1" dirty="0"/>
              <a:t>4.1.4 </a:t>
            </a:r>
            <a:r>
              <a:rPr lang="zh-CN" altLang="en-US" b="1" dirty="0"/>
              <a:t>网络分层</a:t>
            </a:r>
            <a:r>
              <a:rPr lang="en-US" altLang="zh-CN" b="1" dirty="0"/>
              <a:t>-</a:t>
            </a:r>
            <a:r>
              <a:rPr lang="zh-CN" altLang="en-US" b="1" dirty="0"/>
              <a:t>传输层 </a:t>
            </a:r>
            <a:r>
              <a:rPr lang="en-US" altLang="zh-CN" b="1" dirty="0"/>
              <a:t>TCP</a:t>
            </a:r>
            <a:r>
              <a:rPr lang="zh-CN" altLang="en-US" b="1" dirty="0"/>
              <a:t>协议</a:t>
            </a:r>
            <a:endParaRPr lang="zh-CN" altLang="en-US" dirty="0"/>
          </a:p>
        </p:txBody>
      </p:sp>
      <p:pic>
        <p:nvPicPr>
          <p:cNvPr id="15" name="图片 14"/>
          <p:cNvPicPr>
            <a:picLocks noChangeAspect="1"/>
          </p:cNvPicPr>
          <p:nvPr/>
        </p:nvPicPr>
        <p:blipFill>
          <a:blip r:embed="rId2"/>
          <a:stretch>
            <a:fillRect/>
          </a:stretch>
        </p:blipFill>
        <p:spPr>
          <a:xfrm>
            <a:off x="1115616" y="1916832"/>
            <a:ext cx="6230443" cy="4104456"/>
          </a:xfrm>
          <a:prstGeom prst="rect">
            <a:avLst/>
          </a:prstGeom>
        </p:spPr>
      </p:pic>
    </p:spTree>
    <p:extLst>
      <p:ext uri="{BB962C8B-B14F-4D97-AF65-F5344CB8AC3E}">
        <p14:creationId xmlns:p14="http://schemas.microsoft.com/office/powerpoint/2010/main" val="25976221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112568"/>
          </a:xfrm>
        </p:spPr>
        <p:txBody>
          <a:bodyPr/>
          <a:lstStyle/>
          <a:p>
            <a:r>
              <a:rPr lang="zh-CN" altLang="en-US" dirty="0"/>
              <a:t>应用层规定应用程序的数据格式。</a:t>
            </a:r>
            <a:endParaRPr lang="en-US" altLang="zh-CN" dirty="0"/>
          </a:p>
          <a:p>
            <a:pPr lvl="1"/>
            <a:r>
              <a:rPr lang="en-US" altLang="zh-CN" dirty="0"/>
              <a:t>HTTP</a:t>
            </a:r>
            <a:r>
              <a:rPr lang="zh-CN" altLang="en-US" dirty="0"/>
              <a:t>，</a:t>
            </a:r>
            <a:r>
              <a:rPr lang="en-US" altLang="zh-CN" dirty="0"/>
              <a:t>FTP</a:t>
            </a:r>
            <a:r>
              <a:rPr lang="zh-CN" altLang="en-US" dirty="0"/>
              <a:t>，</a:t>
            </a:r>
            <a:r>
              <a:rPr lang="en-US" altLang="zh-CN" dirty="0"/>
              <a:t>Email</a:t>
            </a:r>
            <a:r>
              <a:rPr lang="zh-CN" altLang="en-US" dirty="0"/>
              <a:t>等等</a:t>
            </a:r>
            <a:endParaRPr lang="en-US" altLang="zh-CN" dirty="0"/>
          </a:p>
          <a:p>
            <a:pPr marL="342900" lvl="1" indent="-342900">
              <a:buFont typeface="Arial" pitchFamily="34" charset="0"/>
              <a:buChar char="•"/>
            </a:pPr>
            <a:r>
              <a:rPr lang="zh-CN" altLang="en-US" sz="3200" b="1" dirty="0">
                <a:solidFill>
                  <a:srgbClr val="0000FF"/>
                </a:solidFill>
              </a:rPr>
              <a:t>例如：</a:t>
            </a:r>
            <a:r>
              <a:rPr lang="en-US" altLang="zh-CN" sz="3200" b="1" dirty="0">
                <a:solidFill>
                  <a:srgbClr val="0000FF"/>
                </a:solidFill>
              </a:rPr>
              <a:t>HTTP</a:t>
            </a:r>
            <a:r>
              <a:rPr lang="zh-CN" altLang="en-US" sz="3200" b="1" dirty="0">
                <a:solidFill>
                  <a:srgbClr val="0000FF"/>
                </a:solidFill>
              </a:rPr>
              <a:t>请求</a:t>
            </a:r>
            <a:endParaRPr lang="en-US" altLang="zh-CN" sz="3200" b="1" dirty="0">
              <a:solidFill>
                <a:srgbClr val="0000FF"/>
              </a:solidFill>
            </a:endParaRPr>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4.1.5 </a:t>
            </a:r>
            <a:r>
              <a:rPr lang="zh-CN" altLang="en-US" b="1" dirty="0"/>
              <a:t>网络分层</a:t>
            </a:r>
            <a:r>
              <a:rPr lang="en-US" altLang="zh-CN" b="1" dirty="0"/>
              <a:t>-</a:t>
            </a:r>
            <a:r>
              <a:rPr lang="zh-CN" altLang="en-US" b="1" dirty="0"/>
              <a:t>应用层</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138609597"/>
              </p:ext>
            </p:extLst>
          </p:nvPr>
        </p:nvGraphicFramePr>
        <p:xfrm>
          <a:off x="1043608" y="3068960"/>
          <a:ext cx="5904656" cy="3096344"/>
        </p:xfrm>
        <a:graphic>
          <a:graphicData uri="http://schemas.openxmlformats.org/drawingml/2006/table">
            <a:tbl>
              <a:tblPr/>
              <a:tblGrid>
                <a:gridCol w="5904656">
                  <a:extLst>
                    <a:ext uri="{9D8B030D-6E8A-4147-A177-3AD203B41FA5}">
                      <a16:colId xmlns:a16="http://schemas.microsoft.com/office/drawing/2014/main" val="20000"/>
                    </a:ext>
                  </a:extLst>
                </a:gridCol>
              </a:tblGrid>
              <a:tr h="3096344">
                <a:tc>
                  <a:txBody>
                    <a:bodyPr/>
                    <a:lstStyle/>
                    <a:p>
                      <a:pPr algn="l"/>
                      <a:r>
                        <a:rPr lang="en-US" dirty="0">
                          <a:solidFill>
                            <a:srgbClr val="333333"/>
                          </a:solidFill>
                          <a:effectLst/>
                        </a:rPr>
                        <a:t>GET </a:t>
                      </a:r>
                      <a:r>
                        <a:rPr lang="en-US" u="none" strike="noStrike" dirty="0">
                          <a:solidFill>
                            <a:srgbClr val="004276"/>
                          </a:solidFill>
                          <a:effectLst/>
                          <a:hlinkClick r:id="rId2"/>
                        </a:rPr>
                        <a:t>http://www.</a:t>
                      </a:r>
                      <a:r>
                        <a:rPr lang="en-US" altLang="zh-CN" u="none" strike="noStrike" dirty="0">
                          <a:solidFill>
                            <a:srgbClr val="004276"/>
                          </a:solidFill>
                          <a:effectLst/>
                          <a:hlinkClick r:id="rId2"/>
                        </a:rPr>
                        <a:t>hfut.edu.cn</a:t>
                      </a:r>
                      <a:endParaRPr lang="en-US" altLang="zh-CN" u="none" strike="noStrike" dirty="0">
                        <a:solidFill>
                          <a:srgbClr val="004276"/>
                        </a:solidFill>
                        <a:effectLst/>
                      </a:endParaRPr>
                    </a:p>
                    <a:p>
                      <a:pPr algn="l"/>
                      <a:r>
                        <a:rPr lang="en-US" dirty="0">
                          <a:solidFill>
                            <a:srgbClr val="333333"/>
                          </a:solidFill>
                          <a:effectLst/>
                        </a:rPr>
                        <a:t>HTTP/1.1</a:t>
                      </a:r>
                      <a:br>
                        <a:rPr lang="en-US" dirty="0">
                          <a:solidFill>
                            <a:srgbClr val="333333"/>
                          </a:solidFill>
                          <a:effectLst/>
                        </a:rPr>
                      </a:br>
                      <a:r>
                        <a:rPr lang="en-US" dirty="0">
                          <a:solidFill>
                            <a:srgbClr val="333333"/>
                          </a:solidFill>
                          <a:effectLst/>
                        </a:rPr>
                        <a:t>Accept: */*</a:t>
                      </a:r>
                      <a:br>
                        <a:rPr lang="en-US" dirty="0">
                          <a:solidFill>
                            <a:srgbClr val="333333"/>
                          </a:solidFill>
                          <a:effectLst/>
                        </a:rPr>
                      </a:br>
                      <a:r>
                        <a:rPr lang="en-US" dirty="0">
                          <a:solidFill>
                            <a:srgbClr val="333333"/>
                          </a:solidFill>
                          <a:effectLst/>
                        </a:rPr>
                        <a:t>Accept-Language: </a:t>
                      </a:r>
                      <a:r>
                        <a:rPr lang="en-US" dirty="0" err="1">
                          <a:solidFill>
                            <a:srgbClr val="333333"/>
                          </a:solidFill>
                          <a:effectLst/>
                        </a:rPr>
                        <a:t>zh-cn</a:t>
                      </a:r>
                      <a:br>
                        <a:rPr lang="en-US" dirty="0">
                          <a:solidFill>
                            <a:srgbClr val="333333"/>
                          </a:solidFill>
                          <a:effectLst/>
                        </a:rPr>
                      </a:br>
                      <a:r>
                        <a:rPr lang="en-US" dirty="0">
                          <a:solidFill>
                            <a:srgbClr val="333333"/>
                          </a:solidFill>
                          <a:effectLst/>
                        </a:rPr>
                        <a:t>Accept-Encoding: </a:t>
                      </a:r>
                      <a:r>
                        <a:rPr lang="en-US" dirty="0" err="1">
                          <a:solidFill>
                            <a:srgbClr val="333333"/>
                          </a:solidFill>
                          <a:effectLst/>
                        </a:rPr>
                        <a:t>gzip</a:t>
                      </a:r>
                      <a:r>
                        <a:rPr lang="en-US" dirty="0">
                          <a:solidFill>
                            <a:srgbClr val="333333"/>
                          </a:solidFill>
                          <a:effectLst/>
                        </a:rPr>
                        <a:t>, deflate</a:t>
                      </a:r>
                      <a:br>
                        <a:rPr lang="en-US" dirty="0">
                          <a:solidFill>
                            <a:srgbClr val="333333"/>
                          </a:solidFill>
                          <a:effectLst/>
                        </a:rPr>
                      </a:br>
                      <a:r>
                        <a:rPr lang="en-US" dirty="0">
                          <a:solidFill>
                            <a:srgbClr val="333333"/>
                          </a:solidFill>
                          <a:effectLst/>
                        </a:rPr>
                        <a:t>User-Agent: Mozilla/4.0 (compatible; MSIE 6.0; </a:t>
                      </a:r>
                      <a:br>
                        <a:rPr lang="en-US" dirty="0">
                          <a:solidFill>
                            <a:srgbClr val="333333"/>
                          </a:solidFill>
                          <a:effectLst/>
                        </a:rPr>
                      </a:br>
                      <a:r>
                        <a:rPr lang="en-US" dirty="0">
                          <a:solidFill>
                            <a:srgbClr val="333333"/>
                          </a:solidFill>
                          <a:effectLst/>
                        </a:rPr>
                        <a:t>Windows NT 5.1; SV1; .NET CLR 2.0.50727)</a:t>
                      </a:r>
                      <a:br>
                        <a:rPr lang="en-US" dirty="0">
                          <a:solidFill>
                            <a:srgbClr val="333333"/>
                          </a:solidFill>
                          <a:effectLst/>
                        </a:rPr>
                      </a:br>
                      <a:r>
                        <a:rPr lang="en-US" dirty="0">
                          <a:solidFill>
                            <a:srgbClr val="333333"/>
                          </a:solidFill>
                          <a:effectLst/>
                        </a:rPr>
                        <a:t>Host: </a:t>
                      </a:r>
                      <a:r>
                        <a:rPr lang="en-US" u="none" strike="noStrike" dirty="0">
                          <a:solidFill>
                            <a:srgbClr val="004276"/>
                          </a:solidFill>
                          <a:effectLst/>
                        </a:rPr>
                        <a:t>www.hfut.edu.cn</a:t>
                      </a:r>
                      <a:br>
                        <a:rPr lang="en-US" dirty="0">
                          <a:solidFill>
                            <a:srgbClr val="333333"/>
                          </a:solidFill>
                          <a:effectLst/>
                        </a:rPr>
                      </a:br>
                      <a:r>
                        <a:rPr lang="en-US" dirty="0">
                          <a:solidFill>
                            <a:srgbClr val="333333"/>
                          </a:solidFill>
                          <a:effectLst/>
                        </a:rPr>
                        <a:t>Connection: Keep-Alive</a:t>
                      </a:r>
                    </a:p>
                  </a:txBody>
                  <a:tcPr marL="19050" marR="19050" marT="19050" marB="19050" anchor="ctr">
                    <a:lnL>
                      <a:noFill/>
                    </a:lnL>
                    <a:lnR>
                      <a:noFill/>
                    </a:lnR>
                    <a:lnT>
                      <a:noFill/>
                    </a:lnT>
                    <a:lnB>
                      <a:noFill/>
                    </a:lnB>
                    <a:solidFill>
                      <a:srgbClr val="E6E6E6"/>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043581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112568"/>
          </a:xfrm>
        </p:spPr>
        <p:txBody>
          <a:bodyPr>
            <a:normAutofit/>
          </a:bodyPr>
          <a:lstStyle/>
          <a:p>
            <a:pPr latinLnBrk="1"/>
            <a:r>
              <a:rPr lang="en-US" altLang="zh-CN" b="0" dirty="0"/>
              <a:t>SMTP(Simple Mail Transfer </a:t>
            </a:r>
            <a:r>
              <a:rPr lang="en-US" altLang="zh-CN" b="0" dirty="0" err="1"/>
              <a:t>Protocal</a:t>
            </a:r>
            <a:r>
              <a:rPr lang="en-US" altLang="zh-CN" b="0" dirty="0"/>
              <a:t>) </a:t>
            </a:r>
            <a:r>
              <a:rPr lang="zh-CN" altLang="en-US" b="0" dirty="0"/>
              <a:t>简单邮件传输协议，用于发送邮件。</a:t>
            </a:r>
          </a:p>
          <a:p>
            <a:pPr latinLnBrk="1"/>
            <a:r>
              <a:rPr lang="en-US" altLang="zh-CN" b="0" dirty="0"/>
              <a:t>MIME(</a:t>
            </a:r>
            <a:r>
              <a:rPr lang="en-US" altLang="zh-CN" b="0" dirty="0" err="1"/>
              <a:t>Mutipurpose</a:t>
            </a:r>
            <a:r>
              <a:rPr lang="en-US" altLang="zh-CN" b="0" dirty="0"/>
              <a:t> Internet Mail Extensions) </a:t>
            </a:r>
            <a:r>
              <a:rPr lang="zh-CN" altLang="en-US" b="0" dirty="0"/>
              <a:t>多用途互联网邮件扩展，可发送附件。</a:t>
            </a:r>
            <a:endParaRPr lang="en-US" altLang="zh-CN" b="0" dirty="0"/>
          </a:p>
          <a:p>
            <a:pPr latinLnBrk="1"/>
            <a:r>
              <a:rPr lang="en-US" altLang="zh-CN" b="0" dirty="0"/>
              <a:t>POP(Post Office </a:t>
            </a:r>
            <a:r>
              <a:rPr lang="en-US" altLang="zh-CN" b="0" dirty="0" err="1"/>
              <a:t>Protocal</a:t>
            </a:r>
            <a:r>
              <a:rPr lang="en-US" altLang="zh-CN" b="0" dirty="0"/>
              <a:t>) </a:t>
            </a:r>
            <a:r>
              <a:rPr lang="zh-CN" altLang="en-US" b="0" dirty="0"/>
              <a:t>邮局协议，一般用</a:t>
            </a:r>
            <a:r>
              <a:rPr lang="en-US" altLang="zh-CN" b="0" dirty="0"/>
              <a:t>POP3</a:t>
            </a:r>
            <a:r>
              <a:rPr lang="zh-CN" altLang="en-US" b="0" dirty="0"/>
              <a:t>。可以用以较为简单的方式接收邮件（从邮件服务器上下载邮件到主机上）。</a:t>
            </a:r>
          </a:p>
          <a:p>
            <a:pPr latinLnBrk="1"/>
            <a:r>
              <a:rPr lang="en-US" altLang="zh-CN" b="0" dirty="0"/>
              <a:t>IMAP(Internet Mail Access </a:t>
            </a:r>
            <a:r>
              <a:rPr lang="en-US" altLang="zh-CN" b="0" dirty="0" err="1"/>
              <a:t>Protocal</a:t>
            </a:r>
            <a:r>
              <a:rPr lang="en-US" altLang="zh-CN" b="0" dirty="0"/>
              <a:t>) </a:t>
            </a:r>
            <a:r>
              <a:rPr lang="zh-CN" altLang="en-US" b="0" dirty="0"/>
              <a:t>也用于接收邮件，功能较</a:t>
            </a:r>
            <a:r>
              <a:rPr lang="en-US" altLang="zh-CN" b="0" dirty="0"/>
              <a:t>POP3</a:t>
            </a:r>
            <a:r>
              <a:rPr lang="zh-CN" altLang="en-US" b="0" dirty="0"/>
              <a:t>更为强大些。</a:t>
            </a:r>
          </a:p>
          <a:p>
            <a:pPr lvl="1"/>
            <a:endParaRPr lang="zh-CN" altLang="en-US" dirty="0"/>
          </a:p>
        </p:txBody>
      </p:sp>
      <p:sp>
        <p:nvSpPr>
          <p:cNvPr id="3" name="标题 2"/>
          <p:cNvSpPr>
            <a:spLocks noGrp="1"/>
          </p:cNvSpPr>
          <p:nvPr>
            <p:ph type="title"/>
          </p:nvPr>
        </p:nvSpPr>
        <p:spPr>
          <a:xfrm>
            <a:off x="250824" y="204785"/>
            <a:ext cx="8893176" cy="703263"/>
          </a:xfrm>
        </p:spPr>
        <p:txBody>
          <a:bodyPr>
            <a:normAutofit fontScale="90000"/>
          </a:bodyPr>
          <a:lstStyle/>
          <a:p>
            <a:r>
              <a:rPr lang="en-US" altLang="zh-CN" b="1" dirty="0"/>
              <a:t>4.1.5 </a:t>
            </a:r>
            <a:r>
              <a:rPr lang="zh-CN" altLang="en-US" b="1" dirty="0"/>
              <a:t>网络分层</a:t>
            </a:r>
            <a:r>
              <a:rPr lang="en-US" altLang="zh-CN" b="1" dirty="0"/>
              <a:t>-</a:t>
            </a:r>
            <a:r>
              <a:rPr lang="zh-CN" altLang="en-US" b="1" dirty="0"/>
              <a:t>应用层 电子邮件协议</a:t>
            </a:r>
          </a:p>
        </p:txBody>
      </p:sp>
    </p:spTree>
    <p:extLst>
      <p:ext uri="{BB962C8B-B14F-4D97-AF65-F5344CB8AC3E}">
        <p14:creationId xmlns:p14="http://schemas.microsoft.com/office/powerpoint/2010/main" val="36500389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2"/>
            <a:ext cx="8229600" cy="5112568"/>
          </a:xfrm>
        </p:spPr>
        <p:txBody>
          <a:bodyPr>
            <a:normAutofit fontScale="92500"/>
          </a:bodyPr>
          <a:lstStyle/>
          <a:p>
            <a:r>
              <a:rPr lang="zh-CN" altLang="en-US" dirty="0"/>
              <a:t>邮件格式</a:t>
            </a:r>
            <a:r>
              <a:rPr lang="zh-CN" altLang="en-US" i="1" dirty="0"/>
              <a:t>粗糙解释</a:t>
            </a:r>
            <a:r>
              <a:rPr lang="zh-CN" altLang="en-US" dirty="0"/>
              <a:t>。</a:t>
            </a:r>
            <a:br>
              <a:rPr lang="zh-CN" altLang="en-US" b="0" dirty="0"/>
            </a:br>
            <a:r>
              <a:rPr lang="zh-CN" altLang="en-US" b="0" dirty="0"/>
              <a:t>　</a:t>
            </a:r>
            <a:r>
              <a:rPr lang="en-US" altLang="zh-CN" b="0" dirty="0"/>
              <a:t>Email</a:t>
            </a:r>
            <a:r>
              <a:rPr lang="zh-CN" altLang="en-US" b="0" dirty="0"/>
              <a:t>在组织的时候遵循</a:t>
            </a:r>
            <a:r>
              <a:rPr lang="en-US" altLang="zh-CN" b="0" dirty="0"/>
              <a:t>header</a:t>
            </a:r>
            <a:r>
              <a:rPr lang="zh-CN" altLang="en-US" b="0" dirty="0"/>
              <a:t>和</a:t>
            </a:r>
            <a:r>
              <a:rPr lang="en-US" altLang="zh-CN" b="0" dirty="0"/>
              <a:t>body</a:t>
            </a:r>
            <a:r>
              <a:rPr lang="zh-CN" altLang="en-US" b="0" dirty="0"/>
              <a:t>的映射模式。而</a:t>
            </a:r>
            <a:r>
              <a:rPr lang="en-US" altLang="zh-CN" b="0" dirty="0"/>
              <a:t>header</a:t>
            </a:r>
            <a:r>
              <a:rPr lang="zh-CN" altLang="en-US" b="0" dirty="0"/>
              <a:t>是固定一些可选的如 </a:t>
            </a:r>
            <a:r>
              <a:rPr lang="en-US" altLang="zh-CN" b="0" dirty="0"/>
              <a:t>From, To, Subject, Date time, Receiver, Message-ID, Content, Attachment</a:t>
            </a:r>
            <a:r>
              <a:rPr lang="zh-CN" altLang="en-US" b="0" dirty="0"/>
              <a:t>。它们的组织形式如：</a:t>
            </a:r>
          </a:p>
          <a:p>
            <a:pPr lvl="2" latinLnBrk="1"/>
            <a:r>
              <a:rPr lang="en-US" altLang="zh-CN" sz="2600" b="0" dirty="0"/>
              <a:t>From: ....</a:t>
            </a:r>
            <a:r>
              <a:rPr lang="zh-CN" altLang="en-US" sz="2600" b="0" dirty="0"/>
              <a:t>（显示发送者邮箱）</a:t>
            </a:r>
          </a:p>
          <a:p>
            <a:pPr lvl="2" latinLnBrk="1"/>
            <a:r>
              <a:rPr lang="en-US" altLang="zh-CN" sz="2600" b="0" dirty="0"/>
              <a:t>To: ... </a:t>
            </a:r>
            <a:r>
              <a:rPr lang="zh-CN" altLang="en-US" sz="2600" b="0" dirty="0"/>
              <a:t>（显示目的地邮箱）</a:t>
            </a:r>
          </a:p>
          <a:p>
            <a:pPr lvl="2" latinLnBrk="1"/>
            <a:r>
              <a:rPr lang="en-US" altLang="zh-CN" sz="2600" b="0" dirty="0"/>
              <a:t>Subject: ... </a:t>
            </a:r>
            <a:r>
              <a:rPr lang="zh-CN" altLang="en-US" sz="2600" b="0" dirty="0"/>
              <a:t>（显示主题）</a:t>
            </a:r>
          </a:p>
          <a:p>
            <a:pPr lvl="2" latinLnBrk="1"/>
            <a:r>
              <a:rPr lang="en-US" altLang="zh-CN" sz="2600" b="0" dirty="0"/>
              <a:t>Date: ... </a:t>
            </a:r>
            <a:r>
              <a:rPr lang="zh-CN" altLang="en-US" sz="2600" b="0" dirty="0"/>
              <a:t>（显示发送时间还是到达时间？）</a:t>
            </a:r>
          </a:p>
          <a:p>
            <a:pPr lvl="2" latinLnBrk="1"/>
            <a:r>
              <a:rPr lang="en-US" altLang="zh-CN" sz="2600" b="0" dirty="0"/>
              <a:t>Content: ... </a:t>
            </a:r>
            <a:r>
              <a:rPr lang="zh-CN" altLang="en-US" sz="2600" b="0" dirty="0"/>
              <a:t>（邮件主体内容）</a:t>
            </a:r>
          </a:p>
          <a:p>
            <a:pPr lvl="2" latinLnBrk="1"/>
            <a:r>
              <a:rPr lang="en-US" altLang="zh-CN" sz="2600" b="0" dirty="0"/>
              <a:t>Attachment: ... </a:t>
            </a:r>
            <a:r>
              <a:rPr lang="zh-CN" altLang="en-US" sz="2600" b="0" dirty="0"/>
              <a:t>（附件）</a:t>
            </a:r>
          </a:p>
          <a:p>
            <a:pPr lvl="1"/>
            <a:endParaRPr lang="zh-CN" altLang="en-US" dirty="0"/>
          </a:p>
        </p:txBody>
      </p:sp>
      <p:sp>
        <p:nvSpPr>
          <p:cNvPr id="3" name="标题 2"/>
          <p:cNvSpPr>
            <a:spLocks noGrp="1"/>
          </p:cNvSpPr>
          <p:nvPr>
            <p:ph type="title"/>
          </p:nvPr>
        </p:nvSpPr>
        <p:spPr/>
        <p:txBody>
          <a:bodyPr>
            <a:normAutofit fontScale="90000"/>
          </a:bodyPr>
          <a:lstStyle/>
          <a:p>
            <a:r>
              <a:rPr lang="en-US" altLang="zh-CN" b="1" dirty="0"/>
              <a:t>4.1.5 </a:t>
            </a:r>
            <a:r>
              <a:rPr lang="zh-CN" altLang="en-US" b="1" dirty="0"/>
              <a:t>网络分层</a:t>
            </a:r>
            <a:r>
              <a:rPr lang="en-US" altLang="zh-CN" b="1" dirty="0"/>
              <a:t>-</a:t>
            </a:r>
            <a:r>
              <a:rPr lang="zh-CN" altLang="en-US" b="1" dirty="0"/>
              <a:t>应用层 邮件协议</a:t>
            </a:r>
          </a:p>
        </p:txBody>
      </p:sp>
    </p:spTree>
    <p:extLst>
      <p:ext uri="{BB962C8B-B14F-4D97-AF65-F5344CB8AC3E}">
        <p14:creationId xmlns:p14="http://schemas.microsoft.com/office/powerpoint/2010/main" val="2516687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0092" y="1124744"/>
            <a:ext cx="8229600" cy="2880320"/>
          </a:xfrm>
        </p:spPr>
        <p:txBody>
          <a:bodyPr>
            <a:normAutofit/>
          </a:bodyPr>
          <a:lstStyle/>
          <a:p>
            <a:r>
              <a:rPr lang="zh-CN" altLang="en-US" dirty="0"/>
              <a:t>发送：高层</a:t>
            </a:r>
            <a:r>
              <a:rPr lang="en-US" altLang="zh-CN" dirty="0"/>
              <a:t>-》</a:t>
            </a:r>
            <a:r>
              <a:rPr lang="zh-CN" altLang="en-US" dirty="0"/>
              <a:t>底层 ，一个层的协议都加上一个相应的信息头</a:t>
            </a:r>
            <a:endParaRPr lang="en-US" altLang="zh-CN" dirty="0"/>
          </a:p>
          <a:p>
            <a:r>
              <a:rPr lang="zh-CN" altLang="en-US" dirty="0"/>
              <a:t>接收：底层</a:t>
            </a:r>
            <a:r>
              <a:rPr lang="en-US" altLang="zh-CN" dirty="0"/>
              <a:t>-》</a:t>
            </a:r>
            <a:r>
              <a:rPr lang="zh-CN" altLang="en-US" dirty="0"/>
              <a:t>高层，解析相应的数据头</a:t>
            </a:r>
            <a:endParaRPr lang="en-US" altLang="zh-CN" dirty="0"/>
          </a:p>
          <a:p>
            <a:r>
              <a:rPr lang="zh-CN" altLang="en-US" dirty="0"/>
              <a:t>发送数据需要知道</a:t>
            </a:r>
            <a:r>
              <a:rPr lang="en-US" altLang="zh-CN" dirty="0"/>
              <a:t>IP</a:t>
            </a:r>
            <a:r>
              <a:rPr lang="zh-CN" altLang="en-US" dirty="0"/>
              <a:t>地址和端口，</a:t>
            </a:r>
            <a:r>
              <a:rPr lang="en-US" altLang="zh-CN" dirty="0"/>
              <a:t>IP</a:t>
            </a:r>
            <a:r>
              <a:rPr lang="zh-CN" altLang="en-US" dirty="0"/>
              <a:t>地址稍后转换为</a:t>
            </a:r>
            <a:r>
              <a:rPr lang="en-US" altLang="zh-CN" dirty="0"/>
              <a:t>MAC</a:t>
            </a:r>
            <a:r>
              <a:rPr lang="zh-CN" altLang="en-US" dirty="0"/>
              <a:t>地址</a:t>
            </a:r>
            <a:endParaRPr lang="en-US" altLang="zh-CN" dirty="0"/>
          </a:p>
          <a:p>
            <a:endParaRPr lang="zh-CN" altLang="en-US" dirty="0"/>
          </a:p>
        </p:txBody>
      </p:sp>
      <p:sp>
        <p:nvSpPr>
          <p:cNvPr id="3" name="标题 2"/>
          <p:cNvSpPr>
            <a:spLocks noGrp="1"/>
          </p:cNvSpPr>
          <p:nvPr>
            <p:ph type="title"/>
          </p:nvPr>
        </p:nvSpPr>
        <p:spPr/>
        <p:txBody>
          <a:bodyPr>
            <a:normAutofit fontScale="90000"/>
          </a:bodyPr>
          <a:lstStyle/>
          <a:p>
            <a:r>
              <a:rPr lang="en-US" altLang="zh-CN" b="1" dirty="0"/>
              <a:t>4.1.6 </a:t>
            </a:r>
            <a:r>
              <a:rPr lang="zh-CN" altLang="en-US" b="1" dirty="0"/>
              <a:t>互联网协议总结</a:t>
            </a:r>
          </a:p>
        </p:txBody>
      </p:sp>
      <p:pic>
        <p:nvPicPr>
          <p:cNvPr id="70658" name="Picture 2" descr="http://image.beekka.com/blog/201205/bg20120529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829" y="3933056"/>
            <a:ext cx="7096125" cy="2419351"/>
          </a:xfrm>
          <a:prstGeom prst="rect">
            <a:avLst/>
          </a:prstGeom>
          <a:noFill/>
          <a:extLst>
            <a:ext uri="{909E8E84-426E-40DD-AFC4-6F175D3DCCD1}">
              <a14:hiddenFill xmlns:a14="http://schemas.microsoft.com/office/drawing/2010/main">
                <a:solidFill>
                  <a:srgbClr val="FFFFFF"/>
                </a:solidFill>
              </a14:hiddenFill>
            </a:ext>
          </a:extLst>
        </p:spPr>
      </p:pic>
      <p:sp>
        <p:nvSpPr>
          <p:cNvPr id="4" name="云形 3"/>
          <p:cNvSpPr/>
          <p:nvPr/>
        </p:nvSpPr>
        <p:spPr>
          <a:xfrm rot="20505154">
            <a:off x="5023033" y="1772815"/>
            <a:ext cx="4104456" cy="2160240"/>
          </a:xfrm>
          <a:prstGeom prst="clou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协议其实定义了网络上面传输的数据的上下文</a:t>
            </a:r>
          </a:p>
        </p:txBody>
      </p:sp>
    </p:spTree>
    <p:extLst>
      <p:ext uri="{BB962C8B-B14F-4D97-AF65-F5344CB8AC3E}">
        <p14:creationId xmlns:p14="http://schemas.microsoft.com/office/powerpoint/2010/main" val="126022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2808312"/>
          </a:xfrm>
        </p:spPr>
        <p:txBody>
          <a:bodyPr/>
          <a:lstStyle/>
          <a:p>
            <a:r>
              <a:rPr lang="zh-CN" altLang="en-US" dirty="0"/>
              <a:t>一台电脑要上网需要四个参数</a:t>
            </a:r>
            <a:endParaRPr lang="en-US" altLang="zh-CN" dirty="0"/>
          </a:p>
          <a:p>
            <a:r>
              <a:rPr lang="zh-CN" altLang="en-US" b="0" dirty="0"/>
              <a:t>　    * 本机的</a:t>
            </a:r>
            <a:r>
              <a:rPr lang="en-US" altLang="zh-CN" b="0" dirty="0"/>
              <a:t>IP</a:t>
            </a:r>
            <a:r>
              <a:rPr lang="zh-CN" altLang="en-US" b="0" dirty="0"/>
              <a:t>地址</a:t>
            </a:r>
            <a:br>
              <a:rPr lang="zh-CN" altLang="en-US" dirty="0"/>
            </a:br>
            <a:r>
              <a:rPr lang="zh-CN" altLang="en-US" b="0" dirty="0"/>
              <a:t>　　* 子网掩码</a:t>
            </a:r>
            <a:br>
              <a:rPr lang="zh-CN" altLang="en-US" dirty="0"/>
            </a:br>
            <a:r>
              <a:rPr lang="zh-CN" altLang="en-US" b="0" dirty="0"/>
              <a:t>　　* 网关的</a:t>
            </a:r>
            <a:r>
              <a:rPr lang="en-US" altLang="zh-CN" b="0" dirty="0"/>
              <a:t>IP</a:t>
            </a:r>
            <a:r>
              <a:rPr lang="zh-CN" altLang="en-US" b="0" dirty="0"/>
              <a:t>地址</a:t>
            </a:r>
            <a:br>
              <a:rPr lang="zh-CN" altLang="en-US" dirty="0"/>
            </a:br>
            <a:r>
              <a:rPr lang="zh-CN" altLang="en-US" b="0" dirty="0"/>
              <a:t>　　* </a:t>
            </a:r>
            <a:r>
              <a:rPr lang="en-US" altLang="zh-CN" b="0" dirty="0"/>
              <a:t>DNS</a:t>
            </a:r>
            <a:r>
              <a:rPr lang="zh-CN" altLang="en-US" b="0" dirty="0"/>
              <a:t>的</a:t>
            </a:r>
            <a:r>
              <a:rPr lang="en-US" altLang="zh-CN" b="0" dirty="0"/>
              <a:t>IP</a:t>
            </a:r>
            <a:r>
              <a:rPr lang="zh-CN" altLang="en-US" b="0" dirty="0"/>
              <a:t>地址</a:t>
            </a:r>
            <a:endParaRPr lang="zh-CN" altLang="en-US" dirty="0"/>
          </a:p>
        </p:txBody>
      </p:sp>
      <p:sp>
        <p:nvSpPr>
          <p:cNvPr id="3" name="标题 2"/>
          <p:cNvSpPr>
            <a:spLocks noGrp="1"/>
          </p:cNvSpPr>
          <p:nvPr>
            <p:ph type="title"/>
          </p:nvPr>
        </p:nvSpPr>
        <p:spPr/>
        <p:txBody>
          <a:bodyPr>
            <a:normAutofit fontScale="90000"/>
          </a:bodyPr>
          <a:lstStyle/>
          <a:p>
            <a:r>
              <a:rPr lang="en-US" altLang="zh-CN" b="1" dirty="0"/>
              <a:t>4.1.6 </a:t>
            </a:r>
            <a:r>
              <a:rPr lang="zh-CN" altLang="en-US" b="1" dirty="0"/>
              <a:t>互联网协议总结</a:t>
            </a:r>
            <a:endParaRPr lang="zh-CN" altLang="en-US" dirty="0"/>
          </a:p>
        </p:txBody>
      </p:sp>
      <p:pic>
        <p:nvPicPr>
          <p:cNvPr id="2050" name="Picture 2" descr="http://image.beekka.com/blog/201206/bg20120611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1844824"/>
            <a:ext cx="38481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5320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916832"/>
            <a:ext cx="8229600" cy="3384376"/>
          </a:xfrm>
        </p:spPr>
        <p:txBody>
          <a:bodyPr/>
          <a:lstStyle/>
          <a:p>
            <a:pPr marL="914400" lvl="1" indent="-457200">
              <a:buFont typeface="Arial" pitchFamily="34" charset="0"/>
              <a:buChar char="•"/>
            </a:pPr>
            <a:r>
              <a:rPr lang="zh-CN" altLang="en-US" dirty="0"/>
              <a:t>指计算机开机后，会自动分配到一个</a:t>
            </a:r>
            <a:r>
              <a:rPr lang="en-US" altLang="zh-CN" dirty="0"/>
              <a:t>IP</a:t>
            </a:r>
            <a:r>
              <a:rPr lang="zh-CN" altLang="en-US" dirty="0"/>
              <a:t>地址，不用人为设定。</a:t>
            </a:r>
            <a:endParaRPr lang="en-US" altLang="zh-CN" dirty="0"/>
          </a:p>
          <a:p>
            <a:pPr marL="914400" lvl="1" indent="-457200">
              <a:buFont typeface="Arial" pitchFamily="34" charset="0"/>
              <a:buChar char="•"/>
            </a:pPr>
            <a:r>
              <a:rPr lang="en-US" altLang="zh-CN" dirty="0"/>
              <a:t>DHCP</a:t>
            </a:r>
            <a:r>
              <a:rPr lang="zh-CN" altLang="en-US" dirty="0"/>
              <a:t>协议</a:t>
            </a:r>
            <a:endParaRPr lang="en-US" altLang="zh-CN" dirty="0"/>
          </a:p>
          <a:p>
            <a:pPr marL="1600200" lvl="2" indent="-457200"/>
            <a:r>
              <a:rPr lang="zh-CN" altLang="en-US" dirty="0"/>
              <a:t>每一个子网络中，有一台计算机负责管理本网络的所有</a:t>
            </a:r>
            <a:r>
              <a:rPr lang="en-US" altLang="zh-CN" dirty="0"/>
              <a:t>IP</a:t>
            </a:r>
            <a:r>
              <a:rPr lang="zh-CN" altLang="en-US" dirty="0"/>
              <a:t>地址，它叫做</a:t>
            </a:r>
            <a:r>
              <a:rPr lang="en-US" altLang="zh-CN" dirty="0"/>
              <a:t>"DHCP</a:t>
            </a:r>
            <a:r>
              <a:rPr lang="zh-CN" altLang="en-US" dirty="0"/>
              <a:t>服务器</a:t>
            </a:r>
            <a:r>
              <a:rPr lang="en-US" altLang="zh-CN" dirty="0"/>
              <a:t>"</a:t>
            </a:r>
            <a:r>
              <a:rPr lang="zh-CN" altLang="en-US" dirty="0"/>
              <a:t>。新的计算机加入网络，必须向</a:t>
            </a:r>
            <a:r>
              <a:rPr lang="en-US" altLang="zh-CN" dirty="0"/>
              <a:t>"DHCP</a:t>
            </a:r>
            <a:r>
              <a:rPr lang="zh-CN" altLang="en-US" dirty="0"/>
              <a:t>服务器</a:t>
            </a:r>
            <a:r>
              <a:rPr lang="en-US" altLang="zh-CN" dirty="0"/>
              <a:t>"</a:t>
            </a:r>
            <a:r>
              <a:rPr lang="zh-CN" altLang="en-US" dirty="0"/>
              <a:t>发送一个</a:t>
            </a:r>
            <a:r>
              <a:rPr lang="en-US" altLang="zh-CN" dirty="0"/>
              <a:t>"DHCP</a:t>
            </a:r>
            <a:r>
              <a:rPr lang="zh-CN" altLang="en-US" dirty="0"/>
              <a:t>请求</a:t>
            </a:r>
            <a:r>
              <a:rPr lang="en-US" altLang="zh-CN" dirty="0"/>
              <a:t>"</a:t>
            </a:r>
            <a:r>
              <a:rPr lang="zh-CN" altLang="en-US" dirty="0"/>
              <a:t>数据包，申请</a:t>
            </a:r>
            <a:r>
              <a:rPr lang="en-US" altLang="zh-CN" dirty="0"/>
              <a:t>IP</a:t>
            </a:r>
            <a:r>
              <a:rPr lang="zh-CN" altLang="en-US" dirty="0"/>
              <a:t>地址和相关的网络参数。</a:t>
            </a:r>
            <a:endParaRPr lang="en-US" altLang="zh-CN" dirty="0"/>
          </a:p>
          <a:p>
            <a:pPr lvl="1"/>
            <a:endParaRPr lang="zh-CN" altLang="en-US" dirty="0"/>
          </a:p>
        </p:txBody>
      </p:sp>
      <p:sp>
        <p:nvSpPr>
          <p:cNvPr id="3" name="标题 2"/>
          <p:cNvSpPr>
            <a:spLocks noGrp="1"/>
          </p:cNvSpPr>
          <p:nvPr>
            <p:ph type="title"/>
          </p:nvPr>
        </p:nvSpPr>
        <p:spPr>
          <a:xfrm>
            <a:off x="323528" y="1124744"/>
            <a:ext cx="8229600" cy="703263"/>
          </a:xfrm>
        </p:spPr>
        <p:txBody>
          <a:bodyPr>
            <a:normAutofit fontScale="90000"/>
          </a:bodyPr>
          <a:lstStyle/>
          <a:p>
            <a:r>
              <a:rPr lang="zh-CN" altLang="en-US" dirty="0"/>
              <a:t>动态</a:t>
            </a:r>
            <a:r>
              <a:rPr lang="en-US" altLang="zh-CN" dirty="0"/>
              <a:t>IP</a:t>
            </a:r>
            <a:r>
              <a:rPr lang="zh-CN" altLang="en-US" dirty="0"/>
              <a:t>技术</a:t>
            </a:r>
          </a:p>
        </p:txBody>
      </p:sp>
      <p:sp>
        <p:nvSpPr>
          <p:cNvPr id="6"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5217605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50824" y="1417689"/>
            <a:ext cx="8229600" cy="703263"/>
          </a:xfrm>
        </p:spPr>
        <p:txBody>
          <a:bodyPr>
            <a:normAutofit fontScale="90000"/>
          </a:bodyPr>
          <a:lstStyle/>
          <a:p>
            <a:r>
              <a:rPr lang="zh-CN" altLang="en-US" dirty="0"/>
              <a:t>用户应用程序的网络访问</a:t>
            </a:r>
          </a:p>
        </p:txBody>
      </p:sp>
      <p:pic>
        <p:nvPicPr>
          <p:cNvPr id="3074" name="Picture 2" descr="http://image.beekka.com/blog/201206/bg20120611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4221088"/>
            <a:ext cx="4762500" cy="177165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487536" y="2420888"/>
            <a:ext cx="7992888" cy="1200329"/>
          </a:xfrm>
          <a:prstGeom prst="rect">
            <a:avLst/>
          </a:prstGeom>
        </p:spPr>
        <p:txBody>
          <a:bodyPr wrap="square">
            <a:spAutoFit/>
          </a:bodyPr>
          <a:lstStyle/>
          <a:p>
            <a:r>
              <a:rPr lang="zh-CN" altLang="en-US" sz="3600" dirty="0"/>
              <a:t>如果用户打开浏览器，想要访问</a:t>
            </a:r>
            <a:r>
              <a:rPr lang="en-US" altLang="zh-CN" sz="3600" dirty="0"/>
              <a:t>Google</a:t>
            </a:r>
            <a:r>
              <a:rPr lang="zh-CN" altLang="en-US" sz="3600" dirty="0"/>
              <a:t>，在地址栏输入了网址：</a:t>
            </a:r>
            <a:r>
              <a:rPr lang="en-US" altLang="zh-CN" sz="3600" dirty="0"/>
              <a:t>www.google.com</a:t>
            </a:r>
            <a:r>
              <a:rPr lang="zh-CN" altLang="en-US" sz="3600" dirty="0"/>
              <a:t>。</a:t>
            </a:r>
          </a:p>
        </p:txBody>
      </p:sp>
      <p:sp>
        <p:nvSpPr>
          <p:cNvPr id="5"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0530296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0824" y="1921551"/>
            <a:ext cx="8229600" cy="4525963"/>
          </a:xfrm>
        </p:spPr>
        <p:txBody>
          <a:bodyPr/>
          <a:lstStyle/>
          <a:p>
            <a:r>
              <a:rPr lang="en-US" altLang="zh-CN" dirty="0"/>
              <a:t>DNS</a:t>
            </a:r>
            <a:r>
              <a:rPr lang="zh-CN" altLang="en-US" dirty="0"/>
              <a:t>协议</a:t>
            </a:r>
            <a:endParaRPr lang="zh-CN" altLang="en-US" b="0" dirty="0"/>
          </a:p>
          <a:p>
            <a:r>
              <a:rPr lang="zh-CN" altLang="en-US" b="0" dirty="0"/>
              <a:t>我们知道，发送数据包，必须要知道对方的</a:t>
            </a:r>
            <a:r>
              <a:rPr lang="en-US" altLang="zh-CN" b="0" dirty="0"/>
              <a:t>IP</a:t>
            </a:r>
            <a:r>
              <a:rPr lang="zh-CN" altLang="en-US" b="0" dirty="0"/>
              <a:t>地址。但是，现在，我们只知道网址</a:t>
            </a:r>
            <a:r>
              <a:rPr lang="en-US" altLang="zh-CN" b="0" dirty="0"/>
              <a:t>www.google.com</a:t>
            </a:r>
            <a:r>
              <a:rPr lang="zh-CN" altLang="en-US" b="0" dirty="0"/>
              <a:t>，不知道它的</a:t>
            </a:r>
            <a:r>
              <a:rPr lang="en-US" altLang="zh-CN" b="0" dirty="0"/>
              <a:t>IP</a:t>
            </a:r>
            <a:r>
              <a:rPr lang="zh-CN" altLang="en-US" b="0" dirty="0"/>
              <a:t>地址。</a:t>
            </a:r>
          </a:p>
          <a:p>
            <a:r>
              <a:rPr lang="en-US" altLang="zh-CN" b="0" u="sng" dirty="0">
                <a:hlinkClick r:id="rId2"/>
              </a:rPr>
              <a:t>DNS</a:t>
            </a:r>
            <a:r>
              <a:rPr lang="zh-CN" altLang="en-US" b="0" u="sng" dirty="0">
                <a:hlinkClick r:id="rId2"/>
              </a:rPr>
              <a:t>协议</a:t>
            </a:r>
            <a:r>
              <a:rPr lang="zh-CN" altLang="en-US" b="0" dirty="0"/>
              <a:t>可以帮助我们，将这个网址转换成</a:t>
            </a:r>
            <a:r>
              <a:rPr lang="en-US" altLang="zh-CN" b="0" dirty="0"/>
              <a:t>IP</a:t>
            </a:r>
            <a:r>
              <a:rPr lang="zh-CN" altLang="en-US" b="0" dirty="0"/>
              <a:t>地址。已知</a:t>
            </a:r>
            <a:r>
              <a:rPr lang="en-US" altLang="zh-CN" b="0" dirty="0" err="1"/>
              <a:t>google</a:t>
            </a:r>
            <a:r>
              <a:rPr lang="zh-CN" altLang="en-US" b="0" dirty="0"/>
              <a:t>的</a:t>
            </a:r>
            <a:r>
              <a:rPr lang="en-US" altLang="zh-CN" b="0" dirty="0"/>
              <a:t>DNS</a:t>
            </a:r>
            <a:r>
              <a:rPr lang="zh-CN" altLang="en-US" b="0" dirty="0"/>
              <a:t>服务器为</a:t>
            </a:r>
            <a:r>
              <a:rPr lang="en-US" altLang="zh-CN" b="0" dirty="0"/>
              <a:t>8.8.8.8</a:t>
            </a:r>
            <a:r>
              <a:rPr lang="zh-CN" altLang="en-US" b="0" dirty="0"/>
              <a:t>，于是我们向这个地址发送一个</a:t>
            </a:r>
            <a:r>
              <a:rPr lang="en-US" altLang="zh-CN" b="0" dirty="0"/>
              <a:t>DNS</a:t>
            </a:r>
            <a:r>
              <a:rPr lang="zh-CN" altLang="en-US" b="0" dirty="0"/>
              <a:t>数据包（</a:t>
            </a:r>
            <a:r>
              <a:rPr lang="en-US" altLang="zh-CN" b="0" dirty="0"/>
              <a:t>53</a:t>
            </a:r>
            <a:r>
              <a:rPr lang="zh-CN" altLang="en-US" b="0" dirty="0"/>
              <a:t>端口）。</a:t>
            </a:r>
          </a:p>
        </p:txBody>
      </p:sp>
      <p:sp>
        <p:nvSpPr>
          <p:cNvPr id="3" name="标题 2"/>
          <p:cNvSpPr>
            <a:spLocks noGrp="1"/>
          </p:cNvSpPr>
          <p:nvPr>
            <p:ph type="title"/>
          </p:nvPr>
        </p:nvSpPr>
        <p:spPr>
          <a:xfrm>
            <a:off x="179512" y="1052736"/>
            <a:ext cx="8229600" cy="703263"/>
          </a:xfrm>
        </p:spPr>
        <p:txBody>
          <a:bodyPr>
            <a:normAutofit fontScale="90000"/>
          </a:bodyPr>
          <a:lstStyle/>
          <a:p>
            <a:r>
              <a:rPr lang="zh-CN" altLang="en-US" dirty="0"/>
              <a:t>域名和</a:t>
            </a:r>
            <a:r>
              <a:rPr lang="en-US" altLang="zh-CN" dirty="0"/>
              <a:t>IP</a:t>
            </a:r>
            <a:r>
              <a:rPr lang="zh-CN" altLang="en-US" dirty="0"/>
              <a:t>的转换</a:t>
            </a:r>
          </a:p>
        </p:txBody>
      </p:sp>
      <p:sp>
        <p:nvSpPr>
          <p:cNvPr id="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812941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50824" y="1349648"/>
            <a:ext cx="8229600" cy="703263"/>
          </a:xfrm>
        </p:spPr>
        <p:txBody>
          <a:bodyPr>
            <a:normAutofit fontScale="90000"/>
          </a:bodyPr>
          <a:lstStyle/>
          <a:p>
            <a:pPr eaLnBrk="1" hangingPunct="1"/>
            <a:r>
              <a:rPr lang="zh-CN" altLang="en-US" dirty="0"/>
              <a:t>域名和</a:t>
            </a:r>
            <a:r>
              <a:rPr lang="en-US" altLang="zh-CN" dirty="0"/>
              <a:t>IP</a:t>
            </a:r>
            <a:r>
              <a:rPr lang="zh-CN" altLang="en-US" dirty="0"/>
              <a:t>地址</a:t>
            </a:r>
          </a:p>
        </p:txBody>
      </p:sp>
      <p:sp>
        <p:nvSpPr>
          <p:cNvPr id="28675" name="Rectangle 3"/>
          <p:cNvSpPr>
            <a:spLocks noGrp="1" noChangeArrowheads="1"/>
          </p:cNvSpPr>
          <p:nvPr>
            <p:ph idx="1"/>
          </p:nvPr>
        </p:nvSpPr>
        <p:spPr>
          <a:xfrm>
            <a:off x="479424" y="2200895"/>
            <a:ext cx="7772400" cy="2592288"/>
          </a:xfrm>
        </p:spPr>
        <p:txBody>
          <a:bodyPr/>
          <a:lstStyle/>
          <a:p>
            <a:pPr eaLnBrk="1" hangingPunct="1">
              <a:lnSpc>
                <a:spcPct val="130000"/>
              </a:lnSpc>
            </a:pPr>
            <a:r>
              <a:rPr lang="en-US" altLang="zh-CN" sz="2800" dirty="0">
                <a:latin typeface="+mn-ea"/>
              </a:rPr>
              <a:t>DNS</a:t>
            </a:r>
            <a:r>
              <a:rPr lang="zh-CN" altLang="en-US" sz="2800" dirty="0">
                <a:latin typeface="+mn-ea"/>
              </a:rPr>
              <a:t>服务器</a:t>
            </a:r>
            <a:endParaRPr lang="en-US" altLang="zh-CN" sz="2800" dirty="0">
              <a:latin typeface="+mn-ea"/>
            </a:endParaRPr>
          </a:p>
          <a:p>
            <a:pPr eaLnBrk="1" hangingPunct="1">
              <a:lnSpc>
                <a:spcPct val="130000"/>
              </a:lnSpc>
            </a:pPr>
            <a:r>
              <a:rPr lang="en-US" altLang="zh-CN" sz="2800" dirty="0">
                <a:solidFill>
                  <a:srgbClr val="FF0000"/>
                </a:solidFill>
                <a:latin typeface="+mn-ea"/>
              </a:rPr>
              <a:t>DNS</a:t>
            </a:r>
            <a:r>
              <a:rPr lang="zh-CN" altLang="en-US" sz="2800" dirty="0">
                <a:solidFill>
                  <a:srgbClr val="FF0000"/>
                </a:solidFill>
                <a:latin typeface="+mn-ea"/>
              </a:rPr>
              <a:t>服务器：</a:t>
            </a:r>
            <a:r>
              <a:rPr lang="zh-CN" altLang="en-US" dirty="0">
                <a:solidFill>
                  <a:srgbClr val="FF0000"/>
                </a:solidFill>
                <a:latin typeface="+mn-ea"/>
              </a:rPr>
              <a:t>域名解析服务器</a:t>
            </a:r>
            <a:endParaRPr lang="en-US" altLang="zh-CN" dirty="0">
              <a:solidFill>
                <a:srgbClr val="FF0000"/>
              </a:solidFill>
              <a:latin typeface="+mn-ea"/>
            </a:endParaRPr>
          </a:p>
          <a:p>
            <a:pPr eaLnBrk="1" hangingPunct="1">
              <a:lnSpc>
                <a:spcPct val="130000"/>
              </a:lnSpc>
            </a:pPr>
            <a:r>
              <a:rPr lang="zh-CN" altLang="en-US" dirty="0">
                <a:solidFill>
                  <a:srgbClr val="CC6600"/>
                </a:solidFill>
                <a:latin typeface="+mn-ea"/>
              </a:rPr>
              <a:t>域名解析：将域名映射为</a:t>
            </a:r>
            <a:r>
              <a:rPr lang="en-US" altLang="zh-CN" dirty="0">
                <a:solidFill>
                  <a:srgbClr val="CC6600"/>
                </a:solidFill>
                <a:latin typeface="+mn-ea"/>
              </a:rPr>
              <a:t>IP</a:t>
            </a:r>
            <a:r>
              <a:rPr lang="zh-CN" altLang="en-US" dirty="0">
                <a:solidFill>
                  <a:srgbClr val="CC6600"/>
                </a:solidFill>
                <a:latin typeface="+mn-ea"/>
              </a:rPr>
              <a:t>地址的过程。 </a:t>
            </a:r>
          </a:p>
        </p:txBody>
      </p:sp>
      <p:sp>
        <p:nvSpPr>
          <p:cNvPr id="4" name="Text Box 60"/>
          <p:cNvSpPr txBox="1">
            <a:spLocks noChangeArrowheads="1"/>
          </p:cNvSpPr>
          <p:nvPr/>
        </p:nvSpPr>
        <p:spPr bwMode="auto">
          <a:xfrm>
            <a:off x="611560" y="4653136"/>
            <a:ext cx="2719912" cy="523220"/>
          </a:xfrm>
          <a:prstGeom prst="rect">
            <a:avLst/>
          </a:prstGeom>
          <a:noFill/>
          <a:ln w="9525">
            <a:noFill/>
            <a:miter lim="800000"/>
            <a:headEnd/>
            <a:tailEnd/>
          </a:ln>
        </p:spPr>
        <p:txBody>
          <a:bodyPr wrap="none">
            <a:spAutoFit/>
          </a:bodyPr>
          <a:lstStyle/>
          <a:p>
            <a:r>
              <a:rPr lang="en-US" altLang="zh-CN" sz="2800" dirty="0">
                <a:solidFill>
                  <a:srgbClr val="0000FF"/>
                </a:solidFill>
              </a:rPr>
              <a:t>www.baidu.com</a:t>
            </a:r>
          </a:p>
        </p:txBody>
      </p:sp>
      <p:sp>
        <p:nvSpPr>
          <p:cNvPr id="5" name="Line 61"/>
          <p:cNvSpPr>
            <a:spLocks noChangeShapeType="1"/>
          </p:cNvSpPr>
          <p:nvPr/>
        </p:nvSpPr>
        <p:spPr bwMode="auto">
          <a:xfrm flipV="1">
            <a:off x="3419873" y="4941167"/>
            <a:ext cx="432048" cy="0"/>
          </a:xfrm>
          <a:prstGeom prst="line">
            <a:avLst/>
          </a:prstGeom>
          <a:noFill/>
          <a:ln w="9525">
            <a:solidFill>
              <a:srgbClr val="FF0066"/>
            </a:solidFill>
            <a:round/>
            <a:headEnd/>
            <a:tailEnd type="triangle" w="med" len="med"/>
          </a:ln>
        </p:spPr>
        <p:txBody>
          <a:bodyPr/>
          <a:lstStyle/>
          <a:p>
            <a:endParaRPr lang="zh-CN" altLang="en-US"/>
          </a:p>
        </p:txBody>
      </p:sp>
      <p:sp>
        <p:nvSpPr>
          <p:cNvPr id="6" name="Text Box 63"/>
          <p:cNvSpPr txBox="1">
            <a:spLocks noChangeArrowheads="1"/>
          </p:cNvSpPr>
          <p:nvPr/>
        </p:nvSpPr>
        <p:spPr bwMode="auto">
          <a:xfrm>
            <a:off x="3923928" y="4797152"/>
            <a:ext cx="4934364" cy="369332"/>
          </a:xfrm>
          <a:prstGeom prst="rect">
            <a:avLst/>
          </a:prstGeom>
          <a:noFill/>
          <a:ln w="9525">
            <a:noFill/>
            <a:miter lim="800000"/>
            <a:headEnd/>
            <a:tailEnd/>
          </a:ln>
        </p:spPr>
        <p:txBody>
          <a:bodyPr wrap="none">
            <a:spAutoFit/>
          </a:bodyPr>
          <a:lstStyle/>
          <a:p>
            <a:r>
              <a:rPr lang="en-US" altLang="zh-CN" dirty="0">
                <a:solidFill>
                  <a:srgbClr val="0000FF"/>
                </a:solidFill>
              </a:rPr>
              <a:t>IP：101101010101010101010101010101010</a:t>
            </a:r>
          </a:p>
        </p:txBody>
      </p:sp>
      <p:sp>
        <p:nvSpPr>
          <p:cNvPr id="7"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41930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500"/>
                                  </p:stCondLst>
                                  <p:childTnLst>
                                    <p:set>
                                      <p:cBhvr>
                                        <p:cTn id="19" dur="1" fill="hold">
                                          <p:stCondLst>
                                            <p:cond delay="0"/>
                                          </p:stCondLst>
                                        </p:cTn>
                                        <p:tgtEl>
                                          <p:spTgt spid="5"/>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4" grpId="0"/>
      <p:bldP spid="5" grpId="0" animBg="1"/>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395536" y="1268760"/>
            <a:ext cx="7772400" cy="1555303"/>
          </a:xfrm>
        </p:spPr>
        <p:txBody>
          <a:bodyPr/>
          <a:lstStyle/>
          <a:p>
            <a:pPr eaLnBrk="1" hangingPunct="1"/>
            <a:r>
              <a:rPr lang="zh-CN" altLang="en-US" b="0" dirty="0">
                <a:solidFill>
                  <a:srgbClr val="0000FF"/>
                </a:solidFill>
              </a:rPr>
              <a:t>因特网采用分级方法管理计算机，每一级的名字叫做域。因特网使用了多级域，用域名来表示</a:t>
            </a:r>
            <a:r>
              <a:rPr lang="en-US" altLang="zh-CN" b="0" dirty="0">
                <a:solidFill>
                  <a:srgbClr val="0000FF"/>
                </a:solidFill>
              </a:rPr>
              <a:t>IP</a:t>
            </a:r>
            <a:r>
              <a:rPr lang="zh-CN" altLang="en-US" b="0" dirty="0">
                <a:solidFill>
                  <a:srgbClr val="0000FF"/>
                </a:solidFill>
              </a:rPr>
              <a:t>地址。</a:t>
            </a:r>
          </a:p>
          <a:p>
            <a:pPr eaLnBrk="1" hangingPunct="1">
              <a:buFont typeface="Wingdings" pitchFamily="2" charset="2"/>
              <a:buNone/>
            </a:pPr>
            <a:endParaRPr lang="en-US" altLang="zh-CN" b="0" dirty="0"/>
          </a:p>
        </p:txBody>
      </p:sp>
      <p:pic>
        <p:nvPicPr>
          <p:cNvPr id="4" name="Picture 5" descr="未命名"/>
          <p:cNvPicPr>
            <a:picLocks noChangeAspect="1" noChangeArrowheads="1"/>
          </p:cNvPicPr>
          <p:nvPr/>
        </p:nvPicPr>
        <p:blipFill>
          <a:blip r:embed="rId2" cstate="print"/>
          <a:srcRect l="23239" t="13342" r="2963" b="19823"/>
          <a:stretch>
            <a:fillRect/>
          </a:stretch>
        </p:blipFill>
        <p:spPr bwMode="auto">
          <a:xfrm>
            <a:off x="1187624" y="2996952"/>
            <a:ext cx="6553200" cy="2925638"/>
          </a:xfrm>
          <a:prstGeom prst="rect">
            <a:avLst/>
          </a:prstGeom>
          <a:noFill/>
          <a:ln w="9525">
            <a:noFill/>
            <a:miter lim="800000"/>
            <a:headEnd/>
            <a:tailEnd/>
          </a:ln>
        </p:spPr>
      </p:pic>
      <p:sp>
        <p:nvSpPr>
          <p:cNvPr id="5" name="标题 2"/>
          <p:cNvSpPr>
            <a:spLocks noGrp="1"/>
          </p:cNvSpPr>
          <p:nvPr>
            <p:ph type="title"/>
          </p:nvPr>
        </p:nvSpPr>
        <p:spPr/>
        <p:txBody>
          <a:bodyPr>
            <a:normAutofit fontScale="90000"/>
          </a:bodyPr>
          <a:lstStyle/>
          <a:p>
            <a:r>
              <a:rPr lang="en-US" altLang="zh-CN" b="1" dirty="0"/>
              <a:t>4.1.6 </a:t>
            </a:r>
            <a:r>
              <a:rPr lang="zh-CN" altLang="en-US" b="1" dirty="0"/>
              <a:t>互联网协议总结</a:t>
            </a:r>
            <a:endParaRPr lang="zh-CN" altLang="en-US" dirty="0"/>
          </a:p>
        </p:txBody>
      </p:sp>
      <p:sp>
        <p:nvSpPr>
          <p:cNvPr id="2" name="矩形 1">
            <a:extLst>
              <a:ext uri="{FF2B5EF4-FFF2-40B4-BE49-F238E27FC236}">
                <a16:creationId xmlns:a16="http://schemas.microsoft.com/office/drawing/2014/main" id="{5BC3BEEA-CB54-400A-B86B-65977E2D1A3B}"/>
              </a:ext>
            </a:extLst>
          </p:cNvPr>
          <p:cNvSpPr/>
          <p:nvPr/>
        </p:nvSpPr>
        <p:spPr>
          <a:xfrm>
            <a:off x="467544" y="2996952"/>
            <a:ext cx="4536504"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t>www.hfut.edu.cn</a:t>
            </a:r>
            <a:endParaRPr lang="zh-CN" altLang="en-US" sz="4000" dirty="0"/>
          </a:p>
        </p:txBody>
      </p:sp>
      <p:sp>
        <p:nvSpPr>
          <p:cNvPr id="3" name="矩形 2">
            <a:extLst>
              <a:ext uri="{FF2B5EF4-FFF2-40B4-BE49-F238E27FC236}">
                <a16:creationId xmlns:a16="http://schemas.microsoft.com/office/drawing/2014/main" id="{C0DE81F0-507B-4D22-8996-46E09C37598A}"/>
              </a:ext>
            </a:extLst>
          </p:cNvPr>
          <p:cNvSpPr/>
          <p:nvPr/>
        </p:nvSpPr>
        <p:spPr>
          <a:xfrm>
            <a:off x="4139952" y="4653136"/>
            <a:ext cx="1881856"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合肥工业大学</a:t>
            </a:r>
          </a:p>
        </p:txBody>
      </p:sp>
      <p:sp>
        <p:nvSpPr>
          <p:cNvPr id="7" name="矩形 6">
            <a:extLst>
              <a:ext uri="{FF2B5EF4-FFF2-40B4-BE49-F238E27FC236}">
                <a16:creationId xmlns:a16="http://schemas.microsoft.com/office/drawing/2014/main" id="{26458D3F-B2FD-4026-9E4C-796D5F6C281C}"/>
              </a:ext>
            </a:extLst>
          </p:cNvPr>
          <p:cNvSpPr/>
          <p:nvPr/>
        </p:nvSpPr>
        <p:spPr>
          <a:xfrm>
            <a:off x="2081975" y="5060947"/>
            <a:ext cx="39244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zh-CN" altLang="en-US" dirty="0">
                <a:solidFill>
                  <a:schemeClr val="tx1"/>
                </a:solidFill>
              </a:rPr>
              <a:t>合肥工业大学</a:t>
            </a:r>
            <a:r>
              <a:rPr lang="en-US" altLang="zh-CN" dirty="0">
                <a:solidFill>
                  <a:schemeClr val="tx1"/>
                </a:solidFill>
              </a:rPr>
              <a:t>Web</a:t>
            </a:r>
            <a:r>
              <a:rPr lang="zh-CN" altLang="en-US" dirty="0">
                <a:solidFill>
                  <a:schemeClr val="tx1"/>
                </a:solidFill>
              </a:rPr>
              <a:t>服务器</a:t>
            </a:r>
          </a:p>
        </p:txBody>
      </p:sp>
    </p:spTree>
    <p:extLst>
      <p:ext uri="{BB962C8B-B14F-4D97-AF65-F5344CB8AC3E}">
        <p14:creationId xmlns:p14="http://schemas.microsoft.com/office/powerpoint/2010/main" val="27432424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931961"/>
            <a:ext cx="8709473" cy="5472608"/>
          </a:xfrm>
        </p:spPr>
        <p:txBody>
          <a:bodyPr>
            <a:normAutofit fontScale="92500"/>
          </a:bodyPr>
          <a:lstStyle/>
          <a:p>
            <a:r>
              <a:rPr lang="zh-CN" altLang="en-US" b="0" dirty="0"/>
              <a:t>接下来，我们要判断，这个</a:t>
            </a:r>
            <a:r>
              <a:rPr lang="en-US" altLang="zh-CN" b="0" dirty="0"/>
              <a:t>IP</a:t>
            </a:r>
            <a:r>
              <a:rPr lang="zh-CN" altLang="en-US" b="0" dirty="0"/>
              <a:t>地址是不是在同一个子网络，这就要用到子网掩码。</a:t>
            </a:r>
          </a:p>
          <a:p>
            <a:r>
              <a:rPr lang="zh-CN" altLang="en-US" b="0" dirty="0"/>
              <a:t>已知子网掩码是</a:t>
            </a:r>
            <a:r>
              <a:rPr lang="en-US" altLang="zh-CN" b="0" dirty="0"/>
              <a:t>255.255.255.0</a:t>
            </a:r>
            <a:r>
              <a:rPr lang="zh-CN" altLang="en-US" b="0" dirty="0"/>
              <a:t>，本机用它对自己的</a:t>
            </a:r>
            <a:r>
              <a:rPr lang="en-US" altLang="zh-CN" b="0" dirty="0"/>
              <a:t>IP</a:t>
            </a:r>
            <a:r>
              <a:rPr lang="zh-CN" altLang="en-US" b="0" dirty="0"/>
              <a:t>地址</a:t>
            </a:r>
            <a:r>
              <a:rPr lang="en-US" altLang="zh-CN" b="0" dirty="0"/>
              <a:t>192.168.1.100</a:t>
            </a:r>
            <a:r>
              <a:rPr lang="zh-CN" altLang="en-US" b="0" dirty="0"/>
              <a:t>，做一个二进制的</a:t>
            </a:r>
            <a:r>
              <a:rPr lang="en-US" altLang="zh-CN" b="0" dirty="0"/>
              <a:t>AND</a:t>
            </a:r>
            <a:r>
              <a:rPr lang="zh-CN" altLang="en-US" b="0" dirty="0"/>
              <a:t>运算，计算结果为</a:t>
            </a:r>
            <a:r>
              <a:rPr lang="en-US" altLang="zh-CN" b="0" dirty="0"/>
              <a:t>192.168.1.0</a:t>
            </a:r>
            <a:r>
              <a:rPr lang="zh-CN" altLang="en-US" b="0" dirty="0"/>
              <a:t>；</a:t>
            </a:r>
            <a:endParaRPr lang="en-US" altLang="zh-CN" b="0" dirty="0"/>
          </a:p>
          <a:p>
            <a:r>
              <a:rPr lang="zh-CN" altLang="en-US" b="0" dirty="0"/>
              <a:t>然后对</a:t>
            </a:r>
            <a:r>
              <a:rPr lang="en-US" altLang="zh-CN" b="0" dirty="0"/>
              <a:t>Google</a:t>
            </a:r>
            <a:r>
              <a:rPr lang="zh-CN" altLang="en-US" b="0" dirty="0"/>
              <a:t>的</a:t>
            </a:r>
            <a:r>
              <a:rPr lang="en-US" altLang="zh-CN" b="0" dirty="0"/>
              <a:t>IP</a:t>
            </a:r>
            <a:r>
              <a:rPr lang="zh-CN" altLang="en-US" b="0" dirty="0"/>
              <a:t>地址</a:t>
            </a:r>
            <a:r>
              <a:rPr lang="en-US" altLang="zh-CN" b="0" dirty="0"/>
              <a:t>172.194.72.105</a:t>
            </a:r>
            <a:r>
              <a:rPr lang="zh-CN" altLang="en-US" b="0" dirty="0"/>
              <a:t>也做一个</a:t>
            </a:r>
            <a:r>
              <a:rPr lang="en-US" altLang="zh-CN" b="0" dirty="0"/>
              <a:t>AND</a:t>
            </a:r>
            <a:r>
              <a:rPr lang="zh-CN" altLang="en-US" b="0" dirty="0"/>
              <a:t>运算，计算结果为</a:t>
            </a:r>
            <a:r>
              <a:rPr lang="en-US" altLang="zh-CN" b="0" dirty="0"/>
              <a:t>172.194.72.0</a:t>
            </a:r>
            <a:r>
              <a:rPr lang="zh-CN" altLang="en-US" b="0" dirty="0"/>
              <a:t>。这两个结果不相等，所以</a:t>
            </a:r>
            <a:r>
              <a:rPr lang="en-US" altLang="zh-CN" b="0" dirty="0"/>
              <a:t>Google</a:t>
            </a:r>
            <a:r>
              <a:rPr lang="zh-CN" altLang="en-US" b="0" dirty="0"/>
              <a:t>与本机不在同一个子网络。</a:t>
            </a:r>
          </a:p>
          <a:p>
            <a:r>
              <a:rPr lang="zh-CN" altLang="en-US" b="0" dirty="0"/>
              <a:t>因此，我们要向</a:t>
            </a:r>
            <a:r>
              <a:rPr lang="en-US" altLang="zh-CN" b="0" dirty="0"/>
              <a:t>Google</a:t>
            </a:r>
            <a:r>
              <a:rPr lang="zh-CN" altLang="en-US" b="0" dirty="0"/>
              <a:t>发送数据包，必须通过网关</a:t>
            </a:r>
            <a:r>
              <a:rPr lang="en-US" altLang="zh-CN" b="0" dirty="0"/>
              <a:t>192.168.1.1</a:t>
            </a:r>
            <a:r>
              <a:rPr lang="zh-CN" altLang="en-US" b="0" dirty="0"/>
              <a:t>转发，也就是说，接收方的</a:t>
            </a:r>
            <a:r>
              <a:rPr lang="en-US" altLang="zh-CN" b="0" dirty="0"/>
              <a:t>MAC</a:t>
            </a:r>
            <a:r>
              <a:rPr lang="zh-CN" altLang="en-US" b="0" dirty="0"/>
              <a:t>地址将是网关的</a:t>
            </a:r>
            <a:r>
              <a:rPr lang="en-US" altLang="zh-CN" b="0" dirty="0"/>
              <a:t>MAC</a:t>
            </a:r>
            <a:r>
              <a:rPr lang="zh-CN" altLang="en-US" b="0" dirty="0"/>
              <a:t>地址。</a:t>
            </a:r>
          </a:p>
          <a:p>
            <a:endParaRPr lang="zh-CN" altLang="en-US" dirty="0"/>
          </a:p>
        </p:txBody>
      </p:sp>
      <p:sp>
        <p:nvSpPr>
          <p:cNvPr id="5" name="标题 2"/>
          <p:cNvSpPr>
            <a:spLocks noGrp="1"/>
          </p:cNvSpPr>
          <p:nvPr>
            <p:ph type="title"/>
          </p:nvPr>
        </p:nvSpPr>
        <p:spPr/>
        <p:txBody>
          <a:bodyPr>
            <a:normAutofit fontScale="90000"/>
          </a:bodyPr>
          <a:lstStyle/>
          <a:p>
            <a:r>
              <a:rPr lang="en-US" altLang="zh-CN" b="1" dirty="0"/>
              <a:t>4.1.6 </a:t>
            </a:r>
            <a:r>
              <a:rPr lang="zh-CN" altLang="en-US" b="1" dirty="0"/>
              <a:t>互联网协议总结</a:t>
            </a:r>
            <a:endParaRPr lang="zh-CN" altLang="en-US" dirty="0"/>
          </a:p>
        </p:txBody>
      </p:sp>
    </p:spTree>
    <p:extLst>
      <p:ext uri="{BB962C8B-B14F-4D97-AF65-F5344CB8AC3E}">
        <p14:creationId xmlns:p14="http://schemas.microsoft.com/office/powerpoint/2010/main" val="4020477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0824" y="1700808"/>
            <a:ext cx="8229600" cy="864096"/>
          </a:xfrm>
        </p:spPr>
        <p:txBody>
          <a:bodyPr/>
          <a:lstStyle/>
          <a:p>
            <a:r>
              <a:rPr lang="en-US" altLang="zh-CN" b="0" dirty="0"/>
              <a:t>HTTP</a:t>
            </a:r>
            <a:r>
              <a:rPr lang="zh-CN" altLang="en-US" b="0" dirty="0"/>
              <a:t>部分的内容，类似于下面这样</a:t>
            </a:r>
          </a:p>
        </p:txBody>
      </p:sp>
      <p:sp>
        <p:nvSpPr>
          <p:cNvPr id="3" name="标题 2"/>
          <p:cNvSpPr>
            <a:spLocks noGrp="1"/>
          </p:cNvSpPr>
          <p:nvPr>
            <p:ph type="title"/>
          </p:nvPr>
        </p:nvSpPr>
        <p:spPr>
          <a:xfrm>
            <a:off x="250824" y="1059972"/>
            <a:ext cx="8229600" cy="703263"/>
          </a:xfrm>
        </p:spPr>
        <p:txBody>
          <a:bodyPr>
            <a:normAutofit fontScale="90000"/>
          </a:bodyPr>
          <a:lstStyle/>
          <a:p>
            <a:r>
              <a:rPr lang="zh-CN" altLang="en-US" dirty="0"/>
              <a:t>确定了</a:t>
            </a:r>
            <a:r>
              <a:rPr lang="en-US" altLang="zh-CN" dirty="0"/>
              <a:t>IP</a:t>
            </a:r>
            <a:r>
              <a:rPr lang="zh-CN" altLang="en-US" dirty="0"/>
              <a:t>，要发送什么数据</a:t>
            </a:r>
          </a:p>
        </p:txBody>
      </p:sp>
      <p:sp>
        <p:nvSpPr>
          <p:cNvPr id="4" name="矩形 3"/>
          <p:cNvSpPr/>
          <p:nvPr/>
        </p:nvSpPr>
        <p:spPr>
          <a:xfrm>
            <a:off x="0" y="2275700"/>
            <a:ext cx="10009112" cy="3416320"/>
          </a:xfrm>
          <a:prstGeom prst="rect">
            <a:avLst/>
          </a:prstGeom>
        </p:spPr>
        <p:txBody>
          <a:bodyPr wrap="square">
            <a:spAutoFit/>
          </a:bodyPr>
          <a:lstStyle/>
          <a:p>
            <a:r>
              <a:rPr lang="zh-CN" altLang="en-US" sz="2400" dirty="0"/>
              <a:t>　　</a:t>
            </a:r>
            <a:r>
              <a:rPr lang="en-US" altLang="zh-CN" sz="2400" dirty="0"/>
              <a:t>GET / HTTP/1.1</a:t>
            </a:r>
            <a:br>
              <a:rPr lang="en-US" altLang="zh-CN" sz="2400" dirty="0"/>
            </a:br>
            <a:r>
              <a:rPr lang="zh-CN" altLang="en-US" sz="2400" dirty="0"/>
              <a:t>　　</a:t>
            </a:r>
            <a:r>
              <a:rPr lang="en-US" altLang="zh-CN" sz="2400" dirty="0"/>
              <a:t>Host: www.google.com</a:t>
            </a:r>
            <a:br>
              <a:rPr lang="en-US" altLang="zh-CN" sz="2400" dirty="0"/>
            </a:br>
            <a:r>
              <a:rPr lang="zh-CN" altLang="en-US" sz="2400" dirty="0"/>
              <a:t>　　</a:t>
            </a:r>
            <a:r>
              <a:rPr lang="en-US" altLang="zh-CN" sz="2400" dirty="0"/>
              <a:t>Connection: keep-alive</a:t>
            </a:r>
            <a:br>
              <a:rPr lang="en-US" altLang="zh-CN" sz="2400" dirty="0"/>
            </a:br>
            <a:r>
              <a:rPr lang="zh-CN" altLang="en-US" sz="2400" dirty="0"/>
              <a:t>　　</a:t>
            </a:r>
            <a:r>
              <a:rPr lang="en-US" altLang="zh-CN" sz="2400" dirty="0"/>
              <a:t>User-Agent: Mozilla/5.0 (Windows NT 6.1) ......</a:t>
            </a:r>
            <a:br>
              <a:rPr lang="en-US" altLang="zh-CN" sz="2400" dirty="0"/>
            </a:br>
            <a:r>
              <a:rPr lang="zh-CN" altLang="en-US" sz="2400" dirty="0"/>
              <a:t>　　</a:t>
            </a:r>
            <a:r>
              <a:rPr lang="en-US" altLang="zh-CN" sz="2400" dirty="0"/>
              <a:t>Accept: text/</a:t>
            </a:r>
            <a:r>
              <a:rPr lang="en-US" altLang="zh-CN" sz="2400" dirty="0" err="1"/>
              <a:t>html,application</a:t>
            </a:r>
            <a:r>
              <a:rPr lang="en-US" altLang="zh-CN" sz="2400" dirty="0"/>
              <a:t>/</a:t>
            </a:r>
            <a:r>
              <a:rPr lang="en-US" altLang="zh-CN" sz="2400" dirty="0" err="1"/>
              <a:t>xhtml+xml,application</a:t>
            </a:r>
            <a:r>
              <a:rPr lang="en-US" altLang="zh-CN" sz="2400" dirty="0"/>
              <a:t>/xml;</a:t>
            </a:r>
          </a:p>
          <a:p>
            <a:r>
              <a:rPr lang="en-US" altLang="zh-CN" sz="2400" dirty="0"/>
              <a:t>	q=0.9,*/*;q=0.8</a:t>
            </a:r>
            <a:br>
              <a:rPr lang="en-US" altLang="zh-CN" sz="2400" dirty="0"/>
            </a:br>
            <a:r>
              <a:rPr lang="zh-CN" altLang="en-US" sz="2400" dirty="0"/>
              <a:t>　　</a:t>
            </a:r>
            <a:r>
              <a:rPr lang="en-US" altLang="zh-CN" sz="2400" dirty="0"/>
              <a:t>Accept-Encoding: </a:t>
            </a:r>
            <a:r>
              <a:rPr lang="en-US" altLang="zh-CN" sz="2400" dirty="0" err="1"/>
              <a:t>gzip,deflate,sdch</a:t>
            </a:r>
            <a:br>
              <a:rPr lang="en-US" altLang="zh-CN" sz="2400" dirty="0"/>
            </a:br>
            <a:r>
              <a:rPr lang="zh-CN" altLang="en-US" sz="2400" dirty="0"/>
              <a:t>　　</a:t>
            </a:r>
            <a:r>
              <a:rPr lang="en-US" altLang="zh-CN" sz="2400" dirty="0"/>
              <a:t>Accept-Language: </a:t>
            </a:r>
            <a:r>
              <a:rPr lang="en-US" altLang="zh-CN" sz="2400" dirty="0" err="1"/>
              <a:t>zh-CN,zh;q</a:t>
            </a:r>
            <a:r>
              <a:rPr lang="en-US" altLang="zh-CN" sz="2400" dirty="0"/>
              <a:t>=0.8</a:t>
            </a:r>
            <a:br>
              <a:rPr lang="en-US" altLang="zh-CN" sz="2400" dirty="0"/>
            </a:br>
            <a:r>
              <a:rPr lang="zh-CN" altLang="en-US" sz="2400" dirty="0"/>
              <a:t>　　</a:t>
            </a:r>
            <a:r>
              <a:rPr lang="en-US" altLang="zh-CN" sz="2400" dirty="0"/>
              <a:t>Accept-Charset: GBK,utf-8;q=0.7,*;q=0.3</a:t>
            </a:r>
            <a:endParaRPr lang="zh-CN" altLang="en-US" sz="2400" dirty="0"/>
          </a:p>
        </p:txBody>
      </p:sp>
      <p:sp>
        <p:nvSpPr>
          <p:cNvPr id="5" name="内容占位符 1"/>
          <p:cNvSpPr txBox="1">
            <a:spLocks/>
          </p:cNvSpPr>
          <p:nvPr/>
        </p:nvSpPr>
        <p:spPr>
          <a:xfrm>
            <a:off x="250849" y="5692020"/>
            <a:ext cx="8229600" cy="8640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b="0" dirty="0"/>
              <a:t>HTTP</a:t>
            </a:r>
            <a:r>
              <a:rPr lang="zh-CN" altLang="en-US" b="0" dirty="0"/>
              <a:t>数据采用</a:t>
            </a:r>
            <a:r>
              <a:rPr lang="en-US" altLang="zh-CN" b="0" dirty="0"/>
              <a:t>TCP</a:t>
            </a:r>
            <a:r>
              <a:rPr lang="zh-CN" altLang="en-US" b="0" dirty="0"/>
              <a:t>进行传输，假定长度</a:t>
            </a:r>
            <a:r>
              <a:rPr lang="en-US" altLang="zh-CN" b="0" dirty="0"/>
              <a:t>X</a:t>
            </a:r>
            <a:endParaRPr lang="zh-CN" altLang="en-US" b="0" dirty="0"/>
          </a:p>
        </p:txBody>
      </p:sp>
      <p:sp>
        <p:nvSpPr>
          <p:cNvPr id="6"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6265642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988840"/>
            <a:ext cx="8568952" cy="3600400"/>
          </a:xfrm>
        </p:spPr>
        <p:txBody>
          <a:bodyPr>
            <a:normAutofit/>
          </a:bodyPr>
          <a:lstStyle/>
          <a:p>
            <a:r>
              <a:rPr lang="zh-CN" altLang="en-US" b="0" dirty="0"/>
              <a:t>端口，接收方（</a:t>
            </a:r>
            <a:r>
              <a:rPr lang="en-US" altLang="zh-CN" b="0" dirty="0"/>
              <a:t>Google</a:t>
            </a:r>
            <a:r>
              <a:rPr lang="zh-CN" altLang="en-US" b="0" dirty="0"/>
              <a:t>）的</a:t>
            </a:r>
            <a:r>
              <a:rPr lang="en-US" altLang="zh-CN" b="0" dirty="0"/>
              <a:t>HTTP</a:t>
            </a:r>
            <a:r>
              <a:rPr lang="zh-CN" altLang="en-US" b="0" dirty="0"/>
              <a:t>端口默认是</a:t>
            </a:r>
            <a:r>
              <a:rPr lang="en-US" altLang="zh-CN" b="0" dirty="0"/>
              <a:t>80</a:t>
            </a:r>
          </a:p>
          <a:p>
            <a:r>
              <a:rPr lang="zh-CN" altLang="en-US" b="0" dirty="0"/>
              <a:t>端口：发送方（本机）的端口是一个随机生成的</a:t>
            </a:r>
            <a:r>
              <a:rPr lang="en-US" altLang="zh-CN" b="0" dirty="0"/>
              <a:t>1024-65535</a:t>
            </a:r>
            <a:r>
              <a:rPr lang="zh-CN" altLang="en-US" b="0" dirty="0"/>
              <a:t>之间的整数</a:t>
            </a:r>
            <a:endParaRPr lang="en-US" altLang="zh-CN" b="0" dirty="0"/>
          </a:p>
          <a:p>
            <a:r>
              <a:rPr lang="en-US" altLang="zh-CN" b="0" dirty="0"/>
              <a:t>TCP</a:t>
            </a:r>
            <a:r>
              <a:rPr lang="zh-CN" altLang="en-US" b="0" dirty="0"/>
              <a:t>数据包的标头长度为</a:t>
            </a:r>
            <a:r>
              <a:rPr lang="en-US" altLang="zh-CN" b="0" dirty="0"/>
              <a:t>20</a:t>
            </a:r>
            <a:r>
              <a:rPr lang="zh-CN" altLang="en-US" b="0" dirty="0"/>
              <a:t>字节，整个数据包的长度为</a:t>
            </a:r>
            <a:r>
              <a:rPr lang="en-US" altLang="zh-CN" b="0" dirty="0"/>
              <a:t>20+X</a:t>
            </a:r>
            <a:endParaRPr lang="zh-CN" altLang="en-US" b="0" dirty="0"/>
          </a:p>
        </p:txBody>
      </p:sp>
      <p:sp>
        <p:nvSpPr>
          <p:cNvPr id="3" name="标题 2"/>
          <p:cNvSpPr>
            <a:spLocks noGrp="1"/>
          </p:cNvSpPr>
          <p:nvPr>
            <p:ph type="title"/>
          </p:nvPr>
        </p:nvSpPr>
        <p:spPr>
          <a:xfrm>
            <a:off x="395536" y="1196752"/>
            <a:ext cx="8229600" cy="703263"/>
          </a:xfrm>
        </p:spPr>
        <p:txBody>
          <a:bodyPr>
            <a:normAutofit fontScale="90000"/>
          </a:bodyPr>
          <a:lstStyle/>
          <a:p>
            <a:r>
              <a:rPr lang="en-US" altLang="zh-CN" dirty="0"/>
              <a:t>TCP</a:t>
            </a:r>
            <a:r>
              <a:rPr lang="zh-CN" altLang="en-US" dirty="0"/>
              <a:t>数据包</a:t>
            </a:r>
          </a:p>
        </p:txBody>
      </p:sp>
      <p:sp>
        <p:nvSpPr>
          <p:cNvPr id="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0826365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2132856"/>
            <a:ext cx="8229600" cy="3456384"/>
          </a:xfrm>
        </p:spPr>
        <p:txBody>
          <a:bodyPr/>
          <a:lstStyle/>
          <a:p>
            <a:r>
              <a:rPr lang="en-US" altLang="zh-CN" b="0" dirty="0"/>
              <a:t>TCP</a:t>
            </a:r>
            <a:r>
              <a:rPr lang="zh-CN" altLang="en-US" b="0" dirty="0"/>
              <a:t>数据包嵌入</a:t>
            </a:r>
            <a:r>
              <a:rPr lang="en-US" altLang="zh-CN" b="0" dirty="0"/>
              <a:t>IP</a:t>
            </a:r>
            <a:r>
              <a:rPr lang="zh-CN" altLang="en-US" b="0" dirty="0"/>
              <a:t>数据包。</a:t>
            </a:r>
            <a:r>
              <a:rPr lang="en-US" altLang="zh-CN" b="0" dirty="0"/>
              <a:t>IP</a:t>
            </a:r>
            <a:r>
              <a:rPr lang="zh-CN" altLang="en-US" b="0" dirty="0"/>
              <a:t>数据包需要设置双方的</a:t>
            </a:r>
            <a:r>
              <a:rPr lang="en-US" altLang="zh-CN" b="0" dirty="0"/>
              <a:t>IP</a:t>
            </a:r>
            <a:r>
              <a:rPr lang="zh-CN" altLang="en-US" b="0" dirty="0"/>
              <a:t>地址，这是已知的，发送方是</a:t>
            </a:r>
            <a:r>
              <a:rPr lang="en-US" altLang="zh-CN" b="0" dirty="0"/>
              <a:t>192.168.1.100</a:t>
            </a:r>
            <a:r>
              <a:rPr lang="zh-CN" altLang="en-US" b="0" dirty="0"/>
              <a:t>（本机），接收方是</a:t>
            </a:r>
            <a:r>
              <a:rPr lang="en-US" altLang="zh-CN" b="0" dirty="0"/>
              <a:t>172.194.72.105</a:t>
            </a:r>
            <a:r>
              <a:rPr lang="zh-CN" altLang="en-US" b="0" dirty="0"/>
              <a:t>（</a:t>
            </a:r>
            <a:r>
              <a:rPr lang="en-US" altLang="zh-CN" b="0" dirty="0"/>
              <a:t>Google</a:t>
            </a:r>
            <a:r>
              <a:rPr lang="zh-CN" altLang="en-US" b="0" dirty="0"/>
              <a:t>）。</a:t>
            </a:r>
          </a:p>
          <a:p>
            <a:r>
              <a:rPr lang="en-US" altLang="zh-CN" b="0" dirty="0"/>
              <a:t>IP</a:t>
            </a:r>
            <a:r>
              <a:rPr lang="zh-CN" altLang="en-US" b="0" dirty="0"/>
              <a:t>数据包的标头长度为</a:t>
            </a:r>
            <a:r>
              <a:rPr lang="en-US" altLang="zh-CN" b="0" dirty="0"/>
              <a:t>20</a:t>
            </a:r>
            <a:r>
              <a:rPr lang="zh-CN" altLang="en-US" b="0" dirty="0"/>
              <a:t>字节，加上嵌入的</a:t>
            </a:r>
            <a:r>
              <a:rPr lang="en-US" altLang="zh-CN" b="0" dirty="0"/>
              <a:t>TCP</a:t>
            </a:r>
            <a:r>
              <a:rPr lang="zh-CN" altLang="en-US" b="0" dirty="0"/>
              <a:t>数据包，总长度变为</a:t>
            </a:r>
            <a:r>
              <a:rPr lang="en-US" altLang="zh-CN" b="0" dirty="0"/>
              <a:t>40+X</a:t>
            </a:r>
            <a:r>
              <a:rPr lang="zh-CN" altLang="en-US" b="0" dirty="0"/>
              <a:t>字节。</a:t>
            </a:r>
          </a:p>
          <a:p>
            <a:endParaRPr lang="zh-CN" altLang="en-US" dirty="0"/>
          </a:p>
        </p:txBody>
      </p:sp>
      <p:sp>
        <p:nvSpPr>
          <p:cNvPr id="3" name="标题 2"/>
          <p:cNvSpPr>
            <a:spLocks noGrp="1"/>
          </p:cNvSpPr>
          <p:nvPr>
            <p:ph type="title"/>
          </p:nvPr>
        </p:nvSpPr>
        <p:spPr>
          <a:xfrm>
            <a:off x="265732" y="1340768"/>
            <a:ext cx="8229600" cy="703263"/>
          </a:xfrm>
        </p:spPr>
        <p:txBody>
          <a:bodyPr>
            <a:normAutofit fontScale="90000"/>
          </a:bodyPr>
          <a:lstStyle/>
          <a:p>
            <a:r>
              <a:rPr lang="en-US" altLang="zh-CN" dirty="0"/>
              <a:t>IP</a:t>
            </a:r>
            <a:r>
              <a:rPr lang="zh-CN" altLang="en-US" dirty="0"/>
              <a:t>数据包</a:t>
            </a:r>
          </a:p>
        </p:txBody>
      </p:sp>
      <p:sp>
        <p:nvSpPr>
          <p:cNvPr id="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0965076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2132856"/>
            <a:ext cx="8229600" cy="3744416"/>
          </a:xfrm>
        </p:spPr>
        <p:txBody>
          <a:bodyPr/>
          <a:lstStyle/>
          <a:p>
            <a:r>
              <a:rPr lang="zh-CN" altLang="en-US" b="0" dirty="0"/>
              <a:t>最后，</a:t>
            </a:r>
            <a:r>
              <a:rPr lang="en-US" altLang="zh-CN" b="0" dirty="0"/>
              <a:t>IP</a:t>
            </a:r>
            <a:r>
              <a:rPr lang="zh-CN" altLang="en-US" b="0" dirty="0"/>
              <a:t>数据包嵌入以太网数据包。以太网数据包需要设置双方的</a:t>
            </a:r>
            <a:r>
              <a:rPr lang="en-US" altLang="zh-CN" b="0" dirty="0"/>
              <a:t>MAC</a:t>
            </a:r>
            <a:r>
              <a:rPr lang="zh-CN" altLang="en-US" b="0" dirty="0"/>
              <a:t>地址，发送方为本机的网卡</a:t>
            </a:r>
            <a:r>
              <a:rPr lang="en-US" altLang="zh-CN" b="0" dirty="0"/>
              <a:t>MAC</a:t>
            </a:r>
            <a:r>
              <a:rPr lang="zh-CN" altLang="en-US" b="0" dirty="0"/>
              <a:t>地址，接收方为网关</a:t>
            </a:r>
            <a:r>
              <a:rPr lang="en-US" altLang="zh-CN" b="0" dirty="0"/>
              <a:t>192.168.1.1</a:t>
            </a:r>
            <a:r>
              <a:rPr lang="zh-CN" altLang="en-US" b="0" dirty="0"/>
              <a:t>的</a:t>
            </a:r>
            <a:r>
              <a:rPr lang="en-US" altLang="zh-CN" b="0" dirty="0"/>
              <a:t>MAC</a:t>
            </a:r>
            <a:r>
              <a:rPr lang="zh-CN" altLang="en-US" b="0" dirty="0"/>
              <a:t>地址</a:t>
            </a:r>
            <a:endParaRPr lang="en-US" altLang="zh-CN" b="0" dirty="0"/>
          </a:p>
          <a:p>
            <a:r>
              <a:rPr lang="zh-CN" altLang="en-US" b="0" dirty="0"/>
              <a:t>以太网数据包的数据部分，最大长度为</a:t>
            </a:r>
            <a:r>
              <a:rPr lang="en-US" altLang="zh-CN" b="0" dirty="0"/>
              <a:t>1500</a:t>
            </a:r>
            <a:r>
              <a:rPr lang="zh-CN" altLang="en-US" b="0" dirty="0"/>
              <a:t>字节。假设</a:t>
            </a:r>
            <a:r>
              <a:rPr lang="en-US" altLang="zh-CN" b="0" dirty="0"/>
              <a:t>X= 4800</a:t>
            </a:r>
            <a:r>
              <a:rPr lang="zh-CN" altLang="en-US" b="0" dirty="0"/>
              <a:t>，则数据分成</a:t>
            </a:r>
            <a:r>
              <a:rPr lang="en-US" altLang="zh-CN" b="0" dirty="0"/>
              <a:t>4</a:t>
            </a:r>
            <a:r>
              <a:rPr lang="zh-CN" altLang="en-US" b="0" dirty="0"/>
              <a:t>块传输，长度分别为</a:t>
            </a:r>
            <a:r>
              <a:rPr lang="en-US" altLang="zh-CN" b="0" dirty="0"/>
              <a:t>1500,1500,1500,340</a:t>
            </a:r>
            <a:endParaRPr lang="zh-CN" altLang="en-US" b="0" dirty="0"/>
          </a:p>
          <a:p>
            <a:endParaRPr lang="zh-CN" altLang="en-US" dirty="0"/>
          </a:p>
        </p:txBody>
      </p:sp>
      <p:sp>
        <p:nvSpPr>
          <p:cNvPr id="3" name="标题 2"/>
          <p:cNvSpPr>
            <a:spLocks noGrp="1"/>
          </p:cNvSpPr>
          <p:nvPr>
            <p:ph type="title"/>
          </p:nvPr>
        </p:nvSpPr>
        <p:spPr>
          <a:xfrm>
            <a:off x="251520" y="1268760"/>
            <a:ext cx="8229600" cy="703263"/>
          </a:xfrm>
        </p:spPr>
        <p:txBody>
          <a:bodyPr>
            <a:normAutofit fontScale="90000"/>
          </a:bodyPr>
          <a:lstStyle/>
          <a:p>
            <a:r>
              <a:rPr lang="zh-CN" altLang="en-US" dirty="0"/>
              <a:t>以太网数据包</a:t>
            </a:r>
          </a:p>
        </p:txBody>
      </p:sp>
      <p:sp>
        <p:nvSpPr>
          <p:cNvPr id="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42777319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37702" y="2780928"/>
            <a:ext cx="8229600" cy="3168352"/>
          </a:xfrm>
        </p:spPr>
        <p:txBody>
          <a:bodyPr/>
          <a:lstStyle/>
          <a:p>
            <a:r>
              <a:rPr lang="zh-CN" altLang="en-US" b="0" dirty="0"/>
              <a:t>经过多个网关的转发，</a:t>
            </a:r>
            <a:r>
              <a:rPr lang="en-US" altLang="zh-CN" b="0" dirty="0"/>
              <a:t>Google</a:t>
            </a:r>
            <a:r>
              <a:rPr lang="zh-CN" altLang="en-US" b="0" dirty="0"/>
              <a:t>的服务器</a:t>
            </a:r>
            <a:r>
              <a:rPr lang="en-US" altLang="zh-CN" b="0" dirty="0"/>
              <a:t>172.194.72.105</a:t>
            </a:r>
            <a:r>
              <a:rPr lang="zh-CN" altLang="en-US" b="0" dirty="0"/>
              <a:t>，收到了这四个以太网数据包。</a:t>
            </a:r>
          </a:p>
          <a:p>
            <a:r>
              <a:rPr lang="en-US" altLang="zh-CN" b="0" dirty="0"/>
              <a:t>Google</a:t>
            </a:r>
            <a:r>
              <a:rPr lang="zh-CN" altLang="en-US" b="0" dirty="0"/>
              <a:t>将四个包拼起来，取出完整的</a:t>
            </a:r>
            <a:r>
              <a:rPr lang="en-US" altLang="zh-CN" b="0" dirty="0"/>
              <a:t>TCP</a:t>
            </a:r>
            <a:r>
              <a:rPr lang="zh-CN" altLang="en-US" b="0" dirty="0"/>
              <a:t>数据包，然后读出里面的</a:t>
            </a:r>
            <a:r>
              <a:rPr lang="en-US" altLang="zh-CN" b="0" dirty="0"/>
              <a:t>"HTTP</a:t>
            </a:r>
            <a:r>
              <a:rPr lang="zh-CN" altLang="en-US" b="0" dirty="0"/>
              <a:t>请求</a:t>
            </a:r>
            <a:r>
              <a:rPr lang="en-US" altLang="zh-CN" b="0" dirty="0"/>
              <a:t>"</a:t>
            </a:r>
            <a:r>
              <a:rPr lang="zh-CN" altLang="en-US" b="0" dirty="0"/>
              <a:t>，接着做出</a:t>
            </a:r>
            <a:r>
              <a:rPr lang="en-US" altLang="zh-CN" b="0" dirty="0"/>
              <a:t>"HTTP</a:t>
            </a:r>
            <a:r>
              <a:rPr lang="zh-CN" altLang="en-US" b="0" dirty="0"/>
              <a:t>响应</a:t>
            </a:r>
            <a:r>
              <a:rPr lang="en-US" altLang="zh-CN" b="0" dirty="0"/>
              <a:t>"</a:t>
            </a:r>
            <a:r>
              <a:rPr lang="zh-CN" altLang="en-US" b="0" dirty="0"/>
              <a:t>，再用</a:t>
            </a:r>
            <a:r>
              <a:rPr lang="en-US" altLang="zh-CN" b="0" dirty="0"/>
              <a:t>TCP</a:t>
            </a:r>
            <a:r>
              <a:rPr lang="zh-CN" altLang="en-US" b="0" dirty="0"/>
              <a:t>协议发回来。</a:t>
            </a:r>
          </a:p>
          <a:p>
            <a:endParaRPr lang="zh-CN" altLang="en-US" dirty="0"/>
          </a:p>
        </p:txBody>
      </p:sp>
      <p:sp>
        <p:nvSpPr>
          <p:cNvPr id="3" name="标题 2"/>
          <p:cNvSpPr>
            <a:spLocks noGrp="1"/>
          </p:cNvSpPr>
          <p:nvPr>
            <p:ph type="title"/>
          </p:nvPr>
        </p:nvSpPr>
        <p:spPr>
          <a:xfrm>
            <a:off x="263449" y="1484784"/>
            <a:ext cx="8229600" cy="703263"/>
          </a:xfrm>
        </p:spPr>
        <p:txBody>
          <a:bodyPr>
            <a:normAutofit fontScale="90000"/>
          </a:bodyPr>
          <a:lstStyle/>
          <a:p>
            <a:r>
              <a:rPr lang="en-US" altLang="zh-CN" dirty="0"/>
              <a:t>Google</a:t>
            </a:r>
            <a:r>
              <a:rPr lang="zh-CN" altLang="en-US" dirty="0"/>
              <a:t>服务器的响应</a:t>
            </a:r>
          </a:p>
        </p:txBody>
      </p:sp>
      <p:sp>
        <p:nvSpPr>
          <p:cNvPr id="4"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0526969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147638" y="1133202"/>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0582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2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29"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5830"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5831"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5832"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5833"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5834"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35"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36"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37"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3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39"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5840"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5841"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5842"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5843"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5844"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45"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46"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47"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48"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0584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50"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0585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52"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05853" name="AutoShape 29"/>
          <p:cNvSpPr>
            <a:spLocks noChangeArrowheads="1"/>
          </p:cNvSpPr>
          <p:nvPr/>
        </p:nvSpPr>
        <p:spPr bwMode="auto">
          <a:xfrm flipV="1">
            <a:off x="654050" y="2835275"/>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05854"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05855" name="Text Box 31"/>
          <p:cNvSpPr txBox="1">
            <a:spLocks noChangeArrowheads="1"/>
          </p:cNvSpPr>
          <p:nvPr/>
        </p:nvSpPr>
        <p:spPr bwMode="auto">
          <a:xfrm>
            <a:off x="1619250" y="2349500"/>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应用进程数据先传送到应用层</a:t>
            </a:r>
          </a:p>
        </p:txBody>
      </p:sp>
      <p:sp>
        <p:nvSpPr>
          <p:cNvPr id="205856" name="Text Box 32"/>
          <p:cNvSpPr txBox="1">
            <a:spLocks noChangeArrowheads="1"/>
          </p:cNvSpPr>
          <p:nvPr/>
        </p:nvSpPr>
        <p:spPr bwMode="auto">
          <a:xfrm>
            <a:off x="1619250" y="2919413"/>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加上应用层首部，成为应用层</a:t>
            </a:r>
            <a:r>
              <a:rPr lang="zh-CN" altLang="en-US" sz="1600">
                <a:solidFill>
                  <a:srgbClr val="333399"/>
                </a:solidFill>
                <a:latin typeface="Arial" charset="0"/>
                <a:ea typeface="黑体" pitchFamily="49" charset="-122"/>
              </a:rPr>
              <a:t> </a:t>
            </a:r>
            <a:r>
              <a:rPr lang="en-US" altLang="zh-CN">
                <a:solidFill>
                  <a:srgbClr val="333399"/>
                </a:solidFill>
                <a:latin typeface="Arial" charset="0"/>
                <a:ea typeface="黑体" pitchFamily="49" charset="-122"/>
              </a:rPr>
              <a:t>PDU</a:t>
            </a:r>
          </a:p>
        </p:txBody>
      </p:sp>
      <p:sp>
        <p:nvSpPr>
          <p:cNvPr id="3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499366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85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205853"/>
                                        </p:tgtEl>
                                        <p:attrNameLst>
                                          <p:attrName>style.visibility</p:attrName>
                                        </p:attrNameLst>
                                      </p:cBhvr>
                                      <p:to>
                                        <p:strVal val="visible"/>
                                      </p:to>
                                    </p:set>
                                    <p:animEffect transition="in" filter="wipe(up)">
                                      <p:cBhvr>
                                        <p:cTn id="10" dur="1000"/>
                                        <p:tgtEl>
                                          <p:spTgt spid="205853"/>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2058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53" grpId="0" animBg="1"/>
      <p:bldP spid="205855" grpId="0"/>
      <p:bldP spid="20585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147638" y="1191418"/>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0787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7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7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787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787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788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788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7882"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3"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4"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5"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788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788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789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789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7892"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3"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4"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5"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6"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0789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0789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90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07901" name="AutoShape 29"/>
          <p:cNvSpPr>
            <a:spLocks noChangeArrowheads="1"/>
          </p:cNvSpPr>
          <p:nvPr/>
        </p:nvSpPr>
        <p:spPr bwMode="auto">
          <a:xfrm flipV="1">
            <a:off x="654050" y="3354388"/>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07902"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07903" name="Text Box 31"/>
          <p:cNvSpPr txBox="1">
            <a:spLocks noChangeArrowheads="1"/>
          </p:cNvSpPr>
          <p:nvPr/>
        </p:nvSpPr>
        <p:spPr bwMode="auto">
          <a:xfrm>
            <a:off x="1619250" y="3068638"/>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dirty="0">
                <a:solidFill>
                  <a:srgbClr val="333399"/>
                </a:solidFill>
                <a:latin typeface="Arial" charset="0"/>
                <a:ea typeface="黑体" pitchFamily="49" charset="-122"/>
              </a:rPr>
              <a:t>应用层数据再传送到传输层</a:t>
            </a:r>
          </a:p>
        </p:txBody>
      </p:sp>
      <p:sp>
        <p:nvSpPr>
          <p:cNvPr id="207904" name="Text Box 32"/>
          <p:cNvSpPr txBox="1">
            <a:spLocks noChangeArrowheads="1"/>
          </p:cNvSpPr>
          <p:nvPr/>
        </p:nvSpPr>
        <p:spPr bwMode="auto">
          <a:xfrm>
            <a:off x="1619250" y="3600450"/>
            <a:ext cx="48013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dirty="0">
                <a:solidFill>
                  <a:srgbClr val="333399"/>
                </a:solidFill>
                <a:latin typeface="Arial" charset="0"/>
                <a:ea typeface="黑体" pitchFamily="49" charset="-122"/>
              </a:rPr>
              <a:t>加上传输层首部，成为传输层报文</a:t>
            </a:r>
            <a:endParaRPr lang="zh-CN" altLang="en-US" sz="3600" dirty="0">
              <a:solidFill>
                <a:srgbClr val="333399"/>
              </a:solidFill>
              <a:latin typeface="Arial" charset="0"/>
              <a:ea typeface="黑体" pitchFamily="49" charset="-122"/>
            </a:endParaRPr>
          </a:p>
        </p:txBody>
      </p:sp>
      <p:sp>
        <p:nvSpPr>
          <p:cNvPr id="3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983609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207901"/>
                                        </p:tgtEl>
                                        <p:attrNameLst>
                                          <p:attrName>style.visibility</p:attrName>
                                        </p:attrNameLst>
                                      </p:cBhvr>
                                      <p:to>
                                        <p:strVal val="visible"/>
                                      </p:to>
                                    </p:set>
                                    <p:animEffect transition="in" filter="wipe(up)">
                                      <p:cBhvr>
                                        <p:cTn id="7" dur="1000"/>
                                        <p:tgtEl>
                                          <p:spTgt spid="207901"/>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2079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1" grpId="0" animBg="1"/>
      <p:bldP spid="20790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147638" y="1105694"/>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0992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2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2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992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992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992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992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9930"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31"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32"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33"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3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3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0993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0993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0993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0993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09940"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1"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2"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3"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0994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0994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94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09949" name="AutoShape 29"/>
          <p:cNvSpPr>
            <a:spLocks noChangeArrowheads="1"/>
          </p:cNvSpPr>
          <p:nvPr/>
        </p:nvSpPr>
        <p:spPr bwMode="auto">
          <a:xfrm flipV="1">
            <a:off x="654050" y="3930650"/>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09950"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09951" name="Text Box 31"/>
          <p:cNvSpPr txBox="1">
            <a:spLocks noChangeArrowheads="1"/>
          </p:cNvSpPr>
          <p:nvPr/>
        </p:nvSpPr>
        <p:spPr bwMode="auto">
          <a:xfrm>
            <a:off x="1547813" y="3625850"/>
            <a:ext cx="3877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dirty="0">
                <a:solidFill>
                  <a:srgbClr val="333399"/>
                </a:solidFill>
                <a:latin typeface="Arial" charset="0"/>
                <a:ea typeface="黑体" pitchFamily="49" charset="-122"/>
              </a:rPr>
              <a:t>传输层报文再传送到网络层</a:t>
            </a:r>
          </a:p>
        </p:txBody>
      </p:sp>
      <p:sp>
        <p:nvSpPr>
          <p:cNvPr id="209952" name="Text Box 32"/>
          <p:cNvSpPr txBox="1">
            <a:spLocks noChangeArrowheads="1"/>
          </p:cNvSpPr>
          <p:nvPr/>
        </p:nvSpPr>
        <p:spPr bwMode="auto">
          <a:xfrm>
            <a:off x="1547813" y="4221163"/>
            <a:ext cx="6126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加上网络层首部，成为 </a:t>
            </a:r>
            <a:r>
              <a:rPr lang="en-US" altLang="zh-CN">
                <a:solidFill>
                  <a:srgbClr val="333399"/>
                </a:solidFill>
                <a:latin typeface="Arial" charset="0"/>
                <a:ea typeface="黑体" pitchFamily="49" charset="-122"/>
              </a:rPr>
              <a:t>IP </a:t>
            </a:r>
            <a:r>
              <a:rPr lang="zh-CN" altLang="en-US">
                <a:solidFill>
                  <a:srgbClr val="333399"/>
                </a:solidFill>
                <a:latin typeface="Arial" charset="0"/>
                <a:ea typeface="黑体" pitchFamily="49" charset="-122"/>
              </a:rPr>
              <a:t>数据报（或分组）</a:t>
            </a:r>
          </a:p>
        </p:txBody>
      </p:sp>
      <p:sp>
        <p:nvSpPr>
          <p:cNvPr id="3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4886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209949"/>
                                        </p:tgtEl>
                                        <p:attrNameLst>
                                          <p:attrName>style.visibility</p:attrName>
                                        </p:attrNameLst>
                                      </p:cBhvr>
                                      <p:to>
                                        <p:strVal val="visible"/>
                                      </p:to>
                                    </p:set>
                                    <p:animEffect transition="in" filter="wipe(up)">
                                      <p:cBhvr>
                                        <p:cTn id="7" dur="1000"/>
                                        <p:tgtEl>
                                          <p:spTgt spid="20994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2099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49" grpId="0" animBg="1"/>
      <p:bldP spid="20995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174526" y="1206499"/>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1197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7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7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197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197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197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197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1978"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79"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80"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81"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8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8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198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198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198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198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1988"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89"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90"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91"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9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1199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9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1199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99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11997" name="AutoShape 29"/>
          <p:cNvSpPr>
            <a:spLocks noChangeArrowheads="1"/>
          </p:cNvSpPr>
          <p:nvPr/>
        </p:nvSpPr>
        <p:spPr bwMode="auto">
          <a:xfrm flipV="1">
            <a:off x="654050" y="4506913"/>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11998"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11999" name="Text Box 31"/>
          <p:cNvSpPr txBox="1">
            <a:spLocks noChangeArrowheads="1"/>
          </p:cNvSpPr>
          <p:nvPr/>
        </p:nvSpPr>
        <p:spPr bwMode="auto">
          <a:xfrm>
            <a:off x="1619250" y="4195763"/>
            <a:ext cx="421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a:solidFill>
                  <a:srgbClr val="333399"/>
                </a:solidFill>
                <a:latin typeface="Arial" charset="0"/>
                <a:ea typeface="黑体" pitchFamily="49" charset="-122"/>
              </a:rPr>
              <a:t>IP </a:t>
            </a:r>
            <a:r>
              <a:rPr lang="zh-CN" altLang="en-US">
                <a:solidFill>
                  <a:srgbClr val="333399"/>
                </a:solidFill>
                <a:latin typeface="Arial" charset="0"/>
                <a:ea typeface="黑体" pitchFamily="49" charset="-122"/>
              </a:rPr>
              <a:t>数据报再传送到数据链路层</a:t>
            </a:r>
          </a:p>
        </p:txBody>
      </p:sp>
      <p:sp>
        <p:nvSpPr>
          <p:cNvPr id="212000" name="Text Box 32"/>
          <p:cNvSpPr txBox="1">
            <a:spLocks noChangeArrowheads="1"/>
          </p:cNvSpPr>
          <p:nvPr/>
        </p:nvSpPr>
        <p:spPr bwMode="auto">
          <a:xfrm>
            <a:off x="1619250" y="4752975"/>
            <a:ext cx="597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加上链路层首部和尾部，成为数据链路层帧</a:t>
            </a:r>
          </a:p>
        </p:txBody>
      </p:sp>
      <p:sp>
        <p:nvSpPr>
          <p:cNvPr id="3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816009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211997"/>
                                        </p:tgtEl>
                                        <p:attrNameLst>
                                          <p:attrName>style.visibility</p:attrName>
                                        </p:attrNameLst>
                                      </p:cBhvr>
                                      <p:to>
                                        <p:strVal val="visible"/>
                                      </p:to>
                                    </p:set>
                                    <p:animEffect transition="in" filter="wipe(up)">
                                      <p:cBhvr>
                                        <p:cTn id="7" dur="1000"/>
                                        <p:tgtEl>
                                          <p:spTgt spid="21199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212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97" grpId="0" animBg="1"/>
      <p:bldP spid="21200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147638" y="1176337"/>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1401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2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21"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4022"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4023"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4024"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4025"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4026"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27"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28"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29"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3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31"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4032"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4033"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4034"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4035"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4036"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37"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38"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39"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40"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1404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42"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1404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044"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14045" name="AutoShape 29"/>
          <p:cNvSpPr>
            <a:spLocks noChangeArrowheads="1"/>
          </p:cNvSpPr>
          <p:nvPr/>
        </p:nvSpPr>
        <p:spPr bwMode="auto">
          <a:xfrm flipV="1">
            <a:off x="654050" y="5083175"/>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14046"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14047" name="Text Box 31"/>
          <p:cNvSpPr txBox="1">
            <a:spLocks noChangeArrowheads="1"/>
          </p:cNvSpPr>
          <p:nvPr/>
        </p:nvSpPr>
        <p:spPr bwMode="auto">
          <a:xfrm>
            <a:off x="1619250" y="4700588"/>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数据链路层帧再传送到物理层</a:t>
            </a:r>
          </a:p>
        </p:txBody>
      </p:sp>
      <p:sp>
        <p:nvSpPr>
          <p:cNvPr id="214048" name="Text Box 32"/>
          <p:cNvSpPr txBox="1">
            <a:spLocks noChangeArrowheads="1"/>
          </p:cNvSpPr>
          <p:nvPr/>
        </p:nvSpPr>
        <p:spPr bwMode="auto">
          <a:xfrm>
            <a:off x="1619250" y="5276850"/>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最下面的物理层把比特流传送到物理媒体</a:t>
            </a:r>
          </a:p>
        </p:txBody>
      </p:sp>
      <p:sp>
        <p:nvSpPr>
          <p:cNvPr id="3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740866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214045"/>
                                        </p:tgtEl>
                                        <p:attrNameLst>
                                          <p:attrName>style.visibility</p:attrName>
                                        </p:attrNameLst>
                                      </p:cBhvr>
                                      <p:to>
                                        <p:strVal val="visible"/>
                                      </p:to>
                                    </p:set>
                                    <p:animEffect transition="in" filter="wipe(up)">
                                      <p:cBhvr>
                                        <p:cTn id="7" dur="1000"/>
                                        <p:tgtEl>
                                          <p:spTgt spid="21404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214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45" grpId="0" animBg="1"/>
      <p:bldP spid="21404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220663" y="1105694"/>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16067" name="Rectangle 3"/>
          <p:cNvSpPr>
            <a:spLocks noGrp="1" noChangeArrowheads="1"/>
          </p:cNvSpPr>
          <p:nvPr>
            <p:ph type="body" idx="1"/>
          </p:nvPr>
        </p:nvSpPr>
        <p:spPr>
          <a:xfrm>
            <a:off x="3276600" y="5661025"/>
            <a:ext cx="5395913" cy="1008063"/>
          </a:xfrm>
        </p:spPr>
        <p:txBody>
          <a:bodyPr/>
          <a:lstStyle/>
          <a:p>
            <a:pPr>
              <a:lnSpc>
                <a:spcPct val="105000"/>
              </a:lnSpc>
            </a:pPr>
            <a:r>
              <a:rPr lang="zh-CN" altLang="en-US"/>
              <a:t>应用层</a:t>
            </a:r>
            <a:r>
              <a:rPr lang="en-US" altLang="zh-CN"/>
              <a:t>(application layer) </a:t>
            </a:r>
          </a:p>
        </p:txBody>
      </p:sp>
      <p:sp>
        <p:nvSpPr>
          <p:cNvPr id="216068" name="AutoShape 4"/>
          <p:cNvSpPr>
            <a:spLocks noChangeArrowheads="1"/>
          </p:cNvSpPr>
          <p:nvPr/>
        </p:nvSpPr>
        <p:spPr bwMode="auto">
          <a:xfrm rot="-5400000">
            <a:off x="4321968"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69" name="AutoShape 5"/>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70" name="Text Box 6"/>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6071" name="Text Box 7"/>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6072" name="Text Box 8"/>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6073" name="Text Box 9"/>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6074" name="Text Box 10"/>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6075" name="Freeform 11"/>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76" name="Freeform 12"/>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77" name="Freeform 13"/>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78" name="Freeform 14"/>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79" name="AutoShape 15"/>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0" name="Text Box 16"/>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6081" name="Text Box 17"/>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6082" name="Text Box 18"/>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6083" name="Text Box 19"/>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6084" name="Text Box 20"/>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6085" name="Freeform 21"/>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6" name="Freeform 22"/>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7" name="Freeform 23"/>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8" name="Freeform 24"/>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9" name="AutoShape 25"/>
          <p:cNvSpPr>
            <a:spLocks noChangeArrowheads="1"/>
          </p:cNvSpPr>
          <p:nvPr/>
        </p:nvSpPr>
        <p:spPr bwMode="auto">
          <a:xfrm flipV="1">
            <a:off x="696913" y="5730875"/>
            <a:ext cx="395287" cy="4191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90" name="Text Box 26"/>
          <p:cNvSpPr txBox="1">
            <a:spLocks noChangeArrowheads="1"/>
          </p:cNvSpPr>
          <p:nvPr/>
        </p:nvSpPr>
        <p:spPr bwMode="auto">
          <a:xfrm>
            <a:off x="3851275" y="5827713"/>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黑体" pitchFamily="49" charset="-122"/>
                <a:ea typeface="黑体" pitchFamily="49" charset="-122"/>
              </a:rPr>
              <a:t>物理传输媒体</a:t>
            </a:r>
          </a:p>
        </p:txBody>
      </p:sp>
      <p:sp>
        <p:nvSpPr>
          <p:cNvPr id="216091" name="AutoShape 27"/>
          <p:cNvSpPr>
            <a:spLocks noChangeArrowheads="1"/>
          </p:cNvSpPr>
          <p:nvPr/>
        </p:nvSpPr>
        <p:spPr bwMode="auto">
          <a:xfrm rot="5400000">
            <a:off x="3310731" y="5831682"/>
            <a:ext cx="179387" cy="393700"/>
          </a:xfrm>
          <a:prstGeom prst="upArrow">
            <a:avLst>
              <a:gd name="adj1" fmla="val 50000"/>
              <a:gd name="adj2" fmla="val 54867"/>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16092" name="AutoShape 28"/>
          <p:cNvSpPr>
            <a:spLocks noChangeArrowheads="1"/>
          </p:cNvSpPr>
          <p:nvPr/>
        </p:nvSpPr>
        <p:spPr bwMode="auto">
          <a:xfrm rot="5400000">
            <a:off x="6047581" y="5831682"/>
            <a:ext cx="179387" cy="393700"/>
          </a:xfrm>
          <a:prstGeom prst="upArrow">
            <a:avLst>
              <a:gd name="adj1" fmla="val 50000"/>
              <a:gd name="adj2" fmla="val 54867"/>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16093" name="Text Box 29"/>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16094"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95" name="Text Box 31"/>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16096"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97" name="Text Box 33"/>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grpSp>
        <p:nvGrpSpPr>
          <p:cNvPr id="216098" name="Group 34"/>
          <p:cNvGrpSpPr>
            <a:grpSpLocks/>
          </p:cNvGrpSpPr>
          <p:nvPr/>
        </p:nvGrpSpPr>
        <p:grpSpPr bwMode="auto">
          <a:xfrm>
            <a:off x="1619250" y="5959475"/>
            <a:ext cx="1066800" cy="139700"/>
            <a:chOff x="1344" y="912"/>
            <a:chExt cx="672" cy="96"/>
          </a:xfrm>
        </p:grpSpPr>
        <p:sp>
          <p:nvSpPr>
            <p:cNvPr id="216099" name="Line 35"/>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6100" name="Freeform 36"/>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6101" name="Group 37"/>
          <p:cNvGrpSpPr>
            <a:grpSpLocks/>
          </p:cNvGrpSpPr>
          <p:nvPr/>
        </p:nvGrpSpPr>
        <p:grpSpPr bwMode="auto">
          <a:xfrm>
            <a:off x="6600825" y="5957888"/>
            <a:ext cx="1066800" cy="142875"/>
            <a:chOff x="4158" y="3753"/>
            <a:chExt cx="672" cy="90"/>
          </a:xfrm>
        </p:grpSpPr>
        <p:sp>
          <p:nvSpPr>
            <p:cNvPr id="216102" name="Line 38"/>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6103" name="Freeform 39"/>
            <p:cNvSpPr>
              <a:spLocks/>
            </p:cNvSpPr>
            <p:nvPr/>
          </p:nvSpPr>
          <p:spPr bwMode="auto">
            <a:xfrm>
              <a:off x="4209" y="3753"/>
              <a:ext cx="576" cy="90"/>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6104" name="Text Box 40"/>
          <p:cNvSpPr txBox="1">
            <a:spLocks noChangeArrowheads="1"/>
          </p:cNvSpPr>
          <p:nvPr/>
        </p:nvSpPr>
        <p:spPr bwMode="auto">
          <a:xfrm>
            <a:off x="1908175" y="4797425"/>
            <a:ext cx="5365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ea typeface="黑体" pitchFamily="49" charset="-122"/>
              </a:rPr>
              <a:t>电信号（或光信号）在物理媒体中传播</a:t>
            </a:r>
          </a:p>
          <a:p>
            <a:pPr algn="ctr" eaLnBrk="0" hangingPunct="0"/>
            <a:r>
              <a:rPr lang="zh-CN" altLang="en-US">
                <a:solidFill>
                  <a:srgbClr val="333399"/>
                </a:solidFill>
                <a:ea typeface="黑体" pitchFamily="49" charset="-122"/>
              </a:rPr>
              <a:t>从发送端物理层传送到接收端物理层</a:t>
            </a:r>
          </a:p>
        </p:txBody>
      </p:sp>
      <p:sp>
        <p:nvSpPr>
          <p:cNvPr id="216105" name="Text Box 41"/>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16106" name="AutoShape 42"/>
          <p:cNvSpPr>
            <a:spLocks noChangeArrowheads="1"/>
          </p:cNvSpPr>
          <p:nvPr/>
        </p:nvSpPr>
        <p:spPr bwMode="auto">
          <a:xfrm rot="5400000" flipH="1">
            <a:off x="8071644" y="5679281"/>
            <a:ext cx="431800" cy="395288"/>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5817474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216089"/>
                                        </p:tgtEl>
                                        <p:attrNameLst>
                                          <p:attrName>style.visibility</p:attrName>
                                        </p:attrNameLst>
                                      </p:cBhvr>
                                      <p:to>
                                        <p:strVal val="visible"/>
                                      </p:to>
                                    </p:set>
                                    <p:animEffect transition="in" filter="wipe(left)">
                                      <p:cBhvr>
                                        <p:cTn id="7" dur="500"/>
                                        <p:tgtEl>
                                          <p:spTgt spid="216089"/>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216098"/>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216091"/>
                                        </p:tgtEl>
                                        <p:attrNameLst>
                                          <p:attrName>style.visibility</p:attrName>
                                        </p:attrNameLst>
                                      </p:cBhvr>
                                      <p:to>
                                        <p:strVal val="visible"/>
                                      </p:to>
                                    </p:set>
                                    <p:animEffect transition="in" filter="wipe(left)">
                                      <p:cBhvr>
                                        <p:cTn id="14" dur="500"/>
                                        <p:tgtEl>
                                          <p:spTgt spid="216091"/>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216092"/>
                                        </p:tgtEl>
                                        <p:attrNameLst>
                                          <p:attrName>style.visibility</p:attrName>
                                        </p:attrNameLst>
                                      </p:cBhvr>
                                      <p:to>
                                        <p:strVal val="visible"/>
                                      </p:to>
                                    </p:set>
                                    <p:animEffect transition="in" filter="wipe(left)">
                                      <p:cBhvr>
                                        <p:cTn id="18" dur="500"/>
                                        <p:tgtEl>
                                          <p:spTgt spid="216092"/>
                                        </p:tgtEl>
                                      </p:cBhvr>
                                    </p:animEffect>
                                  </p:childTnLst>
                                </p:cTn>
                              </p:par>
                            </p:childTnLst>
                          </p:cTn>
                        </p:par>
                        <p:par>
                          <p:cTn id="19" fill="hold" nodeType="afterGroup">
                            <p:stCondLst>
                              <p:cond delay="2500"/>
                            </p:stCondLst>
                            <p:childTnLst>
                              <p:par>
                                <p:cTn id="20" presetID="1" presetClass="entr" presetSubtype="0" fill="hold" nodeType="afterEffect">
                                  <p:stCondLst>
                                    <p:cond delay="0"/>
                                  </p:stCondLst>
                                  <p:childTnLst>
                                    <p:set>
                                      <p:cBhvr>
                                        <p:cTn id="21" dur="1" fill="hold">
                                          <p:stCondLst>
                                            <p:cond delay="0"/>
                                          </p:stCondLst>
                                        </p:cTn>
                                        <p:tgtEl>
                                          <p:spTgt spid="216101"/>
                                        </p:tgtEl>
                                        <p:attrNameLst>
                                          <p:attrName>style.visibility</p:attrName>
                                        </p:attrNameLst>
                                      </p:cBhvr>
                                      <p:to>
                                        <p:strVal val="visible"/>
                                      </p:to>
                                    </p:set>
                                  </p:childTnLst>
                                </p:cTn>
                              </p:par>
                            </p:childTnLst>
                          </p:cTn>
                        </p:par>
                        <p:par>
                          <p:cTn id="22" fill="hold" nodeType="afterGroup">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216106"/>
                                        </p:tgtEl>
                                        <p:attrNameLst>
                                          <p:attrName>style.visibility</p:attrName>
                                        </p:attrNameLst>
                                      </p:cBhvr>
                                      <p:to>
                                        <p:strVal val="visible"/>
                                      </p:to>
                                    </p:set>
                                    <p:animEffect transition="in" filter="wipe(down)">
                                      <p:cBhvr>
                                        <p:cTn id="25" dur="500"/>
                                        <p:tgtEl>
                                          <p:spTgt spid="216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89" grpId="0" animBg="1"/>
      <p:bldP spid="216091" grpId="0" animBg="1"/>
      <p:bldP spid="216092" grpId="0" animBg="1"/>
      <p:bldP spid="21610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273050" y="1146919"/>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1811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1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1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811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811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812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812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8122"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23"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24"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25"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2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2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1812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1812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1813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1813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18132"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33"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34"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35"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36"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1813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3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1813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4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18141"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18142" name="Text Box 30"/>
          <p:cNvSpPr txBox="1">
            <a:spLocks noChangeArrowheads="1"/>
          </p:cNvSpPr>
          <p:nvPr/>
        </p:nvSpPr>
        <p:spPr bwMode="auto">
          <a:xfrm>
            <a:off x="2214563" y="5276850"/>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物理层接收到比特流，上交给数据链路层</a:t>
            </a:r>
          </a:p>
        </p:txBody>
      </p:sp>
      <p:sp>
        <p:nvSpPr>
          <p:cNvPr id="218143" name="AutoShape 31"/>
          <p:cNvSpPr>
            <a:spLocks noChangeArrowheads="1"/>
          </p:cNvSpPr>
          <p:nvPr/>
        </p:nvSpPr>
        <p:spPr bwMode="auto">
          <a:xfrm rot="10800000" flipV="1">
            <a:off x="8305800" y="5078413"/>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059478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218143"/>
                                        </p:tgtEl>
                                        <p:attrNameLst>
                                          <p:attrName>style.visibility</p:attrName>
                                        </p:attrNameLst>
                                      </p:cBhvr>
                                      <p:to>
                                        <p:strVal val="visible"/>
                                      </p:to>
                                    </p:set>
                                    <p:animEffect transition="in" filter="wipe(down)">
                                      <p:cBhvr>
                                        <p:cTn id="7" dur="1000"/>
                                        <p:tgtEl>
                                          <p:spTgt spid="218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4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234950" y="1077118"/>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2016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6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6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016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016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016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016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0170"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1"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2"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3"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017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017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017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017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0180"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1"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2"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3"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4" name="Text Box 24"/>
          <p:cNvSpPr txBox="1">
            <a:spLocks noChangeArrowheads="1"/>
          </p:cNvSpPr>
          <p:nvPr/>
        </p:nvSpPr>
        <p:spPr bwMode="auto">
          <a:xfrm>
            <a:off x="395288" y="1989138"/>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2018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2018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20189"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20190" name="Text Box 30"/>
          <p:cNvSpPr txBox="1">
            <a:spLocks noChangeArrowheads="1"/>
          </p:cNvSpPr>
          <p:nvPr/>
        </p:nvSpPr>
        <p:spPr bwMode="auto">
          <a:xfrm>
            <a:off x="3355975" y="4581525"/>
            <a:ext cx="4451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数据链路层剥去帧首部和帧尾部</a:t>
            </a:r>
          </a:p>
          <a:p>
            <a:pPr algn="ctr" eaLnBrk="0" hangingPunct="0"/>
            <a:r>
              <a:rPr lang="zh-CN" altLang="en-US">
                <a:solidFill>
                  <a:srgbClr val="333399"/>
                </a:solidFill>
                <a:latin typeface="Arial" charset="0"/>
                <a:ea typeface="黑体" pitchFamily="49" charset="-122"/>
              </a:rPr>
              <a:t>取出数据部分，上交给网络层</a:t>
            </a:r>
          </a:p>
        </p:txBody>
      </p:sp>
      <p:sp>
        <p:nvSpPr>
          <p:cNvPr id="220191" name="AutoShape 31"/>
          <p:cNvSpPr>
            <a:spLocks noChangeArrowheads="1"/>
          </p:cNvSpPr>
          <p:nvPr/>
        </p:nvSpPr>
        <p:spPr bwMode="auto">
          <a:xfrm rot="10800000" flipV="1">
            <a:off x="8305800" y="4437063"/>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209215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220191"/>
                                        </p:tgtEl>
                                        <p:attrNameLst>
                                          <p:attrName>style.visibility</p:attrName>
                                        </p:attrNameLst>
                                      </p:cBhvr>
                                      <p:to>
                                        <p:strVal val="visible"/>
                                      </p:to>
                                    </p:set>
                                    <p:animEffect transition="in" filter="wipe(down)">
                                      <p:cBhvr>
                                        <p:cTn id="7" dur="1000"/>
                                        <p:tgtEl>
                                          <p:spTgt spid="220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91"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273050" y="1120502"/>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2221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1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1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221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221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221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221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2218"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19"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20"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21"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2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2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222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222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222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222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2228"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29"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0"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1"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2223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2223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22237"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22238" name="Text Box 30"/>
          <p:cNvSpPr txBox="1">
            <a:spLocks noChangeArrowheads="1"/>
          </p:cNvSpPr>
          <p:nvPr/>
        </p:nvSpPr>
        <p:spPr bwMode="auto">
          <a:xfrm>
            <a:off x="3441700" y="4005263"/>
            <a:ext cx="4451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网络层剥去首部，取出数据部分</a:t>
            </a:r>
          </a:p>
          <a:p>
            <a:pPr algn="ctr" eaLnBrk="0" hangingPunct="0"/>
            <a:r>
              <a:rPr lang="zh-CN" altLang="en-US">
                <a:solidFill>
                  <a:srgbClr val="333399"/>
                </a:solidFill>
                <a:latin typeface="Arial" charset="0"/>
                <a:ea typeface="黑体" pitchFamily="49" charset="-122"/>
              </a:rPr>
              <a:t>上交给运输层</a:t>
            </a:r>
          </a:p>
        </p:txBody>
      </p:sp>
      <p:sp>
        <p:nvSpPr>
          <p:cNvPr id="222239" name="AutoShape 31"/>
          <p:cNvSpPr>
            <a:spLocks noChangeArrowheads="1"/>
          </p:cNvSpPr>
          <p:nvPr/>
        </p:nvSpPr>
        <p:spPr bwMode="auto">
          <a:xfrm rot="10800000" flipV="1">
            <a:off x="8305800" y="3824288"/>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021829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222239"/>
                                        </p:tgtEl>
                                        <p:attrNameLst>
                                          <p:attrName>style.visibility</p:attrName>
                                        </p:attrNameLst>
                                      </p:cBhvr>
                                      <p:to>
                                        <p:strVal val="visible"/>
                                      </p:to>
                                    </p:set>
                                    <p:animEffect transition="in" filter="wipe(down)">
                                      <p:cBhvr>
                                        <p:cTn id="7" dur="1000"/>
                                        <p:tgtEl>
                                          <p:spTgt spid="222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3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174625" y="1090612"/>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2425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6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61"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4262"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4263"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4264"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4265"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4266"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67"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68"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69"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7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71"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4272"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4273"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4274"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4275"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4276"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77"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78"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79"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80"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2428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82"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2428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4284"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24285"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24286" name="Text Box 30"/>
          <p:cNvSpPr txBox="1">
            <a:spLocks noChangeArrowheads="1"/>
          </p:cNvSpPr>
          <p:nvPr/>
        </p:nvSpPr>
        <p:spPr bwMode="auto">
          <a:xfrm>
            <a:off x="3420606" y="3357563"/>
            <a:ext cx="449353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dirty="0">
                <a:solidFill>
                  <a:srgbClr val="333399"/>
                </a:solidFill>
                <a:latin typeface="Arial" charset="0"/>
                <a:ea typeface="黑体" pitchFamily="49" charset="-122"/>
              </a:rPr>
              <a:t>传输层剥去首部，取出数据部分</a:t>
            </a:r>
          </a:p>
          <a:p>
            <a:pPr algn="ctr" eaLnBrk="0" hangingPunct="0"/>
            <a:r>
              <a:rPr lang="zh-CN" altLang="en-US" dirty="0">
                <a:solidFill>
                  <a:srgbClr val="333399"/>
                </a:solidFill>
                <a:latin typeface="Arial" charset="0"/>
                <a:ea typeface="黑体" pitchFamily="49" charset="-122"/>
              </a:rPr>
              <a:t>上交给应用层</a:t>
            </a:r>
          </a:p>
        </p:txBody>
      </p:sp>
      <p:sp>
        <p:nvSpPr>
          <p:cNvPr id="224287" name="AutoShape 31"/>
          <p:cNvSpPr>
            <a:spLocks noChangeArrowheads="1"/>
          </p:cNvSpPr>
          <p:nvPr/>
        </p:nvSpPr>
        <p:spPr bwMode="auto">
          <a:xfrm rot="10800000" flipV="1">
            <a:off x="8305800" y="3248025"/>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6413778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224287"/>
                                        </p:tgtEl>
                                        <p:attrNameLst>
                                          <p:attrName>style.visibility</p:attrName>
                                        </p:attrNameLst>
                                      </p:cBhvr>
                                      <p:to>
                                        <p:strVal val="visible"/>
                                      </p:to>
                                    </p:set>
                                    <p:animEffect transition="in" filter="wipe(down)">
                                      <p:cBhvr>
                                        <p:cTn id="7" dur="1000"/>
                                        <p:tgtEl>
                                          <p:spTgt spid="224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8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147638" y="1090612"/>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2630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0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09"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6310"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6311"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6312"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6313"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6314"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5"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6"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7"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9"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6320"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6321"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6322"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6323"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6324"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5"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6"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7"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8"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2632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0"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2633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2"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26333"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26334" name="Text Box 30"/>
          <p:cNvSpPr txBox="1">
            <a:spLocks noChangeArrowheads="1"/>
          </p:cNvSpPr>
          <p:nvPr/>
        </p:nvSpPr>
        <p:spPr bwMode="auto">
          <a:xfrm>
            <a:off x="2843213" y="2852738"/>
            <a:ext cx="5060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应用层剥去首部，取出应用程序数据</a:t>
            </a:r>
          </a:p>
          <a:p>
            <a:pPr algn="ctr" eaLnBrk="0" hangingPunct="0"/>
            <a:r>
              <a:rPr lang="zh-CN" altLang="en-US">
                <a:solidFill>
                  <a:srgbClr val="333399"/>
                </a:solidFill>
                <a:latin typeface="Arial" charset="0"/>
                <a:ea typeface="黑体" pitchFamily="49" charset="-122"/>
              </a:rPr>
              <a:t>上交给应用进程</a:t>
            </a:r>
          </a:p>
        </p:txBody>
      </p:sp>
      <p:sp>
        <p:nvSpPr>
          <p:cNvPr id="226335" name="AutoShape 31"/>
          <p:cNvSpPr>
            <a:spLocks noChangeArrowheads="1"/>
          </p:cNvSpPr>
          <p:nvPr/>
        </p:nvSpPr>
        <p:spPr bwMode="auto">
          <a:xfrm rot="10800000" flipV="1">
            <a:off x="8305800" y="2744788"/>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577193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226335"/>
                                        </p:tgtEl>
                                        <p:attrNameLst>
                                          <p:attrName>style.visibility</p:attrName>
                                        </p:attrNameLst>
                                      </p:cBhvr>
                                      <p:to>
                                        <p:strVal val="visible"/>
                                      </p:to>
                                    </p:set>
                                    <p:animEffect transition="in" filter="wipe(down)">
                                      <p:cBhvr>
                                        <p:cTn id="7" dur="1000"/>
                                        <p:tgtEl>
                                          <p:spTgt spid="226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3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xfrm>
            <a:off x="173385" y="1105693"/>
            <a:ext cx="8229600" cy="703263"/>
          </a:xfrm>
        </p:spPr>
        <p:txBody>
          <a:bodyPr>
            <a:normAutofit fontScale="90000"/>
          </a:bodyPr>
          <a:lstStyle/>
          <a:p>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16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2835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5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5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835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835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836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836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8362"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63"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64"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65"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6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6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2836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2836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2837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2837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28372"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73"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74"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75"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76" name="Text Box 24"/>
          <p:cNvSpPr txBox="1">
            <a:spLocks noChangeArrowheads="1"/>
          </p:cNvSpPr>
          <p:nvPr/>
        </p:nvSpPr>
        <p:spPr bwMode="auto">
          <a:xfrm>
            <a:off x="395288" y="1989138"/>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2837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7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2837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838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28381"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28382"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0" lang="zh-CN" altLang="zh-CN" sz="1800">
              <a:latin typeface="Tahoma" pitchFamily="34" charset="0"/>
            </a:endParaRPr>
          </a:p>
        </p:txBody>
      </p:sp>
      <p:sp>
        <p:nvSpPr>
          <p:cNvPr id="228383" name="Text Box 31"/>
          <p:cNvSpPr txBox="1">
            <a:spLocks noChangeArrowheads="1"/>
          </p:cNvSpPr>
          <p:nvPr/>
        </p:nvSpPr>
        <p:spPr bwMode="auto">
          <a:xfrm>
            <a:off x="4140200" y="2060575"/>
            <a:ext cx="2943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Tahoma" pitchFamily="34" charset="0"/>
                <a:ea typeface="黑体" pitchFamily="49" charset="-122"/>
              </a:rPr>
              <a:t>我收到了</a:t>
            </a:r>
            <a:r>
              <a:rPr lang="zh-CN" altLang="en-US" sz="1400">
                <a:solidFill>
                  <a:srgbClr val="333399"/>
                </a:solidFill>
                <a:latin typeface="Arial" charset="0"/>
                <a:ea typeface="黑体" pitchFamily="49" charset="-122"/>
              </a:rPr>
              <a:t> </a:t>
            </a:r>
            <a:r>
              <a:rPr lang="en-US" altLang="zh-CN">
                <a:solidFill>
                  <a:srgbClr val="333399"/>
                </a:solidFill>
                <a:latin typeface="Arial" charset="0"/>
                <a:ea typeface="黑体" pitchFamily="49" charset="-122"/>
              </a:rPr>
              <a:t>AP</a:t>
            </a:r>
            <a:r>
              <a:rPr lang="en-US" altLang="zh-CN" baseline="-25000">
                <a:solidFill>
                  <a:srgbClr val="333399"/>
                </a:solidFill>
                <a:latin typeface="Arial" charset="0"/>
                <a:ea typeface="黑体" pitchFamily="49" charset="-122"/>
              </a:rPr>
              <a:t>1</a:t>
            </a:r>
            <a:r>
              <a:rPr lang="en-US" altLang="zh-CN" sz="1600">
                <a:solidFill>
                  <a:srgbClr val="333399"/>
                </a:solidFill>
                <a:latin typeface="Arial" charset="0"/>
                <a:ea typeface="黑体" pitchFamily="49" charset="-122"/>
              </a:rPr>
              <a:t> </a:t>
            </a:r>
            <a:r>
              <a:rPr lang="zh-CN" altLang="en-US">
                <a:solidFill>
                  <a:srgbClr val="333399"/>
                </a:solidFill>
                <a:latin typeface="Tahoma" pitchFamily="34" charset="0"/>
                <a:ea typeface="黑体" pitchFamily="49" charset="-122"/>
              </a:rPr>
              <a:t>发来的</a:t>
            </a:r>
          </a:p>
          <a:p>
            <a:pPr algn="ctr" eaLnBrk="0" hangingPunct="0"/>
            <a:r>
              <a:rPr lang="zh-CN" altLang="en-US">
                <a:solidFill>
                  <a:srgbClr val="333399"/>
                </a:solidFill>
                <a:latin typeface="Arial" charset="0"/>
                <a:ea typeface="黑体" pitchFamily="49" charset="-122"/>
              </a:rPr>
              <a:t>应用程序数据！</a:t>
            </a:r>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25519253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0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0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040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040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040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040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0410"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11"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12"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13"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1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1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041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041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041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041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0420"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1"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2"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3"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3042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3042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2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30429"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30430" name="Rectangle 30"/>
          <p:cNvSpPr>
            <a:spLocks noChangeArrowheads="1"/>
          </p:cNvSpPr>
          <p:nvPr/>
        </p:nvSpPr>
        <p:spPr bwMode="auto">
          <a:xfrm>
            <a:off x="4067175" y="2493963"/>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nvGrpSpPr>
          <p:cNvPr id="230431" name="Group 31"/>
          <p:cNvGrpSpPr>
            <a:grpSpLocks/>
          </p:cNvGrpSpPr>
          <p:nvPr/>
        </p:nvGrpSpPr>
        <p:grpSpPr bwMode="auto">
          <a:xfrm>
            <a:off x="2627313" y="2420938"/>
            <a:ext cx="1454150" cy="1008062"/>
            <a:chOff x="1655" y="1525"/>
            <a:chExt cx="916" cy="635"/>
          </a:xfrm>
        </p:grpSpPr>
        <p:sp>
          <p:nvSpPr>
            <p:cNvPr id="230432" name="Text Box 32"/>
            <p:cNvSpPr txBox="1">
              <a:spLocks noChangeArrowheads="1"/>
            </p:cNvSpPr>
            <p:nvPr/>
          </p:nvSpPr>
          <p:spPr bwMode="auto">
            <a:xfrm>
              <a:off x="1655" y="1525"/>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Rounded MT Bold" pitchFamily="34" charset="0"/>
                  <a:ea typeface="黑体" pitchFamily="49" charset="-122"/>
                </a:rPr>
                <a:t>应用层首部</a:t>
              </a:r>
              <a:endParaRPr lang="zh-CN" altLang="en-US" sz="2000">
                <a:solidFill>
                  <a:srgbClr val="333399"/>
                </a:solidFill>
                <a:ea typeface="黑体" pitchFamily="49" charset="-122"/>
              </a:endParaRPr>
            </a:p>
          </p:txBody>
        </p:sp>
        <p:sp>
          <p:nvSpPr>
            <p:cNvPr id="230433"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0434"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grpSp>
      <p:sp>
        <p:nvSpPr>
          <p:cNvPr id="230435" name="Rectangle 35"/>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2000">
                <a:solidFill>
                  <a:srgbClr val="333399"/>
                </a:solidFill>
                <a:latin typeface="Arial" charset="0"/>
                <a:ea typeface="黑体" pitchFamily="49" charset="-122"/>
              </a:rPr>
              <a:t>10100110100101  </a:t>
            </a:r>
            <a:r>
              <a:rPr kumimoji="0" lang="zh-CN" altLang="en-US" sz="2000">
                <a:solidFill>
                  <a:srgbClr val="333399"/>
                </a:solidFill>
                <a:latin typeface="Arial" charset="0"/>
                <a:ea typeface="黑体" pitchFamily="49" charset="-122"/>
              </a:rPr>
              <a:t>比  特  流  </a:t>
            </a:r>
            <a:r>
              <a:rPr kumimoji="0" lang="en-US" altLang="zh-CN" sz="2000">
                <a:solidFill>
                  <a:srgbClr val="333399"/>
                </a:solidFill>
                <a:latin typeface="Arial" charset="0"/>
                <a:ea typeface="黑体" pitchFamily="49" charset="-122"/>
              </a:rPr>
              <a:t>110101110101</a:t>
            </a:r>
          </a:p>
        </p:txBody>
      </p:sp>
      <p:sp>
        <p:nvSpPr>
          <p:cNvPr id="230436" name="Text Box 36"/>
          <p:cNvSpPr txBox="1">
            <a:spLocks noChangeArrowheads="1"/>
          </p:cNvSpPr>
          <p:nvPr/>
        </p:nvSpPr>
        <p:spPr bwMode="auto">
          <a:xfrm>
            <a:off x="1763713" y="1849438"/>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a:solidFill>
                  <a:srgbClr val="333399"/>
                </a:solidFill>
                <a:latin typeface="Arial" charset="0"/>
                <a:ea typeface="黑体" pitchFamily="49" charset="-122"/>
              </a:rPr>
              <a:t>注意观察加入或剥去首部（尾部）的层次</a:t>
            </a:r>
          </a:p>
        </p:txBody>
      </p:sp>
      <p:sp>
        <p:nvSpPr>
          <p:cNvPr id="230437" name="Rectangle 37"/>
          <p:cNvSpPr>
            <a:spLocks noChangeArrowheads="1"/>
          </p:cNvSpPr>
          <p:nvPr/>
        </p:nvSpPr>
        <p:spPr bwMode="auto">
          <a:xfrm>
            <a:off x="4067175" y="3070225"/>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nvGrpSpPr>
          <p:cNvPr id="230438" name="Group 38"/>
          <p:cNvGrpSpPr>
            <a:grpSpLocks/>
          </p:cNvGrpSpPr>
          <p:nvPr/>
        </p:nvGrpSpPr>
        <p:grpSpPr bwMode="auto">
          <a:xfrm>
            <a:off x="3563938" y="3646488"/>
            <a:ext cx="3095625" cy="358775"/>
            <a:chOff x="2245" y="2297"/>
            <a:chExt cx="1950" cy="226"/>
          </a:xfrm>
        </p:grpSpPr>
        <p:sp>
          <p:nvSpPr>
            <p:cNvPr id="230439"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0440"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grpSp>
        <p:nvGrpSpPr>
          <p:cNvPr id="230441" name="Group 41"/>
          <p:cNvGrpSpPr>
            <a:grpSpLocks/>
          </p:cNvGrpSpPr>
          <p:nvPr/>
        </p:nvGrpSpPr>
        <p:grpSpPr bwMode="auto">
          <a:xfrm>
            <a:off x="3059113" y="4222750"/>
            <a:ext cx="3600450" cy="358775"/>
            <a:chOff x="1927" y="2660"/>
            <a:chExt cx="2268" cy="226"/>
          </a:xfrm>
        </p:grpSpPr>
        <p:sp>
          <p:nvSpPr>
            <p:cNvPr id="230442"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0443"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0444"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grpSp>
        <p:nvGrpSpPr>
          <p:cNvPr id="230445" name="Group 45"/>
          <p:cNvGrpSpPr>
            <a:grpSpLocks/>
          </p:cNvGrpSpPr>
          <p:nvPr/>
        </p:nvGrpSpPr>
        <p:grpSpPr bwMode="auto">
          <a:xfrm>
            <a:off x="2555875" y="4799013"/>
            <a:ext cx="4103688" cy="358775"/>
            <a:chOff x="1610" y="3023"/>
            <a:chExt cx="2585" cy="226"/>
          </a:xfrm>
        </p:grpSpPr>
        <p:sp>
          <p:nvSpPr>
            <p:cNvPr id="230446"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sp>
          <p:nvSpPr>
            <p:cNvPr id="230447"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0448"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0449"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grpSp>
        <p:nvGrpSpPr>
          <p:cNvPr id="230450" name="Group 50"/>
          <p:cNvGrpSpPr>
            <a:grpSpLocks/>
          </p:cNvGrpSpPr>
          <p:nvPr/>
        </p:nvGrpSpPr>
        <p:grpSpPr bwMode="auto">
          <a:xfrm>
            <a:off x="654050" y="2781300"/>
            <a:ext cx="4781550" cy="415925"/>
            <a:chOff x="412" y="1752"/>
            <a:chExt cx="3012" cy="262"/>
          </a:xfrm>
        </p:grpSpPr>
        <p:sp>
          <p:nvSpPr>
            <p:cNvPr id="230451"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0452"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230453" name="Group 53"/>
          <p:cNvGrpSpPr>
            <a:grpSpLocks/>
          </p:cNvGrpSpPr>
          <p:nvPr/>
        </p:nvGrpSpPr>
        <p:grpSpPr bwMode="auto">
          <a:xfrm>
            <a:off x="650875" y="3357563"/>
            <a:ext cx="4497388" cy="396875"/>
            <a:chOff x="410" y="2115"/>
            <a:chExt cx="2833" cy="250"/>
          </a:xfrm>
        </p:grpSpPr>
        <p:sp>
          <p:nvSpPr>
            <p:cNvPr id="230454"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0455"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230456" name="Group 56"/>
          <p:cNvGrpSpPr>
            <a:grpSpLocks/>
          </p:cNvGrpSpPr>
          <p:nvPr/>
        </p:nvGrpSpPr>
        <p:grpSpPr bwMode="auto">
          <a:xfrm>
            <a:off x="650875" y="3917950"/>
            <a:ext cx="4137025" cy="409575"/>
            <a:chOff x="410" y="2468"/>
            <a:chExt cx="2606" cy="258"/>
          </a:xfrm>
        </p:grpSpPr>
        <p:sp>
          <p:nvSpPr>
            <p:cNvPr id="230457"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0458"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230459" name="Group 59"/>
          <p:cNvGrpSpPr>
            <a:grpSpLocks/>
          </p:cNvGrpSpPr>
          <p:nvPr/>
        </p:nvGrpSpPr>
        <p:grpSpPr bwMode="auto">
          <a:xfrm>
            <a:off x="649288" y="4508500"/>
            <a:ext cx="3832225" cy="444500"/>
            <a:chOff x="409" y="2840"/>
            <a:chExt cx="2414" cy="280"/>
          </a:xfrm>
        </p:grpSpPr>
        <p:sp>
          <p:nvSpPr>
            <p:cNvPr id="230460" name="AutoShape 60"/>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0461" name="AutoShape 61"/>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230462" name="Group 62"/>
          <p:cNvGrpSpPr>
            <a:grpSpLocks/>
          </p:cNvGrpSpPr>
          <p:nvPr/>
        </p:nvGrpSpPr>
        <p:grpSpPr bwMode="auto">
          <a:xfrm>
            <a:off x="649288" y="5084763"/>
            <a:ext cx="3635375" cy="460375"/>
            <a:chOff x="409" y="3203"/>
            <a:chExt cx="2290" cy="290"/>
          </a:xfrm>
        </p:grpSpPr>
        <p:sp>
          <p:nvSpPr>
            <p:cNvPr id="230463" name="AutoShape 63"/>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0464" name="AutoShape 64"/>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230465" name="Group 65"/>
          <p:cNvGrpSpPr>
            <a:grpSpLocks/>
          </p:cNvGrpSpPr>
          <p:nvPr/>
        </p:nvGrpSpPr>
        <p:grpSpPr bwMode="auto">
          <a:xfrm>
            <a:off x="2051050" y="2930525"/>
            <a:ext cx="1512888" cy="1074738"/>
            <a:chOff x="1292" y="1846"/>
            <a:chExt cx="953" cy="677"/>
          </a:xfrm>
        </p:grpSpPr>
        <p:sp>
          <p:nvSpPr>
            <p:cNvPr id="230466"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0467" name="Text Box 67"/>
            <p:cNvSpPr txBox="1">
              <a:spLocks noChangeArrowheads="1"/>
            </p:cNvSpPr>
            <p:nvPr/>
          </p:nvSpPr>
          <p:spPr bwMode="auto">
            <a:xfrm>
              <a:off x="1292" y="1846"/>
              <a:ext cx="92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dirty="0">
                  <a:solidFill>
                    <a:srgbClr val="333399"/>
                  </a:solidFill>
                  <a:latin typeface="Arial Rounded MT Bold" pitchFamily="34" charset="0"/>
                  <a:ea typeface="黑体" pitchFamily="49" charset="-122"/>
                </a:rPr>
                <a:t>传输层首部</a:t>
              </a:r>
              <a:endParaRPr lang="zh-CN" altLang="en-US" sz="2000" dirty="0">
                <a:solidFill>
                  <a:srgbClr val="333399"/>
                </a:solidFill>
                <a:ea typeface="黑体" pitchFamily="49" charset="-122"/>
              </a:endParaRPr>
            </a:p>
          </p:txBody>
        </p:sp>
        <p:sp>
          <p:nvSpPr>
            <p:cNvPr id="230468"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69" name="Group 69"/>
          <p:cNvGrpSpPr>
            <a:grpSpLocks/>
          </p:cNvGrpSpPr>
          <p:nvPr/>
        </p:nvGrpSpPr>
        <p:grpSpPr bwMode="auto">
          <a:xfrm>
            <a:off x="1533525" y="3429000"/>
            <a:ext cx="1525588" cy="1152525"/>
            <a:chOff x="966" y="2160"/>
            <a:chExt cx="961" cy="726"/>
          </a:xfrm>
        </p:grpSpPr>
        <p:sp>
          <p:nvSpPr>
            <p:cNvPr id="230470"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sp>
          <p:nvSpPr>
            <p:cNvPr id="230471" name="Text Box 71"/>
            <p:cNvSpPr txBox="1">
              <a:spLocks noChangeArrowheads="1"/>
            </p:cNvSpPr>
            <p:nvPr/>
          </p:nvSpPr>
          <p:spPr bwMode="auto">
            <a:xfrm>
              <a:off x="966" y="2160"/>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Rounded MT Bold" pitchFamily="34" charset="0"/>
                  <a:ea typeface="黑体" pitchFamily="49" charset="-122"/>
                </a:rPr>
                <a:t>网络层首部</a:t>
              </a:r>
              <a:endParaRPr lang="zh-CN" altLang="en-US" sz="2000">
                <a:solidFill>
                  <a:srgbClr val="333399"/>
                </a:solidFill>
                <a:ea typeface="黑体" pitchFamily="49" charset="-122"/>
              </a:endParaRPr>
            </a:p>
          </p:txBody>
        </p:sp>
        <p:sp>
          <p:nvSpPr>
            <p:cNvPr id="230472"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73" name="Group 73"/>
          <p:cNvGrpSpPr>
            <a:grpSpLocks/>
          </p:cNvGrpSpPr>
          <p:nvPr/>
        </p:nvGrpSpPr>
        <p:grpSpPr bwMode="auto">
          <a:xfrm>
            <a:off x="1393825" y="3860800"/>
            <a:ext cx="1162050" cy="1295400"/>
            <a:chOff x="878" y="2432"/>
            <a:chExt cx="732" cy="816"/>
          </a:xfrm>
        </p:grpSpPr>
        <p:sp>
          <p:nvSpPr>
            <p:cNvPr id="230474"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2</a:t>
              </a:r>
            </a:p>
          </p:txBody>
        </p:sp>
        <p:sp>
          <p:nvSpPr>
            <p:cNvPr id="230475" name="Text Box 75"/>
            <p:cNvSpPr txBox="1">
              <a:spLocks noChangeArrowheads="1"/>
            </p:cNvSpPr>
            <p:nvPr/>
          </p:nvSpPr>
          <p:spPr bwMode="auto">
            <a:xfrm>
              <a:off x="878" y="2432"/>
              <a:ext cx="5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lnSpc>
                  <a:spcPct val="90000"/>
                </a:lnSpc>
              </a:pPr>
              <a:r>
                <a:rPr lang="zh-CN" altLang="en-US" sz="2000">
                  <a:solidFill>
                    <a:srgbClr val="333399"/>
                  </a:solidFill>
                  <a:latin typeface="Arial Rounded MT Bold" pitchFamily="34" charset="0"/>
                  <a:ea typeface="黑体" pitchFamily="49" charset="-122"/>
                </a:rPr>
                <a:t>链路层</a:t>
              </a:r>
            </a:p>
            <a:p>
              <a:pPr algn="ctr" eaLnBrk="0" hangingPunct="0">
                <a:lnSpc>
                  <a:spcPct val="90000"/>
                </a:lnSpc>
              </a:pPr>
              <a:r>
                <a:rPr lang="zh-CN" altLang="en-US" sz="2000">
                  <a:solidFill>
                    <a:srgbClr val="333399"/>
                  </a:solidFill>
                  <a:latin typeface="Arial Rounded MT Bold" pitchFamily="34" charset="0"/>
                  <a:ea typeface="黑体" pitchFamily="49" charset="-122"/>
                </a:rPr>
                <a:t>首部</a:t>
              </a:r>
              <a:endParaRPr lang="zh-CN" altLang="en-US" sz="2000">
                <a:solidFill>
                  <a:srgbClr val="333399"/>
                </a:solidFill>
                <a:ea typeface="黑体" pitchFamily="49" charset="-122"/>
              </a:endParaRPr>
            </a:p>
          </p:txBody>
        </p:sp>
        <p:sp>
          <p:nvSpPr>
            <p:cNvPr id="230476"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 name="标题 2"/>
          <p:cNvSpPr>
            <a:spLocks noGrp="1"/>
          </p:cNvSpPr>
          <p:nvPr>
            <p:ph type="title"/>
          </p:nvPr>
        </p:nvSpPr>
        <p:spPr>
          <a:xfrm>
            <a:off x="250824" y="204785"/>
            <a:ext cx="8229600" cy="703263"/>
          </a:xfrm>
        </p:spPr>
        <p:txBody>
          <a:bodyPr>
            <a:normAutofit fontScale="90000"/>
          </a:bodyPr>
          <a:lstStyle/>
          <a:p>
            <a:r>
              <a:rPr lang="en-US" altLang="zh-CN" b="1" dirty="0"/>
              <a:t>4.1.6 </a:t>
            </a:r>
            <a:r>
              <a:rPr lang="zh-CN" altLang="en-US" b="1" dirty="0"/>
              <a:t>互联网协议总结</a:t>
            </a:r>
            <a:endParaRPr lang="zh-CN" altLang="en-US" dirty="0"/>
          </a:p>
        </p:txBody>
      </p:sp>
    </p:spTree>
    <p:extLst>
      <p:ext uri="{BB962C8B-B14F-4D97-AF65-F5344CB8AC3E}">
        <p14:creationId xmlns:p14="http://schemas.microsoft.com/office/powerpoint/2010/main" val="976547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04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230450"/>
                                        </p:tgtEl>
                                        <p:attrNameLst>
                                          <p:attrName>style.visibility</p:attrName>
                                        </p:attrNameLst>
                                      </p:cBhvr>
                                      <p:to>
                                        <p:strVal val="visible"/>
                                      </p:to>
                                    </p:set>
                                    <p:animEffect transition="in" filter="wipe(up)">
                                      <p:cBhvr>
                                        <p:cTn id="10" dur="1000"/>
                                        <p:tgtEl>
                                          <p:spTgt spid="2304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230437"/>
                                        </p:tgtEl>
                                        <p:attrNameLst>
                                          <p:attrName>style.visibility</p:attrName>
                                        </p:attrNameLst>
                                      </p:cBhvr>
                                      <p:to>
                                        <p:strVal val="visible"/>
                                      </p:to>
                                    </p:set>
                                  </p:childTnLst>
                                </p:cTn>
                              </p:par>
                            </p:childTnLst>
                          </p:cTn>
                        </p:par>
                        <p:par>
                          <p:cTn id="14" fill="hold" nodeType="afterGroup">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230431"/>
                                        </p:tgtEl>
                                        <p:attrNameLst>
                                          <p:attrName>style.visibility</p:attrName>
                                        </p:attrNameLst>
                                      </p:cBhvr>
                                      <p:to>
                                        <p:strVal val="visible"/>
                                      </p:to>
                                    </p:set>
                                    <p:animEffect transition="in" filter="slide(fromLeft)">
                                      <p:cBhvr>
                                        <p:cTn id="17" dur="1000"/>
                                        <p:tgtEl>
                                          <p:spTgt spid="230431"/>
                                        </p:tgtEl>
                                      </p:cBhvr>
                                    </p:animEffect>
                                  </p:childTnLst>
                                </p:cTn>
                              </p:par>
                            </p:childTnLst>
                          </p:cTn>
                        </p:par>
                        <p:par>
                          <p:cTn id="18" fill="hold" nodeType="afterGroup">
                            <p:stCondLst>
                              <p:cond delay="5000"/>
                            </p:stCondLst>
                            <p:childTnLst>
                              <p:par>
                                <p:cTn id="19" presetID="9" presetClass="emph" presetSubtype="0" nodeType="afterEffect">
                                  <p:stCondLst>
                                    <p:cond delay="500"/>
                                  </p:stCondLst>
                                  <p:childTnLst>
                                    <p:set>
                                      <p:cBhvr rctx="PPT">
                                        <p:cTn id="20" dur="indefinite"/>
                                        <p:tgtEl>
                                          <p:spTgt spid="230450"/>
                                        </p:tgtEl>
                                        <p:attrNameLst>
                                          <p:attrName>style.opacity</p:attrName>
                                        </p:attrNameLst>
                                      </p:cBhvr>
                                      <p:to>
                                        <p:strVal val="0.5"/>
                                      </p:to>
                                    </p:set>
                                    <p:animEffect filter="image" prLst="opacity: 0.5">
                                      <p:cBhvr rctx="IE">
                                        <p:cTn id="21" dur="indefinite"/>
                                        <p:tgtEl>
                                          <p:spTgt spid="230450"/>
                                        </p:tgtEl>
                                      </p:cBhvr>
                                    </p:animEffect>
                                  </p:childTnLst>
                                </p:cTn>
                              </p:par>
                            </p:childTnLst>
                          </p:cTn>
                        </p:par>
                        <p:par>
                          <p:cTn id="22" fill="hold" nodeType="afterGroup">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230453"/>
                                        </p:tgtEl>
                                        <p:attrNameLst>
                                          <p:attrName>style.visibility</p:attrName>
                                        </p:attrNameLst>
                                      </p:cBhvr>
                                      <p:to>
                                        <p:strVal val="visible"/>
                                      </p:to>
                                    </p:set>
                                    <p:animEffect transition="in" filter="wipe(up)">
                                      <p:cBhvr>
                                        <p:cTn id="25" dur="1000"/>
                                        <p:tgtEl>
                                          <p:spTgt spid="230453"/>
                                        </p:tgtEl>
                                      </p:cBhvr>
                                    </p:animEffect>
                                  </p:childTnLst>
                                </p:cTn>
                              </p:par>
                            </p:childTnLst>
                          </p:cTn>
                        </p:par>
                        <p:par>
                          <p:cTn id="26" fill="hold" nodeType="afterGroup">
                            <p:stCondLst>
                              <p:cond delay="7000"/>
                            </p:stCondLst>
                            <p:childTnLst>
                              <p:par>
                                <p:cTn id="27" presetID="1" presetClass="entr" presetSubtype="0" fill="hold" nodeType="afterEffect">
                                  <p:stCondLst>
                                    <p:cond delay="500"/>
                                  </p:stCondLst>
                                  <p:childTnLst>
                                    <p:set>
                                      <p:cBhvr>
                                        <p:cTn id="28" dur="1" fill="hold">
                                          <p:stCondLst>
                                            <p:cond delay="0"/>
                                          </p:stCondLst>
                                        </p:cTn>
                                        <p:tgtEl>
                                          <p:spTgt spid="230438"/>
                                        </p:tgtEl>
                                        <p:attrNameLst>
                                          <p:attrName>style.visibility</p:attrName>
                                        </p:attrNameLst>
                                      </p:cBhvr>
                                      <p:to>
                                        <p:strVal val="visible"/>
                                      </p:to>
                                    </p:set>
                                  </p:childTnLst>
                                </p:cTn>
                              </p:par>
                            </p:childTnLst>
                          </p:cTn>
                        </p:par>
                        <p:par>
                          <p:cTn id="29" fill="hold" nodeType="afterGroup">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230465"/>
                                        </p:tgtEl>
                                        <p:attrNameLst>
                                          <p:attrName>style.visibility</p:attrName>
                                        </p:attrNameLst>
                                      </p:cBhvr>
                                      <p:to>
                                        <p:strVal val="visible"/>
                                      </p:to>
                                    </p:set>
                                    <p:animEffect transition="in" filter="slide(fromLeft)">
                                      <p:cBhvr>
                                        <p:cTn id="32" dur="1000"/>
                                        <p:tgtEl>
                                          <p:spTgt spid="230465"/>
                                        </p:tgtEl>
                                      </p:cBhvr>
                                    </p:animEffect>
                                  </p:childTnLst>
                                </p:cTn>
                              </p:par>
                            </p:childTnLst>
                          </p:cTn>
                        </p:par>
                        <p:par>
                          <p:cTn id="33" fill="hold" nodeType="afterGroup">
                            <p:stCondLst>
                              <p:cond delay="9500"/>
                            </p:stCondLst>
                            <p:childTnLst>
                              <p:par>
                                <p:cTn id="34" presetID="9" presetClass="emph" presetSubtype="0" nodeType="afterEffect">
                                  <p:stCondLst>
                                    <p:cond delay="0"/>
                                  </p:stCondLst>
                                  <p:childTnLst>
                                    <p:set>
                                      <p:cBhvr rctx="PPT">
                                        <p:cTn id="35" dur="indefinite"/>
                                        <p:tgtEl>
                                          <p:spTgt spid="230453"/>
                                        </p:tgtEl>
                                        <p:attrNameLst>
                                          <p:attrName>style.opacity</p:attrName>
                                        </p:attrNameLst>
                                      </p:cBhvr>
                                      <p:to>
                                        <p:strVal val="0.5"/>
                                      </p:to>
                                    </p:set>
                                    <p:animEffect filter="image" prLst="opacity: 0.5">
                                      <p:cBhvr rctx="IE">
                                        <p:cTn id="36" dur="indefinite"/>
                                        <p:tgtEl>
                                          <p:spTgt spid="230453"/>
                                        </p:tgtEl>
                                      </p:cBhvr>
                                    </p:animEffect>
                                  </p:childTnLst>
                                </p:cTn>
                              </p:par>
                            </p:childTnLst>
                          </p:cTn>
                        </p:par>
                        <p:par>
                          <p:cTn id="37" fill="hold" nodeType="afterGroup">
                            <p:stCondLst>
                              <p:cond delay="9500"/>
                            </p:stCondLst>
                            <p:childTnLst>
                              <p:par>
                                <p:cTn id="38" presetID="22" presetClass="entr" presetSubtype="1" fill="hold" nodeType="afterEffect">
                                  <p:stCondLst>
                                    <p:cond delay="0"/>
                                  </p:stCondLst>
                                  <p:childTnLst>
                                    <p:set>
                                      <p:cBhvr>
                                        <p:cTn id="39" dur="1" fill="hold">
                                          <p:stCondLst>
                                            <p:cond delay="0"/>
                                          </p:stCondLst>
                                        </p:cTn>
                                        <p:tgtEl>
                                          <p:spTgt spid="230456"/>
                                        </p:tgtEl>
                                        <p:attrNameLst>
                                          <p:attrName>style.visibility</p:attrName>
                                        </p:attrNameLst>
                                      </p:cBhvr>
                                      <p:to>
                                        <p:strVal val="visible"/>
                                      </p:to>
                                    </p:set>
                                    <p:animEffect transition="in" filter="wipe(up)">
                                      <p:cBhvr>
                                        <p:cTn id="40" dur="1000"/>
                                        <p:tgtEl>
                                          <p:spTgt spid="230456"/>
                                        </p:tgtEl>
                                      </p:cBhvr>
                                    </p:animEffect>
                                  </p:childTnLst>
                                </p:cTn>
                              </p:par>
                            </p:childTnLst>
                          </p:cTn>
                        </p:par>
                        <p:par>
                          <p:cTn id="41" fill="hold" nodeType="afterGroup">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230441"/>
                                        </p:tgtEl>
                                        <p:attrNameLst>
                                          <p:attrName>style.visibility</p:attrName>
                                        </p:attrNameLst>
                                      </p:cBhvr>
                                      <p:to>
                                        <p:strVal val="visible"/>
                                      </p:to>
                                    </p:set>
                                  </p:childTnLst>
                                </p:cTn>
                              </p:par>
                            </p:childTnLst>
                          </p:cTn>
                        </p:par>
                        <p:par>
                          <p:cTn id="44" fill="hold" nodeType="afterGroup">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230469"/>
                                        </p:tgtEl>
                                        <p:attrNameLst>
                                          <p:attrName>style.visibility</p:attrName>
                                        </p:attrNameLst>
                                      </p:cBhvr>
                                      <p:to>
                                        <p:strVal val="visible"/>
                                      </p:to>
                                    </p:set>
                                    <p:animEffect transition="in" filter="slide(fromLeft)">
                                      <p:cBhvr>
                                        <p:cTn id="47" dur="1000"/>
                                        <p:tgtEl>
                                          <p:spTgt spid="230469"/>
                                        </p:tgtEl>
                                      </p:cBhvr>
                                    </p:animEffect>
                                  </p:childTnLst>
                                </p:cTn>
                              </p:par>
                            </p:childTnLst>
                          </p:cTn>
                        </p:par>
                        <p:par>
                          <p:cTn id="48" fill="hold" nodeType="afterGroup">
                            <p:stCondLst>
                              <p:cond delay="13000"/>
                            </p:stCondLst>
                            <p:childTnLst>
                              <p:par>
                                <p:cTn id="49" presetID="9" presetClass="emph" presetSubtype="0" nodeType="afterEffect">
                                  <p:stCondLst>
                                    <p:cond delay="0"/>
                                  </p:stCondLst>
                                  <p:childTnLst>
                                    <p:set>
                                      <p:cBhvr rctx="PPT">
                                        <p:cTn id="50" dur="indefinite"/>
                                        <p:tgtEl>
                                          <p:spTgt spid="230456"/>
                                        </p:tgtEl>
                                        <p:attrNameLst>
                                          <p:attrName>style.opacity</p:attrName>
                                        </p:attrNameLst>
                                      </p:cBhvr>
                                      <p:to>
                                        <p:strVal val="0.5"/>
                                      </p:to>
                                    </p:set>
                                    <p:animEffect filter="image" prLst="opacity: 0.5">
                                      <p:cBhvr rctx="IE">
                                        <p:cTn id="51" dur="indefinite"/>
                                        <p:tgtEl>
                                          <p:spTgt spid="230456"/>
                                        </p:tgtEl>
                                      </p:cBhvr>
                                    </p:animEffect>
                                  </p:childTnLst>
                                </p:cTn>
                              </p:par>
                            </p:childTnLst>
                          </p:cTn>
                        </p:par>
                        <p:par>
                          <p:cTn id="52" fill="hold" nodeType="afterGroup">
                            <p:stCondLst>
                              <p:cond delay="13000"/>
                            </p:stCondLst>
                            <p:childTnLst>
                              <p:par>
                                <p:cTn id="53" presetID="22" presetClass="entr" presetSubtype="1" fill="hold" nodeType="afterEffect">
                                  <p:stCondLst>
                                    <p:cond delay="0"/>
                                  </p:stCondLst>
                                  <p:childTnLst>
                                    <p:set>
                                      <p:cBhvr>
                                        <p:cTn id="54" dur="1" fill="hold">
                                          <p:stCondLst>
                                            <p:cond delay="0"/>
                                          </p:stCondLst>
                                        </p:cTn>
                                        <p:tgtEl>
                                          <p:spTgt spid="230459"/>
                                        </p:tgtEl>
                                        <p:attrNameLst>
                                          <p:attrName>style.visibility</p:attrName>
                                        </p:attrNameLst>
                                      </p:cBhvr>
                                      <p:to>
                                        <p:strVal val="visible"/>
                                      </p:to>
                                    </p:set>
                                    <p:animEffect transition="in" filter="wipe(up)">
                                      <p:cBhvr>
                                        <p:cTn id="55" dur="1000"/>
                                        <p:tgtEl>
                                          <p:spTgt spid="230459"/>
                                        </p:tgtEl>
                                      </p:cBhvr>
                                    </p:animEffect>
                                  </p:childTnLst>
                                </p:cTn>
                              </p:par>
                            </p:childTnLst>
                          </p:cTn>
                        </p:par>
                        <p:par>
                          <p:cTn id="56" fill="hold" nodeType="afterGroup">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230445"/>
                                        </p:tgtEl>
                                        <p:attrNameLst>
                                          <p:attrName>style.visibility</p:attrName>
                                        </p:attrNameLst>
                                      </p:cBhvr>
                                      <p:to>
                                        <p:strVal val="visible"/>
                                      </p:to>
                                    </p:set>
                                  </p:childTnLst>
                                </p:cTn>
                              </p:par>
                            </p:childTnLst>
                          </p:cTn>
                        </p:par>
                        <p:par>
                          <p:cTn id="59" fill="hold" nodeType="afterGroup">
                            <p:stCondLst>
                              <p:cond delay="14500"/>
                            </p:stCondLst>
                            <p:childTnLst>
                              <p:par>
                                <p:cTn id="60" presetID="12" presetClass="entr" presetSubtype="8" fill="hold" nodeType="afterEffect">
                                  <p:stCondLst>
                                    <p:cond delay="0"/>
                                  </p:stCondLst>
                                  <p:childTnLst>
                                    <p:set>
                                      <p:cBhvr>
                                        <p:cTn id="61" dur="1" fill="hold">
                                          <p:stCondLst>
                                            <p:cond delay="0"/>
                                          </p:stCondLst>
                                        </p:cTn>
                                        <p:tgtEl>
                                          <p:spTgt spid="230473"/>
                                        </p:tgtEl>
                                        <p:attrNameLst>
                                          <p:attrName>style.visibility</p:attrName>
                                        </p:attrNameLst>
                                      </p:cBhvr>
                                      <p:to>
                                        <p:strVal val="visible"/>
                                      </p:to>
                                    </p:set>
                                    <p:animEffect transition="in" filter="slide(fromLeft)">
                                      <p:cBhvr>
                                        <p:cTn id="62" dur="1000"/>
                                        <p:tgtEl>
                                          <p:spTgt spid="230473"/>
                                        </p:tgtEl>
                                      </p:cBhvr>
                                    </p:animEffect>
                                  </p:childTnLst>
                                </p:cTn>
                              </p:par>
                            </p:childTnLst>
                          </p:cTn>
                        </p:par>
                        <p:par>
                          <p:cTn id="63" fill="hold" nodeType="afterGroup">
                            <p:stCondLst>
                              <p:cond delay="15500"/>
                            </p:stCondLst>
                            <p:childTnLst>
                              <p:par>
                                <p:cTn id="64" presetID="22" presetClass="entr" presetSubtype="1" fill="hold" nodeType="afterEffect">
                                  <p:stCondLst>
                                    <p:cond delay="0"/>
                                  </p:stCondLst>
                                  <p:childTnLst>
                                    <p:set>
                                      <p:cBhvr>
                                        <p:cTn id="65" dur="1" fill="hold">
                                          <p:stCondLst>
                                            <p:cond delay="0"/>
                                          </p:stCondLst>
                                        </p:cTn>
                                        <p:tgtEl>
                                          <p:spTgt spid="230462"/>
                                        </p:tgtEl>
                                        <p:attrNameLst>
                                          <p:attrName>style.visibility</p:attrName>
                                        </p:attrNameLst>
                                      </p:cBhvr>
                                      <p:to>
                                        <p:strVal val="visible"/>
                                      </p:to>
                                    </p:set>
                                    <p:animEffect transition="in" filter="wipe(up)">
                                      <p:cBhvr>
                                        <p:cTn id="66" dur="1000"/>
                                        <p:tgtEl>
                                          <p:spTgt spid="230462"/>
                                        </p:tgtEl>
                                      </p:cBhvr>
                                    </p:animEffect>
                                  </p:childTnLst>
                                </p:cTn>
                              </p:par>
                            </p:childTnLst>
                          </p:cTn>
                        </p:par>
                        <p:par>
                          <p:cTn id="67" fill="hold" nodeType="afterGroup">
                            <p:stCondLst>
                              <p:cond delay="16500"/>
                            </p:stCondLst>
                            <p:childTnLst>
                              <p:par>
                                <p:cTn id="68" presetID="9" presetClass="emph" presetSubtype="0" nodeType="afterEffect">
                                  <p:stCondLst>
                                    <p:cond delay="0"/>
                                  </p:stCondLst>
                                  <p:childTnLst>
                                    <p:set>
                                      <p:cBhvr rctx="PPT">
                                        <p:cTn id="69" dur="indefinite"/>
                                        <p:tgtEl>
                                          <p:spTgt spid="230459"/>
                                        </p:tgtEl>
                                        <p:attrNameLst>
                                          <p:attrName>style.opacity</p:attrName>
                                        </p:attrNameLst>
                                      </p:cBhvr>
                                      <p:to>
                                        <p:strVal val="0.5"/>
                                      </p:to>
                                    </p:set>
                                    <p:animEffect filter="image" prLst="opacity: 0.5">
                                      <p:cBhvr rctx="IE">
                                        <p:cTn id="70" dur="indefinite"/>
                                        <p:tgtEl>
                                          <p:spTgt spid="230459"/>
                                        </p:tgtEl>
                                      </p:cBhvr>
                                    </p:animEffect>
                                  </p:childTnLst>
                                </p:cTn>
                              </p:par>
                            </p:childTnLst>
                          </p:cTn>
                        </p:par>
                        <p:par>
                          <p:cTn id="71" fill="hold" nodeType="afterGroup">
                            <p:stCondLst>
                              <p:cond delay="16500"/>
                            </p:stCondLst>
                            <p:childTnLst>
                              <p:par>
                                <p:cTn id="72" presetID="1" presetClass="entr" presetSubtype="0" fill="hold" grpId="0" nodeType="afterEffect">
                                  <p:stCondLst>
                                    <p:cond delay="500"/>
                                  </p:stCondLst>
                                  <p:childTnLst>
                                    <p:set>
                                      <p:cBhvr>
                                        <p:cTn id="73" dur="1" fill="hold">
                                          <p:stCondLst>
                                            <p:cond delay="0"/>
                                          </p:stCondLst>
                                        </p:cTn>
                                        <p:tgtEl>
                                          <p:spTgt spid="230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30" grpId="0" animBg="1" autoUpdateAnimBg="0"/>
      <p:bldP spid="230435" grpId="0" animBg="1"/>
      <p:bldP spid="23043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591393" y="1546969"/>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3245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5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5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245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245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245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245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2458"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59"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60"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61"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6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6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246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246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246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246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2468"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69"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70"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71"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7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3247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7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3247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247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32477"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32478" name="Rectangle 30"/>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2000">
                <a:solidFill>
                  <a:srgbClr val="333399"/>
                </a:solidFill>
                <a:latin typeface="Arial" charset="0"/>
                <a:ea typeface="黑体" pitchFamily="49" charset="-122"/>
              </a:rPr>
              <a:t>10100110100101  </a:t>
            </a:r>
            <a:r>
              <a:rPr kumimoji="0" lang="zh-CN" altLang="en-US" sz="2000">
                <a:solidFill>
                  <a:srgbClr val="333399"/>
                </a:solidFill>
                <a:latin typeface="Arial" charset="0"/>
                <a:ea typeface="黑体" pitchFamily="49" charset="-122"/>
              </a:rPr>
              <a:t>比  特  流  </a:t>
            </a:r>
            <a:r>
              <a:rPr kumimoji="0" lang="en-US" altLang="zh-CN" sz="2000">
                <a:solidFill>
                  <a:srgbClr val="333399"/>
                </a:solidFill>
                <a:latin typeface="Arial" charset="0"/>
                <a:ea typeface="黑体" pitchFamily="49" charset="-122"/>
              </a:rPr>
              <a:t>110101110101</a:t>
            </a:r>
          </a:p>
        </p:txBody>
      </p:sp>
      <p:sp>
        <p:nvSpPr>
          <p:cNvPr id="232479" name="Text Box 31"/>
          <p:cNvSpPr txBox="1">
            <a:spLocks noChangeArrowheads="1"/>
          </p:cNvSpPr>
          <p:nvPr/>
        </p:nvSpPr>
        <p:spPr bwMode="auto">
          <a:xfrm>
            <a:off x="2392363" y="3902075"/>
            <a:ext cx="44846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计算机 </a:t>
            </a:r>
            <a:r>
              <a:rPr lang="en-US" altLang="zh-CN">
                <a:solidFill>
                  <a:srgbClr val="333399"/>
                </a:solidFill>
                <a:latin typeface="Arial" charset="0"/>
                <a:ea typeface="黑体" pitchFamily="49" charset="-122"/>
              </a:rPr>
              <a:t>2 </a:t>
            </a:r>
            <a:r>
              <a:rPr lang="zh-CN" altLang="en-US">
                <a:solidFill>
                  <a:srgbClr val="333399"/>
                </a:solidFill>
                <a:latin typeface="Arial" charset="0"/>
                <a:ea typeface="黑体" pitchFamily="49" charset="-122"/>
              </a:rPr>
              <a:t>的物理层收到比特流后</a:t>
            </a:r>
          </a:p>
          <a:p>
            <a:pPr algn="ctr" eaLnBrk="0" hangingPunct="0"/>
            <a:r>
              <a:rPr lang="zh-CN" altLang="en-US">
                <a:solidFill>
                  <a:srgbClr val="333399"/>
                </a:solidFill>
                <a:latin typeface="Arial" charset="0"/>
                <a:ea typeface="黑体" pitchFamily="49" charset="-122"/>
              </a:rPr>
              <a:t>交给数据链路层</a:t>
            </a:r>
          </a:p>
        </p:txBody>
      </p:sp>
      <p:grpSp>
        <p:nvGrpSpPr>
          <p:cNvPr id="232480" name="Group 32"/>
          <p:cNvGrpSpPr>
            <a:grpSpLocks/>
          </p:cNvGrpSpPr>
          <p:nvPr/>
        </p:nvGrpSpPr>
        <p:grpSpPr bwMode="auto">
          <a:xfrm>
            <a:off x="1979613" y="4799013"/>
            <a:ext cx="4679950" cy="358775"/>
            <a:chOff x="1247" y="3023"/>
            <a:chExt cx="2948" cy="226"/>
          </a:xfrm>
        </p:grpSpPr>
        <p:sp>
          <p:nvSpPr>
            <p:cNvPr id="232481"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2</a:t>
              </a:r>
            </a:p>
          </p:txBody>
        </p:sp>
        <p:grpSp>
          <p:nvGrpSpPr>
            <p:cNvPr id="232483" name="Group 35"/>
            <p:cNvGrpSpPr>
              <a:grpSpLocks/>
            </p:cNvGrpSpPr>
            <p:nvPr/>
          </p:nvGrpSpPr>
          <p:grpSpPr bwMode="auto">
            <a:xfrm>
              <a:off x="1610" y="3023"/>
              <a:ext cx="2585" cy="226"/>
              <a:chOff x="1610" y="3023"/>
              <a:chExt cx="2585" cy="226"/>
            </a:xfrm>
          </p:grpSpPr>
          <p:sp>
            <p:nvSpPr>
              <p:cNvPr id="232484"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sp>
            <p:nvSpPr>
              <p:cNvPr id="232485"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2486"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2487"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grpSp>
      <p:grpSp>
        <p:nvGrpSpPr>
          <p:cNvPr id="232488" name="Group 40"/>
          <p:cNvGrpSpPr>
            <a:grpSpLocks/>
          </p:cNvGrpSpPr>
          <p:nvPr/>
        </p:nvGrpSpPr>
        <p:grpSpPr bwMode="auto">
          <a:xfrm>
            <a:off x="4087813" y="5013325"/>
            <a:ext cx="4352925" cy="396875"/>
            <a:chOff x="2575" y="3158"/>
            <a:chExt cx="2742" cy="250"/>
          </a:xfrm>
        </p:grpSpPr>
        <p:sp>
          <p:nvSpPr>
            <p:cNvPr id="232489" name="AutoShape 41"/>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2490" name="AutoShape 42"/>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4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4039292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32478"/>
                                        </p:tgtEl>
                                        <p:attrNameLst>
                                          <p:attrName>style.visibility</p:attrName>
                                        </p:attrNameLst>
                                      </p:cBhvr>
                                      <p:to>
                                        <p:strVal val="visible"/>
                                      </p:to>
                                    </p:set>
                                  </p:childTnLst>
                                </p:cTn>
                              </p:par>
                            </p:childTnLst>
                          </p:cTn>
                        </p:par>
                        <p:par>
                          <p:cTn id="7" fill="hold" nodeType="afterGroup">
                            <p:stCondLst>
                              <p:cond delay="1000"/>
                            </p:stCondLst>
                            <p:childTnLst>
                              <p:par>
                                <p:cTn id="8" presetID="22" presetClass="entr" presetSubtype="4" fill="hold" nodeType="afterEffect">
                                  <p:stCondLst>
                                    <p:cond delay="0"/>
                                  </p:stCondLst>
                                  <p:childTnLst>
                                    <p:set>
                                      <p:cBhvr>
                                        <p:cTn id="9" dur="1" fill="hold">
                                          <p:stCondLst>
                                            <p:cond delay="0"/>
                                          </p:stCondLst>
                                        </p:cTn>
                                        <p:tgtEl>
                                          <p:spTgt spid="232488"/>
                                        </p:tgtEl>
                                        <p:attrNameLst>
                                          <p:attrName>style.visibility</p:attrName>
                                        </p:attrNameLst>
                                      </p:cBhvr>
                                      <p:to>
                                        <p:strVal val="visible"/>
                                      </p:to>
                                    </p:set>
                                    <p:animEffect transition="in" filter="wipe(down)">
                                      <p:cBhvr>
                                        <p:cTn id="10" dur="1000"/>
                                        <p:tgtEl>
                                          <p:spTgt spid="232488"/>
                                        </p:tgtEl>
                                      </p:cBhvr>
                                    </p:animEffect>
                                  </p:childTnLst>
                                </p:cTn>
                              </p:par>
                            </p:childTnLst>
                          </p:cTn>
                        </p:par>
                        <p:par>
                          <p:cTn id="11" fill="hold" nodeType="afterGroup">
                            <p:stCondLst>
                              <p:cond delay="2000"/>
                            </p:stCondLst>
                            <p:childTnLst>
                              <p:par>
                                <p:cTn id="12" presetID="1" presetClass="entr" presetSubtype="0" fill="hold" nodeType="afterEffect">
                                  <p:stCondLst>
                                    <p:cond delay="0"/>
                                  </p:stCondLst>
                                  <p:childTnLst>
                                    <p:set>
                                      <p:cBhvr>
                                        <p:cTn id="13" dur="1" fill="hold">
                                          <p:stCondLst>
                                            <p:cond delay="0"/>
                                          </p:stCondLst>
                                        </p:cTn>
                                        <p:tgtEl>
                                          <p:spTgt spid="232480"/>
                                        </p:tgtEl>
                                        <p:attrNameLst>
                                          <p:attrName>style.visibility</p:attrName>
                                        </p:attrNameLst>
                                      </p:cBhvr>
                                      <p:to>
                                        <p:strVal val="visible"/>
                                      </p:to>
                                    </p:set>
                                  </p:childTnLst>
                                </p:cTn>
                              </p:par>
                            </p:childTnLst>
                          </p:cTn>
                        </p:par>
                        <p:par>
                          <p:cTn id="14" fill="hold" nodeType="afterGroup">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232478"/>
                                        </p:tgtEl>
                                        <p:attrNameLst>
                                          <p:attrName>style.visibility</p:attrName>
                                        </p:attrNameLst>
                                      </p:cBhvr>
                                      <p:to>
                                        <p:strVal val="hidden"/>
                                      </p:to>
                                    </p:set>
                                  </p:childTnLst>
                                </p:cTn>
                              </p:par>
                            </p:childTnLst>
                          </p:cTn>
                        </p:par>
                        <p:par>
                          <p:cTn id="17" fill="hold" nodeType="afterGroup">
                            <p:stCondLst>
                              <p:cond delay="2000"/>
                            </p:stCondLst>
                            <p:childTnLst>
                              <p:par>
                                <p:cTn id="18" presetID="1" presetClass="exit" presetSubtype="0" fill="hold" nodeType="afterEffect">
                                  <p:stCondLst>
                                    <p:cond delay="0"/>
                                  </p:stCondLst>
                                  <p:childTnLst>
                                    <p:set>
                                      <p:cBhvr>
                                        <p:cTn id="19" dur="1" fill="hold">
                                          <p:stCondLst>
                                            <p:cond delay="0"/>
                                          </p:stCondLst>
                                        </p:cTn>
                                        <p:tgtEl>
                                          <p:spTgt spid="2324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78" grpId="0" animBg="1"/>
      <p:bldP spid="232478"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4498" name="Group 2"/>
          <p:cNvGrpSpPr>
            <a:grpSpLocks/>
          </p:cNvGrpSpPr>
          <p:nvPr/>
        </p:nvGrpSpPr>
        <p:grpSpPr bwMode="auto">
          <a:xfrm>
            <a:off x="2555875" y="4222750"/>
            <a:ext cx="4103688" cy="358775"/>
            <a:chOff x="1610" y="3023"/>
            <a:chExt cx="2585" cy="226"/>
          </a:xfrm>
        </p:grpSpPr>
        <p:sp>
          <p:nvSpPr>
            <p:cNvPr id="234499"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sp>
          <p:nvSpPr>
            <p:cNvPr id="234500"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4501"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4502"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sp>
        <p:nvSpPr>
          <p:cNvPr id="234503" name="Rectangle 7"/>
          <p:cNvSpPr>
            <a:spLocks noGrp="1" noChangeArrowheads="1"/>
          </p:cNvSpPr>
          <p:nvPr>
            <p:ph type="title"/>
          </p:nvPr>
        </p:nvSpPr>
        <p:spPr>
          <a:xfrm>
            <a:off x="147638" y="1261790"/>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34504" name="AutoShape 8"/>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05" name="AutoShape 9"/>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06" name="Text Box 10"/>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4507" name="Text Box 11"/>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4508" name="Text Box 12"/>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4509" name="Text Box 13"/>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4510" name="Text Box 14"/>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4511" name="Freeform 15"/>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12" name="Freeform 16"/>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13" name="Freeform 17"/>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14" name="Freeform 18"/>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15" name="AutoShape 19"/>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16" name="Text Box 20"/>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4517" name="Text Box 21"/>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4518" name="Text Box 22"/>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4519" name="Text Box 23"/>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4520" name="Text Box 24"/>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4521" name="Freeform 25"/>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2" name="Freeform 26"/>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3" name="Freeform 27"/>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4" name="Freeform 28"/>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5" name="Text Box 29"/>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34526"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7" name="Text Box 31"/>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34528"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4529" name="Text Box 33"/>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34530" name="Text Box 34"/>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34531" name="Text Box 35"/>
          <p:cNvSpPr txBox="1">
            <a:spLocks noChangeArrowheads="1"/>
          </p:cNvSpPr>
          <p:nvPr/>
        </p:nvSpPr>
        <p:spPr bwMode="auto">
          <a:xfrm>
            <a:off x="2263775" y="3254375"/>
            <a:ext cx="4756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数据链路层剥去帧首部和帧尾部后</a:t>
            </a:r>
          </a:p>
          <a:p>
            <a:pPr algn="ctr" eaLnBrk="0" hangingPunct="0"/>
            <a:r>
              <a:rPr lang="zh-CN" altLang="en-US">
                <a:solidFill>
                  <a:srgbClr val="333399"/>
                </a:solidFill>
                <a:latin typeface="Arial" charset="0"/>
                <a:ea typeface="黑体" pitchFamily="49" charset="-122"/>
              </a:rPr>
              <a:t>把帧的数据部分交给网络层</a:t>
            </a:r>
          </a:p>
        </p:txBody>
      </p:sp>
      <p:sp>
        <p:nvSpPr>
          <p:cNvPr id="234532" name="Rectangle 36"/>
          <p:cNvSpPr>
            <a:spLocks noChangeArrowheads="1"/>
          </p:cNvSpPr>
          <p:nvPr/>
        </p:nvSpPr>
        <p:spPr bwMode="auto">
          <a:xfrm>
            <a:off x="1979613" y="4797425"/>
            <a:ext cx="576262" cy="358775"/>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2</a:t>
            </a:r>
          </a:p>
        </p:txBody>
      </p:sp>
      <p:grpSp>
        <p:nvGrpSpPr>
          <p:cNvPr id="234534" name="Group 38"/>
          <p:cNvGrpSpPr>
            <a:grpSpLocks/>
          </p:cNvGrpSpPr>
          <p:nvPr/>
        </p:nvGrpSpPr>
        <p:grpSpPr bwMode="auto">
          <a:xfrm>
            <a:off x="2555875" y="4799013"/>
            <a:ext cx="4103688" cy="358775"/>
            <a:chOff x="1610" y="3023"/>
            <a:chExt cx="2585" cy="226"/>
          </a:xfrm>
        </p:grpSpPr>
        <p:sp>
          <p:nvSpPr>
            <p:cNvPr id="234535"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sp>
          <p:nvSpPr>
            <p:cNvPr id="234536"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4537"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4538"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grpSp>
        <p:nvGrpSpPr>
          <p:cNvPr id="234539" name="Group 43"/>
          <p:cNvGrpSpPr>
            <a:grpSpLocks/>
          </p:cNvGrpSpPr>
          <p:nvPr/>
        </p:nvGrpSpPr>
        <p:grpSpPr bwMode="auto">
          <a:xfrm>
            <a:off x="4211638" y="4471988"/>
            <a:ext cx="4229100" cy="396875"/>
            <a:chOff x="2653" y="2817"/>
            <a:chExt cx="2664" cy="250"/>
          </a:xfrm>
        </p:grpSpPr>
        <p:sp>
          <p:nvSpPr>
            <p:cNvPr id="234540" name="AutoShape 44"/>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4541" name="AutoShape 45"/>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46"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002453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234532"/>
                                        </p:tgtEl>
                                      </p:cBhvr>
                                    </p:animEffect>
                                    <p:set>
                                      <p:cBhvr>
                                        <p:cTn id="7" dur="1" fill="hold">
                                          <p:stCondLst>
                                            <p:cond delay="999"/>
                                          </p:stCondLst>
                                        </p:cTn>
                                        <p:tgtEl>
                                          <p:spTgt spid="234532"/>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234539"/>
                                        </p:tgtEl>
                                        <p:attrNameLst>
                                          <p:attrName>style.visibility</p:attrName>
                                        </p:attrNameLst>
                                      </p:cBhvr>
                                      <p:to>
                                        <p:strVal val="visible"/>
                                      </p:to>
                                    </p:set>
                                    <p:animEffect transition="in" filter="wipe(down)">
                                      <p:cBhvr>
                                        <p:cTn id="11" dur="1000"/>
                                        <p:tgtEl>
                                          <p:spTgt spid="234539"/>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23453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234498"/>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2345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3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546" name="Group 2"/>
          <p:cNvGrpSpPr>
            <a:grpSpLocks/>
          </p:cNvGrpSpPr>
          <p:nvPr/>
        </p:nvGrpSpPr>
        <p:grpSpPr bwMode="auto">
          <a:xfrm>
            <a:off x="3059113" y="3575050"/>
            <a:ext cx="3598862" cy="358775"/>
            <a:chOff x="1928" y="2660"/>
            <a:chExt cx="2267" cy="226"/>
          </a:xfrm>
        </p:grpSpPr>
        <p:sp>
          <p:nvSpPr>
            <p:cNvPr id="236547"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6548"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6549"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sp>
        <p:nvSpPr>
          <p:cNvPr id="236550" name="Rectangle 6"/>
          <p:cNvSpPr>
            <a:spLocks noChangeArrowheads="1"/>
          </p:cNvSpPr>
          <p:nvPr/>
        </p:nvSpPr>
        <p:spPr bwMode="auto">
          <a:xfrm>
            <a:off x="2555875" y="4222750"/>
            <a:ext cx="504825"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3</a:t>
            </a:r>
          </a:p>
        </p:txBody>
      </p:sp>
      <p:grpSp>
        <p:nvGrpSpPr>
          <p:cNvPr id="236551" name="Group 7"/>
          <p:cNvGrpSpPr>
            <a:grpSpLocks/>
          </p:cNvGrpSpPr>
          <p:nvPr/>
        </p:nvGrpSpPr>
        <p:grpSpPr bwMode="auto">
          <a:xfrm>
            <a:off x="3060700" y="4222750"/>
            <a:ext cx="3598863" cy="358775"/>
            <a:chOff x="1928" y="2660"/>
            <a:chExt cx="2267" cy="226"/>
          </a:xfrm>
        </p:grpSpPr>
        <p:sp>
          <p:nvSpPr>
            <p:cNvPr id="236552"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sp>
          <p:nvSpPr>
            <p:cNvPr id="236553"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6554"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sp>
        <p:nvSpPr>
          <p:cNvPr id="236555" name="Rectangle 11"/>
          <p:cNvSpPr>
            <a:spLocks noGrp="1" noChangeArrowheads="1"/>
          </p:cNvSpPr>
          <p:nvPr>
            <p:ph type="title"/>
          </p:nvPr>
        </p:nvSpPr>
        <p:spPr>
          <a:xfrm>
            <a:off x="255588" y="1105694"/>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36556" name="AutoShape 12"/>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7" name="AutoShape 13"/>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8" name="Text Box 14"/>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6559" name="Text Box 15"/>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6560" name="Text Box 16"/>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6561" name="Text Box 17"/>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6562" name="Text Box 18"/>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6563" name="Freeform 19"/>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4" name="Freeform 20"/>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5" name="Freeform 21"/>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6" name="Freeform 22"/>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7" name="AutoShape 23"/>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8" name="Text Box 24"/>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6569" name="Text Box 25"/>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6570" name="Text Box 26"/>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6571" name="Text Box 27"/>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6572" name="Text Box 28"/>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6573" name="Freeform 29"/>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4" name="Freeform 30"/>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5" name="Freeform 31"/>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6" name="Freeform 32"/>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7" name="Text Box 33"/>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36578" name="AutoShape 34"/>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9" name="Text Box 35"/>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36580" name="AutoShape 36"/>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81" name="Text Box 37"/>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36582" name="Text Box 38"/>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36583" name="Text Box 39"/>
          <p:cNvSpPr txBox="1">
            <a:spLocks noChangeArrowheads="1"/>
          </p:cNvSpPr>
          <p:nvPr/>
        </p:nvSpPr>
        <p:spPr bwMode="auto">
          <a:xfrm>
            <a:off x="2566432" y="2678113"/>
            <a:ext cx="41857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dirty="0">
                <a:solidFill>
                  <a:srgbClr val="333399"/>
                </a:solidFill>
                <a:latin typeface="Arial" charset="0"/>
                <a:ea typeface="黑体" pitchFamily="49" charset="-122"/>
              </a:rPr>
              <a:t>网络层剥去分组首部后</a:t>
            </a:r>
          </a:p>
          <a:p>
            <a:pPr algn="ctr" eaLnBrk="0" hangingPunct="0"/>
            <a:r>
              <a:rPr lang="zh-CN" altLang="en-US" dirty="0">
                <a:solidFill>
                  <a:srgbClr val="333399"/>
                </a:solidFill>
                <a:latin typeface="Arial" charset="0"/>
                <a:ea typeface="黑体" pitchFamily="49" charset="-122"/>
              </a:rPr>
              <a:t>把分组的数据部分交给传输层</a:t>
            </a:r>
          </a:p>
        </p:txBody>
      </p:sp>
      <p:grpSp>
        <p:nvGrpSpPr>
          <p:cNvPr id="236584" name="Group 40"/>
          <p:cNvGrpSpPr>
            <a:grpSpLocks/>
          </p:cNvGrpSpPr>
          <p:nvPr/>
        </p:nvGrpSpPr>
        <p:grpSpPr bwMode="auto">
          <a:xfrm>
            <a:off x="4591050" y="3895725"/>
            <a:ext cx="3849688" cy="396875"/>
            <a:chOff x="2892" y="2454"/>
            <a:chExt cx="2425" cy="250"/>
          </a:xfrm>
        </p:grpSpPr>
        <p:sp>
          <p:nvSpPr>
            <p:cNvPr id="236585" name="AutoShape 41"/>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6586" name="AutoShape 42"/>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43"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922747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236550"/>
                                        </p:tgtEl>
                                      </p:cBhvr>
                                    </p:animEffect>
                                    <p:set>
                                      <p:cBhvr>
                                        <p:cTn id="7" dur="1" fill="hold">
                                          <p:stCondLst>
                                            <p:cond delay="999"/>
                                          </p:stCondLst>
                                        </p:cTn>
                                        <p:tgtEl>
                                          <p:spTgt spid="236550"/>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236584"/>
                                        </p:tgtEl>
                                        <p:attrNameLst>
                                          <p:attrName>style.visibility</p:attrName>
                                        </p:attrNameLst>
                                      </p:cBhvr>
                                      <p:to>
                                        <p:strVal val="visible"/>
                                      </p:to>
                                    </p:set>
                                    <p:animEffect transition="in" filter="wipe(down)">
                                      <p:cBhvr>
                                        <p:cTn id="11" dur="2000"/>
                                        <p:tgtEl>
                                          <p:spTgt spid="236584"/>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236551"/>
                                        </p:tgtEl>
                                        <p:attrNameLst>
                                          <p:attrName>style.visibility</p:attrName>
                                        </p:attrNameLst>
                                      </p:cBhvr>
                                      <p:to>
                                        <p:strVal val="hidden"/>
                                      </p:to>
                                    </p:set>
                                  </p:childTnLst>
                                </p:cTn>
                              </p:par>
                            </p:childTnLst>
                          </p:cTn>
                        </p:par>
                        <p:par>
                          <p:cTn id="15" fill="hold" nodeType="afterGroup">
                            <p:stCondLst>
                              <p:cond delay="4000"/>
                            </p:stCondLst>
                            <p:childTnLst>
                              <p:par>
                                <p:cTn id="16" presetID="1" presetClass="entr" presetSubtype="0" fill="hold" nodeType="afterEffect">
                                  <p:stCondLst>
                                    <p:cond delay="0"/>
                                  </p:stCondLst>
                                  <p:childTnLst>
                                    <p:set>
                                      <p:cBhvr>
                                        <p:cTn id="17" dur="1" fill="hold">
                                          <p:stCondLst>
                                            <p:cond delay="0"/>
                                          </p:stCondLst>
                                        </p:cTn>
                                        <p:tgtEl>
                                          <p:spTgt spid="236546"/>
                                        </p:tgtEl>
                                        <p:attrNameLst>
                                          <p:attrName>style.visibility</p:attrName>
                                        </p:attrNameLst>
                                      </p:cBhvr>
                                      <p:to>
                                        <p:strVal val="visible"/>
                                      </p:to>
                                    </p:set>
                                  </p:childTnLst>
                                </p:cTn>
                              </p:par>
                            </p:childTnLst>
                          </p:cTn>
                        </p:par>
                        <p:par>
                          <p:cTn id="18" fill="hold" nodeType="afterGroup">
                            <p:stCondLst>
                              <p:cond delay="4000"/>
                            </p:stCondLst>
                            <p:childTnLst>
                              <p:par>
                                <p:cTn id="19" presetID="1" presetClass="exit" presetSubtype="0" fill="hold" nodeType="afterEffect">
                                  <p:stCondLst>
                                    <p:cond delay="0"/>
                                  </p:stCondLst>
                                  <p:childTnLst>
                                    <p:set>
                                      <p:cBhvr>
                                        <p:cTn id="20" dur="1" fill="hold">
                                          <p:stCondLst>
                                            <p:cond delay="0"/>
                                          </p:stCondLst>
                                        </p:cTn>
                                        <p:tgtEl>
                                          <p:spTgt spid="2365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594" name="Group 2"/>
          <p:cNvGrpSpPr>
            <a:grpSpLocks/>
          </p:cNvGrpSpPr>
          <p:nvPr/>
        </p:nvGrpSpPr>
        <p:grpSpPr bwMode="auto">
          <a:xfrm>
            <a:off x="3563938" y="2997200"/>
            <a:ext cx="3094037" cy="358775"/>
            <a:chOff x="2245" y="2252"/>
            <a:chExt cx="1949" cy="226"/>
          </a:xfrm>
        </p:grpSpPr>
        <p:sp>
          <p:nvSpPr>
            <p:cNvPr id="238595"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8596"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sp>
        <p:nvSpPr>
          <p:cNvPr id="238597" name="Rectangle 5"/>
          <p:cNvSpPr>
            <a:spLocks noChangeArrowheads="1"/>
          </p:cNvSpPr>
          <p:nvPr/>
        </p:nvSpPr>
        <p:spPr bwMode="auto">
          <a:xfrm>
            <a:off x="3059113" y="3575050"/>
            <a:ext cx="504825" cy="358775"/>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4</a:t>
            </a:r>
          </a:p>
        </p:txBody>
      </p:sp>
      <p:grpSp>
        <p:nvGrpSpPr>
          <p:cNvPr id="238598" name="Group 6"/>
          <p:cNvGrpSpPr>
            <a:grpSpLocks/>
          </p:cNvGrpSpPr>
          <p:nvPr/>
        </p:nvGrpSpPr>
        <p:grpSpPr bwMode="auto">
          <a:xfrm>
            <a:off x="3563938" y="3575050"/>
            <a:ext cx="3094037" cy="358775"/>
            <a:chOff x="2245" y="2252"/>
            <a:chExt cx="1949" cy="226"/>
          </a:xfrm>
        </p:grpSpPr>
        <p:sp>
          <p:nvSpPr>
            <p:cNvPr id="238599"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38600"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grpSp>
      <p:sp>
        <p:nvSpPr>
          <p:cNvPr id="238601" name="Rectangle 9"/>
          <p:cNvSpPr>
            <a:spLocks noGrp="1" noChangeArrowheads="1"/>
          </p:cNvSpPr>
          <p:nvPr>
            <p:ph type="title"/>
          </p:nvPr>
        </p:nvSpPr>
        <p:spPr>
          <a:xfrm>
            <a:off x="395288" y="1019543"/>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38602" name="AutoShape 10"/>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03" name="AutoShape 11"/>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04" name="Text Box 12"/>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8605" name="Text Box 13"/>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8606" name="Text Box 14"/>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8607" name="Text Box 15"/>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8608" name="Text Box 16"/>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8609" name="Freeform 17"/>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10" name="Freeform 18"/>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11" name="Freeform 19"/>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12" name="Freeform 20"/>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13" name="AutoShape 21"/>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14" name="Text Box 22"/>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38615" name="Text Box 23"/>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38616" name="Text Box 24"/>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38617" name="Text Box 25"/>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38618" name="Text Box 26"/>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38619" name="Freeform 27"/>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0" name="Freeform 28"/>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1" name="Freeform 29"/>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2" name="Freeform 30"/>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3" name="Text Box 31"/>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38624" name="AutoShape 32"/>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5" name="Text Box 33"/>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38626" name="AutoShape 34"/>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627" name="Text Box 35"/>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38628" name="Text Box 36"/>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38629" name="Text Box 37"/>
          <p:cNvSpPr txBox="1">
            <a:spLocks noChangeArrowheads="1"/>
          </p:cNvSpPr>
          <p:nvPr/>
        </p:nvSpPr>
        <p:spPr bwMode="auto">
          <a:xfrm>
            <a:off x="2853770" y="2101850"/>
            <a:ext cx="41857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dirty="0">
                <a:solidFill>
                  <a:srgbClr val="333399"/>
                </a:solidFill>
                <a:latin typeface="Arial" charset="0"/>
                <a:ea typeface="黑体" pitchFamily="49" charset="-122"/>
              </a:rPr>
              <a:t>传输层剥去报文首部后</a:t>
            </a:r>
          </a:p>
          <a:p>
            <a:pPr algn="ctr" eaLnBrk="0" hangingPunct="0"/>
            <a:r>
              <a:rPr lang="zh-CN" altLang="en-US" dirty="0">
                <a:solidFill>
                  <a:srgbClr val="333399"/>
                </a:solidFill>
                <a:latin typeface="Arial" charset="0"/>
                <a:ea typeface="黑体" pitchFamily="49" charset="-122"/>
              </a:rPr>
              <a:t>把报文的数据部分交给应用层</a:t>
            </a:r>
          </a:p>
        </p:txBody>
      </p:sp>
      <p:grpSp>
        <p:nvGrpSpPr>
          <p:cNvPr id="238630" name="Group 38"/>
          <p:cNvGrpSpPr>
            <a:grpSpLocks/>
          </p:cNvGrpSpPr>
          <p:nvPr/>
        </p:nvGrpSpPr>
        <p:grpSpPr bwMode="auto">
          <a:xfrm>
            <a:off x="4951413" y="3248025"/>
            <a:ext cx="3489325" cy="396875"/>
            <a:chOff x="3119" y="2046"/>
            <a:chExt cx="2198" cy="250"/>
          </a:xfrm>
        </p:grpSpPr>
        <p:sp>
          <p:nvSpPr>
            <p:cNvPr id="238631" name="AutoShape 39"/>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38632" name="AutoShape 40"/>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41"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3683865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238597"/>
                                        </p:tgtEl>
                                      </p:cBhvr>
                                    </p:animEffect>
                                    <p:set>
                                      <p:cBhvr>
                                        <p:cTn id="7" dur="1" fill="hold">
                                          <p:stCondLst>
                                            <p:cond delay="999"/>
                                          </p:stCondLst>
                                        </p:cTn>
                                        <p:tgtEl>
                                          <p:spTgt spid="238597"/>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238630"/>
                                        </p:tgtEl>
                                        <p:attrNameLst>
                                          <p:attrName>style.visibility</p:attrName>
                                        </p:attrNameLst>
                                      </p:cBhvr>
                                      <p:to>
                                        <p:strVal val="visible"/>
                                      </p:to>
                                    </p:set>
                                    <p:animEffect transition="in" filter="wipe(down)">
                                      <p:cBhvr>
                                        <p:cTn id="11" dur="1000"/>
                                        <p:tgtEl>
                                          <p:spTgt spid="238630"/>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238598"/>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238594"/>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2386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7"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ChangeArrowheads="1"/>
          </p:cNvSpPr>
          <p:nvPr/>
        </p:nvSpPr>
        <p:spPr bwMode="auto">
          <a:xfrm>
            <a:off x="4067175" y="2422525"/>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sp>
        <p:nvSpPr>
          <p:cNvPr id="240643" name="Rectangle 3"/>
          <p:cNvSpPr>
            <a:spLocks noChangeArrowheads="1"/>
          </p:cNvSpPr>
          <p:nvPr/>
        </p:nvSpPr>
        <p:spPr bwMode="auto">
          <a:xfrm>
            <a:off x="3563938" y="2997200"/>
            <a:ext cx="504825" cy="358775"/>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solidFill>
                  <a:srgbClr val="333399"/>
                </a:solidFill>
                <a:latin typeface="Arial" charset="0"/>
              </a:rPr>
              <a:t>H</a:t>
            </a:r>
            <a:r>
              <a:rPr kumimoji="0" lang="en-US" altLang="zh-CN" sz="1800" b="1" baseline="-25000">
                <a:solidFill>
                  <a:srgbClr val="333399"/>
                </a:solidFill>
                <a:latin typeface="Arial" charset="0"/>
              </a:rPr>
              <a:t>5</a:t>
            </a:r>
          </a:p>
        </p:txBody>
      </p:sp>
      <p:sp>
        <p:nvSpPr>
          <p:cNvPr id="240644" name="Rectangle 4"/>
          <p:cNvSpPr>
            <a:spLocks noChangeArrowheads="1"/>
          </p:cNvSpPr>
          <p:nvPr/>
        </p:nvSpPr>
        <p:spPr bwMode="auto">
          <a:xfrm>
            <a:off x="4065588" y="2997200"/>
            <a:ext cx="2592387"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solidFill>
                  <a:srgbClr val="333399"/>
                </a:solidFill>
                <a:latin typeface="Tahoma" pitchFamily="34" charset="0"/>
                <a:ea typeface="黑体" pitchFamily="49" charset="-122"/>
              </a:rPr>
              <a:t>应 用 程 序 数 据</a:t>
            </a:r>
          </a:p>
        </p:txBody>
      </p:sp>
      <p:sp>
        <p:nvSpPr>
          <p:cNvPr id="240645" name="Rectangle 5"/>
          <p:cNvSpPr>
            <a:spLocks noGrp="1" noChangeArrowheads="1"/>
          </p:cNvSpPr>
          <p:nvPr>
            <p:ph type="title"/>
          </p:nvPr>
        </p:nvSpPr>
        <p:spPr>
          <a:xfrm>
            <a:off x="240308" y="1105694"/>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24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40646" name="AutoShape 6"/>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47" name="AutoShape 7"/>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48" name="Text Box 8"/>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40649" name="Text Box 9"/>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40650" name="Text Box 10"/>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40651" name="Text Box 11"/>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40652" name="Text Box 12"/>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40653" name="Freeform 13"/>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4" name="Freeform 14"/>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5" name="Freeform 15"/>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6" name="Freeform 16"/>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7" name="AutoShape 17"/>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8" name="Text Box 18"/>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40659" name="Text Box 19"/>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40660" name="Text Box 20"/>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40661" name="Text Box 21"/>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40662" name="Text Box 22"/>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40663" name="Freeform 23"/>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64" name="Freeform 24"/>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65" name="Freeform 25"/>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66" name="Freeform 26"/>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67" name="Text Box 27"/>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40668" name="AutoShape 28"/>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69" name="Text Box 29"/>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40670" name="AutoShape 30"/>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71" name="Text Box 31"/>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40672" name="Text Box 32"/>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40673" name="Text Box 33"/>
          <p:cNvSpPr txBox="1">
            <a:spLocks noChangeArrowheads="1"/>
          </p:cNvSpPr>
          <p:nvPr/>
        </p:nvSpPr>
        <p:spPr bwMode="auto">
          <a:xfrm>
            <a:off x="2987675" y="3573463"/>
            <a:ext cx="4349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Arial" charset="0"/>
                <a:ea typeface="黑体" pitchFamily="49" charset="-122"/>
              </a:rPr>
              <a:t>应用层剥去应用层 </a:t>
            </a:r>
            <a:r>
              <a:rPr lang="en-US" altLang="zh-CN">
                <a:solidFill>
                  <a:srgbClr val="333399"/>
                </a:solidFill>
                <a:latin typeface="Arial" charset="0"/>
                <a:ea typeface="黑体" pitchFamily="49" charset="-122"/>
              </a:rPr>
              <a:t>PDU </a:t>
            </a:r>
            <a:r>
              <a:rPr lang="zh-CN" altLang="en-US">
                <a:solidFill>
                  <a:srgbClr val="333399"/>
                </a:solidFill>
                <a:latin typeface="Arial" charset="0"/>
                <a:ea typeface="黑体" pitchFamily="49" charset="-122"/>
              </a:rPr>
              <a:t>首部后</a:t>
            </a:r>
          </a:p>
          <a:p>
            <a:pPr algn="ctr" eaLnBrk="0" hangingPunct="0"/>
            <a:r>
              <a:rPr lang="zh-CN" altLang="en-US">
                <a:solidFill>
                  <a:srgbClr val="333399"/>
                </a:solidFill>
                <a:latin typeface="Arial" charset="0"/>
                <a:ea typeface="黑体" pitchFamily="49" charset="-122"/>
              </a:rPr>
              <a:t>把应用程序数据交给应用进程</a:t>
            </a:r>
          </a:p>
        </p:txBody>
      </p:sp>
      <p:grpSp>
        <p:nvGrpSpPr>
          <p:cNvPr id="240674" name="Group 34"/>
          <p:cNvGrpSpPr>
            <a:grpSpLocks/>
          </p:cNvGrpSpPr>
          <p:nvPr/>
        </p:nvGrpSpPr>
        <p:grpSpPr bwMode="auto">
          <a:xfrm>
            <a:off x="5238750" y="2708275"/>
            <a:ext cx="3201988" cy="396875"/>
            <a:chOff x="3300" y="1706"/>
            <a:chExt cx="2017" cy="250"/>
          </a:xfrm>
        </p:grpSpPr>
        <p:sp>
          <p:nvSpPr>
            <p:cNvPr id="240675" name="AutoShape 35"/>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40676" name="AutoShape 36"/>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37"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a:t>4.1.6 </a:t>
            </a:r>
            <a:r>
              <a:rPr lang="zh-CN" altLang="en-US" b="1"/>
              <a:t>互联网协议总结</a:t>
            </a:r>
            <a:endParaRPr lang="zh-CN" altLang="en-US" dirty="0"/>
          </a:p>
        </p:txBody>
      </p:sp>
    </p:spTree>
    <p:extLst>
      <p:ext uri="{BB962C8B-B14F-4D97-AF65-F5344CB8AC3E}">
        <p14:creationId xmlns:p14="http://schemas.microsoft.com/office/powerpoint/2010/main" val="1053672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240643"/>
                                        </p:tgtEl>
                                      </p:cBhvr>
                                    </p:animEffect>
                                    <p:set>
                                      <p:cBhvr>
                                        <p:cTn id="7" dur="1" fill="hold">
                                          <p:stCondLst>
                                            <p:cond delay="999"/>
                                          </p:stCondLst>
                                        </p:cTn>
                                        <p:tgtEl>
                                          <p:spTgt spid="24064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240674"/>
                                        </p:tgtEl>
                                        <p:attrNameLst>
                                          <p:attrName>style.visibility</p:attrName>
                                        </p:attrNameLst>
                                      </p:cBhvr>
                                      <p:to>
                                        <p:strVal val="visible"/>
                                      </p:to>
                                    </p:set>
                                    <p:animEffect transition="in" filter="wipe(down)">
                                      <p:cBhvr>
                                        <p:cTn id="11" dur="1000"/>
                                        <p:tgtEl>
                                          <p:spTgt spid="24067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24064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240642"/>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2406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animBg="1"/>
      <p:bldP spid="240643" grpId="0" animBg="1"/>
      <p:bldP spid="24064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95288" y="1191418"/>
            <a:ext cx="8229600" cy="703263"/>
          </a:xfrm>
        </p:spPr>
        <p:txBody>
          <a:bodyPr>
            <a:normAutofit fontScale="90000"/>
          </a:bodyPr>
          <a:lstStyle/>
          <a:p>
            <a:pPr algn="ctr"/>
            <a:r>
              <a:rPr lang="zh-CN" altLang="en-US" dirty="0">
                <a:solidFill>
                  <a:schemeClr val="tx1"/>
                </a:solidFill>
              </a:rPr>
              <a:t>主机</a:t>
            </a:r>
            <a:r>
              <a:rPr lang="zh-CN" altLang="en-US" sz="2400" dirty="0">
                <a:solidFill>
                  <a:schemeClr val="tx1"/>
                </a:solidFill>
              </a:rPr>
              <a:t> </a:t>
            </a:r>
            <a:r>
              <a:rPr lang="en-US" altLang="zh-CN" dirty="0">
                <a:solidFill>
                  <a:schemeClr val="tx1"/>
                </a:solidFill>
              </a:rPr>
              <a:t>1</a:t>
            </a:r>
            <a:r>
              <a:rPr lang="en-US" altLang="zh-CN" sz="2400" dirty="0">
                <a:solidFill>
                  <a:schemeClr val="tx1"/>
                </a:solidFill>
              </a:rPr>
              <a:t> </a:t>
            </a:r>
            <a:r>
              <a:rPr lang="zh-CN" altLang="en-US" dirty="0">
                <a:solidFill>
                  <a:schemeClr val="tx1"/>
                </a:solidFill>
              </a:rPr>
              <a:t>向主机</a:t>
            </a:r>
            <a:r>
              <a:rPr lang="zh-CN" altLang="en-US" sz="1600" dirty="0">
                <a:solidFill>
                  <a:schemeClr val="tx1"/>
                </a:solidFill>
              </a:rPr>
              <a:t> </a:t>
            </a:r>
            <a:r>
              <a:rPr lang="en-US" altLang="zh-CN" dirty="0">
                <a:solidFill>
                  <a:schemeClr val="tx1"/>
                </a:solidFill>
              </a:rPr>
              <a:t>2</a:t>
            </a:r>
            <a:r>
              <a:rPr lang="en-US" altLang="zh-CN" sz="2400" dirty="0">
                <a:solidFill>
                  <a:schemeClr val="tx1"/>
                </a:solidFill>
              </a:rPr>
              <a:t> </a:t>
            </a:r>
            <a:r>
              <a:rPr lang="zh-CN" altLang="en-US" dirty="0">
                <a:solidFill>
                  <a:schemeClr val="tx1"/>
                </a:solidFill>
              </a:rPr>
              <a:t>发送数据 </a:t>
            </a:r>
          </a:p>
        </p:txBody>
      </p:sp>
      <p:sp>
        <p:nvSpPr>
          <p:cNvPr id="24269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69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69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4269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4269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4269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4269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42698" name="Freeform 10"/>
          <p:cNvSpPr>
            <a:spLocks/>
          </p:cNvSpPr>
          <p:nvPr/>
        </p:nvSpPr>
        <p:spPr bwMode="auto">
          <a:xfrm>
            <a:off x="533400" y="3449638"/>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699" name="Freeform 11"/>
          <p:cNvSpPr>
            <a:spLocks/>
          </p:cNvSpPr>
          <p:nvPr/>
        </p:nvSpPr>
        <p:spPr bwMode="auto">
          <a:xfrm>
            <a:off x="542925" y="4024313"/>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00" name="Freeform 12"/>
          <p:cNvSpPr>
            <a:spLocks/>
          </p:cNvSpPr>
          <p:nvPr/>
        </p:nvSpPr>
        <p:spPr bwMode="auto">
          <a:xfrm>
            <a:off x="520700" y="4600575"/>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01" name="Freeform 13"/>
          <p:cNvSpPr>
            <a:spLocks/>
          </p:cNvSpPr>
          <p:nvPr/>
        </p:nvSpPr>
        <p:spPr bwMode="auto">
          <a:xfrm>
            <a:off x="520700" y="5192713"/>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0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0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5</a:t>
            </a:r>
          </a:p>
        </p:txBody>
      </p:sp>
      <p:sp>
        <p:nvSpPr>
          <p:cNvPr id="24270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4</a:t>
            </a:r>
          </a:p>
        </p:txBody>
      </p:sp>
      <p:sp>
        <p:nvSpPr>
          <p:cNvPr id="24270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3</a:t>
            </a:r>
          </a:p>
        </p:txBody>
      </p:sp>
      <p:sp>
        <p:nvSpPr>
          <p:cNvPr id="24270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2</a:t>
            </a:r>
          </a:p>
        </p:txBody>
      </p:sp>
      <p:sp>
        <p:nvSpPr>
          <p:cNvPr id="24270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1</a:t>
            </a:r>
          </a:p>
        </p:txBody>
      </p:sp>
      <p:sp>
        <p:nvSpPr>
          <p:cNvPr id="242708" name="Freeform 20"/>
          <p:cNvSpPr>
            <a:spLocks/>
          </p:cNvSpPr>
          <p:nvPr/>
        </p:nvSpPr>
        <p:spPr bwMode="auto">
          <a:xfrm>
            <a:off x="7886700" y="3414713"/>
            <a:ext cx="847725"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09" name="Freeform 21"/>
          <p:cNvSpPr>
            <a:spLocks/>
          </p:cNvSpPr>
          <p:nvPr/>
        </p:nvSpPr>
        <p:spPr bwMode="auto">
          <a:xfrm>
            <a:off x="7896225" y="3989388"/>
            <a:ext cx="847725"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10" name="Freeform 22"/>
          <p:cNvSpPr>
            <a:spLocks/>
          </p:cNvSpPr>
          <p:nvPr/>
        </p:nvSpPr>
        <p:spPr bwMode="auto">
          <a:xfrm>
            <a:off x="7874000" y="4565650"/>
            <a:ext cx="869950"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11" name="Freeform 23"/>
          <p:cNvSpPr>
            <a:spLocks/>
          </p:cNvSpPr>
          <p:nvPr/>
        </p:nvSpPr>
        <p:spPr bwMode="auto">
          <a:xfrm>
            <a:off x="7874000" y="5157788"/>
            <a:ext cx="860425"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1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1</a:t>
            </a:r>
          </a:p>
        </p:txBody>
      </p:sp>
      <p:sp>
        <p:nvSpPr>
          <p:cNvPr id="24271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1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2</a:t>
            </a:r>
            <a:endParaRPr lang="en-US" altLang="zh-CN" sz="2000" b="1">
              <a:solidFill>
                <a:srgbClr val="333399"/>
              </a:solidFill>
              <a:latin typeface="Arial" charset="0"/>
            </a:endParaRPr>
          </a:p>
        </p:txBody>
      </p:sp>
      <p:sp>
        <p:nvSpPr>
          <p:cNvPr id="24271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271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en-US" altLang="zh-CN" sz="2000">
                <a:solidFill>
                  <a:srgbClr val="333399"/>
                </a:solidFill>
                <a:latin typeface="Arial" charset="0"/>
              </a:rPr>
              <a:t>AP</a:t>
            </a:r>
            <a:r>
              <a:rPr lang="en-US" altLang="zh-CN" sz="2000" b="1" baseline="-25000">
                <a:solidFill>
                  <a:srgbClr val="333399"/>
                </a:solidFill>
                <a:latin typeface="Arial" charset="0"/>
              </a:rPr>
              <a:t>1</a:t>
            </a:r>
            <a:endParaRPr lang="en-US" altLang="zh-CN" sz="2000" b="1">
              <a:solidFill>
                <a:srgbClr val="333399"/>
              </a:solidFill>
              <a:latin typeface="Arial" charset="0"/>
            </a:endParaRPr>
          </a:p>
        </p:txBody>
      </p:sp>
      <p:sp>
        <p:nvSpPr>
          <p:cNvPr id="242717"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r>
              <a:rPr lang="zh-CN" altLang="en-US" sz="2000">
                <a:solidFill>
                  <a:srgbClr val="333399"/>
                </a:solidFill>
                <a:latin typeface="Arial" charset="0"/>
                <a:ea typeface="黑体" pitchFamily="49" charset="-122"/>
              </a:rPr>
              <a:t>主机</a:t>
            </a:r>
            <a:r>
              <a:rPr lang="zh-CN" altLang="en-US" sz="1000">
                <a:solidFill>
                  <a:srgbClr val="333399"/>
                </a:solidFill>
                <a:latin typeface="Arial" charset="0"/>
                <a:ea typeface="黑体" pitchFamily="49" charset="-122"/>
              </a:rPr>
              <a:t> </a:t>
            </a:r>
            <a:r>
              <a:rPr lang="en-US" altLang="zh-CN" sz="2000">
                <a:solidFill>
                  <a:srgbClr val="333399"/>
                </a:solidFill>
                <a:latin typeface="Arial" charset="0"/>
                <a:ea typeface="黑体" pitchFamily="49" charset="-122"/>
              </a:rPr>
              <a:t>2</a:t>
            </a:r>
          </a:p>
        </p:txBody>
      </p:sp>
      <p:sp>
        <p:nvSpPr>
          <p:cNvPr id="242718"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0" lang="zh-CN" altLang="zh-CN" sz="1800">
              <a:latin typeface="Tahoma" pitchFamily="34" charset="0"/>
            </a:endParaRPr>
          </a:p>
        </p:txBody>
      </p:sp>
      <p:sp>
        <p:nvSpPr>
          <p:cNvPr id="242719" name="Text Box 31"/>
          <p:cNvSpPr txBox="1">
            <a:spLocks noChangeArrowheads="1"/>
          </p:cNvSpPr>
          <p:nvPr/>
        </p:nvSpPr>
        <p:spPr bwMode="auto">
          <a:xfrm>
            <a:off x="4140200" y="2060575"/>
            <a:ext cx="2943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kumimoji="1" sz="2400">
                <a:solidFill>
                  <a:schemeClr val="tx1"/>
                </a:solidFill>
                <a:latin typeface="Times New Roman" pitchFamily="18" charset="0"/>
                <a:ea typeface="宋体" pitchFamily="2" charset="-122"/>
              </a:defRPr>
            </a:lvl1pPr>
            <a:lvl2pPr marL="571500" defTabSz="762000">
              <a:defRPr kumimoji="1" sz="2400">
                <a:solidFill>
                  <a:schemeClr val="tx1"/>
                </a:solidFill>
                <a:latin typeface="Times New Roman" pitchFamily="18" charset="0"/>
                <a:ea typeface="宋体" pitchFamily="2" charset="-122"/>
              </a:defRPr>
            </a:lvl2pPr>
            <a:lvl3pPr marL="1143000" defTabSz="762000">
              <a:defRPr kumimoji="1" sz="2400">
                <a:solidFill>
                  <a:schemeClr val="tx1"/>
                </a:solidFill>
                <a:latin typeface="Times New Roman" pitchFamily="18" charset="0"/>
                <a:ea typeface="宋体" pitchFamily="2" charset="-122"/>
              </a:defRPr>
            </a:lvl3pPr>
            <a:lvl4pPr marL="1714500" defTabSz="762000">
              <a:defRPr kumimoji="1" sz="2400">
                <a:solidFill>
                  <a:schemeClr val="tx1"/>
                </a:solidFill>
                <a:latin typeface="Times New Roman" pitchFamily="18" charset="0"/>
                <a:ea typeface="宋体" pitchFamily="2" charset="-122"/>
              </a:defRPr>
            </a:lvl4pPr>
            <a:lvl5pPr marL="2286000" defTabSz="762000">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algn="ctr" eaLnBrk="0" hangingPunct="0"/>
            <a:r>
              <a:rPr lang="zh-CN" altLang="en-US">
                <a:solidFill>
                  <a:srgbClr val="333399"/>
                </a:solidFill>
                <a:latin typeface="Tahoma" pitchFamily="34" charset="0"/>
                <a:ea typeface="黑体" pitchFamily="49" charset="-122"/>
              </a:rPr>
              <a:t>我收到了</a:t>
            </a:r>
            <a:r>
              <a:rPr lang="zh-CN" altLang="en-US" sz="1400">
                <a:solidFill>
                  <a:srgbClr val="333399"/>
                </a:solidFill>
                <a:latin typeface="Arial" charset="0"/>
                <a:ea typeface="黑体" pitchFamily="49" charset="-122"/>
              </a:rPr>
              <a:t> </a:t>
            </a:r>
            <a:r>
              <a:rPr lang="en-US" altLang="zh-CN">
                <a:solidFill>
                  <a:srgbClr val="333399"/>
                </a:solidFill>
                <a:latin typeface="Arial" charset="0"/>
                <a:ea typeface="黑体" pitchFamily="49" charset="-122"/>
              </a:rPr>
              <a:t>AP</a:t>
            </a:r>
            <a:r>
              <a:rPr lang="en-US" altLang="zh-CN" baseline="-25000">
                <a:solidFill>
                  <a:srgbClr val="333399"/>
                </a:solidFill>
                <a:latin typeface="Arial" charset="0"/>
                <a:ea typeface="黑体" pitchFamily="49" charset="-122"/>
              </a:rPr>
              <a:t>1</a:t>
            </a:r>
            <a:r>
              <a:rPr lang="en-US" altLang="zh-CN" sz="1600">
                <a:solidFill>
                  <a:srgbClr val="333399"/>
                </a:solidFill>
                <a:latin typeface="Arial" charset="0"/>
                <a:ea typeface="黑体" pitchFamily="49" charset="-122"/>
              </a:rPr>
              <a:t> </a:t>
            </a:r>
            <a:r>
              <a:rPr lang="zh-CN" altLang="en-US">
                <a:solidFill>
                  <a:srgbClr val="333399"/>
                </a:solidFill>
                <a:latin typeface="Tahoma" pitchFamily="34" charset="0"/>
                <a:ea typeface="黑体" pitchFamily="49" charset="-122"/>
              </a:rPr>
              <a:t>发来的</a:t>
            </a:r>
          </a:p>
          <a:p>
            <a:pPr algn="ctr" eaLnBrk="0" hangingPunct="0"/>
            <a:r>
              <a:rPr lang="zh-CN" altLang="en-US">
                <a:solidFill>
                  <a:srgbClr val="333399"/>
                </a:solidFill>
                <a:latin typeface="Arial" charset="0"/>
                <a:ea typeface="黑体" pitchFamily="49" charset="-122"/>
              </a:rPr>
              <a:t>应用程序数据！</a:t>
            </a:r>
          </a:p>
        </p:txBody>
      </p:sp>
      <p:sp>
        <p:nvSpPr>
          <p:cNvPr id="32" name="标题 2"/>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b="1" dirty="0"/>
              <a:t>4.1.6 </a:t>
            </a:r>
            <a:r>
              <a:rPr lang="zh-CN" altLang="en-US" b="1" dirty="0"/>
              <a:t>互联网协议总结</a:t>
            </a:r>
            <a:endParaRPr lang="zh-CN" altLang="en-US" dirty="0"/>
          </a:p>
        </p:txBody>
      </p:sp>
    </p:spTree>
    <p:extLst>
      <p:ext uri="{BB962C8B-B14F-4D97-AF65-F5344CB8AC3E}">
        <p14:creationId xmlns:p14="http://schemas.microsoft.com/office/powerpoint/2010/main" val="4333017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1052736"/>
            <a:ext cx="8229600" cy="792088"/>
          </a:xfrm>
        </p:spPr>
        <p:txBody>
          <a:bodyPr/>
          <a:lstStyle/>
          <a:p>
            <a:r>
              <a:rPr lang="en-US" altLang="zh-CN" dirty="0" err="1"/>
              <a:t>Wireshark</a:t>
            </a:r>
            <a:endParaRPr lang="zh-CN" altLang="en-US" dirty="0"/>
          </a:p>
        </p:txBody>
      </p:sp>
      <p:sp>
        <p:nvSpPr>
          <p:cNvPr id="3" name="标题 2"/>
          <p:cNvSpPr>
            <a:spLocks noGrp="1"/>
          </p:cNvSpPr>
          <p:nvPr>
            <p:ph type="title"/>
          </p:nvPr>
        </p:nvSpPr>
        <p:spPr/>
        <p:txBody>
          <a:bodyPr>
            <a:normAutofit fontScale="90000"/>
          </a:bodyPr>
          <a:lstStyle/>
          <a:p>
            <a:r>
              <a:rPr lang="en-US" altLang="zh-CN" dirty="0"/>
              <a:t>4.1.7 </a:t>
            </a:r>
            <a:r>
              <a:rPr lang="zh-CN" altLang="en-US" sz="4800" b="1" dirty="0"/>
              <a:t>协议分析工具</a:t>
            </a:r>
          </a:p>
        </p:txBody>
      </p:sp>
      <p:pic>
        <p:nvPicPr>
          <p:cNvPr id="111618" name="Picture 2" descr="http://social.technet.microsoft.com/Forums/getfile/1866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44824"/>
            <a:ext cx="5976664" cy="4455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976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96753"/>
            <a:ext cx="8229600" cy="792088"/>
          </a:xfrm>
        </p:spPr>
        <p:txBody>
          <a:bodyPr/>
          <a:lstStyle/>
          <a:p>
            <a:r>
              <a:rPr lang="en-US" altLang="zh-CN" dirty="0"/>
              <a:t>Fiddler</a:t>
            </a:r>
            <a:endParaRPr lang="zh-CN"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060848"/>
            <a:ext cx="6721599" cy="358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2"/>
          <p:cNvSpPr txBox="1">
            <a:spLocks/>
          </p:cNvSpPr>
          <p:nvPr/>
        </p:nvSpPr>
        <p:spPr>
          <a:xfrm>
            <a:off x="361615" y="260648"/>
            <a:ext cx="8229600" cy="703263"/>
          </a:xfrm>
          <a:prstGeom prst="rect">
            <a:avLst/>
          </a:prstGeom>
        </p:spPr>
        <p:txBody>
          <a:bodyPr vert="horz" lIns="91440" tIns="45720" rIns="91440" bIns="45720" rtlCol="0" anchor="ctr">
            <a:normAutofit fontScale="900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4.1.7 </a:t>
            </a:r>
            <a:r>
              <a:rPr lang="zh-CN" altLang="en-US" sz="4800" b="1" dirty="0"/>
              <a:t>协议分析工具</a:t>
            </a:r>
          </a:p>
        </p:txBody>
      </p:sp>
    </p:spTree>
    <p:extLst>
      <p:ext uri="{BB962C8B-B14F-4D97-AF65-F5344CB8AC3E}">
        <p14:creationId xmlns:p14="http://schemas.microsoft.com/office/powerpoint/2010/main" val="28280275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	</a:t>
            </a:r>
            <a:endParaRPr lang="zh-CN" altLang="en-US" dirty="0"/>
          </a:p>
        </p:txBody>
      </p:sp>
      <p:sp>
        <p:nvSpPr>
          <p:cNvPr id="5" name="矩形: 圆角 4"/>
          <p:cNvSpPr/>
          <p:nvPr/>
        </p:nvSpPr>
        <p:spPr>
          <a:xfrm>
            <a:off x="467544" y="2924944"/>
            <a:ext cx="1512168"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浏览器</a:t>
            </a:r>
          </a:p>
        </p:txBody>
      </p:sp>
      <p:sp>
        <p:nvSpPr>
          <p:cNvPr id="7" name="矩形: 圆角 6"/>
          <p:cNvSpPr/>
          <p:nvPr/>
        </p:nvSpPr>
        <p:spPr>
          <a:xfrm>
            <a:off x="3275856" y="2924944"/>
            <a:ext cx="1512168"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Fiddler</a:t>
            </a:r>
            <a:endParaRPr lang="zh-CN" altLang="en-US" sz="3200" dirty="0"/>
          </a:p>
        </p:txBody>
      </p:sp>
      <p:sp>
        <p:nvSpPr>
          <p:cNvPr id="8" name="矩形: 圆角 7"/>
          <p:cNvSpPr/>
          <p:nvPr/>
        </p:nvSpPr>
        <p:spPr>
          <a:xfrm>
            <a:off x="6516216" y="2975839"/>
            <a:ext cx="1512168"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服务器</a:t>
            </a:r>
          </a:p>
        </p:txBody>
      </p:sp>
      <p:sp>
        <p:nvSpPr>
          <p:cNvPr id="10" name="箭头: 左右 9"/>
          <p:cNvSpPr/>
          <p:nvPr/>
        </p:nvSpPr>
        <p:spPr>
          <a:xfrm>
            <a:off x="2211322" y="3176972"/>
            <a:ext cx="864096" cy="43204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左右 10"/>
          <p:cNvSpPr/>
          <p:nvPr/>
        </p:nvSpPr>
        <p:spPr>
          <a:xfrm>
            <a:off x="5220072" y="3176972"/>
            <a:ext cx="864096" cy="43204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2"/>
          <p:cNvSpPr txBox="1">
            <a:spLocks/>
          </p:cNvSpPr>
          <p:nvPr/>
        </p:nvSpPr>
        <p:spPr>
          <a:xfrm>
            <a:off x="361615" y="260648"/>
            <a:ext cx="8229600" cy="703263"/>
          </a:xfrm>
          <a:prstGeom prst="rect">
            <a:avLst/>
          </a:prstGeom>
        </p:spPr>
        <p:txBody>
          <a:bodyPr vert="horz" lIns="91440" tIns="45720" rIns="91440" bIns="45720" rtlCol="0" anchor="ctr">
            <a:normAutofit fontScale="900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t>4.1.7 </a:t>
            </a:r>
            <a:r>
              <a:rPr lang="zh-CN" altLang="en-US" sz="4800" b="1" dirty="0"/>
              <a:t>协议分析工具</a:t>
            </a:r>
          </a:p>
        </p:txBody>
      </p:sp>
    </p:spTree>
    <p:extLst>
      <p:ext uri="{BB962C8B-B14F-4D97-AF65-F5344CB8AC3E}">
        <p14:creationId xmlns:p14="http://schemas.microsoft.com/office/powerpoint/2010/main" val="31061229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5" y="1124744"/>
            <a:ext cx="8229600" cy="5472608"/>
          </a:xfrm>
        </p:spPr>
        <p:txBody>
          <a:bodyPr>
            <a:normAutofit/>
          </a:bodyPr>
          <a:lstStyle/>
          <a:p>
            <a:r>
              <a:rPr lang="zh-CN" altLang="en-US" dirty="0"/>
              <a:t>采用</a:t>
            </a:r>
            <a:r>
              <a:rPr lang="en-US" altLang="zh-CN" dirty="0"/>
              <a:t>Fiddler/</a:t>
            </a:r>
            <a:r>
              <a:rPr lang="en-US" altLang="zh-CN" dirty="0" err="1"/>
              <a:t>wireshark</a:t>
            </a:r>
            <a:r>
              <a:rPr lang="zh-CN" altLang="en-US" dirty="0"/>
              <a:t>工具，任选网络通信过程进行协议分析</a:t>
            </a:r>
            <a:endParaRPr lang="en-US" altLang="zh-CN" dirty="0"/>
          </a:p>
          <a:p>
            <a:pPr marL="971550" lvl="1" indent="-514350">
              <a:buAutoNum type="arabicPeriod"/>
            </a:pPr>
            <a:r>
              <a:rPr lang="zh-CN" altLang="en-US" dirty="0"/>
              <a:t>分析用户主机和远程主机（</a:t>
            </a:r>
            <a:r>
              <a:rPr lang="en-US" altLang="zh-CN" dirty="0"/>
              <a:t>www.taobao.com</a:t>
            </a:r>
            <a:r>
              <a:rPr lang="zh-CN" altLang="en-US" dirty="0"/>
              <a:t>）在一次通信的过程中，各层分别传输了哪些数据</a:t>
            </a:r>
            <a:endParaRPr lang="en-US" altLang="zh-CN" dirty="0"/>
          </a:p>
          <a:p>
            <a:pPr marL="971550" lvl="1" indent="-514350">
              <a:buAutoNum type="arabicPeriod"/>
            </a:pPr>
            <a:r>
              <a:rPr lang="en-US" altLang="zh-CN" dirty="0"/>
              <a:t>HTTP</a:t>
            </a:r>
            <a:r>
              <a:rPr lang="zh-CN" altLang="en-US" dirty="0"/>
              <a:t>协议的发送和接收报文分别是什么</a:t>
            </a:r>
            <a:endParaRPr lang="en-US" altLang="zh-CN" dirty="0"/>
          </a:p>
          <a:p>
            <a:pPr marL="971550" lvl="1" indent="-514350">
              <a:buAutoNum type="arabicPeriod"/>
            </a:pPr>
            <a:r>
              <a:rPr lang="zh-CN" altLang="en-US" dirty="0"/>
              <a:t>抓取（淘宝、京东、天猫等）数据，进行分析，并据此编写代码，实现自动摇奖</a:t>
            </a:r>
          </a:p>
        </p:txBody>
      </p:sp>
      <p:sp>
        <p:nvSpPr>
          <p:cNvPr id="3" name="标题 2"/>
          <p:cNvSpPr>
            <a:spLocks noGrp="1"/>
          </p:cNvSpPr>
          <p:nvPr>
            <p:ph type="title"/>
          </p:nvPr>
        </p:nvSpPr>
        <p:spPr/>
        <p:txBody>
          <a:bodyPr>
            <a:normAutofit fontScale="90000"/>
          </a:bodyPr>
          <a:lstStyle/>
          <a:p>
            <a:r>
              <a:rPr lang="zh-CN" altLang="en-US" dirty="0"/>
              <a:t>实践环节（</a:t>
            </a:r>
            <a:r>
              <a:rPr lang="en-US" altLang="zh-CN" dirty="0"/>
              <a:t>3</a:t>
            </a:r>
            <a:r>
              <a:rPr lang="zh-CN" altLang="en-US" dirty="0"/>
              <a:t>）</a:t>
            </a:r>
          </a:p>
        </p:txBody>
      </p:sp>
    </p:spTree>
    <p:extLst>
      <p:ext uri="{BB962C8B-B14F-4D97-AF65-F5344CB8AC3E}">
        <p14:creationId xmlns:p14="http://schemas.microsoft.com/office/powerpoint/2010/main" val="12624295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en-US" altLang="zh-CN" b="0" dirty="0"/>
              <a:t>Ping </a:t>
            </a:r>
            <a:endParaRPr lang="zh-CN" altLang="zh-CN" b="0" dirty="0"/>
          </a:p>
          <a:p>
            <a:r>
              <a:rPr lang="en-US" altLang="zh-CN" b="0" dirty="0"/>
              <a:t>Ping</a:t>
            </a:r>
            <a:r>
              <a:rPr lang="zh-CN" altLang="zh-CN" b="0" dirty="0"/>
              <a:t>是个使用频率极高的实用程序，用于确定本地主机是否能与另一台主机交换（发送与接收）数据报。</a:t>
            </a:r>
            <a:endParaRPr lang="en-US" altLang="zh-CN" b="0" dirty="0"/>
          </a:p>
          <a:p>
            <a:r>
              <a:rPr lang="en-US" altLang="zh-CN" b="0" dirty="0"/>
              <a:t>Ping</a:t>
            </a:r>
            <a:r>
              <a:rPr lang="zh-CN" altLang="zh-CN" b="0" dirty="0"/>
              <a:t>就是一个测试程序，如果</a:t>
            </a:r>
            <a:r>
              <a:rPr lang="en-US" altLang="zh-CN" b="0" dirty="0"/>
              <a:t>Ping</a:t>
            </a:r>
            <a:r>
              <a:rPr lang="zh-CN" altLang="zh-CN" b="0" dirty="0"/>
              <a:t>运行正确，你大体上就可以排除网络访问层、网卡、</a:t>
            </a:r>
            <a:r>
              <a:rPr lang="en-US" altLang="zh-CN" b="0" dirty="0"/>
              <a:t>MODEM</a:t>
            </a:r>
            <a:r>
              <a:rPr lang="zh-CN" altLang="zh-CN" b="0" dirty="0"/>
              <a:t>的输入输出线路、电缆和路由器等存在的故障，从而减小了问题的范围。 </a:t>
            </a:r>
            <a:endParaRPr lang="zh-CN" altLang="en-US" b="0" dirty="0"/>
          </a:p>
        </p:txBody>
      </p:sp>
      <p:sp>
        <p:nvSpPr>
          <p:cNvPr id="3" name="标题 2"/>
          <p:cNvSpPr>
            <a:spLocks noGrp="1"/>
          </p:cNvSpPr>
          <p:nvPr>
            <p:ph type="title"/>
          </p:nvPr>
        </p:nvSpPr>
        <p:spPr/>
        <p:txBody>
          <a:bodyPr>
            <a:normAutofit fontScale="90000"/>
          </a:bodyPr>
          <a:lstStyle/>
          <a:p>
            <a:r>
              <a:rPr lang="en-US" altLang="zh-CN" b="1" dirty="0"/>
              <a:t>4.1.8 </a:t>
            </a:r>
            <a:r>
              <a:rPr lang="zh-CN" altLang="zh-CN" b="1" dirty="0"/>
              <a:t>常用网络命令</a:t>
            </a:r>
            <a:endParaRPr lang="zh-CN" altLang="en-US" dirty="0"/>
          </a:p>
        </p:txBody>
      </p:sp>
    </p:spTree>
    <p:extLst>
      <p:ext uri="{BB962C8B-B14F-4D97-AF65-F5344CB8AC3E}">
        <p14:creationId xmlns:p14="http://schemas.microsoft.com/office/powerpoint/2010/main" val="33705524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2132856"/>
            <a:ext cx="8229600" cy="1872208"/>
          </a:xfrm>
        </p:spPr>
        <p:txBody>
          <a:bodyPr/>
          <a:lstStyle/>
          <a:p>
            <a:r>
              <a:rPr lang="zh-CN" altLang="en-US" dirty="0"/>
              <a:t>套接字编程</a:t>
            </a:r>
            <a:endParaRPr lang="en-US" altLang="zh-CN" dirty="0"/>
          </a:p>
          <a:p>
            <a:r>
              <a:rPr lang="zh-CN" altLang="en-US" dirty="0"/>
              <a:t>应用层编程： </a:t>
            </a:r>
            <a:r>
              <a:rPr lang="en-US" altLang="zh-CN" dirty="0"/>
              <a:t>HTTP</a:t>
            </a:r>
            <a:r>
              <a:rPr lang="zh-CN" altLang="en-US" dirty="0"/>
              <a:t>，</a:t>
            </a:r>
            <a:r>
              <a:rPr lang="en-US" altLang="zh-CN" dirty="0"/>
              <a:t>FTP</a:t>
            </a:r>
            <a:r>
              <a:rPr lang="zh-CN" altLang="en-US" dirty="0"/>
              <a:t>编程</a:t>
            </a:r>
            <a:endParaRPr lang="en-US" altLang="zh-CN" dirty="0"/>
          </a:p>
          <a:p>
            <a:r>
              <a:rPr lang="en-US" altLang="zh-CN" dirty="0"/>
              <a:t>HTML</a:t>
            </a:r>
            <a:r>
              <a:rPr lang="zh-CN" altLang="en-US" dirty="0"/>
              <a:t>编程</a:t>
            </a:r>
            <a:r>
              <a:rPr lang="en-US" altLang="zh-CN" dirty="0"/>
              <a:t>: ASP, PHP, JavaScript</a:t>
            </a:r>
          </a:p>
          <a:p>
            <a:endParaRPr lang="en-US" altLang="zh-CN" dirty="0"/>
          </a:p>
        </p:txBody>
      </p:sp>
      <p:sp>
        <p:nvSpPr>
          <p:cNvPr id="3" name="标题 2"/>
          <p:cNvSpPr>
            <a:spLocks noGrp="1"/>
          </p:cNvSpPr>
          <p:nvPr>
            <p:ph type="title"/>
          </p:nvPr>
        </p:nvSpPr>
        <p:spPr/>
        <p:txBody>
          <a:bodyPr>
            <a:normAutofit fontScale="90000"/>
          </a:bodyPr>
          <a:lstStyle/>
          <a:p>
            <a:r>
              <a:rPr lang="en-US" altLang="zh-CN" b="1" dirty="0"/>
              <a:t>4.1.8</a:t>
            </a:r>
            <a:r>
              <a:rPr lang="zh-CN" altLang="zh-CN" b="1" dirty="0"/>
              <a:t>常用网络命令</a:t>
            </a:r>
            <a:endParaRPr lang="zh-CN" altLang="en-US" b="1" dirty="0"/>
          </a:p>
        </p:txBody>
      </p:sp>
      <p:sp>
        <p:nvSpPr>
          <p:cNvPr id="4" name="矩形 3"/>
          <p:cNvSpPr/>
          <p:nvPr/>
        </p:nvSpPr>
        <p:spPr>
          <a:xfrm>
            <a:off x="467544" y="1240744"/>
            <a:ext cx="2037737" cy="646331"/>
          </a:xfrm>
          <a:prstGeom prst="rect">
            <a:avLst/>
          </a:prstGeom>
        </p:spPr>
        <p:txBody>
          <a:bodyPr wrap="none">
            <a:spAutoFit/>
          </a:bodyPr>
          <a:lstStyle/>
          <a:p>
            <a:r>
              <a:rPr lang="zh-CN" altLang="en-US" sz="3600" b="1" dirty="0"/>
              <a:t>网络编程</a:t>
            </a:r>
          </a:p>
        </p:txBody>
      </p:sp>
    </p:spTree>
    <p:extLst>
      <p:ext uri="{BB962C8B-B14F-4D97-AF65-F5344CB8AC3E}">
        <p14:creationId xmlns:p14="http://schemas.microsoft.com/office/powerpoint/2010/main" val="1274564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0824" y="1268760"/>
            <a:ext cx="8229600" cy="5040560"/>
          </a:xfrm>
        </p:spPr>
        <p:txBody>
          <a:bodyPr>
            <a:noAutofit/>
          </a:bodyPr>
          <a:lstStyle/>
          <a:p>
            <a:pPr marL="0" indent="0">
              <a:buNone/>
            </a:pPr>
            <a:r>
              <a:rPr lang="en-US" altLang="zh-CN" sz="2400" dirty="0"/>
              <a:t>#!/</a:t>
            </a:r>
            <a:r>
              <a:rPr lang="en-US" altLang="zh-CN" sz="2400" dirty="0" err="1"/>
              <a:t>usr</a:t>
            </a:r>
            <a:r>
              <a:rPr lang="en-US" altLang="zh-CN" sz="2400" dirty="0"/>
              <a:t>/bin/</a:t>
            </a:r>
            <a:r>
              <a:rPr lang="en-US" altLang="zh-CN" sz="2400" dirty="0" err="1"/>
              <a:t>perl</a:t>
            </a:r>
            <a:r>
              <a:rPr lang="en-US" altLang="zh-CN" sz="2400" dirty="0"/>
              <a:t> –w</a:t>
            </a:r>
          </a:p>
          <a:p>
            <a:pPr marL="0" indent="0">
              <a:buNone/>
            </a:pPr>
            <a:r>
              <a:rPr lang="en-US" altLang="zh-CN" sz="2400" dirty="0"/>
              <a:t>my $</a:t>
            </a:r>
            <a:r>
              <a:rPr lang="en-US" altLang="zh-CN" sz="2400" dirty="0" err="1"/>
              <a:t>yourmail</a:t>
            </a:r>
            <a:r>
              <a:rPr lang="en-US" altLang="zh-CN" sz="2400" dirty="0"/>
              <a:t> = “XXXXX“;</a:t>
            </a:r>
          </a:p>
          <a:p>
            <a:pPr marL="0" indent="0">
              <a:buNone/>
            </a:pPr>
            <a:r>
              <a:rPr lang="en-US" altLang="zh-CN" sz="2400" dirty="0"/>
              <a:t>my $</a:t>
            </a:r>
            <a:r>
              <a:rPr lang="en-US" altLang="zh-CN" sz="2400" dirty="0" err="1"/>
              <a:t>touser</a:t>
            </a:r>
            <a:r>
              <a:rPr lang="en-US" altLang="zh-CN" sz="2400" dirty="0"/>
              <a:t>= “XXXXXXX";</a:t>
            </a:r>
          </a:p>
          <a:p>
            <a:pPr marL="0" indent="0">
              <a:buNone/>
            </a:pPr>
            <a:r>
              <a:rPr lang="en-US" altLang="zh-CN" sz="2400" dirty="0"/>
              <a:t>my $</a:t>
            </a:r>
            <a:r>
              <a:rPr lang="en-US" altLang="zh-CN" sz="2400" dirty="0" err="1"/>
              <a:t>fromuser</a:t>
            </a:r>
            <a:r>
              <a:rPr lang="en-US" altLang="zh-CN" sz="2400" dirty="0"/>
              <a:t>= $</a:t>
            </a:r>
            <a:r>
              <a:rPr lang="en-US" altLang="zh-CN" sz="2400" dirty="0" err="1"/>
              <a:t>yourmail</a:t>
            </a:r>
            <a:r>
              <a:rPr lang="en-US" altLang="zh-CN" sz="2400" dirty="0"/>
              <a:t>;</a:t>
            </a:r>
          </a:p>
          <a:p>
            <a:pPr marL="0" indent="0">
              <a:buNone/>
            </a:pPr>
            <a:r>
              <a:rPr lang="en-US" altLang="zh-CN" sz="2400" dirty="0"/>
              <a:t>open(MAIL, "|/</a:t>
            </a:r>
            <a:r>
              <a:rPr lang="en-US" altLang="zh-CN" sz="2400" dirty="0" err="1"/>
              <a:t>usr</a:t>
            </a:r>
            <a:r>
              <a:rPr lang="en-US" altLang="zh-CN" sz="2400" dirty="0"/>
              <a:t>/</a:t>
            </a:r>
            <a:r>
              <a:rPr lang="en-US" altLang="zh-CN" sz="2400" dirty="0" err="1"/>
              <a:t>sbin</a:t>
            </a:r>
            <a:r>
              <a:rPr lang="en-US" altLang="zh-CN" sz="2400" dirty="0"/>
              <a:t>/</a:t>
            </a:r>
            <a:r>
              <a:rPr lang="en-US" altLang="zh-CN" sz="2400" dirty="0" err="1"/>
              <a:t>sendmail</a:t>
            </a:r>
            <a:r>
              <a:rPr lang="en-US" altLang="zh-CN" sz="2400" dirty="0"/>
              <a:t> -t $</a:t>
            </a:r>
            <a:r>
              <a:rPr lang="en-US" altLang="zh-CN" sz="2400" dirty="0" err="1"/>
              <a:t>yourmail</a:t>
            </a:r>
            <a:r>
              <a:rPr lang="en-US" altLang="zh-CN" sz="2400" dirty="0"/>
              <a:t>") || return 0;</a:t>
            </a:r>
          </a:p>
          <a:p>
            <a:pPr marL="0" indent="0">
              <a:buNone/>
            </a:pPr>
            <a:r>
              <a:rPr lang="en-US" altLang="zh-CN" sz="2400" dirty="0"/>
              <a:t>select (MAIL);</a:t>
            </a:r>
          </a:p>
          <a:p>
            <a:pPr marL="0" indent="0">
              <a:buNone/>
            </a:pPr>
            <a:r>
              <a:rPr lang="en-US" altLang="zh-CN" sz="2400" dirty="0"/>
              <a:t>print &lt;&lt; "EOF";</a:t>
            </a:r>
          </a:p>
          <a:p>
            <a:pPr marL="0" indent="0">
              <a:buNone/>
            </a:pPr>
            <a:r>
              <a:rPr lang="en-US" altLang="zh-CN" sz="2400" dirty="0"/>
              <a:t>To: $</a:t>
            </a:r>
            <a:r>
              <a:rPr lang="en-US" altLang="zh-CN" sz="2400" dirty="0" err="1"/>
              <a:t>touser</a:t>
            </a:r>
            <a:endParaRPr lang="en-US" altLang="zh-CN" sz="2400" dirty="0"/>
          </a:p>
          <a:p>
            <a:pPr marL="0" indent="0">
              <a:buNone/>
            </a:pPr>
            <a:r>
              <a:rPr lang="en-US" altLang="zh-CN" sz="2400" dirty="0"/>
              <a:t>From: $</a:t>
            </a:r>
            <a:r>
              <a:rPr lang="en-US" altLang="zh-CN" sz="2400" dirty="0" err="1"/>
              <a:t>fromuser</a:t>
            </a:r>
            <a:endParaRPr lang="en-US" altLang="zh-CN" sz="2400" dirty="0"/>
          </a:p>
          <a:p>
            <a:pPr marL="0" indent="0">
              <a:buNone/>
            </a:pPr>
            <a:r>
              <a:rPr lang="en-US" altLang="zh-CN" sz="2400" dirty="0" err="1"/>
              <a:t>Subject:XXXXX</a:t>
            </a:r>
            <a:r>
              <a:rPr lang="en-US" altLang="zh-CN" sz="2400" dirty="0"/>
              <a:t> </a:t>
            </a:r>
          </a:p>
          <a:p>
            <a:pPr marL="0" indent="0">
              <a:buNone/>
            </a:pPr>
            <a:r>
              <a:rPr lang="zh-CN" altLang="en-US" sz="2400" dirty="0"/>
              <a:t>正文</a:t>
            </a:r>
            <a:endParaRPr lang="en-US" altLang="zh-CN" sz="2400" dirty="0"/>
          </a:p>
          <a:p>
            <a:endParaRPr lang="en-US" altLang="zh-CN" sz="2400" dirty="0"/>
          </a:p>
        </p:txBody>
      </p:sp>
      <p:sp>
        <p:nvSpPr>
          <p:cNvPr id="3" name="标题 2"/>
          <p:cNvSpPr>
            <a:spLocks noGrp="1"/>
          </p:cNvSpPr>
          <p:nvPr>
            <p:ph type="title"/>
          </p:nvPr>
        </p:nvSpPr>
        <p:spPr/>
        <p:txBody>
          <a:bodyPr>
            <a:normAutofit fontScale="90000"/>
          </a:bodyPr>
          <a:lstStyle/>
          <a:p>
            <a:r>
              <a:rPr lang="en-US" altLang="zh-CN" b="1" dirty="0"/>
              <a:t>4.1.8 </a:t>
            </a:r>
            <a:r>
              <a:rPr lang="zh-CN" altLang="en-US" b="1" dirty="0"/>
              <a:t>网络编程 如何发送邮件</a:t>
            </a:r>
          </a:p>
        </p:txBody>
      </p:sp>
    </p:spTree>
    <p:extLst>
      <p:ext uri="{BB962C8B-B14F-4D97-AF65-F5344CB8AC3E}">
        <p14:creationId xmlns:p14="http://schemas.microsoft.com/office/powerpoint/2010/main" val="11464819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b="1" dirty="0"/>
              <a:t>4.1.8 </a:t>
            </a:r>
            <a:r>
              <a:rPr lang="zh-CN" altLang="en-US" b="1" dirty="0"/>
              <a:t>网络编程 如何发送虚假邮件</a:t>
            </a:r>
          </a:p>
        </p:txBody>
      </p:sp>
      <p:pic>
        <p:nvPicPr>
          <p:cNvPr id="5" name="图片 4"/>
          <p:cNvPicPr>
            <a:picLocks noChangeAspect="1"/>
          </p:cNvPicPr>
          <p:nvPr/>
        </p:nvPicPr>
        <p:blipFill>
          <a:blip r:embed="rId2"/>
          <a:stretch>
            <a:fillRect/>
          </a:stretch>
        </p:blipFill>
        <p:spPr>
          <a:xfrm>
            <a:off x="168271" y="1268760"/>
            <a:ext cx="8964488" cy="4444052"/>
          </a:xfrm>
          <a:prstGeom prst="rect">
            <a:avLst/>
          </a:prstGeom>
        </p:spPr>
      </p:pic>
    </p:spTree>
    <p:extLst>
      <p:ext uri="{BB962C8B-B14F-4D97-AF65-F5344CB8AC3E}">
        <p14:creationId xmlns:p14="http://schemas.microsoft.com/office/powerpoint/2010/main" val="8293951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chemeClr val="bg1">
                    <a:lumMod val="85000"/>
                  </a:schemeClr>
                </a:solidFill>
              </a:rPr>
              <a:t>互联网基础</a:t>
            </a:r>
            <a:endParaRPr lang="en-US" altLang="zh-CN" dirty="0">
              <a:solidFill>
                <a:schemeClr val="bg1">
                  <a:lumMod val="85000"/>
                </a:schemeClr>
              </a:solidFill>
            </a:endParaRPr>
          </a:p>
          <a:p>
            <a:pPr lvl="1"/>
            <a:r>
              <a:rPr lang="en-US" altLang="zh-CN" dirty="0">
                <a:solidFill>
                  <a:schemeClr val="bg1">
                    <a:lumMod val="85000"/>
                  </a:schemeClr>
                </a:solidFill>
              </a:rPr>
              <a:t>ISO-OSI</a:t>
            </a:r>
            <a:r>
              <a:rPr lang="zh-CN" altLang="en-US" dirty="0">
                <a:solidFill>
                  <a:schemeClr val="bg1">
                    <a:lumMod val="85000"/>
                  </a:schemeClr>
                </a:solidFill>
              </a:rPr>
              <a:t>模型</a:t>
            </a:r>
            <a:endParaRPr lang="en-US" altLang="zh-CN" dirty="0">
              <a:solidFill>
                <a:schemeClr val="bg1">
                  <a:lumMod val="85000"/>
                </a:schemeClr>
              </a:solidFill>
            </a:endParaRPr>
          </a:p>
          <a:p>
            <a:r>
              <a:rPr lang="zh-CN" altLang="en-US" dirty="0"/>
              <a:t>多媒体应用</a:t>
            </a:r>
            <a:endParaRPr lang="en-US" altLang="zh-CN" dirty="0"/>
          </a:p>
          <a:p>
            <a:pPr lvl="1"/>
            <a:r>
              <a:rPr lang="zh-CN" altLang="en-US" dirty="0"/>
              <a:t>多媒体传输协议</a:t>
            </a:r>
            <a:endParaRPr lang="en-US" altLang="zh-CN" dirty="0"/>
          </a:p>
          <a:p>
            <a:pPr marL="342900" lvl="1" indent="-342900">
              <a:buFont typeface="Arial" pitchFamily="34" charset="0"/>
              <a:buChar char="•"/>
            </a:pPr>
            <a:r>
              <a:rPr lang="zh-CN" altLang="en-US" sz="3200" b="1" dirty="0">
                <a:solidFill>
                  <a:schemeClr val="bg1">
                    <a:lumMod val="85000"/>
                  </a:schemeClr>
                </a:solidFill>
              </a:rPr>
              <a:t>互联网新技术</a:t>
            </a:r>
            <a:endParaRPr lang="en-US" altLang="zh-CN" sz="3200" b="1" dirty="0">
              <a:solidFill>
                <a:schemeClr val="bg1">
                  <a:lumMod val="85000"/>
                </a:schemeClr>
              </a:solidFill>
            </a:endParaRPr>
          </a:p>
          <a:p>
            <a:pPr lvl="1"/>
            <a:endParaRPr lang="en-US" altLang="zh-CN" dirty="0"/>
          </a:p>
          <a:p>
            <a:pPr marL="0" indent="0">
              <a:buNone/>
            </a:pPr>
            <a:endParaRPr lang="zh-CN" altLang="en-US" dirty="0"/>
          </a:p>
        </p:txBody>
      </p:sp>
      <p:sp>
        <p:nvSpPr>
          <p:cNvPr id="3" name="标题 2"/>
          <p:cNvSpPr>
            <a:spLocks noGrp="1"/>
          </p:cNvSpPr>
          <p:nvPr>
            <p:ph type="title"/>
          </p:nvPr>
        </p:nvSpPr>
        <p:spPr/>
        <p:txBody>
          <a:bodyPr>
            <a:normAutofit fontScale="90000"/>
          </a:bodyPr>
          <a:lstStyle/>
          <a:p>
            <a:r>
              <a:rPr lang="en-US" altLang="zh-CN" dirty="0"/>
              <a:t>4.2 </a:t>
            </a:r>
            <a:r>
              <a:rPr lang="zh-CN" altLang="en-US" dirty="0"/>
              <a:t>多媒体通信与网络</a:t>
            </a:r>
          </a:p>
        </p:txBody>
      </p:sp>
    </p:spTree>
    <p:extLst>
      <p:ext uri="{BB962C8B-B14F-4D97-AF65-F5344CB8AC3E}">
        <p14:creationId xmlns:p14="http://schemas.microsoft.com/office/powerpoint/2010/main" val="37117356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altLang="zh-CN" dirty="0"/>
              <a:t>4.2 </a:t>
            </a:r>
            <a:r>
              <a:rPr lang="zh-CN" altLang="en-US" dirty="0"/>
              <a:t>网络多媒体技术的应用</a:t>
            </a:r>
          </a:p>
        </p:txBody>
      </p:sp>
      <p:sp>
        <p:nvSpPr>
          <p:cNvPr id="15363" name="Rectangle 3"/>
          <p:cNvSpPr>
            <a:spLocks noGrp="1" noChangeArrowheads="1"/>
          </p:cNvSpPr>
          <p:nvPr>
            <p:ph idx="1"/>
          </p:nvPr>
        </p:nvSpPr>
        <p:spPr>
          <a:xfrm>
            <a:off x="467544" y="1340768"/>
            <a:ext cx="5904656" cy="2448272"/>
          </a:xfrm>
        </p:spPr>
        <p:txBody>
          <a:bodyPr>
            <a:normAutofit/>
          </a:bodyPr>
          <a:lstStyle/>
          <a:p>
            <a:r>
              <a:rPr lang="zh-CN" altLang="en-US" sz="3600" b="0" dirty="0"/>
              <a:t>网络视频会议</a:t>
            </a:r>
          </a:p>
          <a:p>
            <a:r>
              <a:rPr lang="zh-CN" altLang="en-US" sz="3600" b="0" dirty="0"/>
              <a:t>视频点播</a:t>
            </a:r>
          </a:p>
          <a:p>
            <a:r>
              <a:rPr lang="zh-CN" altLang="en-US" sz="3600" b="0" dirty="0"/>
              <a:t>网络直播</a:t>
            </a:r>
          </a:p>
        </p:txBody>
      </p:sp>
    </p:spTree>
    <p:extLst>
      <p:ext uri="{BB962C8B-B14F-4D97-AF65-F5344CB8AC3E}">
        <p14:creationId xmlns:p14="http://schemas.microsoft.com/office/powerpoint/2010/main" val="30594961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55015" y="1196753"/>
            <a:ext cx="8229600" cy="3024336"/>
          </a:xfrm>
        </p:spPr>
        <p:txBody>
          <a:bodyPr>
            <a:normAutofit/>
          </a:bodyPr>
          <a:lstStyle/>
          <a:p>
            <a:pPr>
              <a:spcAft>
                <a:spcPts val="600"/>
              </a:spcAft>
            </a:pPr>
            <a:r>
              <a:rPr lang="zh-CN" altLang="en-US" sz="2800" b="0" dirty="0"/>
              <a:t>实时消息传输协议（</a:t>
            </a:r>
            <a:r>
              <a:rPr lang="en-US" altLang="zh-CN" sz="2800" b="0" dirty="0"/>
              <a:t>Real-Time Messaging Protocol</a:t>
            </a:r>
            <a:r>
              <a:rPr lang="zh-CN" altLang="en-US" sz="2800" b="0" dirty="0"/>
              <a:t>）</a:t>
            </a:r>
            <a:r>
              <a:rPr lang="en-US" altLang="zh-CN" sz="2800" b="0" dirty="0"/>
              <a:t>RTMP</a:t>
            </a:r>
            <a:r>
              <a:rPr lang="zh-CN" altLang="en-US" sz="2800" b="0" dirty="0"/>
              <a:t>是目前直播的主要协议。</a:t>
            </a:r>
            <a:endParaRPr lang="en-US" altLang="zh-CN" sz="2800" b="0" dirty="0"/>
          </a:p>
          <a:p>
            <a:pPr>
              <a:spcAft>
                <a:spcPts val="600"/>
              </a:spcAft>
            </a:pPr>
            <a:r>
              <a:rPr lang="en-US" altLang="zh-CN" sz="2800" b="0" dirty="0"/>
              <a:t>RTMP</a:t>
            </a:r>
            <a:r>
              <a:rPr lang="zh-CN" altLang="en-US" sz="2800" b="0" dirty="0"/>
              <a:t>是</a:t>
            </a:r>
            <a:r>
              <a:rPr lang="en-US" altLang="zh-CN" sz="2800" b="0" dirty="0"/>
              <a:t>Adobe</a:t>
            </a:r>
            <a:r>
              <a:rPr lang="zh-CN" altLang="en-US" sz="2800" b="0" dirty="0"/>
              <a:t>公司为</a:t>
            </a:r>
            <a:r>
              <a:rPr lang="en-US" altLang="zh-CN" sz="2800" b="0" dirty="0"/>
              <a:t>Flash</a:t>
            </a:r>
            <a:r>
              <a:rPr lang="zh-CN" altLang="en-US" sz="2800" b="0" dirty="0"/>
              <a:t>播放器和服务器之间提供音视频数据传输服务而设计的应用层私有协议。</a:t>
            </a:r>
            <a:endParaRPr lang="en-US" altLang="zh-CN" sz="2800" b="0" dirty="0"/>
          </a:p>
          <a:p>
            <a:pPr>
              <a:spcAft>
                <a:spcPts val="600"/>
              </a:spcAft>
            </a:pPr>
            <a:r>
              <a:rPr lang="en-US" altLang="zh-CN" sz="2800" b="0" dirty="0"/>
              <a:t>RTMP</a:t>
            </a:r>
            <a:r>
              <a:rPr lang="zh-CN" altLang="en-US" sz="2800" b="0" dirty="0"/>
              <a:t>协议是目前各大云厂商直线直播业务所公用的基本直播推拉流协议。</a:t>
            </a:r>
            <a:endParaRPr lang="zh-CN" altLang="en-US" sz="2800" dirty="0"/>
          </a:p>
        </p:txBody>
      </p:sp>
      <p:pic>
        <p:nvPicPr>
          <p:cNvPr id="6" name="图片 5"/>
          <p:cNvPicPr>
            <a:picLocks noChangeAspect="1"/>
          </p:cNvPicPr>
          <p:nvPr/>
        </p:nvPicPr>
        <p:blipFill>
          <a:blip r:embed="rId2"/>
          <a:stretch>
            <a:fillRect/>
          </a:stretch>
        </p:blipFill>
        <p:spPr>
          <a:xfrm>
            <a:off x="1259632" y="4221089"/>
            <a:ext cx="6131696" cy="2325447"/>
          </a:xfrm>
          <a:prstGeom prst="rect">
            <a:avLst/>
          </a:prstGeom>
        </p:spPr>
      </p:pic>
    </p:spTree>
    <p:extLst>
      <p:ext uri="{BB962C8B-B14F-4D97-AF65-F5344CB8AC3E}">
        <p14:creationId xmlns:p14="http://schemas.microsoft.com/office/powerpoint/2010/main" val="22616793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630399" y="1985718"/>
            <a:ext cx="7470449" cy="3963562"/>
          </a:xfrm>
        </p:spPr>
        <p:txBody>
          <a:bodyPr>
            <a:normAutofit/>
          </a:bodyPr>
          <a:lstStyle/>
          <a:p>
            <a:pPr marL="0" indent="457200">
              <a:lnSpc>
                <a:spcPct val="110000"/>
              </a:lnSpc>
              <a:spcAft>
                <a:spcPts val="600"/>
              </a:spcAft>
              <a:buNone/>
            </a:pPr>
            <a:r>
              <a:rPr lang="zh-CN" altLang="en-US" b="0" dirty="0"/>
              <a:t>多路复用指的是信号发送端通过一个信道同时传输多路信号，然后信号接收端将一个信道中传递过来的多个信号分别组合起来，分别形成独立完整的信号信息，以此来更加有效地使用通信线路。</a:t>
            </a:r>
            <a:endParaRPr lang="zh-CN" altLang="en-US" dirty="0"/>
          </a:p>
        </p:txBody>
      </p:sp>
      <p:sp>
        <p:nvSpPr>
          <p:cNvPr id="4" name="内容占位符 4"/>
          <p:cNvSpPr txBox="1">
            <a:spLocks/>
          </p:cNvSpPr>
          <p:nvPr/>
        </p:nvSpPr>
        <p:spPr>
          <a:xfrm>
            <a:off x="263273" y="1070050"/>
            <a:ext cx="8781481" cy="7536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altLang="zh-CN"/>
              <a:t>RTMP</a:t>
            </a:r>
            <a:r>
              <a:rPr lang="zh-CN" altLang="en-US"/>
              <a:t>协议的特点：</a:t>
            </a:r>
            <a:r>
              <a:rPr lang="en-US" altLang="zh-CN"/>
              <a:t>1. </a:t>
            </a:r>
            <a:r>
              <a:rPr lang="zh-CN" altLang="en-US"/>
              <a:t>多路复用</a:t>
            </a:r>
            <a:endParaRPr lang="en-US" altLang="zh-CN" dirty="0"/>
          </a:p>
        </p:txBody>
      </p:sp>
    </p:spTree>
    <p:extLst>
      <p:ext uri="{BB962C8B-B14F-4D97-AF65-F5344CB8AC3E}">
        <p14:creationId xmlns:p14="http://schemas.microsoft.com/office/powerpoint/2010/main" val="9572874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协议的特点：</a:t>
            </a:r>
            <a:r>
              <a:rPr lang="en-US" altLang="zh-CN" dirty="0"/>
              <a:t>1. </a:t>
            </a:r>
            <a:r>
              <a:rPr lang="zh-CN" altLang="en-US" dirty="0"/>
              <a:t>多路复用</a:t>
            </a:r>
            <a:endParaRPr lang="en-US" altLang="zh-CN" dirty="0"/>
          </a:p>
        </p:txBody>
      </p:sp>
      <p:sp>
        <p:nvSpPr>
          <p:cNvPr id="2" name="单圆角矩形 1"/>
          <p:cNvSpPr/>
          <p:nvPr/>
        </p:nvSpPr>
        <p:spPr>
          <a:xfrm>
            <a:off x="371659" y="1851600"/>
            <a:ext cx="1294398" cy="648072"/>
          </a:xfrm>
          <a:prstGeom prst="snipRoundRect">
            <a:avLst>
              <a:gd name="adj1" fmla="val 46062"/>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消息</a:t>
            </a:r>
            <a:r>
              <a:rPr lang="en-US" altLang="zh-CN" sz="2400" dirty="0"/>
              <a:t>1</a:t>
            </a:r>
            <a:endParaRPr lang="zh-CN" altLang="en-US" sz="2400" dirty="0"/>
          </a:p>
        </p:txBody>
      </p:sp>
      <p:sp>
        <p:nvSpPr>
          <p:cNvPr id="6" name="单圆角矩形 5"/>
          <p:cNvSpPr/>
          <p:nvPr/>
        </p:nvSpPr>
        <p:spPr>
          <a:xfrm>
            <a:off x="2039595" y="1851600"/>
            <a:ext cx="1294398" cy="648072"/>
          </a:xfrm>
          <a:prstGeom prst="snipRoundRect">
            <a:avLst>
              <a:gd name="adj1" fmla="val 34304"/>
              <a:gd name="adj2" fmla="val 40183"/>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消息</a:t>
            </a:r>
            <a:r>
              <a:rPr lang="en-US" altLang="zh-CN" sz="2400" dirty="0"/>
              <a:t>2</a:t>
            </a:r>
            <a:endParaRPr lang="zh-CN" altLang="en-US" sz="2400" dirty="0"/>
          </a:p>
        </p:txBody>
      </p:sp>
      <p:sp>
        <p:nvSpPr>
          <p:cNvPr id="7" name="圆角矩形 6"/>
          <p:cNvSpPr/>
          <p:nvPr/>
        </p:nvSpPr>
        <p:spPr>
          <a:xfrm>
            <a:off x="1211502" y="2990536"/>
            <a:ext cx="1475292" cy="51724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多路复用</a:t>
            </a:r>
          </a:p>
        </p:txBody>
      </p:sp>
      <p:cxnSp>
        <p:nvCxnSpPr>
          <p:cNvPr id="8" name="直接箭头连接符 7"/>
          <p:cNvCxnSpPr/>
          <p:nvPr/>
        </p:nvCxnSpPr>
        <p:spPr>
          <a:xfrm>
            <a:off x="1211502" y="2535676"/>
            <a:ext cx="432048" cy="418856"/>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2243867" y="2499672"/>
            <a:ext cx="288032" cy="454860"/>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955835" y="3566600"/>
            <a:ext cx="399" cy="432048"/>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043608" y="3998647"/>
            <a:ext cx="1824453" cy="230567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259631" y="4178668"/>
            <a:ext cx="1392405" cy="37323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a:t>
            </a:r>
            <a:r>
              <a:rPr lang="en-US" altLang="zh-CN" dirty="0"/>
              <a:t>1</a:t>
            </a:r>
            <a:endParaRPr lang="zh-CN" altLang="en-US" dirty="0"/>
          </a:p>
        </p:txBody>
      </p:sp>
      <p:sp>
        <p:nvSpPr>
          <p:cNvPr id="19" name="矩形 18"/>
          <p:cNvSpPr/>
          <p:nvPr/>
        </p:nvSpPr>
        <p:spPr>
          <a:xfrm>
            <a:off x="1259631" y="4710232"/>
            <a:ext cx="1392405" cy="37323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a:t>
            </a:r>
            <a:r>
              <a:rPr lang="en-US" altLang="zh-CN" dirty="0"/>
              <a:t>2</a:t>
            </a:r>
            <a:endParaRPr lang="zh-CN" altLang="en-US" dirty="0"/>
          </a:p>
        </p:txBody>
      </p:sp>
      <p:sp>
        <p:nvSpPr>
          <p:cNvPr id="20" name="矩形 19"/>
          <p:cNvSpPr/>
          <p:nvPr/>
        </p:nvSpPr>
        <p:spPr>
          <a:xfrm>
            <a:off x="1232930" y="5216075"/>
            <a:ext cx="1392405" cy="37323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a:t>
            </a:r>
            <a:r>
              <a:rPr lang="en-US" altLang="zh-CN" dirty="0"/>
              <a:t>3</a:t>
            </a:r>
            <a:endParaRPr lang="zh-CN" altLang="en-US" dirty="0"/>
          </a:p>
        </p:txBody>
      </p:sp>
      <p:sp>
        <p:nvSpPr>
          <p:cNvPr id="21" name="矩形 20"/>
          <p:cNvSpPr/>
          <p:nvPr/>
        </p:nvSpPr>
        <p:spPr>
          <a:xfrm>
            <a:off x="1252945" y="5728257"/>
            <a:ext cx="1392405" cy="37323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a:t>
            </a:r>
            <a:r>
              <a:rPr lang="en-US" altLang="zh-CN" dirty="0"/>
              <a:t>4</a:t>
            </a:r>
            <a:endParaRPr lang="zh-CN" altLang="en-US" dirty="0"/>
          </a:p>
        </p:txBody>
      </p:sp>
      <p:cxnSp>
        <p:nvCxnSpPr>
          <p:cNvPr id="22" name="直接箭头连接符 21"/>
          <p:cNvCxnSpPr/>
          <p:nvPr/>
        </p:nvCxnSpPr>
        <p:spPr>
          <a:xfrm flipV="1">
            <a:off x="2877770" y="4994273"/>
            <a:ext cx="577856" cy="1"/>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a:off x="3465335" y="4710232"/>
            <a:ext cx="979217" cy="51724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解码</a:t>
            </a:r>
          </a:p>
        </p:txBody>
      </p:sp>
      <p:cxnSp>
        <p:nvCxnSpPr>
          <p:cNvPr id="26" name="直接箭头连接符 25"/>
          <p:cNvCxnSpPr/>
          <p:nvPr/>
        </p:nvCxnSpPr>
        <p:spPr>
          <a:xfrm flipV="1">
            <a:off x="4493087" y="4534134"/>
            <a:ext cx="504056" cy="399883"/>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4529091" y="5018052"/>
            <a:ext cx="432048" cy="418856"/>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9" name="单圆角矩形 28"/>
          <p:cNvSpPr/>
          <p:nvPr/>
        </p:nvSpPr>
        <p:spPr>
          <a:xfrm>
            <a:off x="7380312" y="3998647"/>
            <a:ext cx="1294398" cy="648072"/>
          </a:xfrm>
          <a:prstGeom prst="snipRoundRect">
            <a:avLst>
              <a:gd name="adj1" fmla="val 46062"/>
              <a:gd name="adj2" fmla="val 50000"/>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消息</a:t>
            </a:r>
            <a:r>
              <a:rPr lang="en-US" altLang="zh-CN" sz="2400" dirty="0"/>
              <a:t>1</a:t>
            </a:r>
            <a:endParaRPr lang="zh-CN" altLang="en-US" sz="2400" dirty="0"/>
          </a:p>
        </p:txBody>
      </p:sp>
      <p:sp>
        <p:nvSpPr>
          <p:cNvPr id="30" name="单圆角矩形 29"/>
          <p:cNvSpPr/>
          <p:nvPr/>
        </p:nvSpPr>
        <p:spPr>
          <a:xfrm>
            <a:off x="7353338" y="4994274"/>
            <a:ext cx="1294398" cy="648072"/>
          </a:xfrm>
          <a:prstGeom prst="snipRoundRect">
            <a:avLst>
              <a:gd name="adj1" fmla="val 34304"/>
              <a:gd name="adj2" fmla="val 40183"/>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消息</a:t>
            </a:r>
            <a:r>
              <a:rPr lang="en-US" altLang="zh-CN" sz="2400" dirty="0"/>
              <a:t>2</a:t>
            </a:r>
            <a:endParaRPr lang="zh-CN" altLang="en-US" sz="2400" dirty="0"/>
          </a:p>
        </p:txBody>
      </p:sp>
      <p:sp>
        <p:nvSpPr>
          <p:cNvPr id="31" name="矩形 30"/>
          <p:cNvSpPr/>
          <p:nvPr/>
        </p:nvSpPr>
        <p:spPr>
          <a:xfrm>
            <a:off x="5035205" y="4273487"/>
            <a:ext cx="1392405" cy="37323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数据子块</a:t>
            </a:r>
            <a:r>
              <a:rPr lang="en-US" altLang="zh-CN" dirty="0"/>
              <a:t>1</a:t>
            </a:r>
            <a:endParaRPr lang="zh-CN" altLang="en-US" dirty="0"/>
          </a:p>
        </p:txBody>
      </p:sp>
      <p:sp>
        <p:nvSpPr>
          <p:cNvPr id="32" name="矩形 31"/>
          <p:cNvSpPr/>
          <p:nvPr/>
        </p:nvSpPr>
        <p:spPr>
          <a:xfrm>
            <a:off x="5059924" y="5131694"/>
            <a:ext cx="1392405" cy="37323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数据子块</a:t>
            </a:r>
            <a:r>
              <a:rPr lang="en-US" altLang="zh-CN" dirty="0"/>
              <a:t>2</a:t>
            </a:r>
            <a:endParaRPr lang="zh-CN" altLang="en-US" dirty="0"/>
          </a:p>
        </p:txBody>
      </p:sp>
      <p:cxnSp>
        <p:nvCxnSpPr>
          <p:cNvPr id="33" name="直接箭头连接符 32"/>
          <p:cNvCxnSpPr/>
          <p:nvPr/>
        </p:nvCxnSpPr>
        <p:spPr>
          <a:xfrm>
            <a:off x="6588223" y="4466329"/>
            <a:ext cx="576064" cy="7256"/>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534548" y="5259516"/>
            <a:ext cx="576064" cy="7256"/>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4248548" y="1757606"/>
            <a:ext cx="4572000" cy="1938992"/>
          </a:xfrm>
          <a:prstGeom prst="rect">
            <a:avLst/>
          </a:prstGeom>
        </p:spPr>
        <p:txBody>
          <a:bodyPr>
            <a:spAutoFit/>
          </a:bodyPr>
          <a:lstStyle/>
          <a:p>
            <a:r>
              <a:rPr lang="zh-CN" altLang="en-US" sz="2400" dirty="0">
                <a:solidFill>
                  <a:srgbClr val="3D464D"/>
                </a:solidFill>
                <a:latin typeface="suxingme"/>
              </a:rPr>
              <a:t>在一个 </a:t>
            </a:r>
            <a:r>
              <a:rPr lang="en-US" altLang="zh-CN" sz="2400" dirty="0">
                <a:solidFill>
                  <a:srgbClr val="3D464D"/>
                </a:solidFill>
                <a:latin typeface="suxingme"/>
              </a:rPr>
              <a:t>TCP </a:t>
            </a:r>
            <a:r>
              <a:rPr lang="zh-CN" altLang="en-US" sz="2400" dirty="0">
                <a:solidFill>
                  <a:srgbClr val="3D464D"/>
                </a:solidFill>
                <a:latin typeface="suxingme"/>
              </a:rPr>
              <a:t>连接上，将需要传递的消息分成一个或者多个块进行传输，在接收端，再把数据块中一个个字块组合起来就可以还原成一个完整的消息</a:t>
            </a:r>
            <a:endParaRPr lang="zh-CN" altLang="en-US" sz="2400" dirty="0"/>
          </a:p>
        </p:txBody>
      </p:sp>
    </p:spTree>
    <p:extLst>
      <p:ext uri="{BB962C8B-B14F-4D97-AF65-F5344CB8AC3E}">
        <p14:creationId xmlns:p14="http://schemas.microsoft.com/office/powerpoint/2010/main" val="7027266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协议的特点：</a:t>
            </a:r>
            <a:r>
              <a:rPr lang="en-US" altLang="zh-CN" dirty="0"/>
              <a:t>2. </a:t>
            </a:r>
            <a:r>
              <a:rPr lang="zh-CN" altLang="en-US" dirty="0"/>
              <a:t>分包</a:t>
            </a:r>
            <a:endParaRPr lang="en-US" altLang="zh-CN" dirty="0"/>
          </a:p>
        </p:txBody>
      </p:sp>
      <p:sp>
        <p:nvSpPr>
          <p:cNvPr id="27" name="内容占位符 4"/>
          <p:cNvSpPr txBox="1">
            <a:spLocks/>
          </p:cNvSpPr>
          <p:nvPr/>
        </p:nvSpPr>
        <p:spPr>
          <a:xfrm>
            <a:off x="250824" y="1985718"/>
            <a:ext cx="8781481" cy="38195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Aft>
                <a:spcPts val="600"/>
              </a:spcAft>
              <a:buNone/>
            </a:pPr>
            <a:r>
              <a:rPr lang="zh-CN" altLang="en-US" b="0" dirty="0">
                <a:latin typeface="+mn-ea"/>
              </a:rPr>
              <a:t>在多媒体网络传输案例中，绝大多数的多媒体传输的音频和视频的数据包都相对比较偏大，在</a:t>
            </a:r>
            <a:r>
              <a:rPr lang="en-US" altLang="zh-CN" b="0" dirty="0">
                <a:latin typeface="+mn-ea"/>
              </a:rPr>
              <a:t>TCP</a:t>
            </a:r>
            <a:r>
              <a:rPr lang="zh-CN" altLang="en-US" b="0" dirty="0">
                <a:latin typeface="+mn-ea"/>
              </a:rPr>
              <a:t>这种可靠的传输协议之上进行大的数据包传递，很有可能阻塞连接，导致优先级更高的信息无法传递，因此，数据需要分包传输。</a:t>
            </a:r>
          </a:p>
        </p:txBody>
      </p:sp>
    </p:spTree>
    <p:extLst>
      <p:ext uri="{BB962C8B-B14F-4D97-AF65-F5344CB8AC3E}">
        <p14:creationId xmlns:p14="http://schemas.microsoft.com/office/powerpoint/2010/main" val="38563557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协议格式：块 （</a:t>
            </a:r>
            <a:r>
              <a:rPr lang="en-US" altLang="zh-CN" dirty="0"/>
              <a:t>Chunk</a:t>
            </a:r>
            <a:r>
              <a:rPr lang="zh-CN" altLang="en-US" dirty="0"/>
              <a:t>）</a:t>
            </a:r>
            <a:endParaRPr lang="en-US" altLang="zh-CN" dirty="0"/>
          </a:p>
        </p:txBody>
      </p:sp>
      <p:sp>
        <p:nvSpPr>
          <p:cNvPr id="6" name="矩形 5"/>
          <p:cNvSpPr/>
          <p:nvPr/>
        </p:nvSpPr>
        <p:spPr>
          <a:xfrm>
            <a:off x="875066"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基本头</a:t>
            </a:r>
          </a:p>
        </p:txBody>
      </p:sp>
      <p:sp>
        <p:nvSpPr>
          <p:cNvPr id="7" name="矩形 6"/>
          <p:cNvSpPr/>
          <p:nvPr/>
        </p:nvSpPr>
        <p:spPr>
          <a:xfrm>
            <a:off x="2255478"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消息头</a:t>
            </a:r>
          </a:p>
        </p:txBody>
      </p:sp>
      <p:sp>
        <p:nvSpPr>
          <p:cNvPr id="8" name="矩形 7"/>
          <p:cNvSpPr/>
          <p:nvPr/>
        </p:nvSpPr>
        <p:spPr>
          <a:xfrm>
            <a:off x="3651231"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时间戳</a:t>
            </a:r>
          </a:p>
        </p:txBody>
      </p:sp>
      <p:sp>
        <p:nvSpPr>
          <p:cNvPr id="9" name="矩形 8"/>
          <p:cNvSpPr/>
          <p:nvPr/>
        </p:nvSpPr>
        <p:spPr>
          <a:xfrm>
            <a:off x="5043636" y="1760498"/>
            <a:ext cx="3124230" cy="576064"/>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块数据</a:t>
            </a:r>
          </a:p>
        </p:txBody>
      </p:sp>
      <p:sp>
        <p:nvSpPr>
          <p:cNvPr id="2" name="左大括号 1"/>
          <p:cNvSpPr/>
          <p:nvPr/>
        </p:nvSpPr>
        <p:spPr>
          <a:xfrm rot="16200000">
            <a:off x="2797110" y="1088500"/>
            <a:ext cx="309140" cy="3096344"/>
          </a:xfrm>
          <a:prstGeom prst="leftBrace">
            <a:avLst>
              <a:gd name="adj1" fmla="val 2500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 name="文本框 2"/>
          <p:cNvSpPr txBox="1"/>
          <p:nvPr/>
        </p:nvSpPr>
        <p:spPr>
          <a:xfrm>
            <a:off x="2411760" y="2829032"/>
            <a:ext cx="1365465" cy="461665"/>
          </a:xfrm>
          <a:prstGeom prst="rect">
            <a:avLst/>
          </a:prstGeom>
          <a:noFill/>
        </p:spPr>
        <p:txBody>
          <a:bodyPr wrap="square" rtlCol="0">
            <a:spAutoFit/>
          </a:bodyPr>
          <a:lstStyle/>
          <a:p>
            <a:r>
              <a:rPr lang="zh-CN" altLang="en-US" sz="2400" dirty="0"/>
              <a:t>块头部</a:t>
            </a:r>
          </a:p>
        </p:txBody>
      </p:sp>
      <p:pic>
        <p:nvPicPr>
          <p:cNvPr id="1026" name="Picture 2" descr="https://bbsmax.ikafan.com/static/L3Byb3h5L2h0dHBzL3N0YXRpYzAwMS5nZWVrYmFuZy5vcmcvaW5mb3EvOTAvOTA0MTBmOWFhZjhjM2I3YWRlYzM0ZmQ2NmUzOTZmZWYucG5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4268143"/>
            <a:ext cx="7641395" cy="25655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539551" y="3448432"/>
            <a:ext cx="7628315" cy="369332"/>
          </a:xfrm>
          <a:prstGeom prst="rect">
            <a:avLst/>
          </a:prstGeom>
          <a:noFill/>
        </p:spPr>
        <p:txBody>
          <a:bodyPr wrap="square" rtlCol="0">
            <a:spAutoFit/>
          </a:bodyPr>
          <a:lstStyle/>
          <a:p>
            <a:r>
              <a:rPr lang="zh-CN" altLang="en-US" dirty="0"/>
              <a:t>基本头：长度不固定（</a:t>
            </a:r>
            <a:r>
              <a:rPr lang="en-US" altLang="zh-CN" dirty="0"/>
              <a:t>1-3</a:t>
            </a:r>
            <a:r>
              <a:rPr lang="zh-CN" altLang="en-US" dirty="0"/>
              <a:t>个字节）；包括两个部分</a:t>
            </a:r>
          </a:p>
        </p:txBody>
      </p:sp>
      <p:sp>
        <p:nvSpPr>
          <p:cNvPr id="13" name="文本框 12"/>
          <p:cNvSpPr txBox="1"/>
          <p:nvPr/>
        </p:nvSpPr>
        <p:spPr>
          <a:xfrm>
            <a:off x="496953" y="3880152"/>
            <a:ext cx="6560544" cy="369332"/>
          </a:xfrm>
          <a:prstGeom prst="rect">
            <a:avLst/>
          </a:prstGeom>
          <a:noFill/>
        </p:spPr>
        <p:txBody>
          <a:bodyPr wrap="square" rtlCol="0">
            <a:spAutoFit/>
          </a:bodyPr>
          <a:lstStyle/>
          <a:p>
            <a:r>
              <a:rPr lang="en-US" altLang="zh-CN" dirty="0" err="1"/>
              <a:t>fmt</a:t>
            </a:r>
            <a:r>
              <a:rPr lang="zh-CN" altLang="en-US" dirty="0"/>
              <a:t>决定了消息头，</a:t>
            </a:r>
            <a:r>
              <a:rPr lang="en-US" altLang="zh-CN" dirty="0" err="1"/>
              <a:t>csid</a:t>
            </a:r>
            <a:r>
              <a:rPr lang="zh-CN" altLang="en-US" dirty="0"/>
              <a:t>决定了整个块头的长度</a:t>
            </a:r>
          </a:p>
        </p:txBody>
      </p:sp>
    </p:spTree>
    <p:extLst>
      <p:ext uri="{BB962C8B-B14F-4D97-AF65-F5344CB8AC3E}">
        <p14:creationId xmlns:p14="http://schemas.microsoft.com/office/powerpoint/2010/main" val="35350634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协议格式：块</a:t>
            </a:r>
            <a:endParaRPr lang="en-US" altLang="zh-CN" dirty="0"/>
          </a:p>
        </p:txBody>
      </p:sp>
      <p:sp>
        <p:nvSpPr>
          <p:cNvPr id="6" name="矩形 5"/>
          <p:cNvSpPr/>
          <p:nvPr/>
        </p:nvSpPr>
        <p:spPr>
          <a:xfrm>
            <a:off x="875066"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基本头</a:t>
            </a:r>
          </a:p>
        </p:txBody>
      </p:sp>
      <p:sp>
        <p:nvSpPr>
          <p:cNvPr id="7" name="矩形 6"/>
          <p:cNvSpPr/>
          <p:nvPr/>
        </p:nvSpPr>
        <p:spPr>
          <a:xfrm>
            <a:off x="2255478"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消息头</a:t>
            </a:r>
          </a:p>
        </p:txBody>
      </p:sp>
      <p:sp>
        <p:nvSpPr>
          <p:cNvPr id="8" name="矩形 7"/>
          <p:cNvSpPr/>
          <p:nvPr/>
        </p:nvSpPr>
        <p:spPr>
          <a:xfrm>
            <a:off x="3491881" y="1760498"/>
            <a:ext cx="1551756"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扩展时间戳</a:t>
            </a:r>
          </a:p>
        </p:txBody>
      </p:sp>
      <p:sp>
        <p:nvSpPr>
          <p:cNvPr id="9" name="矩形 8"/>
          <p:cNvSpPr/>
          <p:nvPr/>
        </p:nvSpPr>
        <p:spPr>
          <a:xfrm>
            <a:off x="5043636" y="1760498"/>
            <a:ext cx="3124230" cy="576064"/>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块数据</a:t>
            </a:r>
          </a:p>
        </p:txBody>
      </p:sp>
      <p:sp>
        <p:nvSpPr>
          <p:cNvPr id="2" name="左大括号 1"/>
          <p:cNvSpPr/>
          <p:nvPr/>
        </p:nvSpPr>
        <p:spPr>
          <a:xfrm rot="16200000">
            <a:off x="2797110" y="1088500"/>
            <a:ext cx="309140" cy="3096344"/>
          </a:xfrm>
          <a:prstGeom prst="leftBrace">
            <a:avLst>
              <a:gd name="adj1" fmla="val 2500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 name="文本框 2"/>
          <p:cNvSpPr txBox="1"/>
          <p:nvPr/>
        </p:nvSpPr>
        <p:spPr>
          <a:xfrm>
            <a:off x="2411760" y="2829032"/>
            <a:ext cx="1365465" cy="461665"/>
          </a:xfrm>
          <a:prstGeom prst="rect">
            <a:avLst/>
          </a:prstGeom>
          <a:noFill/>
        </p:spPr>
        <p:txBody>
          <a:bodyPr wrap="square" rtlCol="0">
            <a:spAutoFit/>
          </a:bodyPr>
          <a:lstStyle/>
          <a:p>
            <a:r>
              <a:rPr lang="zh-CN" altLang="en-US" sz="2400" dirty="0"/>
              <a:t>块头部</a:t>
            </a:r>
          </a:p>
        </p:txBody>
      </p:sp>
      <p:sp>
        <p:nvSpPr>
          <p:cNvPr id="4" name="文本框 3"/>
          <p:cNvSpPr txBox="1"/>
          <p:nvPr/>
        </p:nvSpPr>
        <p:spPr>
          <a:xfrm>
            <a:off x="539551" y="3328487"/>
            <a:ext cx="7628315" cy="461665"/>
          </a:xfrm>
          <a:prstGeom prst="rect">
            <a:avLst/>
          </a:prstGeom>
          <a:noFill/>
        </p:spPr>
        <p:txBody>
          <a:bodyPr wrap="square" rtlCol="0">
            <a:spAutoFit/>
          </a:bodyPr>
          <a:lstStyle/>
          <a:p>
            <a:r>
              <a:rPr lang="zh-CN" altLang="en-US" sz="2400" dirty="0"/>
              <a:t>消息头：长度不固定（</a:t>
            </a:r>
            <a:r>
              <a:rPr lang="en-US" altLang="zh-CN" sz="2400" dirty="0"/>
              <a:t>1-3</a:t>
            </a:r>
            <a:r>
              <a:rPr lang="zh-CN" altLang="en-US" sz="2400" dirty="0"/>
              <a:t>个字节）；由</a:t>
            </a:r>
            <a:r>
              <a:rPr lang="en-US" altLang="zh-CN" sz="2400" dirty="0" err="1"/>
              <a:t>fmt</a:t>
            </a:r>
            <a:r>
              <a:rPr lang="zh-CN" altLang="en-US" sz="2400" dirty="0"/>
              <a:t>决定</a:t>
            </a:r>
          </a:p>
        </p:txBody>
      </p:sp>
      <p:sp>
        <p:nvSpPr>
          <p:cNvPr id="13" name="文本框 12"/>
          <p:cNvSpPr txBox="1"/>
          <p:nvPr/>
        </p:nvSpPr>
        <p:spPr>
          <a:xfrm>
            <a:off x="683568" y="4017361"/>
            <a:ext cx="6560544" cy="461665"/>
          </a:xfrm>
          <a:prstGeom prst="rect">
            <a:avLst/>
          </a:prstGeom>
          <a:noFill/>
        </p:spPr>
        <p:txBody>
          <a:bodyPr wrap="square" rtlCol="0">
            <a:spAutoFit/>
          </a:bodyPr>
          <a:lstStyle/>
          <a:p>
            <a:r>
              <a:rPr lang="en-US" altLang="zh-CN" sz="2400" dirty="0" err="1"/>
              <a:t>fmt</a:t>
            </a:r>
            <a:r>
              <a:rPr lang="en-US" altLang="zh-CN" sz="2400" dirty="0"/>
              <a:t>=0</a:t>
            </a:r>
            <a:endParaRPr lang="zh-CN" altLang="en-US" sz="2400" dirty="0"/>
          </a:p>
        </p:txBody>
      </p:sp>
      <p:sp>
        <p:nvSpPr>
          <p:cNvPr id="10" name="矩形 9"/>
          <p:cNvSpPr/>
          <p:nvPr/>
        </p:nvSpPr>
        <p:spPr>
          <a:xfrm>
            <a:off x="971600" y="4479026"/>
            <a:ext cx="7632848" cy="1569660"/>
          </a:xfrm>
          <a:prstGeom prst="rect">
            <a:avLst/>
          </a:prstGeom>
        </p:spPr>
        <p:txBody>
          <a:bodyPr wrap="square">
            <a:spAutoFit/>
          </a:bodyPr>
          <a:lstStyle/>
          <a:p>
            <a:r>
              <a:rPr lang="en-US" altLang="zh-CN" sz="2400" dirty="0">
                <a:solidFill>
                  <a:srgbClr val="3D464D"/>
                </a:solidFill>
                <a:latin typeface="suxingme"/>
              </a:rPr>
              <a:t>11</a:t>
            </a:r>
            <a:r>
              <a:rPr lang="zh-CN" altLang="en-US" sz="2400" dirty="0">
                <a:solidFill>
                  <a:srgbClr val="3D464D"/>
                </a:solidFill>
                <a:latin typeface="suxingme"/>
              </a:rPr>
              <a:t>个字节：</a:t>
            </a:r>
            <a:r>
              <a:rPr lang="en-US" altLang="zh-CN" sz="2400" dirty="0">
                <a:solidFill>
                  <a:srgbClr val="3D464D"/>
                </a:solidFill>
                <a:latin typeface="suxingme"/>
              </a:rPr>
              <a:t>3</a:t>
            </a:r>
            <a:r>
              <a:rPr lang="zh-CN" altLang="en-US" sz="2400" dirty="0">
                <a:solidFill>
                  <a:srgbClr val="3D464D"/>
                </a:solidFill>
                <a:latin typeface="suxingme"/>
              </a:rPr>
              <a:t>个字节长度的时间戳，</a:t>
            </a:r>
            <a:r>
              <a:rPr lang="en-US" altLang="zh-CN" sz="2400" dirty="0">
                <a:solidFill>
                  <a:srgbClr val="3D464D"/>
                </a:solidFill>
                <a:latin typeface="suxingme"/>
              </a:rPr>
              <a:t>3</a:t>
            </a:r>
            <a:r>
              <a:rPr lang="zh-CN" altLang="en-US" sz="2400" dirty="0">
                <a:solidFill>
                  <a:srgbClr val="3D464D"/>
                </a:solidFill>
                <a:latin typeface="suxingme"/>
              </a:rPr>
              <a:t>个字节长度的消息长度，</a:t>
            </a:r>
            <a:r>
              <a:rPr lang="en-US" altLang="zh-CN" sz="2400" dirty="0">
                <a:solidFill>
                  <a:srgbClr val="3D464D"/>
                </a:solidFill>
                <a:latin typeface="suxingme"/>
              </a:rPr>
              <a:t>1</a:t>
            </a:r>
            <a:r>
              <a:rPr lang="zh-CN" altLang="en-US" sz="2400" dirty="0">
                <a:solidFill>
                  <a:srgbClr val="3D464D"/>
                </a:solidFill>
                <a:latin typeface="suxingme"/>
              </a:rPr>
              <a:t>个字节长度的消息类型</a:t>
            </a:r>
            <a:r>
              <a:rPr lang="en-US" altLang="zh-CN" sz="2400" dirty="0">
                <a:solidFill>
                  <a:srgbClr val="3D464D"/>
                </a:solidFill>
                <a:latin typeface="suxingme"/>
              </a:rPr>
              <a:t>id</a:t>
            </a:r>
            <a:r>
              <a:rPr lang="zh-CN" altLang="en-US" sz="2400" dirty="0">
                <a:solidFill>
                  <a:srgbClr val="3D464D"/>
                </a:solidFill>
                <a:latin typeface="suxingme"/>
              </a:rPr>
              <a:t>，</a:t>
            </a:r>
            <a:r>
              <a:rPr lang="en-US" altLang="zh-CN" sz="2400" dirty="0">
                <a:solidFill>
                  <a:srgbClr val="3D464D"/>
                </a:solidFill>
                <a:latin typeface="suxingme"/>
              </a:rPr>
              <a:t>4</a:t>
            </a:r>
            <a:r>
              <a:rPr lang="zh-CN" altLang="en-US" sz="2400" dirty="0">
                <a:solidFill>
                  <a:srgbClr val="3D464D"/>
                </a:solidFill>
                <a:latin typeface="suxingme"/>
              </a:rPr>
              <a:t>个字节长度的消息流</a:t>
            </a:r>
            <a:r>
              <a:rPr lang="en-US" altLang="zh-CN" sz="2400" dirty="0">
                <a:solidFill>
                  <a:srgbClr val="3D464D"/>
                </a:solidFill>
                <a:latin typeface="suxingme"/>
              </a:rPr>
              <a:t>id</a:t>
            </a:r>
            <a:r>
              <a:rPr lang="zh-CN" altLang="en-US" sz="2400" dirty="0">
                <a:solidFill>
                  <a:srgbClr val="3D464D"/>
                </a:solidFill>
                <a:latin typeface="suxingme"/>
              </a:rPr>
              <a:t>所组成的。</a:t>
            </a:r>
            <a:endParaRPr lang="en-US" altLang="zh-CN" sz="2400" dirty="0">
              <a:solidFill>
                <a:srgbClr val="3D464D"/>
              </a:solidFill>
              <a:latin typeface="suxingme"/>
            </a:endParaRPr>
          </a:p>
          <a:p>
            <a:r>
              <a:rPr lang="zh-CN" altLang="en-US" sz="2400" dirty="0">
                <a:solidFill>
                  <a:srgbClr val="3D464D"/>
                </a:solidFill>
                <a:latin typeface="suxingme"/>
              </a:rPr>
              <a:t>当时间戳太大的时候，产出扩展时间戳</a:t>
            </a:r>
            <a:endParaRPr lang="zh-CN" altLang="en-US" sz="2400" dirty="0"/>
          </a:p>
        </p:txBody>
      </p:sp>
    </p:spTree>
    <p:extLst>
      <p:ext uri="{BB962C8B-B14F-4D97-AF65-F5344CB8AC3E}">
        <p14:creationId xmlns:p14="http://schemas.microsoft.com/office/powerpoint/2010/main" val="9611382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协议格式：块</a:t>
            </a:r>
            <a:endParaRPr lang="en-US" altLang="zh-CN" dirty="0"/>
          </a:p>
        </p:txBody>
      </p:sp>
      <p:sp>
        <p:nvSpPr>
          <p:cNvPr id="6" name="矩形 5"/>
          <p:cNvSpPr/>
          <p:nvPr/>
        </p:nvSpPr>
        <p:spPr>
          <a:xfrm>
            <a:off x="875066"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基本头</a:t>
            </a:r>
          </a:p>
        </p:txBody>
      </p:sp>
      <p:sp>
        <p:nvSpPr>
          <p:cNvPr id="7" name="矩形 6"/>
          <p:cNvSpPr/>
          <p:nvPr/>
        </p:nvSpPr>
        <p:spPr>
          <a:xfrm>
            <a:off x="2255478"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消息头</a:t>
            </a:r>
          </a:p>
        </p:txBody>
      </p:sp>
      <p:sp>
        <p:nvSpPr>
          <p:cNvPr id="8" name="矩形 7"/>
          <p:cNvSpPr/>
          <p:nvPr/>
        </p:nvSpPr>
        <p:spPr>
          <a:xfrm>
            <a:off x="3491881" y="1760498"/>
            <a:ext cx="1551756"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扩展时间戳</a:t>
            </a:r>
          </a:p>
        </p:txBody>
      </p:sp>
      <p:sp>
        <p:nvSpPr>
          <p:cNvPr id="9" name="矩形 8"/>
          <p:cNvSpPr/>
          <p:nvPr/>
        </p:nvSpPr>
        <p:spPr>
          <a:xfrm>
            <a:off x="5043636" y="1760498"/>
            <a:ext cx="3124230" cy="576064"/>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块数据</a:t>
            </a:r>
          </a:p>
        </p:txBody>
      </p:sp>
      <p:sp>
        <p:nvSpPr>
          <p:cNvPr id="2" name="左大括号 1"/>
          <p:cNvSpPr/>
          <p:nvPr/>
        </p:nvSpPr>
        <p:spPr>
          <a:xfrm rot="16200000">
            <a:off x="2797110" y="1088500"/>
            <a:ext cx="309140" cy="3096344"/>
          </a:xfrm>
          <a:prstGeom prst="leftBrace">
            <a:avLst>
              <a:gd name="adj1" fmla="val 2500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 name="文本框 2"/>
          <p:cNvSpPr txBox="1"/>
          <p:nvPr/>
        </p:nvSpPr>
        <p:spPr>
          <a:xfrm>
            <a:off x="2411760" y="2829032"/>
            <a:ext cx="1365465" cy="461665"/>
          </a:xfrm>
          <a:prstGeom prst="rect">
            <a:avLst/>
          </a:prstGeom>
          <a:noFill/>
        </p:spPr>
        <p:txBody>
          <a:bodyPr wrap="square" rtlCol="0">
            <a:spAutoFit/>
          </a:bodyPr>
          <a:lstStyle/>
          <a:p>
            <a:r>
              <a:rPr lang="zh-CN" altLang="en-US" sz="2400" dirty="0"/>
              <a:t>块头部</a:t>
            </a:r>
          </a:p>
        </p:txBody>
      </p:sp>
      <p:sp>
        <p:nvSpPr>
          <p:cNvPr id="4" name="文本框 3"/>
          <p:cNvSpPr txBox="1"/>
          <p:nvPr/>
        </p:nvSpPr>
        <p:spPr>
          <a:xfrm>
            <a:off x="539551" y="3328487"/>
            <a:ext cx="7628315" cy="461665"/>
          </a:xfrm>
          <a:prstGeom prst="rect">
            <a:avLst/>
          </a:prstGeom>
          <a:noFill/>
        </p:spPr>
        <p:txBody>
          <a:bodyPr wrap="square" rtlCol="0">
            <a:spAutoFit/>
          </a:bodyPr>
          <a:lstStyle/>
          <a:p>
            <a:r>
              <a:rPr lang="zh-CN" altLang="en-US" sz="2400" dirty="0"/>
              <a:t>消息头：长度不固定（</a:t>
            </a:r>
            <a:r>
              <a:rPr lang="en-US" altLang="zh-CN" sz="2400" dirty="0"/>
              <a:t>1-3</a:t>
            </a:r>
            <a:r>
              <a:rPr lang="zh-CN" altLang="en-US" sz="2400" dirty="0"/>
              <a:t>个字节）；由</a:t>
            </a:r>
            <a:r>
              <a:rPr lang="en-US" altLang="zh-CN" sz="2400" dirty="0" err="1"/>
              <a:t>fmt</a:t>
            </a:r>
            <a:r>
              <a:rPr lang="zh-CN" altLang="en-US" sz="2400" dirty="0"/>
              <a:t>决定</a:t>
            </a:r>
          </a:p>
        </p:txBody>
      </p:sp>
      <p:sp>
        <p:nvSpPr>
          <p:cNvPr id="13" name="文本框 12"/>
          <p:cNvSpPr txBox="1"/>
          <p:nvPr/>
        </p:nvSpPr>
        <p:spPr>
          <a:xfrm>
            <a:off x="683568" y="3942373"/>
            <a:ext cx="6560544" cy="461665"/>
          </a:xfrm>
          <a:prstGeom prst="rect">
            <a:avLst/>
          </a:prstGeom>
          <a:noFill/>
        </p:spPr>
        <p:txBody>
          <a:bodyPr wrap="square" rtlCol="0">
            <a:spAutoFit/>
          </a:bodyPr>
          <a:lstStyle/>
          <a:p>
            <a:r>
              <a:rPr lang="en-US" altLang="zh-CN" sz="2400" dirty="0" err="1"/>
              <a:t>fmt</a:t>
            </a:r>
            <a:r>
              <a:rPr lang="en-US" altLang="zh-CN" sz="2400" dirty="0"/>
              <a:t>=1</a:t>
            </a:r>
            <a:endParaRPr lang="zh-CN" altLang="en-US" sz="2400" dirty="0"/>
          </a:p>
        </p:txBody>
      </p:sp>
      <p:sp>
        <p:nvSpPr>
          <p:cNvPr id="10" name="矩形 9"/>
          <p:cNvSpPr/>
          <p:nvPr/>
        </p:nvSpPr>
        <p:spPr>
          <a:xfrm>
            <a:off x="1835696" y="3942373"/>
            <a:ext cx="7632848" cy="830997"/>
          </a:xfrm>
          <a:prstGeom prst="rect">
            <a:avLst/>
          </a:prstGeom>
        </p:spPr>
        <p:txBody>
          <a:bodyPr wrap="square">
            <a:spAutoFit/>
          </a:bodyPr>
          <a:lstStyle/>
          <a:p>
            <a:r>
              <a:rPr lang="en-US" altLang="zh-CN" sz="2400">
                <a:solidFill>
                  <a:srgbClr val="3D464D"/>
                </a:solidFill>
                <a:latin typeface="suxingme"/>
              </a:rPr>
              <a:t>7</a:t>
            </a:r>
            <a:r>
              <a:rPr lang="zh-CN" altLang="en-US" sz="2400" dirty="0">
                <a:solidFill>
                  <a:srgbClr val="3D464D"/>
                </a:solidFill>
                <a:latin typeface="suxingme"/>
              </a:rPr>
              <a:t>个字节：</a:t>
            </a:r>
            <a:r>
              <a:rPr lang="en-US" altLang="zh-CN" sz="2400" dirty="0">
                <a:solidFill>
                  <a:srgbClr val="3D464D"/>
                </a:solidFill>
                <a:latin typeface="suxingme"/>
              </a:rPr>
              <a:t>3</a:t>
            </a:r>
            <a:r>
              <a:rPr lang="zh-CN" altLang="en-US" sz="2400" dirty="0">
                <a:solidFill>
                  <a:srgbClr val="3D464D"/>
                </a:solidFill>
                <a:latin typeface="suxingme"/>
              </a:rPr>
              <a:t>个字节长度的时间戳，</a:t>
            </a:r>
            <a:r>
              <a:rPr lang="en-US" altLang="zh-CN" sz="2400" dirty="0">
                <a:solidFill>
                  <a:srgbClr val="3D464D"/>
                </a:solidFill>
                <a:latin typeface="suxingme"/>
              </a:rPr>
              <a:t>3</a:t>
            </a:r>
            <a:r>
              <a:rPr lang="zh-CN" altLang="en-US" sz="2400" dirty="0">
                <a:solidFill>
                  <a:srgbClr val="3D464D"/>
                </a:solidFill>
                <a:latin typeface="suxingme"/>
              </a:rPr>
              <a:t>个字节长度的消息长度，</a:t>
            </a:r>
            <a:r>
              <a:rPr lang="en-US" altLang="zh-CN" sz="2400" dirty="0">
                <a:solidFill>
                  <a:srgbClr val="3D464D"/>
                </a:solidFill>
                <a:latin typeface="suxingme"/>
              </a:rPr>
              <a:t>1</a:t>
            </a:r>
            <a:r>
              <a:rPr lang="zh-CN" altLang="en-US" sz="2400" dirty="0">
                <a:solidFill>
                  <a:srgbClr val="3D464D"/>
                </a:solidFill>
                <a:latin typeface="suxingme"/>
              </a:rPr>
              <a:t>个字节长度的消息类型</a:t>
            </a:r>
            <a:r>
              <a:rPr lang="en-US" altLang="zh-CN" sz="2400" dirty="0">
                <a:solidFill>
                  <a:srgbClr val="3D464D"/>
                </a:solidFill>
                <a:latin typeface="suxingme"/>
              </a:rPr>
              <a:t>id</a:t>
            </a:r>
            <a:endParaRPr lang="zh-CN" altLang="en-US" sz="2400" dirty="0"/>
          </a:p>
        </p:txBody>
      </p:sp>
      <p:sp>
        <p:nvSpPr>
          <p:cNvPr id="14" name="文本框 13"/>
          <p:cNvSpPr txBox="1"/>
          <p:nvPr/>
        </p:nvSpPr>
        <p:spPr>
          <a:xfrm>
            <a:off x="683568" y="5607398"/>
            <a:ext cx="6560544" cy="461665"/>
          </a:xfrm>
          <a:prstGeom prst="rect">
            <a:avLst/>
          </a:prstGeom>
          <a:noFill/>
        </p:spPr>
        <p:txBody>
          <a:bodyPr wrap="square" rtlCol="0">
            <a:spAutoFit/>
          </a:bodyPr>
          <a:lstStyle/>
          <a:p>
            <a:r>
              <a:rPr lang="en-US" altLang="zh-CN" sz="2400" dirty="0" err="1"/>
              <a:t>fmt</a:t>
            </a:r>
            <a:r>
              <a:rPr lang="en-US" altLang="zh-CN" sz="2400" dirty="0"/>
              <a:t>=3</a:t>
            </a:r>
            <a:endParaRPr lang="zh-CN" altLang="en-US" sz="2400" dirty="0"/>
          </a:p>
        </p:txBody>
      </p:sp>
      <p:sp>
        <p:nvSpPr>
          <p:cNvPr id="15" name="矩形 14"/>
          <p:cNvSpPr/>
          <p:nvPr/>
        </p:nvSpPr>
        <p:spPr>
          <a:xfrm>
            <a:off x="1835696" y="5607398"/>
            <a:ext cx="7632848" cy="461665"/>
          </a:xfrm>
          <a:prstGeom prst="rect">
            <a:avLst/>
          </a:prstGeom>
        </p:spPr>
        <p:txBody>
          <a:bodyPr wrap="square">
            <a:spAutoFit/>
          </a:bodyPr>
          <a:lstStyle/>
          <a:p>
            <a:r>
              <a:rPr lang="zh-CN" altLang="en-US" sz="2400" dirty="0"/>
              <a:t>无消息头</a:t>
            </a:r>
          </a:p>
        </p:txBody>
      </p:sp>
      <p:sp>
        <p:nvSpPr>
          <p:cNvPr id="16" name="文本框 15"/>
          <p:cNvSpPr txBox="1"/>
          <p:nvPr/>
        </p:nvSpPr>
        <p:spPr>
          <a:xfrm>
            <a:off x="683568" y="4896508"/>
            <a:ext cx="6560544" cy="461665"/>
          </a:xfrm>
          <a:prstGeom prst="rect">
            <a:avLst/>
          </a:prstGeom>
          <a:noFill/>
        </p:spPr>
        <p:txBody>
          <a:bodyPr wrap="square" rtlCol="0">
            <a:spAutoFit/>
          </a:bodyPr>
          <a:lstStyle/>
          <a:p>
            <a:r>
              <a:rPr lang="en-US" altLang="zh-CN" sz="2400" dirty="0" err="1"/>
              <a:t>fmt</a:t>
            </a:r>
            <a:r>
              <a:rPr lang="en-US" altLang="zh-CN" sz="2400" dirty="0"/>
              <a:t>=2</a:t>
            </a:r>
            <a:endParaRPr lang="zh-CN" altLang="en-US" sz="2400" dirty="0"/>
          </a:p>
        </p:txBody>
      </p:sp>
      <p:sp>
        <p:nvSpPr>
          <p:cNvPr id="17" name="矩形 16"/>
          <p:cNvSpPr/>
          <p:nvPr/>
        </p:nvSpPr>
        <p:spPr>
          <a:xfrm>
            <a:off x="1835696" y="4896508"/>
            <a:ext cx="7632848" cy="461665"/>
          </a:xfrm>
          <a:prstGeom prst="rect">
            <a:avLst/>
          </a:prstGeom>
        </p:spPr>
        <p:txBody>
          <a:bodyPr wrap="square">
            <a:spAutoFit/>
          </a:bodyPr>
          <a:lstStyle/>
          <a:p>
            <a:r>
              <a:rPr lang="en-US" altLang="zh-CN" sz="2400" dirty="0">
                <a:solidFill>
                  <a:srgbClr val="3D464D"/>
                </a:solidFill>
                <a:latin typeface="suxingme"/>
              </a:rPr>
              <a:t>3</a:t>
            </a:r>
            <a:r>
              <a:rPr lang="zh-CN" altLang="en-US" sz="2400" dirty="0">
                <a:solidFill>
                  <a:srgbClr val="3D464D"/>
                </a:solidFill>
                <a:latin typeface="suxingme"/>
              </a:rPr>
              <a:t>个字节：</a:t>
            </a:r>
            <a:r>
              <a:rPr lang="en-US" altLang="zh-CN" sz="2400" dirty="0">
                <a:solidFill>
                  <a:srgbClr val="3D464D"/>
                </a:solidFill>
                <a:latin typeface="suxingme"/>
              </a:rPr>
              <a:t>3</a:t>
            </a:r>
            <a:r>
              <a:rPr lang="zh-CN" altLang="en-US" sz="2400" dirty="0">
                <a:solidFill>
                  <a:srgbClr val="3D464D"/>
                </a:solidFill>
                <a:latin typeface="suxingme"/>
              </a:rPr>
              <a:t>个字节长度的时间戳，</a:t>
            </a:r>
            <a:endParaRPr lang="zh-CN" altLang="en-US" sz="2400" dirty="0"/>
          </a:p>
        </p:txBody>
      </p:sp>
    </p:spTree>
    <p:extLst>
      <p:ext uri="{BB962C8B-B14F-4D97-AF65-F5344CB8AC3E}">
        <p14:creationId xmlns:p14="http://schemas.microsoft.com/office/powerpoint/2010/main" val="14837177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协议格式：块</a:t>
            </a:r>
            <a:endParaRPr lang="en-US" altLang="zh-CN" dirty="0"/>
          </a:p>
        </p:txBody>
      </p:sp>
      <p:sp>
        <p:nvSpPr>
          <p:cNvPr id="6" name="矩形 5"/>
          <p:cNvSpPr/>
          <p:nvPr/>
        </p:nvSpPr>
        <p:spPr>
          <a:xfrm>
            <a:off x="875066"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基本头</a:t>
            </a:r>
          </a:p>
        </p:txBody>
      </p:sp>
      <p:sp>
        <p:nvSpPr>
          <p:cNvPr id="7" name="矩形 6"/>
          <p:cNvSpPr/>
          <p:nvPr/>
        </p:nvSpPr>
        <p:spPr>
          <a:xfrm>
            <a:off x="2255478" y="1760498"/>
            <a:ext cx="1392405"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消息头</a:t>
            </a:r>
          </a:p>
        </p:txBody>
      </p:sp>
      <p:sp>
        <p:nvSpPr>
          <p:cNvPr id="8" name="矩形 7"/>
          <p:cNvSpPr/>
          <p:nvPr/>
        </p:nvSpPr>
        <p:spPr>
          <a:xfrm>
            <a:off x="3491881" y="1760498"/>
            <a:ext cx="1551756" cy="576064"/>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扩展时间戳</a:t>
            </a:r>
          </a:p>
        </p:txBody>
      </p:sp>
      <p:sp>
        <p:nvSpPr>
          <p:cNvPr id="9" name="矩形 8"/>
          <p:cNvSpPr/>
          <p:nvPr/>
        </p:nvSpPr>
        <p:spPr>
          <a:xfrm>
            <a:off x="5043636" y="1760498"/>
            <a:ext cx="3124230" cy="576064"/>
          </a:xfrm>
          <a:prstGeom prst="rect">
            <a:avLst/>
          </a:prstGeom>
          <a:solidFill>
            <a:schemeClr val="tx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块数据</a:t>
            </a:r>
          </a:p>
        </p:txBody>
      </p:sp>
      <p:sp>
        <p:nvSpPr>
          <p:cNvPr id="2" name="左大括号 1"/>
          <p:cNvSpPr/>
          <p:nvPr/>
        </p:nvSpPr>
        <p:spPr>
          <a:xfrm rot="16200000">
            <a:off x="2797110" y="1088500"/>
            <a:ext cx="309140" cy="3096344"/>
          </a:xfrm>
          <a:prstGeom prst="leftBrace">
            <a:avLst>
              <a:gd name="adj1" fmla="val 2500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3" name="文本框 2"/>
          <p:cNvSpPr txBox="1"/>
          <p:nvPr/>
        </p:nvSpPr>
        <p:spPr>
          <a:xfrm>
            <a:off x="2411760" y="2829032"/>
            <a:ext cx="1365465" cy="461665"/>
          </a:xfrm>
          <a:prstGeom prst="rect">
            <a:avLst/>
          </a:prstGeom>
          <a:noFill/>
        </p:spPr>
        <p:txBody>
          <a:bodyPr wrap="square" rtlCol="0">
            <a:spAutoFit/>
          </a:bodyPr>
          <a:lstStyle/>
          <a:p>
            <a:r>
              <a:rPr lang="zh-CN" altLang="en-US" sz="2400" dirty="0"/>
              <a:t>块头部</a:t>
            </a:r>
          </a:p>
        </p:txBody>
      </p:sp>
      <p:sp>
        <p:nvSpPr>
          <p:cNvPr id="4" name="文本框 3"/>
          <p:cNvSpPr txBox="1"/>
          <p:nvPr/>
        </p:nvSpPr>
        <p:spPr>
          <a:xfrm>
            <a:off x="539551" y="3328487"/>
            <a:ext cx="7628315" cy="461665"/>
          </a:xfrm>
          <a:prstGeom prst="rect">
            <a:avLst/>
          </a:prstGeom>
          <a:noFill/>
        </p:spPr>
        <p:txBody>
          <a:bodyPr wrap="square" rtlCol="0">
            <a:spAutoFit/>
          </a:bodyPr>
          <a:lstStyle/>
          <a:p>
            <a:r>
              <a:rPr lang="zh-CN" altLang="en-US" sz="2400" dirty="0"/>
              <a:t>块数据：长度固定的音视频数据</a:t>
            </a:r>
          </a:p>
        </p:txBody>
      </p:sp>
      <p:pic>
        <p:nvPicPr>
          <p:cNvPr id="2050" name="Picture 2" descr="https://bbsmax.ikafan.com/static/L3Byb3h5L2h0dHBzL3N0YXRpYzAwMS5nZWVrYmFuZy5vcmcvaW5mb3EvMGEvMGE1Mjg1MmI5Njk2MGQyYTA5Yjk4MzBlODBlZTBhM2YucG5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652" y="3743588"/>
            <a:ext cx="7010400" cy="167640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260392" y="5419590"/>
            <a:ext cx="9031604" cy="830997"/>
          </a:xfrm>
          <a:prstGeom prst="rect">
            <a:avLst/>
          </a:prstGeom>
        </p:spPr>
        <p:txBody>
          <a:bodyPr wrap="square">
            <a:spAutoFit/>
          </a:bodyPr>
          <a:lstStyle/>
          <a:p>
            <a:r>
              <a:rPr lang="en-US" altLang="zh-CN" sz="2400" dirty="0">
                <a:solidFill>
                  <a:srgbClr val="3D464D"/>
                </a:solidFill>
                <a:latin typeface="suxingme"/>
              </a:rPr>
              <a:t>AMF(Action Message Format) </a:t>
            </a:r>
            <a:r>
              <a:rPr lang="zh-CN" altLang="en-US" sz="2400" dirty="0">
                <a:solidFill>
                  <a:srgbClr val="3D464D"/>
                </a:solidFill>
                <a:latin typeface="suxingme"/>
              </a:rPr>
              <a:t>是一种类似</a:t>
            </a:r>
            <a:r>
              <a:rPr lang="en-US" altLang="zh-CN" sz="2400" dirty="0">
                <a:solidFill>
                  <a:srgbClr val="3D464D"/>
                </a:solidFill>
                <a:latin typeface="suxingme"/>
              </a:rPr>
              <a:t>JSON</a:t>
            </a:r>
            <a:r>
              <a:rPr lang="zh-CN" altLang="en-US" sz="2400" dirty="0">
                <a:solidFill>
                  <a:srgbClr val="3D464D"/>
                </a:solidFill>
                <a:latin typeface="suxingme"/>
              </a:rPr>
              <a:t>，</a:t>
            </a:r>
            <a:r>
              <a:rPr lang="en-US" altLang="zh-CN" sz="2400" dirty="0">
                <a:solidFill>
                  <a:srgbClr val="3D464D"/>
                </a:solidFill>
                <a:latin typeface="suxingme"/>
              </a:rPr>
              <a:t>XML</a:t>
            </a:r>
            <a:r>
              <a:rPr lang="zh-CN" altLang="en-US" sz="2400" dirty="0">
                <a:solidFill>
                  <a:srgbClr val="3D464D"/>
                </a:solidFill>
                <a:latin typeface="suxingme"/>
              </a:rPr>
              <a:t>的二进制数据序列化格式</a:t>
            </a:r>
            <a:endParaRPr lang="zh-CN" altLang="en-US" sz="2400" dirty="0"/>
          </a:p>
        </p:txBody>
      </p:sp>
    </p:spTree>
    <p:extLst>
      <p:ext uri="{BB962C8B-B14F-4D97-AF65-F5344CB8AC3E}">
        <p14:creationId xmlns:p14="http://schemas.microsoft.com/office/powerpoint/2010/main" val="38066332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协议格式：消息</a:t>
            </a:r>
            <a:endParaRPr lang="en-US" altLang="zh-CN" dirty="0"/>
          </a:p>
        </p:txBody>
      </p:sp>
      <p:sp>
        <p:nvSpPr>
          <p:cNvPr id="10" name="矩形 9"/>
          <p:cNvSpPr/>
          <p:nvPr/>
        </p:nvSpPr>
        <p:spPr>
          <a:xfrm>
            <a:off x="618535" y="1700808"/>
            <a:ext cx="8705993" cy="2062103"/>
          </a:xfrm>
          <a:prstGeom prst="rect">
            <a:avLst/>
          </a:prstGeom>
        </p:spPr>
        <p:txBody>
          <a:bodyPr wrap="square">
            <a:spAutoFit/>
          </a:bodyPr>
          <a:lstStyle/>
          <a:p>
            <a:r>
              <a:rPr lang="zh-CN" altLang="en-US" sz="3200" dirty="0">
                <a:solidFill>
                  <a:srgbClr val="3D464D"/>
                </a:solidFill>
                <a:latin typeface="suxingme"/>
              </a:rPr>
              <a:t>一个消息是由多个块流</a:t>
            </a:r>
            <a:r>
              <a:rPr lang="en-US" altLang="zh-CN" sz="3200" dirty="0">
                <a:solidFill>
                  <a:srgbClr val="3D464D"/>
                </a:solidFill>
                <a:latin typeface="suxingme"/>
              </a:rPr>
              <a:t>id</a:t>
            </a:r>
            <a:r>
              <a:rPr lang="zh-CN" altLang="en-US" sz="3200" dirty="0">
                <a:solidFill>
                  <a:srgbClr val="3D464D"/>
                </a:solidFill>
                <a:latin typeface="suxingme"/>
              </a:rPr>
              <a:t>一样的块组成，接收端可以重新合并解析为完整的消息。</a:t>
            </a:r>
            <a:endParaRPr lang="en-US" altLang="zh-CN" sz="3200" dirty="0">
              <a:solidFill>
                <a:srgbClr val="3D464D"/>
              </a:solidFill>
              <a:latin typeface="suxingme"/>
            </a:endParaRPr>
          </a:p>
          <a:p>
            <a:r>
              <a:rPr lang="en-US" altLang="zh-CN" sz="3200" dirty="0">
                <a:solidFill>
                  <a:srgbClr val="3D464D"/>
                </a:solidFill>
                <a:latin typeface="suxingme"/>
              </a:rPr>
              <a:t>RTMP</a:t>
            </a:r>
            <a:r>
              <a:rPr lang="zh-CN" altLang="en-US" sz="3200" dirty="0">
                <a:solidFill>
                  <a:srgbClr val="3D464D"/>
                </a:solidFill>
                <a:latin typeface="suxingme"/>
              </a:rPr>
              <a:t>消息主要分为以下三大类型：协议控制消息，数据消息和命令消息。</a:t>
            </a:r>
            <a:endParaRPr lang="zh-CN" altLang="en-US" sz="3200" dirty="0"/>
          </a:p>
        </p:txBody>
      </p:sp>
      <p:sp>
        <p:nvSpPr>
          <p:cNvPr id="12" name="Rectangle 1"/>
          <p:cNvSpPr>
            <a:spLocks noChangeArrowheads="1"/>
          </p:cNvSpPr>
          <p:nvPr/>
        </p:nvSpPr>
        <p:spPr bwMode="auto">
          <a:xfrm>
            <a:off x="618535" y="3973147"/>
            <a:ext cx="8273945" cy="2154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2000" b="1" i="0" u="none" strike="noStrike" cap="none" normalizeH="0" baseline="0" dirty="0">
                <a:ln>
                  <a:noFill/>
                </a:ln>
                <a:solidFill>
                  <a:srgbClr val="3D464D"/>
                </a:solidFill>
                <a:effectLst/>
                <a:latin typeface="Arial" panose="020B0604020202020204" pitchFamily="34" charset="0"/>
                <a:ea typeface="suxingme"/>
              </a:rPr>
              <a:t>协议控制消息：</a:t>
            </a:r>
            <a:r>
              <a:rPr kumimoji="0" lang="zh-CN" altLang="zh-CN" sz="2000" b="0" i="0" u="none" strike="noStrike" cap="none" normalizeH="0" baseline="0" dirty="0">
                <a:ln>
                  <a:noFill/>
                </a:ln>
                <a:solidFill>
                  <a:srgbClr val="3D464D"/>
                </a:solidFill>
                <a:effectLst/>
                <a:latin typeface="Arial" panose="020B0604020202020204" pitchFamily="34" charset="0"/>
                <a:ea typeface="suxingme"/>
              </a:rPr>
              <a:t>Type ID = 1~6，主要用于协议内的控制。</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2000" b="1" i="0" u="none" strike="noStrike" cap="none" normalizeH="0" baseline="0" dirty="0">
                <a:ln>
                  <a:noFill/>
                </a:ln>
                <a:solidFill>
                  <a:srgbClr val="3D464D"/>
                </a:solidFill>
                <a:effectLst/>
                <a:latin typeface="Arial" panose="020B0604020202020204" pitchFamily="34" charset="0"/>
                <a:ea typeface="suxingme"/>
              </a:rPr>
              <a:t>数据消息：</a:t>
            </a:r>
            <a:r>
              <a:rPr kumimoji="0" lang="zh-CN" altLang="zh-CN" sz="2000" b="0" i="0" u="none" strike="noStrike" cap="none" normalizeH="0" baseline="0" dirty="0">
                <a:ln>
                  <a:noFill/>
                </a:ln>
                <a:solidFill>
                  <a:srgbClr val="3D464D"/>
                </a:solidFill>
                <a:effectLst/>
                <a:latin typeface="Arial" panose="020B0604020202020204" pitchFamily="34" charset="0"/>
                <a:ea typeface="suxingme"/>
              </a:rPr>
              <a:t>Type ID = 8 9</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1400" b="0" i="0" u="none" strike="noStrike" cap="none" normalizeH="0" baseline="0" dirty="0">
                <a:ln>
                  <a:noFill/>
                </a:ln>
                <a:solidFill>
                  <a:srgbClr val="3D464D"/>
                </a:solidFill>
                <a:effectLst/>
                <a:latin typeface="Arial" panose="020B0604020202020204" pitchFamily="34" charset="0"/>
              </a:rPr>
              <a:t>8: Audio 音频数据</a:t>
            </a:r>
            <a:r>
              <a:rPr kumimoji="0" lang="en-US" altLang="zh-CN" sz="1400" b="0" i="0" u="none" strike="noStrike" cap="none" normalizeH="0" baseline="0" dirty="0">
                <a:ln>
                  <a:noFill/>
                </a:ln>
                <a:solidFill>
                  <a:srgbClr val="3D464D"/>
                </a:solidFill>
                <a:effectLst/>
                <a:latin typeface="Arial" panose="020B0604020202020204" pitchFamily="34" charset="0"/>
              </a:rPr>
              <a:t>   </a:t>
            </a:r>
            <a:r>
              <a:rPr kumimoji="0" lang="zh-CN" altLang="zh-CN" sz="1400" b="0" i="0" u="none" strike="noStrike" cap="none" normalizeH="0" baseline="0" dirty="0">
                <a:ln>
                  <a:noFill/>
                </a:ln>
                <a:solidFill>
                  <a:srgbClr val="3D464D"/>
                </a:solidFill>
                <a:effectLst/>
                <a:latin typeface="Arial" panose="020B0604020202020204" pitchFamily="34" charset="0"/>
              </a:rPr>
              <a:t>9: Video 视频数据</a:t>
            </a:r>
            <a:r>
              <a:rPr kumimoji="0" lang="en-US" altLang="zh-CN" sz="1400" b="0" i="0" u="none" strike="noStrike" cap="none" normalizeH="0" baseline="0" dirty="0">
                <a:ln>
                  <a:noFill/>
                </a:ln>
                <a:solidFill>
                  <a:srgbClr val="3D464D"/>
                </a:solidFill>
                <a:effectLst/>
                <a:latin typeface="Arial" panose="020B0604020202020204" pitchFamily="34" charset="0"/>
              </a:rPr>
              <a:t> </a:t>
            </a:r>
            <a:endParaRPr kumimoji="0" lang="zh-CN" altLang="zh-CN" sz="1000" b="0" i="0" u="none" strike="noStrike" cap="none" normalizeH="0" baseline="0" dirty="0">
              <a:ln>
                <a:noFill/>
              </a:ln>
              <a:solidFill>
                <a:schemeClr val="tx1"/>
              </a:solidFill>
              <a:effectLst/>
              <a:latin typeface="Arial" panose="020B0604020202020204" pitchFamily="34" charset="0"/>
            </a:endParaRPr>
          </a:p>
          <a:p>
            <a:pPr lvl="0">
              <a:spcBef>
                <a:spcPts val="600"/>
              </a:spcBef>
              <a:spcAft>
                <a:spcPts val="600"/>
              </a:spcAft>
            </a:pPr>
            <a:r>
              <a:rPr kumimoji="0" lang="zh-CN" altLang="zh-CN" sz="2000" b="1" i="0" u="none" strike="noStrike" cap="none" normalizeH="0" baseline="0" dirty="0">
                <a:ln>
                  <a:noFill/>
                </a:ln>
                <a:solidFill>
                  <a:srgbClr val="3D464D"/>
                </a:solidFill>
                <a:effectLst/>
                <a:latin typeface="Arial" panose="020B0604020202020204" pitchFamily="34" charset="0"/>
                <a:ea typeface="suxingme"/>
              </a:rPr>
              <a:t>命令消息</a:t>
            </a:r>
            <a:r>
              <a:rPr kumimoji="0" lang="zh-CN" altLang="zh-CN" sz="2000" b="0" i="0" u="none" strike="noStrike" cap="none" normalizeH="0" baseline="0" dirty="0">
                <a:ln>
                  <a:noFill/>
                </a:ln>
                <a:solidFill>
                  <a:srgbClr val="3D464D"/>
                </a:solidFill>
                <a:effectLst/>
                <a:latin typeface="Arial" panose="020B0604020202020204" pitchFamily="34" charset="0"/>
                <a:ea typeface="suxingme"/>
              </a:rPr>
              <a:t> </a:t>
            </a:r>
            <a:r>
              <a:rPr lang="zh-CN" altLang="zh-CN" sz="2000" dirty="0">
                <a:solidFill>
                  <a:srgbClr val="3D464D"/>
                </a:solidFill>
                <a:ea typeface="suxingme"/>
              </a:rPr>
              <a:t> Type ID</a:t>
            </a:r>
            <a:r>
              <a:rPr kumimoji="0" lang="zh-CN" altLang="zh-CN" sz="2000" b="0" i="0" u="none" strike="noStrike" cap="none" normalizeH="0" baseline="0" dirty="0">
                <a:ln>
                  <a:noFill/>
                </a:ln>
                <a:solidFill>
                  <a:srgbClr val="3D464D"/>
                </a:solidFill>
                <a:effectLst/>
                <a:latin typeface="Arial" panose="020B0604020202020204" pitchFamily="34" charset="0"/>
                <a:ea typeface="suxingme"/>
              </a:rPr>
              <a:t> (20, 17)：</a:t>
            </a:r>
            <a:endParaRPr kumimoji="0" lang="en-US" altLang="zh-CN" sz="2000" b="0" i="0" u="none" strike="noStrike" cap="none" normalizeH="0" baseline="0" dirty="0">
              <a:ln>
                <a:noFill/>
              </a:ln>
              <a:solidFill>
                <a:srgbClr val="3D464D"/>
              </a:solidFill>
              <a:effectLst/>
              <a:latin typeface="Arial" panose="020B0604020202020204" pitchFamily="34" charset="0"/>
              <a:ea typeface="suxingme"/>
            </a:endParaRPr>
          </a:p>
          <a:p>
            <a:pPr lvl="0">
              <a:spcBef>
                <a:spcPts val="600"/>
              </a:spcBef>
              <a:spcAft>
                <a:spcPts val="600"/>
              </a:spcAft>
            </a:pPr>
            <a:r>
              <a:rPr kumimoji="0" lang="zh-CN" altLang="zh-CN" sz="2000" b="0" i="0" u="none" strike="noStrike" cap="none" normalizeH="0" baseline="0" dirty="0">
                <a:ln>
                  <a:noFill/>
                </a:ln>
                <a:solidFill>
                  <a:srgbClr val="3D464D"/>
                </a:solidFill>
                <a:effectLst/>
                <a:latin typeface="Arial" panose="020B0604020202020204" pitchFamily="34" charset="0"/>
                <a:ea typeface="suxingme"/>
              </a:rPr>
              <a:t>该消息的调用，可理解为远程函数调用。</a:t>
            </a:r>
            <a:endParaRPr kumimoji="0" lang="zh-CN" altLang="zh-CN"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57554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en-US" altLang="zh-CN" dirty="0"/>
              <a:t>RTMP</a:t>
            </a:r>
            <a:r>
              <a:rPr lang="zh-CN" altLang="en-US" dirty="0"/>
              <a:t>协议格式：消息</a:t>
            </a:r>
            <a:endParaRPr lang="en-US" altLang="zh-CN" dirty="0"/>
          </a:p>
        </p:txBody>
      </p:sp>
      <p:sp>
        <p:nvSpPr>
          <p:cNvPr id="10" name="矩形 9"/>
          <p:cNvSpPr/>
          <p:nvPr/>
        </p:nvSpPr>
        <p:spPr>
          <a:xfrm>
            <a:off x="618535" y="1700808"/>
            <a:ext cx="8705993" cy="1077218"/>
          </a:xfrm>
          <a:prstGeom prst="rect">
            <a:avLst/>
          </a:prstGeom>
        </p:spPr>
        <p:txBody>
          <a:bodyPr wrap="square">
            <a:spAutoFit/>
          </a:bodyPr>
          <a:lstStyle/>
          <a:p>
            <a:r>
              <a:rPr lang="zh-CN" altLang="en-US" sz="3200" dirty="0">
                <a:solidFill>
                  <a:srgbClr val="3D464D"/>
                </a:solidFill>
                <a:latin typeface="suxingme"/>
              </a:rPr>
              <a:t>一个消息是由多个块流</a:t>
            </a:r>
            <a:r>
              <a:rPr lang="en-US" altLang="zh-CN" sz="3200" dirty="0">
                <a:solidFill>
                  <a:srgbClr val="3D464D"/>
                </a:solidFill>
                <a:latin typeface="suxingme"/>
              </a:rPr>
              <a:t>id</a:t>
            </a:r>
            <a:r>
              <a:rPr lang="zh-CN" altLang="en-US" sz="3200" dirty="0">
                <a:solidFill>
                  <a:srgbClr val="3D464D"/>
                </a:solidFill>
                <a:latin typeface="suxingme"/>
              </a:rPr>
              <a:t>一样的块组成，接收端可以重新合并解析为完整的消息。</a:t>
            </a:r>
            <a:endParaRPr lang="en-US" altLang="zh-CN" sz="3200" dirty="0">
              <a:solidFill>
                <a:srgbClr val="3D464D"/>
              </a:solidFill>
              <a:latin typeface="suxingme"/>
            </a:endParaRPr>
          </a:p>
        </p:txBody>
      </p:sp>
      <p:sp>
        <p:nvSpPr>
          <p:cNvPr id="7" name="单圆角矩形 5">
            <a:extLst>
              <a:ext uri="{FF2B5EF4-FFF2-40B4-BE49-F238E27FC236}">
                <a16:creationId xmlns:a16="http://schemas.microsoft.com/office/drawing/2014/main" id="{A4E1C3BE-BA9E-4E7F-A9C9-3420BBF4BB0C}"/>
              </a:ext>
            </a:extLst>
          </p:cNvPr>
          <p:cNvSpPr/>
          <p:nvPr/>
        </p:nvSpPr>
        <p:spPr>
          <a:xfrm>
            <a:off x="2987826" y="2987451"/>
            <a:ext cx="2520271" cy="648072"/>
          </a:xfrm>
          <a:prstGeom prst="snipRoundRect">
            <a:avLst>
              <a:gd name="adj1" fmla="val 34304"/>
              <a:gd name="adj2" fmla="val 40183"/>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rPr>
              <a:t>消息（</a:t>
            </a:r>
            <a:r>
              <a:rPr lang="en-US" altLang="zh-CN" sz="2400" dirty="0">
                <a:solidFill>
                  <a:srgbClr val="C00000"/>
                </a:solidFill>
              </a:rPr>
              <a:t>300</a:t>
            </a:r>
            <a:r>
              <a:rPr lang="zh-CN" altLang="en-US" sz="2400" dirty="0">
                <a:solidFill>
                  <a:srgbClr val="C00000"/>
                </a:solidFill>
              </a:rPr>
              <a:t>）</a:t>
            </a:r>
          </a:p>
        </p:txBody>
      </p:sp>
      <p:cxnSp>
        <p:nvCxnSpPr>
          <p:cNvPr id="8" name="直接箭头连接符 7">
            <a:extLst>
              <a:ext uri="{FF2B5EF4-FFF2-40B4-BE49-F238E27FC236}">
                <a16:creationId xmlns:a16="http://schemas.microsoft.com/office/drawing/2014/main" id="{4A7A70C8-77B3-4248-B0C8-0E5D1E1C515A}"/>
              </a:ext>
            </a:extLst>
          </p:cNvPr>
          <p:cNvCxnSpPr>
            <a:cxnSpLocks/>
          </p:cNvCxnSpPr>
          <p:nvPr/>
        </p:nvCxnSpPr>
        <p:spPr>
          <a:xfrm flipH="1">
            <a:off x="2771800" y="3738693"/>
            <a:ext cx="968479" cy="914443"/>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4FA5509-5CBC-459E-954A-18F7861F570C}"/>
              </a:ext>
            </a:extLst>
          </p:cNvPr>
          <p:cNvSpPr/>
          <p:nvPr/>
        </p:nvSpPr>
        <p:spPr>
          <a:xfrm>
            <a:off x="1043608" y="4762768"/>
            <a:ext cx="888349" cy="6104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数据块头</a:t>
            </a:r>
            <a:r>
              <a:rPr lang="en-US" altLang="zh-CN" dirty="0"/>
              <a:t>1</a:t>
            </a:r>
            <a:endParaRPr lang="zh-CN" altLang="en-US" dirty="0"/>
          </a:p>
        </p:txBody>
      </p:sp>
      <p:sp>
        <p:nvSpPr>
          <p:cNvPr id="12" name="矩形 11">
            <a:extLst>
              <a:ext uri="{FF2B5EF4-FFF2-40B4-BE49-F238E27FC236}">
                <a16:creationId xmlns:a16="http://schemas.microsoft.com/office/drawing/2014/main" id="{91DAECAC-5D39-45C0-A984-DA98321B60D9}"/>
              </a:ext>
            </a:extLst>
          </p:cNvPr>
          <p:cNvSpPr/>
          <p:nvPr/>
        </p:nvSpPr>
        <p:spPr>
          <a:xfrm>
            <a:off x="1931957" y="4762768"/>
            <a:ext cx="1402036" cy="61044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数据块数据</a:t>
            </a:r>
            <a:r>
              <a:rPr lang="en-US" altLang="zh-CN" dirty="0"/>
              <a:t>1</a:t>
            </a:r>
            <a:r>
              <a:rPr lang="zh-CN" altLang="en-US" dirty="0"/>
              <a:t>（</a:t>
            </a:r>
            <a:r>
              <a:rPr lang="en-US" altLang="zh-CN" dirty="0"/>
              <a:t>128</a:t>
            </a:r>
            <a:r>
              <a:rPr lang="zh-CN" altLang="en-US" dirty="0"/>
              <a:t>）</a:t>
            </a:r>
          </a:p>
        </p:txBody>
      </p:sp>
      <p:sp>
        <p:nvSpPr>
          <p:cNvPr id="17" name="矩形 16">
            <a:extLst>
              <a:ext uri="{FF2B5EF4-FFF2-40B4-BE49-F238E27FC236}">
                <a16:creationId xmlns:a16="http://schemas.microsoft.com/office/drawing/2014/main" id="{6B208AE0-A85F-461F-982D-EA251660F72D}"/>
              </a:ext>
            </a:extLst>
          </p:cNvPr>
          <p:cNvSpPr/>
          <p:nvPr/>
        </p:nvSpPr>
        <p:spPr>
          <a:xfrm>
            <a:off x="3827667" y="4751584"/>
            <a:ext cx="888349" cy="6104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数据块头</a:t>
            </a:r>
            <a:r>
              <a:rPr lang="en-US" altLang="zh-CN" dirty="0"/>
              <a:t>2</a:t>
            </a:r>
            <a:endParaRPr lang="zh-CN" altLang="en-US" dirty="0"/>
          </a:p>
        </p:txBody>
      </p:sp>
      <p:sp>
        <p:nvSpPr>
          <p:cNvPr id="18" name="矩形 17">
            <a:extLst>
              <a:ext uri="{FF2B5EF4-FFF2-40B4-BE49-F238E27FC236}">
                <a16:creationId xmlns:a16="http://schemas.microsoft.com/office/drawing/2014/main" id="{0799F971-533F-4E73-B1A3-DDCC35D612BB}"/>
              </a:ext>
            </a:extLst>
          </p:cNvPr>
          <p:cNvSpPr/>
          <p:nvPr/>
        </p:nvSpPr>
        <p:spPr>
          <a:xfrm>
            <a:off x="4716016" y="4751584"/>
            <a:ext cx="1402036" cy="61044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数据块数据</a:t>
            </a:r>
            <a:r>
              <a:rPr lang="en-US" altLang="zh-CN" dirty="0"/>
              <a:t>2</a:t>
            </a:r>
            <a:r>
              <a:rPr lang="zh-CN" altLang="en-US" dirty="0"/>
              <a:t>（</a:t>
            </a:r>
            <a:r>
              <a:rPr lang="en-US" altLang="zh-CN" dirty="0"/>
              <a:t>128</a:t>
            </a:r>
            <a:r>
              <a:rPr lang="zh-CN" altLang="en-US" dirty="0"/>
              <a:t>）</a:t>
            </a:r>
          </a:p>
        </p:txBody>
      </p:sp>
      <p:sp>
        <p:nvSpPr>
          <p:cNvPr id="19" name="矩形 18">
            <a:extLst>
              <a:ext uri="{FF2B5EF4-FFF2-40B4-BE49-F238E27FC236}">
                <a16:creationId xmlns:a16="http://schemas.microsoft.com/office/drawing/2014/main" id="{20E030F9-EFEC-49F1-842F-35C26D796A93}"/>
              </a:ext>
            </a:extLst>
          </p:cNvPr>
          <p:cNvSpPr/>
          <p:nvPr/>
        </p:nvSpPr>
        <p:spPr>
          <a:xfrm>
            <a:off x="6511025" y="4751584"/>
            <a:ext cx="888349" cy="6104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数据块头</a:t>
            </a:r>
            <a:r>
              <a:rPr lang="en-US" altLang="zh-CN" dirty="0"/>
              <a:t>3</a:t>
            </a:r>
            <a:endParaRPr lang="zh-CN" altLang="en-US" dirty="0"/>
          </a:p>
        </p:txBody>
      </p:sp>
      <p:sp>
        <p:nvSpPr>
          <p:cNvPr id="20" name="矩形 19">
            <a:extLst>
              <a:ext uri="{FF2B5EF4-FFF2-40B4-BE49-F238E27FC236}">
                <a16:creationId xmlns:a16="http://schemas.microsoft.com/office/drawing/2014/main" id="{50F13A76-0AB9-4CBA-AC13-AE854A02D7E8}"/>
              </a:ext>
            </a:extLst>
          </p:cNvPr>
          <p:cNvSpPr/>
          <p:nvPr/>
        </p:nvSpPr>
        <p:spPr>
          <a:xfrm>
            <a:off x="7399374" y="4751584"/>
            <a:ext cx="1402036" cy="61044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数据块数据</a:t>
            </a:r>
            <a:r>
              <a:rPr lang="en-US" altLang="zh-CN" dirty="0"/>
              <a:t>3</a:t>
            </a:r>
            <a:r>
              <a:rPr lang="zh-CN" altLang="en-US" dirty="0"/>
              <a:t>（</a:t>
            </a:r>
            <a:r>
              <a:rPr lang="en-US" altLang="zh-CN" dirty="0"/>
              <a:t>44</a:t>
            </a:r>
            <a:r>
              <a:rPr lang="zh-CN" altLang="en-US" dirty="0"/>
              <a:t>）</a:t>
            </a:r>
          </a:p>
        </p:txBody>
      </p:sp>
      <p:cxnSp>
        <p:nvCxnSpPr>
          <p:cNvPr id="21" name="直接箭头连接符 20">
            <a:extLst>
              <a:ext uri="{FF2B5EF4-FFF2-40B4-BE49-F238E27FC236}">
                <a16:creationId xmlns:a16="http://schemas.microsoft.com/office/drawing/2014/main" id="{EF36C66F-A346-472C-83C8-62406AE61947}"/>
              </a:ext>
            </a:extLst>
          </p:cNvPr>
          <p:cNvCxnSpPr>
            <a:cxnSpLocks/>
          </p:cNvCxnSpPr>
          <p:nvPr/>
        </p:nvCxnSpPr>
        <p:spPr>
          <a:xfrm flipH="1">
            <a:off x="4365624" y="3736332"/>
            <a:ext cx="1" cy="772788"/>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F502D98-0150-47B1-BC2C-BBD48CB11CD5}"/>
              </a:ext>
            </a:extLst>
          </p:cNvPr>
          <p:cNvCxnSpPr>
            <a:cxnSpLocks/>
          </p:cNvCxnSpPr>
          <p:nvPr/>
        </p:nvCxnSpPr>
        <p:spPr>
          <a:xfrm>
            <a:off x="4971531" y="3736332"/>
            <a:ext cx="1539494" cy="772788"/>
          </a:xfrm>
          <a:prstGeom prst="straightConnector1">
            <a:avLst/>
          </a:prstGeom>
          <a:ln w="31750">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899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zh-CN" altLang="en-US" dirty="0"/>
              <a:t>通信过程</a:t>
            </a:r>
            <a:endParaRPr lang="en-US" altLang="zh-CN" dirty="0"/>
          </a:p>
        </p:txBody>
      </p:sp>
      <p:sp>
        <p:nvSpPr>
          <p:cNvPr id="10" name="矩形 9"/>
          <p:cNvSpPr/>
          <p:nvPr/>
        </p:nvSpPr>
        <p:spPr>
          <a:xfrm>
            <a:off x="618535" y="1700808"/>
            <a:ext cx="8705993" cy="584775"/>
          </a:xfrm>
          <a:prstGeom prst="rect">
            <a:avLst/>
          </a:prstGeom>
        </p:spPr>
        <p:txBody>
          <a:bodyPr wrap="square">
            <a:spAutoFit/>
          </a:bodyPr>
          <a:lstStyle/>
          <a:p>
            <a:r>
              <a:rPr lang="en-US" altLang="zh-CN" sz="3200" dirty="0"/>
              <a:t>1. </a:t>
            </a:r>
            <a:r>
              <a:rPr lang="zh-CN" altLang="en-US" sz="3200" dirty="0"/>
              <a:t>握手</a:t>
            </a:r>
          </a:p>
        </p:txBody>
      </p:sp>
      <p:sp>
        <p:nvSpPr>
          <p:cNvPr id="2" name="矩形 1"/>
          <p:cNvSpPr/>
          <p:nvPr/>
        </p:nvSpPr>
        <p:spPr>
          <a:xfrm>
            <a:off x="899601" y="2454474"/>
            <a:ext cx="7508824" cy="1692771"/>
          </a:xfrm>
          <a:prstGeom prst="rect">
            <a:avLst/>
          </a:prstGeom>
        </p:spPr>
        <p:txBody>
          <a:bodyPr wrap="square">
            <a:spAutoFit/>
          </a:bodyPr>
          <a:lstStyle/>
          <a:p>
            <a:pPr>
              <a:spcBef>
                <a:spcPts val="600"/>
              </a:spcBef>
              <a:spcAft>
                <a:spcPts val="600"/>
              </a:spcAft>
            </a:pPr>
            <a:r>
              <a:rPr lang="zh-CN" altLang="en-US" sz="2800" dirty="0">
                <a:solidFill>
                  <a:srgbClr val="3D464D"/>
                </a:solidFill>
                <a:latin typeface="+mn-ea"/>
              </a:rPr>
              <a:t>客户端向服务端发送 </a:t>
            </a:r>
            <a:r>
              <a:rPr lang="en-US" altLang="zh-CN" sz="2800" dirty="0">
                <a:solidFill>
                  <a:srgbClr val="3D464D"/>
                </a:solidFill>
                <a:latin typeface="+mn-ea"/>
              </a:rPr>
              <a:t>C0 </a:t>
            </a:r>
            <a:r>
              <a:rPr lang="zh-CN" altLang="en-US" sz="2800" dirty="0">
                <a:solidFill>
                  <a:srgbClr val="3D464D"/>
                </a:solidFill>
                <a:latin typeface="+mn-ea"/>
              </a:rPr>
              <a:t>和 </a:t>
            </a:r>
            <a:r>
              <a:rPr lang="en-US" altLang="zh-CN" sz="2800" dirty="0">
                <a:solidFill>
                  <a:srgbClr val="3D464D"/>
                </a:solidFill>
                <a:latin typeface="+mn-ea"/>
              </a:rPr>
              <a:t>C1 </a:t>
            </a:r>
            <a:r>
              <a:rPr lang="zh-CN" altLang="en-US" sz="2800" dirty="0">
                <a:solidFill>
                  <a:srgbClr val="3D464D"/>
                </a:solidFill>
                <a:latin typeface="+mn-ea"/>
              </a:rPr>
              <a:t>消息，</a:t>
            </a:r>
            <a:endParaRPr lang="en-US" altLang="zh-CN" sz="2800" dirty="0">
              <a:solidFill>
                <a:srgbClr val="3D464D"/>
              </a:solidFill>
              <a:latin typeface="+mn-ea"/>
            </a:endParaRPr>
          </a:p>
          <a:p>
            <a:pPr>
              <a:spcBef>
                <a:spcPts val="600"/>
              </a:spcBef>
              <a:spcAft>
                <a:spcPts val="600"/>
              </a:spcAft>
            </a:pPr>
            <a:r>
              <a:rPr lang="zh-CN" altLang="en-US" sz="2800" dirty="0">
                <a:solidFill>
                  <a:srgbClr val="3D464D"/>
                </a:solidFill>
                <a:latin typeface="+mn-ea"/>
              </a:rPr>
              <a:t>服务端向客户端发送 </a:t>
            </a:r>
            <a:r>
              <a:rPr lang="en-US" altLang="zh-CN" sz="2800" dirty="0">
                <a:solidFill>
                  <a:srgbClr val="3D464D"/>
                </a:solidFill>
                <a:latin typeface="+mn-ea"/>
              </a:rPr>
              <a:t>S0</a:t>
            </a:r>
            <a:r>
              <a:rPr lang="zh-CN" altLang="en-US" sz="2800" dirty="0">
                <a:solidFill>
                  <a:srgbClr val="3D464D"/>
                </a:solidFill>
                <a:latin typeface="+mn-ea"/>
              </a:rPr>
              <a:t>，</a:t>
            </a:r>
            <a:r>
              <a:rPr lang="en-US" altLang="zh-CN" sz="2800" dirty="0">
                <a:solidFill>
                  <a:srgbClr val="3D464D"/>
                </a:solidFill>
                <a:latin typeface="+mn-ea"/>
              </a:rPr>
              <a:t>S1 </a:t>
            </a:r>
            <a:r>
              <a:rPr lang="zh-CN" altLang="en-US" sz="2800" dirty="0">
                <a:solidFill>
                  <a:srgbClr val="3D464D"/>
                </a:solidFill>
                <a:latin typeface="+mn-ea"/>
              </a:rPr>
              <a:t>和 </a:t>
            </a:r>
            <a:r>
              <a:rPr lang="en-US" altLang="zh-CN" sz="2800" dirty="0">
                <a:solidFill>
                  <a:srgbClr val="3D464D"/>
                </a:solidFill>
                <a:latin typeface="+mn-ea"/>
              </a:rPr>
              <a:t>S2 </a:t>
            </a:r>
            <a:r>
              <a:rPr lang="zh-CN" altLang="en-US" sz="2800" dirty="0">
                <a:solidFill>
                  <a:srgbClr val="3D464D"/>
                </a:solidFill>
                <a:latin typeface="+mn-ea"/>
              </a:rPr>
              <a:t>消息</a:t>
            </a:r>
            <a:endParaRPr lang="en-US" altLang="zh-CN" sz="2800" dirty="0">
              <a:solidFill>
                <a:srgbClr val="3D464D"/>
              </a:solidFill>
              <a:latin typeface="+mn-ea"/>
            </a:endParaRPr>
          </a:p>
          <a:p>
            <a:pPr>
              <a:spcBef>
                <a:spcPts val="600"/>
              </a:spcBef>
              <a:spcAft>
                <a:spcPts val="600"/>
              </a:spcAft>
            </a:pPr>
            <a:r>
              <a:rPr lang="zh-CN" altLang="en-US" sz="2800" dirty="0">
                <a:solidFill>
                  <a:srgbClr val="3D464D"/>
                </a:solidFill>
                <a:latin typeface="+mn-ea"/>
              </a:rPr>
              <a:t>包是客户端向服务端发送 </a:t>
            </a:r>
            <a:r>
              <a:rPr lang="en-US" altLang="zh-CN" sz="2800" dirty="0">
                <a:solidFill>
                  <a:srgbClr val="3D464D"/>
                </a:solidFill>
                <a:latin typeface="+mn-ea"/>
              </a:rPr>
              <a:t>C2 </a:t>
            </a:r>
            <a:r>
              <a:rPr lang="zh-CN" altLang="en-US" sz="2800" dirty="0">
                <a:solidFill>
                  <a:srgbClr val="3D464D"/>
                </a:solidFill>
                <a:latin typeface="+mn-ea"/>
              </a:rPr>
              <a:t>消息</a:t>
            </a:r>
            <a:endParaRPr lang="zh-CN" altLang="en-US" sz="2800" dirty="0">
              <a:latin typeface="+mn-ea"/>
            </a:endParaRPr>
          </a:p>
        </p:txBody>
      </p:sp>
      <p:pic>
        <p:nvPicPr>
          <p:cNvPr id="6146" name="Picture 2" descr="https://bbsmax.ikafan.com/static/L3Byb3h5L2h0dHBzL3N0YXRpYzAwMS5nZWVrYmFuZy5vcmcvaW5mb3EvNzAvNzBkMGZjNzg4ZWFmMmIzOTY2MDI5ZjMyNjUyM2JiYTUucG5n.jpg"/>
          <p:cNvPicPr>
            <a:picLocks noChangeAspect="1" noChangeArrowheads="1"/>
          </p:cNvPicPr>
          <p:nvPr/>
        </p:nvPicPr>
        <p:blipFill rotWithShape="1">
          <a:blip r:embed="rId2">
            <a:extLst>
              <a:ext uri="{28A0092B-C50C-407E-A947-70E740481C1C}">
                <a14:useLocalDpi xmlns:a14="http://schemas.microsoft.com/office/drawing/2010/main" val="0"/>
              </a:ext>
            </a:extLst>
          </a:blip>
          <a:srcRect r="10401"/>
          <a:stretch/>
        </p:blipFill>
        <p:spPr bwMode="auto">
          <a:xfrm>
            <a:off x="70992" y="4509120"/>
            <a:ext cx="9073008" cy="129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6446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zh-CN" altLang="en-US" dirty="0"/>
              <a:t>通信过程</a:t>
            </a:r>
            <a:endParaRPr lang="en-US" altLang="zh-CN" dirty="0"/>
          </a:p>
        </p:txBody>
      </p:sp>
      <p:sp>
        <p:nvSpPr>
          <p:cNvPr id="10" name="矩形 9"/>
          <p:cNvSpPr/>
          <p:nvPr/>
        </p:nvSpPr>
        <p:spPr>
          <a:xfrm>
            <a:off x="618535" y="1700808"/>
            <a:ext cx="8705993" cy="584775"/>
          </a:xfrm>
          <a:prstGeom prst="rect">
            <a:avLst/>
          </a:prstGeom>
        </p:spPr>
        <p:txBody>
          <a:bodyPr wrap="square">
            <a:spAutoFit/>
          </a:bodyPr>
          <a:lstStyle/>
          <a:p>
            <a:r>
              <a:rPr lang="en-US" altLang="zh-CN" sz="3200" dirty="0"/>
              <a:t>2. </a:t>
            </a:r>
            <a:r>
              <a:rPr lang="zh-CN" altLang="en-US" sz="3200" dirty="0"/>
              <a:t>连接</a:t>
            </a:r>
          </a:p>
        </p:txBody>
      </p:sp>
      <p:sp>
        <p:nvSpPr>
          <p:cNvPr id="2" name="矩形 1"/>
          <p:cNvSpPr/>
          <p:nvPr/>
        </p:nvSpPr>
        <p:spPr>
          <a:xfrm>
            <a:off x="899601" y="2285583"/>
            <a:ext cx="7508824" cy="954107"/>
          </a:xfrm>
          <a:prstGeom prst="rect">
            <a:avLst/>
          </a:prstGeom>
        </p:spPr>
        <p:txBody>
          <a:bodyPr wrap="square">
            <a:spAutoFit/>
          </a:bodyPr>
          <a:lstStyle/>
          <a:p>
            <a:pPr>
              <a:spcBef>
                <a:spcPts val="600"/>
              </a:spcBef>
              <a:spcAft>
                <a:spcPts val="600"/>
              </a:spcAft>
            </a:pPr>
            <a:r>
              <a:rPr lang="zh-CN" altLang="en-US" sz="2800" dirty="0">
                <a:solidFill>
                  <a:srgbClr val="3D464D"/>
                </a:solidFill>
                <a:latin typeface="+mn-ea"/>
              </a:rPr>
              <a:t>连接过程客户端和服务端会完成窗口大小，传输块大小和带宽大小的确认</a:t>
            </a:r>
            <a:endParaRPr lang="zh-CN" altLang="en-US" sz="2800" dirty="0">
              <a:latin typeface="+mn-ea"/>
            </a:endParaRPr>
          </a:p>
        </p:txBody>
      </p:sp>
      <p:sp>
        <p:nvSpPr>
          <p:cNvPr id="3" name="Rectangle 1"/>
          <p:cNvSpPr>
            <a:spLocks noChangeArrowheads="1"/>
          </p:cNvSpPr>
          <p:nvPr/>
        </p:nvSpPr>
        <p:spPr bwMode="auto">
          <a:xfrm>
            <a:off x="1115616" y="3547669"/>
            <a:ext cx="691275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2800" b="0" i="0" u="none" strike="noStrike" cap="none" normalizeH="0" baseline="0" dirty="0">
                <a:ln>
                  <a:noFill/>
                </a:ln>
                <a:solidFill>
                  <a:srgbClr val="3D464D"/>
                </a:solidFill>
                <a:effectLst/>
                <a:latin typeface="+mn-ea"/>
              </a:rPr>
              <a:t>客户端告诉服务端，要设置</a:t>
            </a:r>
            <a:r>
              <a:rPr kumimoji="0" lang="zh-CN" altLang="en-US" sz="2800" b="0" i="0" u="none" strike="noStrike" cap="none" normalizeH="0" baseline="0" dirty="0">
                <a:ln>
                  <a:noFill/>
                </a:ln>
                <a:solidFill>
                  <a:srgbClr val="3D464D"/>
                </a:solidFill>
                <a:effectLst/>
                <a:latin typeface="+mn-ea"/>
              </a:rPr>
              <a:t>的块大小</a:t>
            </a:r>
            <a:r>
              <a:rPr kumimoji="0" lang="zh-CN" altLang="zh-CN" sz="2800" b="0" i="0" u="none" strike="noStrike" cap="none" normalizeH="0" baseline="0" dirty="0">
                <a:ln>
                  <a:noFill/>
                </a:ln>
                <a:solidFill>
                  <a:srgbClr val="3D464D"/>
                </a:solidFill>
                <a:effectLst/>
                <a:latin typeface="+mn-ea"/>
              </a:rPr>
              <a:t>；</a:t>
            </a:r>
            <a:endParaRPr kumimoji="0" lang="zh-CN" altLang="zh-CN" sz="1600" b="0" i="0" u="none" strike="noStrike" cap="none" normalizeH="0" baseline="0" dirty="0">
              <a:ln>
                <a:noFill/>
              </a:ln>
              <a:solidFill>
                <a:schemeClr val="tx1"/>
              </a:solidFill>
              <a:effectLst/>
              <a:latin typeface="+mn-ea"/>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zh-CN" sz="2800" b="0" i="0" u="none" strike="noStrike" cap="none" normalizeH="0" baseline="0" dirty="0">
                <a:ln>
                  <a:noFill/>
                </a:ln>
                <a:solidFill>
                  <a:srgbClr val="3D464D"/>
                </a:solidFill>
                <a:effectLst/>
                <a:latin typeface="+mn-ea"/>
              </a:rPr>
              <a:t>客户端告诉服务端，我想要连接的应用；</a:t>
            </a:r>
            <a:endParaRPr kumimoji="0" lang="zh-CN" altLang="zh-CN" sz="1600" b="0" i="0" u="none" strike="noStrike" cap="none" normalizeH="0" baseline="0" dirty="0">
              <a:ln>
                <a:noFill/>
              </a:ln>
              <a:solidFill>
                <a:schemeClr val="tx1"/>
              </a:solidFill>
              <a:effectLst/>
              <a:latin typeface="+mn-ea"/>
            </a:endParaRPr>
          </a:p>
          <a:p>
            <a:pPr lvl="0" eaLnBrk="0" fontAlgn="base" hangingPunct="0">
              <a:spcBef>
                <a:spcPts val="600"/>
              </a:spcBef>
              <a:spcAft>
                <a:spcPts val="600"/>
              </a:spcAft>
            </a:pPr>
            <a:r>
              <a:rPr kumimoji="0" lang="zh-CN" altLang="zh-CN" sz="2800" b="0" i="0" u="none" strike="noStrike" cap="none" normalizeH="0" baseline="0" dirty="0">
                <a:ln>
                  <a:noFill/>
                </a:ln>
                <a:solidFill>
                  <a:srgbClr val="3D464D"/>
                </a:solidFill>
                <a:effectLst/>
                <a:latin typeface="+mn-ea"/>
              </a:rPr>
              <a:t>服务端响应客户端的连接请求，确定窗口大小，带宽大小和</a:t>
            </a:r>
            <a:r>
              <a:rPr lang="zh-CN" altLang="en-US" sz="2800" dirty="0">
                <a:solidFill>
                  <a:srgbClr val="3D464D"/>
                </a:solidFill>
                <a:latin typeface="+mn-ea"/>
              </a:rPr>
              <a:t>块大小</a:t>
            </a:r>
            <a:r>
              <a:rPr kumimoji="0" lang="zh-CN" altLang="zh-CN" sz="2800" b="0" i="0" u="none" strike="noStrike" cap="none" normalizeH="0" baseline="0" dirty="0">
                <a:ln>
                  <a:noFill/>
                </a:ln>
                <a:solidFill>
                  <a:srgbClr val="3D464D"/>
                </a:solidFill>
                <a:effectLst/>
                <a:latin typeface="+mn-ea"/>
              </a:rPr>
              <a:t>，以及返回 “_result” 表示响应成功。</a:t>
            </a:r>
            <a:endParaRPr kumimoji="0" lang="zh-CN" altLang="zh-CN" sz="5400" b="0" i="0" u="none" strike="noStrike" cap="none" normalizeH="0" baseline="0" dirty="0">
              <a:ln>
                <a:noFill/>
              </a:ln>
              <a:solidFill>
                <a:schemeClr val="tx1"/>
              </a:solidFill>
              <a:effectLst/>
              <a:latin typeface="+mn-ea"/>
            </a:endParaRPr>
          </a:p>
        </p:txBody>
      </p:sp>
    </p:spTree>
    <p:extLst>
      <p:ext uri="{BB962C8B-B14F-4D97-AF65-F5344CB8AC3E}">
        <p14:creationId xmlns:p14="http://schemas.microsoft.com/office/powerpoint/2010/main" val="2669524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zh-CN" altLang="en-US" dirty="0"/>
              <a:t>通信过程</a:t>
            </a:r>
            <a:endParaRPr lang="en-US" altLang="zh-CN" dirty="0"/>
          </a:p>
        </p:txBody>
      </p:sp>
      <p:sp>
        <p:nvSpPr>
          <p:cNvPr id="10" name="矩形 9"/>
          <p:cNvSpPr/>
          <p:nvPr/>
        </p:nvSpPr>
        <p:spPr>
          <a:xfrm>
            <a:off x="618536" y="1700808"/>
            <a:ext cx="3229974" cy="584775"/>
          </a:xfrm>
          <a:prstGeom prst="rect">
            <a:avLst/>
          </a:prstGeom>
        </p:spPr>
        <p:txBody>
          <a:bodyPr wrap="square">
            <a:spAutoFit/>
          </a:bodyPr>
          <a:lstStyle/>
          <a:p>
            <a:r>
              <a:rPr lang="en-US" altLang="zh-CN" sz="3200" dirty="0"/>
              <a:t>3. </a:t>
            </a:r>
            <a:r>
              <a:rPr lang="zh-CN" altLang="en-US" sz="3200" dirty="0"/>
              <a:t>流媒体传输</a:t>
            </a:r>
          </a:p>
        </p:txBody>
      </p:sp>
      <p:sp>
        <p:nvSpPr>
          <p:cNvPr id="6" name="矩形 5"/>
          <p:cNvSpPr/>
          <p:nvPr/>
        </p:nvSpPr>
        <p:spPr>
          <a:xfrm>
            <a:off x="395536" y="2395624"/>
            <a:ext cx="8649218" cy="441152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1619672" y="5517232"/>
            <a:ext cx="6434712" cy="1152000"/>
          </a:xfrm>
          <a:prstGeom prst="roundRect">
            <a:avLst>
              <a:gd name="adj" fmla="val 13188"/>
            </a:avLst>
          </a:prstGeom>
          <a:noFill/>
          <a:ln w="28575">
            <a:solidFill>
              <a:schemeClr val="accent6">
                <a:lumMod val="5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861695" y="5621626"/>
            <a:ext cx="1384748"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原始视频流</a:t>
            </a:r>
            <a:endParaRPr lang="en-US" altLang="zh-CN" dirty="0">
              <a:solidFill>
                <a:srgbClr val="FF0000"/>
              </a:solidFill>
            </a:endParaRPr>
          </a:p>
          <a:p>
            <a:pPr algn="ctr"/>
            <a:r>
              <a:rPr lang="zh-CN" altLang="en-US" dirty="0">
                <a:solidFill>
                  <a:schemeClr val="tx1"/>
                </a:solidFill>
              </a:rPr>
              <a:t>视频：</a:t>
            </a:r>
            <a:r>
              <a:rPr lang="en-US" altLang="zh-CN" dirty="0">
                <a:solidFill>
                  <a:schemeClr val="tx1"/>
                </a:solidFill>
              </a:rPr>
              <a:t>YUV</a:t>
            </a:r>
          </a:p>
          <a:p>
            <a:pPr algn="ctr"/>
            <a:r>
              <a:rPr lang="zh-CN" altLang="en-US" dirty="0">
                <a:solidFill>
                  <a:schemeClr val="tx1"/>
                </a:solidFill>
              </a:rPr>
              <a:t>音频：</a:t>
            </a:r>
            <a:r>
              <a:rPr lang="en-US" altLang="zh-CN" dirty="0">
                <a:solidFill>
                  <a:schemeClr val="tx1"/>
                </a:solidFill>
              </a:rPr>
              <a:t>PCM</a:t>
            </a:r>
            <a:endParaRPr lang="zh-CN" altLang="en-US" dirty="0">
              <a:solidFill>
                <a:schemeClr val="tx1"/>
              </a:solidFill>
            </a:endParaRPr>
          </a:p>
        </p:txBody>
      </p:sp>
      <p:sp>
        <p:nvSpPr>
          <p:cNvPr id="9" name="右箭头 8"/>
          <p:cNvSpPr/>
          <p:nvPr/>
        </p:nvSpPr>
        <p:spPr>
          <a:xfrm>
            <a:off x="3344451" y="5940135"/>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730491" y="5621626"/>
            <a:ext cx="1479575"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编码</a:t>
            </a:r>
            <a:endParaRPr lang="en-US" altLang="zh-CN" dirty="0">
              <a:solidFill>
                <a:srgbClr val="FF0000"/>
              </a:solidFill>
            </a:endParaRPr>
          </a:p>
          <a:p>
            <a:pPr algn="ctr"/>
            <a:r>
              <a:rPr lang="zh-CN" altLang="en-US" dirty="0">
                <a:solidFill>
                  <a:schemeClr val="tx1"/>
                </a:solidFill>
              </a:rPr>
              <a:t>视频：</a:t>
            </a:r>
            <a:r>
              <a:rPr lang="en-US" altLang="zh-CN" dirty="0">
                <a:solidFill>
                  <a:schemeClr val="tx1"/>
                </a:solidFill>
              </a:rPr>
              <a:t>H.264</a:t>
            </a:r>
          </a:p>
          <a:p>
            <a:pPr algn="ctr"/>
            <a:r>
              <a:rPr lang="zh-CN" altLang="en-US" dirty="0">
                <a:solidFill>
                  <a:schemeClr val="tx1"/>
                </a:solidFill>
              </a:rPr>
              <a:t>音频：</a:t>
            </a:r>
            <a:r>
              <a:rPr lang="en-US" altLang="zh-CN" dirty="0">
                <a:solidFill>
                  <a:schemeClr val="tx1"/>
                </a:solidFill>
              </a:rPr>
              <a:t>MP3</a:t>
            </a:r>
            <a:endParaRPr lang="zh-CN" altLang="en-US" dirty="0">
              <a:solidFill>
                <a:schemeClr val="tx1"/>
              </a:solidFill>
            </a:endParaRPr>
          </a:p>
        </p:txBody>
      </p:sp>
      <p:sp>
        <p:nvSpPr>
          <p:cNvPr id="13" name="右箭头 12"/>
          <p:cNvSpPr/>
          <p:nvPr/>
        </p:nvSpPr>
        <p:spPr>
          <a:xfrm>
            <a:off x="5308074" y="5940135"/>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770911" y="5621626"/>
            <a:ext cx="1995440"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封装</a:t>
            </a:r>
            <a:endParaRPr lang="en-US" altLang="zh-CN" dirty="0">
              <a:solidFill>
                <a:srgbClr val="FF0000"/>
              </a:solidFill>
            </a:endParaRPr>
          </a:p>
          <a:p>
            <a:pPr algn="ctr"/>
            <a:r>
              <a:rPr lang="zh-CN" altLang="en-US" dirty="0">
                <a:solidFill>
                  <a:schemeClr val="tx1"/>
                </a:solidFill>
              </a:rPr>
              <a:t>音视频：</a:t>
            </a:r>
            <a:r>
              <a:rPr lang="en-US" altLang="zh-CN" dirty="0">
                <a:solidFill>
                  <a:schemeClr val="tx1"/>
                </a:solidFill>
              </a:rPr>
              <a:t>MP4/FLV</a:t>
            </a:r>
            <a:endParaRPr lang="zh-CN" altLang="en-US" dirty="0">
              <a:solidFill>
                <a:schemeClr val="tx1"/>
              </a:solidFill>
            </a:endParaRPr>
          </a:p>
        </p:txBody>
      </p:sp>
      <p:sp>
        <p:nvSpPr>
          <p:cNvPr id="11" name="文本框 10"/>
          <p:cNvSpPr txBox="1"/>
          <p:nvPr/>
        </p:nvSpPr>
        <p:spPr>
          <a:xfrm>
            <a:off x="500518" y="5833015"/>
            <a:ext cx="1038889" cy="461665"/>
          </a:xfrm>
          <a:prstGeom prst="rect">
            <a:avLst/>
          </a:prstGeom>
          <a:noFill/>
        </p:spPr>
        <p:txBody>
          <a:bodyPr wrap="square" rtlCol="0">
            <a:spAutoFit/>
          </a:bodyPr>
          <a:lstStyle/>
          <a:p>
            <a:r>
              <a:rPr lang="zh-CN" altLang="en-US" sz="2400" dirty="0">
                <a:solidFill>
                  <a:srgbClr val="FF0000"/>
                </a:solidFill>
              </a:rPr>
              <a:t>推流</a:t>
            </a:r>
          </a:p>
        </p:txBody>
      </p:sp>
      <p:sp>
        <p:nvSpPr>
          <p:cNvPr id="19" name="圆角矩形 18"/>
          <p:cNvSpPr/>
          <p:nvPr/>
        </p:nvSpPr>
        <p:spPr>
          <a:xfrm>
            <a:off x="1619672" y="4008576"/>
            <a:ext cx="4392488" cy="1152000"/>
          </a:xfrm>
          <a:prstGeom prst="roundRect">
            <a:avLst>
              <a:gd name="adj" fmla="val 13188"/>
            </a:avLst>
          </a:prstGeom>
          <a:noFill/>
          <a:ln w="28575">
            <a:solidFill>
              <a:schemeClr val="accent6">
                <a:lumMod val="5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962105" y="4091246"/>
            <a:ext cx="1886404"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协议</a:t>
            </a:r>
            <a:r>
              <a:rPr lang="zh-CN" altLang="en-US" dirty="0">
                <a:solidFill>
                  <a:schemeClr val="tx1"/>
                </a:solidFill>
              </a:rPr>
              <a:t>：</a:t>
            </a:r>
            <a:r>
              <a:rPr lang="en-US" altLang="zh-CN" dirty="0">
                <a:solidFill>
                  <a:schemeClr val="tx1"/>
                </a:solidFill>
              </a:rPr>
              <a:t>RTMP/HLS/RTSP</a:t>
            </a:r>
          </a:p>
        </p:txBody>
      </p:sp>
      <p:sp>
        <p:nvSpPr>
          <p:cNvPr id="21" name="文本框 20"/>
          <p:cNvSpPr txBox="1"/>
          <p:nvPr/>
        </p:nvSpPr>
        <p:spPr>
          <a:xfrm>
            <a:off x="500518" y="4324359"/>
            <a:ext cx="1038889" cy="461665"/>
          </a:xfrm>
          <a:prstGeom prst="rect">
            <a:avLst/>
          </a:prstGeom>
          <a:noFill/>
        </p:spPr>
        <p:txBody>
          <a:bodyPr wrap="square" rtlCol="0">
            <a:spAutoFit/>
          </a:bodyPr>
          <a:lstStyle/>
          <a:p>
            <a:r>
              <a:rPr lang="zh-CN" altLang="en-US" sz="2400" dirty="0">
                <a:solidFill>
                  <a:srgbClr val="FF0000"/>
                </a:solidFill>
              </a:rPr>
              <a:t>传输</a:t>
            </a:r>
          </a:p>
        </p:txBody>
      </p:sp>
      <p:sp>
        <p:nvSpPr>
          <p:cNvPr id="22" name="矩形 21"/>
          <p:cNvSpPr/>
          <p:nvPr/>
        </p:nvSpPr>
        <p:spPr>
          <a:xfrm>
            <a:off x="4466986" y="4101148"/>
            <a:ext cx="1319546"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转发</a:t>
            </a:r>
            <a:r>
              <a:rPr lang="zh-CN" altLang="en-US" dirty="0">
                <a:solidFill>
                  <a:schemeClr val="tx1"/>
                </a:solidFill>
              </a:rPr>
              <a:t>：</a:t>
            </a:r>
            <a:endParaRPr lang="en-US" altLang="zh-CN" dirty="0">
              <a:solidFill>
                <a:schemeClr val="tx1"/>
              </a:solidFill>
            </a:endParaRPr>
          </a:p>
          <a:p>
            <a:pPr algn="ctr"/>
            <a:r>
              <a:rPr lang="en-US" altLang="zh-CN" dirty="0">
                <a:solidFill>
                  <a:schemeClr val="tx1"/>
                </a:solidFill>
              </a:rPr>
              <a:t>Web</a:t>
            </a:r>
            <a:r>
              <a:rPr lang="zh-CN" altLang="en-US" dirty="0">
                <a:solidFill>
                  <a:schemeClr val="tx1"/>
                </a:solidFill>
              </a:rPr>
              <a:t>服务器</a:t>
            </a:r>
            <a:endParaRPr lang="en-US" altLang="zh-CN" dirty="0">
              <a:solidFill>
                <a:schemeClr val="tx1"/>
              </a:solidFill>
            </a:endParaRPr>
          </a:p>
        </p:txBody>
      </p:sp>
      <p:sp>
        <p:nvSpPr>
          <p:cNvPr id="23" name="右箭头 22"/>
          <p:cNvSpPr/>
          <p:nvPr/>
        </p:nvSpPr>
        <p:spPr>
          <a:xfrm>
            <a:off x="3979525" y="4359146"/>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1596008" y="2571079"/>
            <a:ext cx="7368480" cy="1152000"/>
          </a:xfrm>
          <a:prstGeom prst="roundRect">
            <a:avLst>
              <a:gd name="adj" fmla="val 13188"/>
            </a:avLst>
          </a:prstGeom>
          <a:noFill/>
          <a:ln w="28575">
            <a:solidFill>
              <a:schemeClr val="accent6">
                <a:lumMod val="5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691680" y="2675473"/>
            <a:ext cx="1384748"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客户端</a:t>
            </a:r>
            <a:r>
              <a:rPr lang="en-US" altLang="zh-CN" dirty="0">
                <a:solidFill>
                  <a:srgbClr val="FF0000"/>
                </a:solidFill>
              </a:rPr>
              <a:t>API</a:t>
            </a:r>
          </a:p>
          <a:p>
            <a:pPr algn="ctr"/>
            <a:r>
              <a:rPr lang="en-US" altLang="zh-CN" dirty="0">
                <a:solidFill>
                  <a:schemeClr val="tx1"/>
                </a:solidFill>
              </a:rPr>
              <a:t>MP4</a:t>
            </a:r>
            <a:r>
              <a:rPr lang="zh-CN" altLang="en-US" dirty="0">
                <a:solidFill>
                  <a:schemeClr val="tx1"/>
                </a:solidFill>
              </a:rPr>
              <a:t>、</a:t>
            </a:r>
            <a:r>
              <a:rPr lang="en-US" altLang="zh-CN" dirty="0">
                <a:solidFill>
                  <a:schemeClr val="tx1"/>
                </a:solidFill>
              </a:rPr>
              <a:t>FLV</a:t>
            </a:r>
          </a:p>
        </p:txBody>
      </p:sp>
      <p:sp>
        <p:nvSpPr>
          <p:cNvPr id="26" name="右箭头 25"/>
          <p:cNvSpPr/>
          <p:nvPr/>
        </p:nvSpPr>
        <p:spPr>
          <a:xfrm>
            <a:off x="3129505" y="2993982"/>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417537" y="2675473"/>
            <a:ext cx="1402778"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解析</a:t>
            </a:r>
            <a:endParaRPr lang="en-US" altLang="zh-CN" dirty="0">
              <a:solidFill>
                <a:srgbClr val="FF0000"/>
              </a:solidFill>
            </a:endParaRPr>
          </a:p>
          <a:p>
            <a:pPr algn="ctr"/>
            <a:r>
              <a:rPr lang="en-US" altLang="zh-CN" dirty="0">
                <a:solidFill>
                  <a:schemeClr val="tx1"/>
                </a:solidFill>
              </a:rPr>
              <a:t>H.264/MP3</a:t>
            </a:r>
          </a:p>
        </p:txBody>
      </p:sp>
      <p:sp>
        <p:nvSpPr>
          <p:cNvPr id="28" name="右箭头 27"/>
          <p:cNvSpPr/>
          <p:nvPr/>
        </p:nvSpPr>
        <p:spPr>
          <a:xfrm>
            <a:off x="4929705" y="2993982"/>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253138" y="2688942"/>
            <a:ext cx="1286717"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解码</a:t>
            </a:r>
            <a:endParaRPr lang="en-US" altLang="zh-CN" dirty="0">
              <a:solidFill>
                <a:srgbClr val="FF0000"/>
              </a:solidFill>
            </a:endParaRPr>
          </a:p>
          <a:p>
            <a:pPr algn="ctr"/>
            <a:r>
              <a:rPr lang="en-US" altLang="zh-CN" dirty="0">
                <a:solidFill>
                  <a:schemeClr val="tx1"/>
                </a:solidFill>
              </a:rPr>
              <a:t>YUV</a:t>
            </a:r>
            <a:r>
              <a:rPr lang="zh-CN" altLang="en-US" dirty="0">
                <a:solidFill>
                  <a:schemeClr val="tx1"/>
                </a:solidFill>
              </a:rPr>
              <a:t>、</a:t>
            </a:r>
            <a:r>
              <a:rPr lang="en-US" altLang="zh-CN" dirty="0">
                <a:solidFill>
                  <a:schemeClr val="tx1"/>
                </a:solidFill>
              </a:rPr>
              <a:t>PCM</a:t>
            </a:r>
          </a:p>
        </p:txBody>
      </p:sp>
      <p:sp>
        <p:nvSpPr>
          <p:cNvPr id="30" name="文本框 29"/>
          <p:cNvSpPr txBox="1"/>
          <p:nvPr/>
        </p:nvSpPr>
        <p:spPr>
          <a:xfrm>
            <a:off x="476854" y="2886862"/>
            <a:ext cx="1038889" cy="461665"/>
          </a:xfrm>
          <a:prstGeom prst="rect">
            <a:avLst/>
          </a:prstGeom>
          <a:noFill/>
        </p:spPr>
        <p:txBody>
          <a:bodyPr wrap="square" rtlCol="0">
            <a:spAutoFit/>
          </a:bodyPr>
          <a:lstStyle/>
          <a:p>
            <a:r>
              <a:rPr lang="zh-CN" altLang="en-US" sz="2400" dirty="0">
                <a:solidFill>
                  <a:srgbClr val="FF0000"/>
                </a:solidFill>
              </a:rPr>
              <a:t>拉流</a:t>
            </a:r>
          </a:p>
        </p:txBody>
      </p:sp>
      <p:sp>
        <p:nvSpPr>
          <p:cNvPr id="31" name="右箭头 30"/>
          <p:cNvSpPr/>
          <p:nvPr/>
        </p:nvSpPr>
        <p:spPr>
          <a:xfrm>
            <a:off x="6657897" y="2980513"/>
            <a:ext cx="288032" cy="29975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997025" y="2675473"/>
            <a:ext cx="1877841" cy="936776"/>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处理</a:t>
            </a:r>
            <a:endParaRPr lang="en-US" altLang="zh-CN" dirty="0">
              <a:solidFill>
                <a:srgbClr val="FF0000"/>
              </a:solidFill>
            </a:endParaRPr>
          </a:p>
          <a:p>
            <a:pPr algn="ctr"/>
            <a:r>
              <a:rPr lang="en-US" altLang="zh-CN" dirty="0">
                <a:solidFill>
                  <a:schemeClr val="tx1"/>
                </a:solidFill>
              </a:rPr>
              <a:t>RGB</a:t>
            </a:r>
            <a:r>
              <a:rPr lang="zh-CN" altLang="en-US" dirty="0">
                <a:solidFill>
                  <a:schemeClr val="tx1"/>
                </a:solidFill>
              </a:rPr>
              <a:t>（分析显示）</a:t>
            </a:r>
            <a:endParaRPr lang="en-US" altLang="zh-CN" dirty="0">
              <a:solidFill>
                <a:schemeClr val="tx1"/>
              </a:solidFill>
            </a:endParaRPr>
          </a:p>
        </p:txBody>
      </p:sp>
      <p:sp>
        <p:nvSpPr>
          <p:cNvPr id="17" name="下箭头 16"/>
          <p:cNvSpPr/>
          <p:nvPr/>
        </p:nvSpPr>
        <p:spPr>
          <a:xfrm rot="10800000">
            <a:off x="576422" y="3717129"/>
            <a:ext cx="540000" cy="3240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4" name="下箭头 33"/>
          <p:cNvSpPr/>
          <p:nvPr/>
        </p:nvSpPr>
        <p:spPr>
          <a:xfrm rot="10800000">
            <a:off x="603295" y="5258902"/>
            <a:ext cx="540000" cy="324000"/>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970563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5" name="内容占位符 4"/>
          <p:cNvSpPr>
            <a:spLocks noGrp="1"/>
          </p:cNvSpPr>
          <p:nvPr>
            <p:ph idx="1"/>
          </p:nvPr>
        </p:nvSpPr>
        <p:spPr>
          <a:xfrm>
            <a:off x="263273" y="1070050"/>
            <a:ext cx="8781481" cy="753666"/>
          </a:xfrm>
        </p:spPr>
        <p:txBody>
          <a:bodyPr/>
          <a:lstStyle/>
          <a:p>
            <a:pPr>
              <a:spcAft>
                <a:spcPts val="600"/>
              </a:spcAft>
            </a:pPr>
            <a:r>
              <a:rPr lang="zh-CN" altLang="en-US" dirty="0"/>
              <a:t>通信过程</a:t>
            </a:r>
            <a:endParaRPr lang="en-US" altLang="zh-CN" dirty="0"/>
          </a:p>
        </p:txBody>
      </p:sp>
      <p:sp>
        <p:nvSpPr>
          <p:cNvPr id="10" name="矩形 9"/>
          <p:cNvSpPr/>
          <p:nvPr/>
        </p:nvSpPr>
        <p:spPr>
          <a:xfrm>
            <a:off x="618535" y="1700808"/>
            <a:ext cx="8705993" cy="584775"/>
          </a:xfrm>
          <a:prstGeom prst="rect">
            <a:avLst/>
          </a:prstGeom>
        </p:spPr>
        <p:txBody>
          <a:bodyPr wrap="square">
            <a:spAutoFit/>
          </a:bodyPr>
          <a:lstStyle/>
          <a:p>
            <a:r>
              <a:rPr lang="en-US" altLang="zh-CN" sz="3200" dirty="0"/>
              <a:t>3. </a:t>
            </a:r>
            <a:r>
              <a:rPr lang="zh-CN" altLang="en-US" sz="3200" dirty="0"/>
              <a:t>流媒体传输</a:t>
            </a:r>
          </a:p>
        </p:txBody>
      </p:sp>
      <p:sp>
        <p:nvSpPr>
          <p:cNvPr id="2" name="矩形 1"/>
          <p:cNvSpPr/>
          <p:nvPr/>
        </p:nvSpPr>
        <p:spPr>
          <a:xfrm>
            <a:off x="899601" y="2285583"/>
            <a:ext cx="7508824" cy="523220"/>
          </a:xfrm>
          <a:prstGeom prst="rect">
            <a:avLst/>
          </a:prstGeom>
        </p:spPr>
        <p:txBody>
          <a:bodyPr wrap="square">
            <a:spAutoFit/>
          </a:bodyPr>
          <a:lstStyle/>
          <a:p>
            <a:pPr>
              <a:spcBef>
                <a:spcPts val="600"/>
              </a:spcBef>
              <a:spcAft>
                <a:spcPts val="600"/>
              </a:spcAft>
            </a:pPr>
            <a:r>
              <a:rPr lang="zh-CN" altLang="en-US" sz="2800" dirty="0">
                <a:latin typeface="+mn-ea"/>
              </a:rPr>
              <a:t>推流客户端开始推流，拉流客户端开始拉流，</a:t>
            </a:r>
          </a:p>
        </p:txBody>
      </p:sp>
      <p:pic>
        <p:nvPicPr>
          <p:cNvPr id="4" name="图片 3"/>
          <p:cNvPicPr>
            <a:picLocks noChangeAspect="1"/>
          </p:cNvPicPr>
          <p:nvPr/>
        </p:nvPicPr>
        <p:blipFill>
          <a:blip r:embed="rId2"/>
          <a:stretch>
            <a:fillRect/>
          </a:stretch>
        </p:blipFill>
        <p:spPr>
          <a:xfrm>
            <a:off x="1547664" y="2765017"/>
            <a:ext cx="5835950" cy="4121362"/>
          </a:xfrm>
          <a:prstGeom prst="rect">
            <a:avLst/>
          </a:prstGeom>
        </p:spPr>
      </p:pic>
    </p:spTree>
    <p:extLst>
      <p:ext uri="{BB962C8B-B14F-4D97-AF65-F5344CB8AC3E}">
        <p14:creationId xmlns:p14="http://schemas.microsoft.com/office/powerpoint/2010/main" val="32276051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2" name="内容占位符 1"/>
          <p:cNvSpPr>
            <a:spLocks noGrp="1"/>
          </p:cNvSpPr>
          <p:nvPr>
            <p:ph idx="1"/>
          </p:nvPr>
        </p:nvSpPr>
        <p:spPr>
          <a:xfrm>
            <a:off x="255015" y="1196753"/>
            <a:ext cx="8229600" cy="1224136"/>
          </a:xfrm>
        </p:spPr>
        <p:txBody>
          <a:bodyPr/>
          <a:lstStyle/>
          <a:p>
            <a:r>
              <a:rPr lang="zh-CN" altLang="en-US" b="0" dirty="0"/>
              <a:t>流媒体服务器的搭建</a:t>
            </a:r>
            <a:endParaRPr lang="en-US" altLang="zh-CN" b="0" dirty="0"/>
          </a:p>
          <a:p>
            <a:r>
              <a:rPr lang="zh-CN" altLang="en-US" b="0" dirty="0"/>
              <a:t>模块：</a:t>
            </a:r>
            <a:r>
              <a:rPr lang="en-US" altLang="zh-CN" b="0" dirty="0"/>
              <a:t>Liveqing</a:t>
            </a:r>
          </a:p>
        </p:txBody>
      </p:sp>
      <p:pic>
        <p:nvPicPr>
          <p:cNvPr id="3" name="图片 2"/>
          <p:cNvPicPr>
            <a:picLocks noChangeAspect="1"/>
          </p:cNvPicPr>
          <p:nvPr/>
        </p:nvPicPr>
        <p:blipFill>
          <a:blip r:embed="rId2"/>
          <a:stretch>
            <a:fillRect/>
          </a:stretch>
        </p:blipFill>
        <p:spPr>
          <a:xfrm>
            <a:off x="611560" y="2780928"/>
            <a:ext cx="7257849" cy="3596810"/>
          </a:xfrm>
          <a:prstGeom prst="rect">
            <a:avLst/>
          </a:prstGeom>
        </p:spPr>
      </p:pic>
      <p:pic>
        <p:nvPicPr>
          <p:cNvPr id="4" name="图片 3"/>
          <p:cNvPicPr>
            <a:picLocks noChangeAspect="1"/>
          </p:cNvPicPr>
          <p:nvPr/>
        </p:nvPicPr>
        <p:blipFill>
          <a:blip r:embed="rId3"/>
          <a:stretch>
            <a:fillRect/>
          </a:stretch>
        </p:blipFill>
        <p:spPr>
          <a:xfrm>
            <a:off x="3968484" y="2017408"/>
            <a:ext cx="5175516" cy="692186"/>
          </a:xfrm>
          <a:prstGeom prst="rect">
            <a:avLst/>
          </a:prstGeom>
        </p:spPr>
      </p:pic>
    </p:spTree>
    <p:extLst>
      <p:ext uri="{BB962C8B-B14F-4D97-AF65-F5344CB8AC3E}">
        <p14:creationId xmlns:p14="http://schemas.microsoft.com/office/powerpoint/2010/main" val="33697707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RTMP</a:t>
            </a:r>
            <a:endParaRPr lang="zh-CN" altLang="en-US" dirty="0"/>
          </a:p>
        </p:txBody>
      </p:sp>
      <p:sp>
        <p:nvSpPr>
          <p:cNvPr id="2" name="内容占位符 1"/>
          <p:cNvSpPr>
            <a:spLocks noGrp="1"/>
          </p:cNvSpPr>
          <p:nvPr>
            <p:ph idx="1"/>
          </p:nvPr>
        </p:nvSpPr>
        <p:spPr>
          <a:xfrm>
            <a:off x="255015" y="1196753"/>
            <a:ext cx="8229600" cy="1224136"/>
          </a:xfrm>
        </p:spPr>
        <p:txBody>
          <a:bodyPr/>
          <a:lstStyle/>
          <a:p>
            <a:r>
              <a:rPr lang="zh-CN" altLang="en-US" b="0" dirty="0"/>
              <a:t>流媒体服务器的搭建</a:t>
            </a:r>
            <a:endParaRPr lang="en-US" altLang="zh-CN" b="0" dirty="0"/>
          </a:p>
          <a:p>
            <a:r>
              <a:rPr lang="zh-CN" altLang="en-US" b="0" dirty="0"/>
              <a:t>推流模块：</a:t>
            </a:r>
            <a:r>
              <a:rPr lang="en-US" altLang="zh-CN" b="0" dirty="0"/>
              <a:t>OBS</a:t>
            </a:r>
          </a:p>
        </p:txBody>
      </p:sp>
      <p:pic>
        <p:nvPicPr>
          <p:cNvPr id="5" name="图片 4"/>
          <p:cNvPicPr>
            <a:picLocks noChangeAspect="1"/>
          </p:cNvPicPr>
          <p:nvPr/>
        </p:nvPicPr>
        <p:blipFill>
          <a:blip r:embed="rId2"/>
          <a:stretch>
            <a:fillRect/>
          </a:stretch>
        </p:blipFill>
        <p:spPr>
          <a:xfrm>
            <a:off x="827584" y="2492896"/>
            <a:ext cx="6552728" cy="3685909"/>
          </a:xfrm>
          <a:prstGeom prst="rect">
            <a:avLst/>
          </a:prstGeom>
        </p:spPr>
      </p:pic>
      <p:sp>
        <p:nvSpPr>
          <p:cNvPr id="6" name="矩形 5"/>
          <p:cNvSpPr/>
          <p:nvPr/>
        </p:nvSpPr>
        <p:spPr>
          <a:xfrm>
            <a:off x="2123728" y="4293096"/>
            <a:ext cx="86409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100493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altLang="zh-CN" dirty="0"/>
              <a:t>4.2.1 </a:t>
            </a:r>
            <a:r>
              <a:rPr lang="zh-CN" altLang="en-US" dirty="0"/>
              <a:t>网络视频会议</a:t>
            </a:r>
          </a:p>
        </p:txBody>
      </p:sp>
      <p:sp>
        <p:nvSpPr>
          <p:cNvPr id="16387" name="Rectangle 3"/>
          <p:cNvSpPr>
            <a:spLocks noGrp="1" noChangeArrowheads="1"/>
          </p:cNvSpPr>
          <p:nvPr>
            <p:ph idx="1"/>
          </p:nvPr>
        </p:nvSpPr>
        <p:spPr>
          <a:xfrm>
            <a:off x="255015" y="1196752"/>
            <a:ext cx="8229600" cy="5184576"/>
          </a:xfrm>
        </p:spPr>
        <p:txBody>
          <a:bodyPr/>
          <a:lstStyle/>
          <a:p>
            <a:pPr algn="just">
              <a:lnSpc>
                <a:spcPct val="90000"/>
              </a:lnSpc>
            </a:pPr>
            <a:r>
              <a:rPr lang="zh-CN" altLang="en-US" b="0" dirty="0"/>
              <a:t>视频会议概述</a:t>
            </a:r>
          </a:p>
          <a:p>
            <a:pPr>
              <a:lnSpc>
                <a:spcPct val="90000"/>
              </a:lnSpc>
              <a:buFontTx/>
              <a:buNone/>
            </a:pPr>
            <a:r>
              <a:rPr lang="zh-CN" altLang="en-US" b="0" dirty="0"/>
              <a:t>          视频会议系统是支持人们进行远距离实时信息交流、展开协同工作的应用系统。</a:t>
            </a:r>
          </a:p>
          <a:p>
            <a:pPr>
              <a:lnSpc>
                <a:spcPct val="90000"/>
              </a:lnSpc>
              <a:buFontTx/>
              <a:buNone/>
            </a:pPr>
            <a:r>
              <a:rPr lang="zh-CN" altLang="en-US" b="0" dirty="0"/>
              <a:t>          其主要特征是通过计算机远程参加会议或交流；</a:t>
            </a:r>
            <a:endParaRPr lang="en-US" altLang="zh-CN" b="0" dirty="0"/>
          </a:p>
          <a:p>
            <a:pPr>
              <a:lnSpc>
                <a:spcPct val="90000"/>
              </a:lnSpc>
              <a:buFontTx/>
              <a:buNone/>
            </a:pPr>
            <a:r>
              <a:rPr lang="en-US" altLang="zh-CN" b="0" dirty="0"/>
              <a:t>		</a:t>
            </a:r>
            <a:r>
              <a:rPr lang="zh-CN" altLang="en-US" b="0" dirty="0"/>
              <a:t>以可视的、实时的、交互的形式实现了在不同地理位置上人们的多媒体资源共享和信息的相互交流；</a:t>
            </a:r>
            <a:endParaRPr lang="en-US" altLang="zh-CN" b="0" dirty="0"/>
          </a:p>
          <a:p>
            <a:pPr>
              <a:lnSpc>
                <a:spcPct val="90000"/>
              </a:lnSpc>
              <a:buFontTx/>
              <a:buNone/>
            </a:pPr>
            <a:r>
              <a:rPr lang="en-US" altLang="zh-CN" b="0" dirty="0"/>
              <a:t>		</a:t>
            </a:r>
            <a:r>
              <a:rPr lang="zh-CN" altLang="en-US" b="0" dirty="0"/>
              <a:t>体现了超越空间的多点通信、群体的“面对面”的协同工作特点。</a:t>
            </a:r>
          </a:p>
        </p:txBody>
      </p:sp>
    </p:spTree>
    <p:extLst>
      <p:ext uri="{BB962C8B-B14F-4D97-AF65-F5344CB8AC3E}">
        <p14:creationId xmlns:p14="http://schemas.microsoft.com/office/powerpoint/2010/main" val="35354506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altLang="zh-CN" dirty="0"/>
              <a:t>4.2.1 </a:t>
            </a:r>
            <a:r>
              <a:rPr lang="zh-CN" altLang="en-US" dirty="0"/>
              <a:t>网络视频会议</a:t>
            </a:r>
          </a:p>
        </p:txBody>
      </p:sp>
      <p:sp>
        <p:nvSpPr>
          <p:cNvPr id="17411" name="Rectangle 3"/>
          <p:cNvSpPr>
            <a:spLocks noGrp="1" noChangeArrowheads="1"/>
          </p:cNvSpPr>
          <p:nvPr>
            <p:ph idx="1"/>
          </p:nvPr>
        </p:nvSpPr>
        <p:spPr>
          <a:xfrm>
            <a:off x="255015" y="1196752"/>
            <a:ext cx="8229600" cy="5256584"/>
          </a:xfrm>
        </p:spPr>
        <p:txBody>
          <a:bodyPr>
            <a:normAutofit/>
          </a:bodyPr>
          <a:lstStyle/>
          <a:p>
            <a:pPr>
              <a:spcAft>
                <a:spcPts val="600"/>
              </a:spcAft>
            </a:pPr>
            <a:r>
              <a:rPr lang="zh-CN" altLang="en-US" dirty="0"/>
              <a:t>视频会议系统的类型 </a:t>
            </a:r>
          </a:p>
          <a:p>
            <a:pPr lvl="1">
              <a:spcAft>
                <a:spcPts val="600"/>
              </a:spcAft>
            </a:pPr>
            <a:r>
              <a:rPr lang="zh-CN" altLang="en-US" dirty="0"/>
              <a:t>按实现方式划分 </a:t>
            </a:r>
          </a:p>
          <a:p>
            <a:pPr lvl="2">
              <a:spcAft>
                <a:spcPts val="600"/>
              </a:spcAft>
            </a:pPr>
            <a:r>
              <a:rPr lang="zh-CN" altLang="en-US" dirty="0"/>
              <a:t>基于专网的硬件视频会议系统 </a:t>
            </a:r>
          </a:p>
          <a:p>
            <a:pPr lvl="2">
              <a:spcAft>
                <a:spcPts val="600"/>
              </a:spcAft>
            </a:pPr>
            <a:r>
              <a:rPr lang="zh-CN" altLang="en-US" dirty="0"/>
              <a:t>基于软件的视频会议系统 </a:t>
            </a:r>
          </a:p>
          <a:p>
            <a:pPr lvl="2">
              <a:spcAft>
                <a:spcPts val="600"/>
              </a:spcAft>
            </a:pPr>
            <a:r>
              <a:rPr lang="zh-CN" altLang="en-US" dirty="0"/>
              <a:t>软硬结合的视频会议系统 </a:t>
            </a:r>
          </a:p>
          <a:p>
            <a:pPr lvl="1">
              <a:spcAft>
                <a:spcPts val="600"/>
              </a:spcAft>
            </a:pPr>
            <a:r>
              <a:rPr lang="zh-CN" altLang="en-US" dirty="0"/>
              <a:t>按通信节点的数量划分 </a:t>
            </a:r>
          </a:p>
          <a:p>
            <a:pPr lvl="2">
              <a:spcAft>
                <a:spcPts val="600"/>
              </a:spcAft>
            </a:pPr>
            <a:r>
              <a:rPr lang="zh-CN" altLang="en-US" dirty="0"/>
              <a:t>点对点视频会议系统 ：可视电话、桌面视频会议系统、会议室型视频会议系统 </a:t>
            </a:r>
          </a:p>
          <a:p>
            <a:pPr lvl="2">
              <a:spcAft>
                <a:spcPts val="600"/>
              </a:spcAft>
            </a:pPr>
            <a:r>
              <a:rPr lang="zh-CN" altLang="en-US" dirty="0"/>
              <a:t>多点视频会议系统 </a:t>
            </a:r>
          </a:p>
        </p:txBody>
      </p:sp>
    </p:spTree>
    <p:extLst>
      <p:ext uri="{BB962C8B-B14F-4D97-AF65-F5344CB8AC3E}">
        <p14:creationId xmlns:p14="http://schemas.microsoft.com/office/powerpoint/2010/main" val="14007171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altLang="zh-CN" dirty="0"/>
              <a:t>4.2.1 </a:t>
            </a:r>
            <a:r>
              <a:rPr lang="zh-CN" altLang="en-US" dirty="0"/>
              <a:t>网络视频会议</a:t>
            </a:r>
          </a:p>
        </p:txBody>
      </p:sp>
      <p:sp>
        <p:nvSpPr>
          <p:cNvPr id="18435" name="Rectangle 3"/>
          <p:cNvSpPr>
            <a:spLocks noGrp="1" noChangeArrowheads="1"/>
          </p:cNvSpPr>
          <p:nvPr>
            <p:ph idx="1"/>
          </p:nvPr>
        </p:nvSpPr>
        <p:spPr>
          <a:xfrm>
            <a:off x="251520" y="1052736"/>
            <a:ext cx="8229600" cy="2952328"/>
          </a:xfrm>
        </p:spPr>
        <p:txBody>
          <a:bodyPr/>
          <a:lstStyle/>
          <a:p>
            <a:r>
              <a:rPr lang="zh-CN" altLang="en-US" dirty="0"/>
              <a:t>视频会议系统的组成 </a:t>
            </a:r>
          </a:p>
          <a:p>
            <a:pPr lvl="1"/>
            <a:r>
              <a:rPr lang="zh-CN" altLang="en-US" dirty="0"/>
              <a:t>视频会议终端</a:t>
            </a:r>
          </a:p>
          <a:p>
            <a:pPr lvl="1"/>
            <a:r>
              <a:rPr lang="zh-CN" altLang="en-US" dirty="0"/>
              <a:t>多点控制单元</a:t>
            </a:r>
          </a:p>
          <a:p>
            <a:pPr lvl="1"/>
            <a:r>
              <a:rPr lang="zh-CN" altLang="en-US" dirty="0"/>
              <a:t>网络通信系统</a:t>
            </a:r>
          </a:p>
          <a:p>
            <a:pPr lvl="1"/>
            <a:r>
              <a:rPr lang="zh-CN" altLang="en-US" dirty="0"/>
              <a:t>控制管理软件 </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1990778"/>
            <a:ext cx="5686425"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3457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altLang="zh-CN" dirty="0"/>
              <a:t>4.2.1 </a:t>
            </a:r>
            <a:r>
              <a:rPr lang="zh-CN" altLang="en-US" dirty="0"/>
              <a:t>网络视频会议</a:t>
            </a:r>
          </a:p>
        </p:txBody>
      </p:sp>
      <p:sp>
        <p:nvSpPr>
          <p:cNvPr id="21507" name="Rectangle 3"/>
          <p:cNvSpPr>
            <a:spLocks noGrp="1" noChangeArrowheads="1"/>
          </p:cNvSpPr>
          <p:nvPr>
            <p:ph idx="1"/>
          </p:nvPr>
        </p:nvSpPr>
        <p:spPr>
          <a:xfrm>
            <a:off x="273117" y="1124744"/>
            <a:ext cx="8229600" cy="5184576"/>
          </a:xfrm>
        </p:spPr>
        <p:txBody>
          <a:bodyPr/>
          <a:lstStyle/>
          <a:p>
            <a:r>
              <a:rPr lang="zh-CN" altLang="en-US" b="0" dirty="0"/>
              <a:t>视频会议系统的基本功能 </a:t>
            </a:r>
          </a:p>
          <a:p>
            <a:pPr lvl="1"/>
            <a:r>
              <a:rPr lang="zh-CN" altLang="en-US" dirty="0"/>
              <a:t>会议的发起与结束 </a:t>
            </a:r>
          </a:p>
          <a:p>
            <a:pPr lvl="1"/>
            <a:r>
              <a:rPr lang="zh-CN" altLang="en-US" dirty="0"/>
              <a:t>会议事务处理 </a:t>
            </a:r>
          </a:p>
          <a:p>
            <a:pPr lvl="1"/>
            <a:r>
              <a:rPr lang="zh-CN" altLang="en-US" dirty="0"/>
              <a:t>视频显示的转换控制 </a:t>
            </a:r>
          </a:p>
          <a:p>
            <a:pPr lvl="1"/>
            <a:r>
              <a:rPr lang="zh-CN" altLang="en-US" dirty="0"/>
              <a:t>图像的传播 </a:t>
            </a:r>
          </a:p>
          <a:p>
            <a:r>
              <a:rPr lang="zh-CN" altLang="en-US" b="0" dirty="0"/>
              <a:t>视频会议系统的优势比较大，应用广泛</a:t>
            </a:r>
            <a:endParaRPr lang="en-US" altLang="zh-CN" b="0" dirty="0"/>
          </a:p>
          <a:p>
            <a:r>
              <a:rPr lang="zh-CN" altLang="en-US" b="0" dirty="0"/>
              <a:t>产品：</a:t>
            </a:r>
            <a:endParaRPr lang="en-US" altLang="zh-CN" b="0" dirty="0"/>
          </a:p>
          <a:p>
            <a:pPr lvl="1"/>
            <a:r>
              <a:rPr lang="zh-CN" altLang="en-US" dirty="0"/>
              <a:t>思科、网讯、宝利通</a:t>
            </a:r>
            <a:r>
              <a:rPr lang="en-US" altLang="zh-CN" dirty="0"/>
              <a:t>、</a:t>
            </a:r>
            <a:r>
              <a:rPr lang="zh-CN" altLang="en-US" dirty="0"/>
              <a:t>即讯通、</a:t>
            </a:r>
            <a:r>
              <a:rPr lang="en-US" altLang="zh-CN" dirty="0"/>
              <a:t>ZOOM</a:t>
            </a:r>
            <a:r>
              <a:rPr lang="zh-CN" altLang="en-US" dirty="0"/>
              <a:t>等等</a:t>
            </a:r>
          </a:p>
          <a:p>
            <a:pPr lvl="1">
              <a:buFontTx/>
              <a:buNone/>
            </a:pPr>
            <a:endParaRPr lang="en-US" altLang="zh-CN" dirty="0"/>
          </a:p>
        </p:txBody>
      </p:sp>
    </p:spTree>
    <p:extLst>
      <p:ext uri="{BB962C8B-B14F-4D97-AF65-F5344CB8AC3E}">
        <p14:creationId xmlns:p14="http://schemas.microsoft.com/office/powerpoint/2010/main" val="22070489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altLang="zh-CN" dirty="0"/>
              <a:t>4.2.2 </a:t>
            </a:r>
            <a:r>
              <a:rPr lang="zh-CN" altLang="en-US" dirty="0"/>
              <a:t>视频点播</a:t>
            </a:r>
          </a:p>
        </p:txBody>
      </p:sp>
      <p:sp>
        <p:nvSpPr>
          <p:cNvPr id="22531" name="Rectangle 3"/>
          <p:cNvSpPr>
            <a:spLocks noGrp="1" noChangeArrowheads="1"/>
          </p:cNvSpPr>
          <p:nvPr>
            <p:ph idx="1"/>
          </p:nvPr>
        </p:nvSpPr>
        <p:spPr>
          <a:xfrm>
            <a:off x="255015" y="1124744"/>
            <a:ext cx="8229600" cy="4896544"/>
          </a:xfrm>
        </p:spPr>
        <p:txBody>
          <a:bodyPr>
            <a:normAutofit/>
          </a:bodyPr>
          <a:lstStyle/>
          <a:p>
            <a:pPr>
              <a:lnSpc>
                <a:spcPct val="130000"/>
              </a:lnSpc>
              <a:buFontTx/>
              <a:buNone/>
            </a:pPr>
            <a:r>
              <a:rPr lang="zh-CN" altLang="en-US" sz="2800" b="0" dirty="0"/>
              <a:t>           视频点播系统</a:t>
            </a:r>
            <a:r>
              <a:rPr lang="en-US" altLang="zh-CN" sz="2800" b="0" dirty="0"/>
              <a:t>VOD</a:t>
            </a:r>
            <a:r>
              <a:rPr lang="zh-CN" altLang="en-US" sz="2800" b="0" dirty="0"/>
              <a:t>是伴随着视频、音频处理及计算机网络技术的发展而迅速发展起来的一门综合性技术。</a:t>
            </a:r>
            <a:endParaRPr lang="en-US" altLang="zh-CN" sz="2800" b="0" dirty="0"/>
          </a:p>
          <a:p>
            <a:pPr>
              <a:lnSpc>
                <a:spcPct val="130000"/>
              </a:lnSpc>
              <a:buFontTx/>
              <a:buNone/>
            </a:pPr>
            <a:r>
              <a:rPr lang="zh-CN" altLang="en-US" sz="2800" b="0" dirty="0"/>
              <a:t>           与传统的信息发布和广播相比，视频点播系统改变了单向播放及用户被动观看的形式，创造性使用户可以随时选择自己喜爱的节目，利用该系统，用户可根据自己的需要主动获得多媒体信息。     </a:t>
            </a:r>
            <a:endParaRPr lang="en-US" altLang="zh-CN" sz="2800" b="0" dirty="0"/>
          </a:p>
        </p:txBody>
      </p:sp>
    </p:spTree>
    <p:extLst>
      <p:ext uri="{BB962C8B-B14F-4D97-AF65-F5344CB8AC3E}">
        <p14:creationId xmlns:p14="http://schemas.microsoft.com/office/powerpoint/2010/main" val="12605123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altLang="zh-CN" dirty="0"/>
              <a:t>4.2.2 </a:t>
            </a:r>
            <a:r>
              <a:rPr lang="zh-CN" altLang="en-US" dirty="0"/>
              <a:t>视频点播</a:t>
            </a:r>
          </a:p>
        </p:txBody>
      </p:sp>
      <p:sp>
        <p:nvSpPr>
          <p:cNvPr id="23555" name="Rectangle 3"/>
          <p:cNvSpPr>
            <a:spLocks noGrp="1" noChangeArrowheads="1"/>
          </p:cNvSpPr>
          <p:nvPr>
            <p:ph idx="1"/>
          </p:nvPr>
        </p:nvSpPr>
        <p:spPr>
          <a:xfrm>
            <a:off x="255015" y="1196753"/>
            <a:ext cx="8229600" cy="864096"/>
          </a:xfrm>
        </p:spPr>
        <p:txBody>
          <a:bodyPr/>
          <a:lstStyle/>
          <a:p>
            <a:r>
              <a:rPr lang="en-US" altLang="zh-CN" dirty="0"/>
              <a:t>VOD</a:t>
            </a:r>
            <a:r>
              <a:rPr lang="zh-CN" altLang="en-US" dirty="0"/>
              <a:t>系统的组成</a:t>
            </a:r>
          </a:p>
        </p:txBody>
      </p:sp>
      <p:pic>
        <p:nvPicPr>
          <p:cNvPr id="113666" name="Picture 2" descr="网络视频点播系统解决方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844824"/>
            <a:ext cx="5616624" cy="4178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25156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altLang="zh-CN" dirty="0"/>
              <a:t>4.2.2</a:t>
            </a:r>
            <a:r>
              <a:rPr lang="zh-CN" altLang="en-US" dirty="0"/>
              <a:t>视频点播</a:t>
            </a:r>
          </a:p>
        </p:txBody>
      </p:sp>
      <p:sp>
        <p:nvSpPr>
          <p:cNvPr id="23555" name="Rectangle 3"/>
          <p:cNvSpPr>
            <a:spLocks noGrp="1" noChangeArrowheads="1"/>
          </p:cNvSpPr>
          <p:nvPr>
            <p:ph idx="1"/>
          </p:nvPr>
        </p:nvSpPr>
        <p:spPr>
          <a:xfrm>
            <a:off x="255015" y="1196752"/>
            <a:ext cx="8229600" cy="5184576"/>
          </a:xfrm>
        </p:spPr>
        <p:txBody>
          <a:bodyPr>
            <a:normAutofit/>
          </a:bodyPr>
          <a:lstStyle/>
          <a:p>
            <a:r>
              <a:rPr lang="zh-CN" altLang="en-US" dirty="0"/>
              <a:t>免费的点播系统</a:t>
            </a:r>
            <a:endParaRPr lang="en-US" altLang="zh-CN" dirty="0"/>
          </a:p>
          <a:p>
            <a:pPr lvl="1">
              <a:spcBef>
                <a:spcPts val="2400"/>
              </a:spcBef>
            </a:pPr>
            <a:r>
              <a:rPr lang="en-US" altLang="zh-CN" dirty="0">
                <a:hlinkClick r:id="rId2"/>
              </a:rPr>
              <a:t>IPv6 </a:t>
            </a:r>
            <a:r>
              <a:rPr lang="zh-CN" altLang="en-US" dirty="0">
                <a:hlinkClick r:id="rId2"/>
              </a:rPr>
              <a:t>测试 </a:t>
            </a:r>
            <a:r>
              <a:rPr lang="en-US" altLang="zh-CN" dirty="0">
                <a:hlinkClick r:id="rId2"/>
              </a:rPr>
              <a:t>(test-ipv6.com)</a:t>
            </a:r>
            <a:endParaRPr lang="en-US" altLang="zh-CN" dirty="0"/>
          </a:p>
          <a:p>
            <a:pPr lvl="1">
              <a:spcBef>
                <a:spcPts val="2400"/>
              </a:spcBef>
            </a:pPr>
            <a:endParaRPr lang="en-US" altLang="zh-CN" dirty="0"/>
          </a:p>
          <a:p>
            <a:pPr lvl="1">
              <a:spcBef>
                <a:spcPts val="2400"/>
              </a:spcBef>
            </a:pPr>
            <a:r>
              <a:rPr lang="zh-CN" altLang="en-US" dirty="0"/>
              <a:t>清华大学 </a:t>
            </a:r>
            <a:r>
              <a:rPr lang="en-US" altLang="zh-CN" dirty="0"/>
              <a:t>http://iptv.tsinghua.edu.cn</a:t>
            </a:r>
          </a:p>
          <a:p>
            <a:pPr lvl="1"/>
            <a:r>
              <a:rPr lang="zh-CN" altLang="en-US" dirty="0"/>
              <a:t>北邮 </a:t>
            </a:r>
            <a:r>
              <a:rPr lang="en-US" altLang="zh-CN" dirty="0"/>
              <a:t>http://tv.byr.cn/</a:t>
            </a:r>
          </a:p>
          <a:p>
            <a:pPr lvl="1"/>
            <a:r>
              <a:rPr lang="zh-CN" altLang="en-US" dirty="0"/>
              <a:t>东北大学 </a:t>
            </a:r>
            <a:r>
              <a:rPr lang="en-US" altLang="zh-CN" dirty="0"/>
              <a:t>http://hdtv.neu6.edu.cn/</a:t>
            </a:r>
          </a:p>
          <a:p>
            <a:pPr lvl="1"/>
            <a:r>
              <a:rPr lang="zh-CN" altLang="en-US" dirty="0"/>
              <a:t>兰州大学 </a:t>
            </a:r>
            <a:r>
              <a:rPr lang="en-US" altLang="zh-CN" dirty="0"/>
              <a:t>http://hdtv.lzu6.edu.cn/</a:t>
            </a:r>
            <a:endParaRPr lang="zh-CN" altLang="en-US" dirty="0"/>
          </a:p>
        </p:txBody>
      </p:sp>
    </p:spTree>
    <p:extLst>
      <p:ext uri="{BB962C8B-B14F-4D97-AF65-F5344CB8AC3E}">
        <p14:creationId xmlns:p14="http://schemas.microsoft.com/office/powerpoint/2010/main" val="5207382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r>
              <a:rPr lang="en-US" altLang="zh-CN" dirty="0"/>
              <a:t>4.2.3 </a:t>
            </a:r>
            <a:r>
              <a:rPr lang="zh-CN" altLang="en-US" dirty="0"/>
              <a:t>网络直播</a:t>
            </a:r>
          </a:p>
        </p:txBody>
      </p:sp>
      <p:sp>
        <p:nvSpPr>
          <p:cNvPr id="24579" name="Rectangle 3"/>
          <p:cNvSpPr>
            <a:spLocks noGrp="1" noChangeArrowheads="1"/>
          </p:cNvSpPr>
          <p:nvPr>
            <p:ph idx="1"/>
          </p:nvPr>
        </p:nvSpPr>
        <p:spPr>
          <a:xfrm>
            <a:off x="255015" y="1196753"/>
            <a:ext cx="8229600" cy="2232248"/>
          </a:xfrm>
        </p:spPr>
        <p:txBody>
          <a:bodyPr/>
          <a:lstStyle/>
          <a:p>
            <a:r>
              <a:rPr lang="zh-CN" altLang="en-US" b="0" dirty="0"/>
              <a:t>网络直播借助专用系统和宽带网络进行现场直播服务，使用户可以观看到现场的实时场景，通过文字、麦克风、摄像头与现场观众或其他网络用户进行交流。 </a:t>
            </a:r>
          </a:p>
        </p:txBody>
      </p:sp>
      <p:pic>
        <p:nvPicPr>
          <p:cNvPr id="2" name="图片 1"/>
          <p:cNvPicPr>
            <a:picLocks noChangeAspect="1"/>
          </p:cNvPicPr>
          <p:nvPr/>
        </p:nvPicPr>
        <p:blipFill>
          <a:blip r:embed="rId2"/>
          <a:stretch>
            <a:fillRect/>
          </a:stretch>
        </p:blipFill>
        <p:spPr>
          <a:xfrm>
            <a:off x="1115616" y="3861048"/>
            <a:ext cx="2677129" cy="1831961"/>
          </a:xfrm>
          <a:prstGeom prst="rect">
            <a:avLst/>
          </a:prstGeom>
        </p:spPr>
      </p:pic>
      <p:pic>
        <p:nvPicPr>
          <p:cNvPr id="3" name="图片 2"/>
          <p:cNvPicPr>
            <a:picLocks noChangeAspect="1"/>
          </p:cNvPicPr>
          <p:nvPr/>
        </p:nvPicPr>
        <p:blipFill>
          <a:blip r:embed="rId3"/>
          <a:stretch>
            <a:fillRect/>
          </a:stretch>
        </p:blipFill>
        <p:spPr>
          <a:xfrm>
            <a:off x="5004048" y="3789040"/>
            <a:ext cx="3528392" cy="2035376"/>
          </a:xfrm>
          <a:prstGeom prst="rect">
            <a:avLst/>
          </a:prstGeom>
        </p:spPr>
      </p:pic>
    </p:spTree>
    <p:extLst>
      <p:ext uri="{BB962C8B-B14F-4D97-AF65-F5344CB8AC3E}">
        <p14:creationId xmlns:p14="http://schemas.microsoft.com/office/powerpoint/2010/main" val="32316064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b="0" dirty="0"/>
              <a:t>在线欣赏音乐和视频节目，是建立在在线流格式媒体播放协议的基础之上的</a:t>
            </a:r>
            <a:endParaRPr lang="en-US" altLang="zh-CN" b="0" dirty="0"/>
          </a:p>
          <a:p>
            <a:pPr lvl="1"/>
            <a:r>
              <a:rPr lang="en-US" altLang="zh-CN" b="0" dirty="0"/>
              <a:t>RTSP</a:t>
            </a:r>
            <a:r>
              <a:rPr lang="zh-CN" altLang="en-US" b="0" dirty="0"/>
              <a:t>协议 </a:t>
            </a:r>
            <a:endParaRPr lang="en-US" altLang="zh-CN" b="0" dirty="0"/>
          </a:p>
          <a:p>
            <a:pPr lvl="1"/>
            <a:r>
              <a:rPr lang="en-US" altLang="zh-CN" b="0" dirty="0"/>
              <a:t>RTCP</a:t>
            </a:r>
            <a:r>
              <a:rPr lang="zh-CN" altLang="en-US" b="0" dirty="0"/>
              <a:t>协议</a:t>
            </a:r>
            <a:r>
              <a:rPr lang="zh-CN" altLang="en-US" dirty="0"/>
              <a:t>和</a:t>
            </a:r>
            <a:r>
              <a:rPr lang="en-US" altLang="zh-CN" dirty="0"/>
              <a:t>RTP</a:t>
            </a:r>
            <a:r>
              <a:rPr lang="zh-CN" altLang="en-US" dirty="0"/>
              <a:t>协议 </a:t>
            </a:r>
            <a:endParaRPr lang="en-US" altLang="zh-CN" b="0" dirty="0"/>
          </a:p>
          <a:p>
            <a:pPr lvl="1"/>
            <a:r>
              <a:rPr lang="en-US" altLang="zh-CN" dirty="0"/>
              <a:t>MMS</a:t>
            </a:r>
            <a:r>
              <a:rPr lang="zh-CN" altLang="en-US" dirty="0"/>
              <a:t>协议 </a:t>
            </a:r>
          </a:p>
        </p:txBody>
      </p:sp>
      <p:sp>
        <p:nvSpPr>
          <p:cNvPr id="3" name="标题 2"/>
          <p:cNvSpPr>
            <a:spLocks noGrp="1"/>
          </p:cNvSpPr>
          <p:nvPr>
            <p:ph type="title"/>
          </p:nvPr>
        </p:nvSpPr>
        <p:spPr/>
        <p:txBody>
          <a:bodyPr>
            <a:normAutofit fontScale="90000"/>
          </a:bodyPr>
          <a:lstStyle/>
          <a:p>
            <a:r>
              <a:rPr lang="en-US" altLang="zh-CN" dirty="0"/>
              <a:t>4.2.4 </a:t>
            </a:r>
            <a:r>
              <a:rPr lang="zh-CN" altLang="en-US" dirty="0"/>
              <a:t>流媒体通信</a:t>
            </a:r>
          </a:p>
        </p:txBody>
      </p:sp>
    </p:spTree>
    <p:extLst>
      <p:ext uri="{BB962C8B-B14F-4D97-AF65-F5344CB8AC3E}">
        <p14:creationId xmlns:p14="http://schemas.microsoft.com/office/powerpoint/2010/main" val="21221471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1905000" cy="457200"/>
          </a:xfrm>
          <a:prstGeom prst="rect">
            <a:avLst/>
          </a:prstGeom>
        </p:spPr>
        <p:txBody>
          <a:bodyPr/>
          <a:lstStyle/>
          <a:p>
            <a:fld id="{A336D0DB-3F9D-41AB-A152-DA0FAD0AEEED}" type="slidenum">
              <a:rPr lang="zh-CN" altLang="en-US"/>
              <a:pPr/>
              <a:t>123</a:t>
            </a:fld>
            <a:endParaRPr lang="en-US" altLang="zh-CN"/>
          </a:p>
        </p:txBody>
      </p:sp>
      <p:sp>
        <p:nvSpPr>
          <p:cNvPr id="723970" name="Rectangle 2"/>
          <p:cNvSpPr>
            <a:spLocks noGrp="1" noChangeArrowheads="1"/>
          </p:cNvSpPr>
          <p:nvPr>
            <p:ph type="title"/>
          </p:nvPr>
        </p:nvSpPr>
        <p:spPr/>
        <p:txBody>
          <a:bodyPr>
            <a:normAutofit fontScale="90000"/>
          </a:bodyPr>
          <a:lstStyle/>
          <a:p>
            <a:r>
              <a:rPr lang="en-US" altLang="zh-CN" dirty="0">
                <a:latin typeface="+mj-ea"/>
              </a:rPr>
              <a:t>4.2.4 </a:t>
            </a:r>
            <a:r>
              <a:rPr lang="zh-CN" altLang="en-US" dirty="0">
                <a:latin typeface="+mj-ea"/>
              </a:rPr>
              <a:t>流媒体技术</a:t>
            </a:r>
          </a:p>
        </p:txBody>
      </p:sp>
      <p:sp>
        <p:nvSpPr>
          <p:cNvPr id="723971" name="Rectangle 3"/>
          <p:cNvSpPr>
            <a:spLocks noGrp="1" noChangeArrowheads="1"/>
          </p:cNvSpPr>
          <p:nvPr>
            <p:ph type="body" idx="1"/>
          </p:nvPr>
        </p:nvSpPr>
        <p:spPr>
          <a:xfrm>
            <a:off x="323528" y="1124744"/>
            <a:ext cx="7772400" cy="3024336"/>
          </a:xfrm>
        </p:spPr>
        <p:txBody>
          <a:bodyPr>
            <a:normAutofit/>
          </a:bodyPr>
          <a:lstStyle/>
          <a:p>
            <a:pPr>
              <a:lnSpc>
                <a:spcPct val="90000"/>
              </a:lnSpc>
            </a:pPr>
            <a:r>
              <a:rPr lang="zh-CN" altLang="en-US" sz="2800" b="0" dirty="0"/>
              <a:t>流媒体的概念</a:t>
            </a:r>
            <a:endParaRPr lang="en-US" altLang="zh-CN" sz="2800" b="0" dirty="0"/>
          </a:p>
          <a:p>
            <a:pPr lvl="1">
              <a:lnSpc>
                <a:spcPct val="110000"/>
              </a:lnSpc>
            </a:pPr>
            <a:r>
              <a:rPr lang="zh-CN" altLang="en-US" sz="2000" i="0" dirty="0">
                <a:solidFill>
                  <a:srgbClr val="333333"/>
                </a:solidFill>
                <a:effectLst/>
                <a:latin typeface="arial" panose="020B0604020202020204" pitchFamily="34" charset="0"/>
              </a:rPr>
              <a:t>是指将一连串的媒体数据压缩后，经过分段发送数据，在网上即时传输影音以供最终用户观赏的一种技术。</a:t>
            </a:r>
            <a:endParaRPr lang="en-US" altLang="zh-CN" sz="2000" i="0" dirty="0">
              <a:solidFill>
                <a:srgbClr val="333333"/>
              </a:solidFill>
              <a:effectLst/>
              <a:latin typeface="arial" panose="020B0604020202020204" pitchFamily="34" charset="0"/>
            </a:endParaRPr>
          </a:p>
          <a:p>
            <a:pPr lvl="1">
              <a:lnSpc>
                <a:spcPct val="110000"/>
              </a:lnSpc>
            </a:pPr>
            <a:r>
              <a:rPr lang="zh-CN" altLang="en-US" sz="2000" i="0" dirty="0">
                <a:solidFill>
                  <a:srgbClr val="333333"/>
                </a:solidFill>
                <a:effectLst/>
                <a:latin typeface="arial" panose="020B0604020202020204" pitchFamily="34" charset="0"/>
              </a:rPr>
              <a:t>此技术使得数据包得以像流水一样发送；如果不使用此技术，就必须在使用前下载整个媒体文件</a:t>
            </a:r>
            <a:endParaRPr lang="zh-CN" altLang="en-US" sz="3200" dirty="0"/>
          </a:p>
          <a:p>
            <a:pPr>
              <a:lnSpc>
                <a:spcPct val="90000"/>
              </a:lnSpc>
            </a:pPr>
            <a:r>
              <a:rPr lang="zh-CN" altLang="en-US" sz="2800" b="0" dirty="0"/>
              <a:t>流放服务器</a:t>
            </a:r>
          </a:p>
        </p:txBody>
      </p:sp>
      <p:pic>
        <p:nvPicPr>
          <p:cNvPr id="723984" name="Picture 1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879"/>
          <a:stretch/>
        </p:blipFill>
        <p:spPr bwMode="auto">
          <a:xfrm>
            <a:off x="683567" y="3717032"/>
            <a:ext cx="7511595" cy="2531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2855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124744"/>
            <a:ext cx="8229600" cy="5112568"/>
          </a:xfrm>
        </p:spPr>
        <p:txBody>
          <a:bodyPr>
            <a:normAutofit/>
          </a:bodyPr>
          <a:lstStyle/>
          <a:p>
            <a:r>
              <a:rPr lang="en-US" altLang="zh-CN" b="0" dirty="0"/>
              <a:t>RTSP</a:t>
            </a:r>
            <a:r>
              <a:rPr lang="zh-CN" altLang="en-US" b="0" dirty="0"/>
              <a:t>（</a:t>
            </a:r>
            <a:r>
              <a:rPr lang="en-US" altLang="zh-CN" b="0" dirty="0"/>
              <a:t>Real Time Streaming Protocol</a:t>
            </a:r>
            <a:r>
              <a:rPr lang="zh-CN" altLang="en-US" b="0" dirty="0"/>
              <a:t>），实时流传输协议，是</a:t>
            </a:r>
            <a:r>
              <a:rPr lang="en-US" altLang="zh-CN" b="0" dirty="0"/>
              <a:t>TCP/IP</a:t>
            </a:r>
            <a:r>
              <a:rPr lang="zh-CN" altLang="en-US" b="0" dirty="0"/>
              <a:t>协议体系中的一个应用层协议，由哥伦比亚大学、网景和</a:t>
            </a:r>
            <a:r>
              <a:rPr lang="en-US" altLang="zh-CN" b="0" dirty="0" err="1"/>
              <a:t>RealNetworks</a:t>
            </a:r>
            <a:r>
              <a:rPr lang="zh-CN" altLang="en-US" b="0" dirty="0"/>
              <a:t>公司提交的</a:t>
            </a:r>
            <a:r>
              <a:rPr lang="en-US" altLang="zh-CN" b="0" dirty="0"/>
              <a:t>IETF RFC</a:t>
            </a:r>
            <a:r>
              <a:rPr lang="zh-CN" altLang="en-US" b="0" dirty="0"/>
              <a:t>标准。</a:t>
            </a:r>
            <a:endParaRPr lang="en-US" altLang="zh-CN" b="0" dirty="0"/>
          </a:p>
          <a:p>
            <a:r>
              <a:rPr lang="zh-CN" altLang="en-US" b="0" dirty="0"/>
              <a:t>该协议定义了一对多应用程序如何有效地通过</a:t>
            </a:r>
            <a:r>
              <a:rPr lang="en-US" altLang="zh-CN" b="0" dirty="0"/>
              <a:t>IP</a:t>
            </a:r>
            <a:r>
              <a:rPr lang="zh-CN" altLang="en-US" b="0" dirty="0"/>
              <a:t>网络传送多媒体数据。使用纯文本来发送信息，</a:t>
            </a:r>
            <a:r>
              <a:rPr lang="en-US" altLang="zh-CN" b="0" dirty="0"/>
              <a:t>RTSP</a:t>
            </a:r>
            <a:r>
              <a:rPr lang="zh-CN" altLang="en-US" b="0" dirty="0"/>
              <a:t>协议是有状态的协议，</a:t>
            </a:r>
            <a:r>
              <a:rPr lang="en-US" altLang="zh-CN" b="0" dirty="0"/>
              <a:t>RTSP</a:t>
            </a:r>
            <a:r>
              <a:rPr lang="zh-CN" altLang="en-US" b="0" dirty="0"/>
              <a:t>通过维护一个</a:t>
            </a:r>
            <a:r>
              <a:rPr lang="en-US" altLang="zh-CN" b="0" dirty="0"/>
              <a:t>session</a:t>
            </a:r>
            <a:r>
              <a:rPr lang="zh-CN" altLang="en-US" b="0" dirty="0"/>
              <a:t>来维护其状态的转换。</a:t>
            </a:r>
            <a:r>
              <a:rPr lang="en-US" altLang="zh-CN" b="0" dirty="0"/>
              <a:t>RTSP</a:t>
            </a:r>
            <a:r>
              <a:rPr lang="zh-CN" altLang="en-US" b="0" dirty="0"/>
              <a:t>协议的默认端口是</a:t>
            </a:r>
            <a:r>
              <a:rPr lang="en-US" altLang="zh-CN" b="0" dirty="0"/>
              <a:t>554</a:t>
            </a:r>
            <a:r>
              <a:rPr lang="zh-CN" altLang="en-US" b="0" dirty="0"/>
              <a:t>，默认的承载协议为</a:t>
            </a:r>
            <a:r>
              <a:rPr lang="en-US" altLang="zh-CN" b="0" dirty="0"/>
              <a:t>TCP</a:t>
            </a:r>
            <a:r>
              <a:rPr lang="zh-CN" altLang="en-US" b="0" dirty="0"/>
              <a:t>。</a:t>
            </a:r>
            <a:endParaRPr lang="zh-CN" altLang="en-US" dirty="0"/>
          </a:p>
        </p:txBody>
      </p:sp>
      <p:sp>
        <p:nvSpPr>
          <p:cNvPr id="3" name="标题 2"/>
          <p:cNvSpPr>
            <a:spLocks noGrp="1"/>
          </p:cNvSpPr>
          <p:nvPr>
            <p:ph type="title"/>
          </p:nvPr>
        </p:nvSpPr>
        <p:spPr/>
        <p:txBody>
          <a:bodyPr>
            <a:normAutofit fontScale="90000"/>
          </a:bodyPr>
          <a:lstStyle/>
          <a:p>
            <a:r>
              <a:rPr lang="en-US" altLang="zh-CN" dirty="0"/>
              <a:t>4.2.4 RTSP</a:t>
            </a:r>
            <a:r>
              <a:rPr lang="zh-CN" altLang="en-US" dirty="0"/>
              <a:t>协议</a:t>
            </a:r>
          </a:p>
        </p:txBody>
      </p:sp>
      <p:pic>
        <p:nvPicPr>
          <p:cNvPr id="4" name="图片 3"/>
          <p:cNvPicPr>
            <a:picLocks noChangeAspect="1"/>
          </p:cNvPicPr>
          <p:nvPr/>
        </p:nvPicPr>
        <p:blipFill>
          <a:blip r:embed="rId3"/>
          <a:stretch>
            <a:fillRect/>
          </a:stretch>
        </p:blipFill>
        <p:spPr>
          <a:xfrm>
            <a:off x="2123728" y="2749721"/>
            <a:ext cx="4139952" cy="1862614"/>
          </a:xfrm>
          <a:prstGeom prst="rect">
            <a:avLst/>
          </a:prstGeom>
        </p:spPr>
      </p:pic>
      <p:pic>
        <p:nvPicPr>
          <p:cNvPr id="5" name="图片 4"/>
          <p:cNvPicPr>
            <a:picLocks noChangeAspect="1"/>
          </p:cNvPicPr>
          <p:nvPr/>
        </p:nvPicPr>
        <p:blipFill>
          <a:blip r:embed="rId4"/>
          <a:stretch>
            <a:fillRect/>
          </a:stretch>
        </p:blipFill>
        <p:spPr>
          <a:xfrm>
            <a:off x="2941814" y="2523885"/>
            <a:ext cx="2847619" cy="2314286"/>
          </a:xfrm>
          <a:prstGeom prst="rect">
            <a:avLst/>
          </a:prstGeom>
        </p:spPr>
      </p:pic>
    </p:spTree>
    <p:extLst>
      <p:ext uri="{BB962C8B-B14F-4D97-AF65-F5344CB8AC3E}">
        <p14:creationId xmlns:p14="http://schemas.microsoft.com/office/powerpoint/2010/main" val="290826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124744"/>
            <a:ext cx="8229600" cy="5112568"/>
          </a:xfrm>
        </p:spPr>
        <p:txBody>
          <a:bodyPr>
            <a:normAutofit/>
          </a:bodyPr>
          <a:lstStyle/>
          <a:p>
            <a:pPr marL="0" indent="0">
              <a:buNone/>
            </a:pPr>
            <a:r>
              <a:rPr lang="en-US" altLang="zh-CN" b="0" dirty="0" err="1"/>
              <a:t>rtsp_URL</a:t>
            </a:r>
            <a:r>
              <a:rPr lang="en-US" altLang="zh-CN" b="0" dirty="0"/>
              <a:t> = "</a:t>
            </a:r>
            <a:r>
              <a:rPr lang="en-US" altLang="zh-CN" b="0" dirty="0" err="1"/>
              <a:t>rtsp</a:t>
            </a:r>
            <a:r>
              <a:rPr lang="en-US" altLang="zh-CN" b="0" dirty="0"/>
              <a:t>://" host [":" port] [ </a:t>
            </a:r>
            <a:r>
              <a:rPr lang="en-US" altLang="zh-CN" b="0" dirty="0" err="1"/>
              <a:t>abs_path</a:t>
            </a:r>
            <a:r>
              <a:rPr lang="en-US" altLang="zh-CN" b="0" dirty="0"/>
              <a:t> ]</a:t>
            </a:r>
          </a:p>
          <a:p>
            <a:r>
              <a:rPr lang="en-US" altLang="zh-CN" sz="2800" b="0" dirty="0"/>
              <a:t>host: </a:t>
            </a:r>
            <a:r>
              <a:rPr lang="zh-CN" altLang="en-US" sz="2800" b="0" dirty="0"/>
              <a:t>有效的域名或 </a:t>
            </a:r>
            <a:r>
              <a:rPr lang="en-US" altLang="zh-CN" sz="2800" b="0" dirty="0"/>
              <a:t>IP </a:t>
            </a:r>
            <a:r>
              <a:rPr lang="zh-CN" altLang="en-US" sz="2800" b="0" dirty="0"/>
              <a:t>地址</a:t>
            </a:r>
          </a:p>
          <a:p>
            <a:r>
              <a:rPr lang="en-US" altLang="zh-CN" sz="2800" b="0" dirty="0"/>
              <a:t>port: </a:t>
            </a:r>
            <a:r>
              <a:rPr lang="zh-CN" altLang="en-US" sz="2800" b="0" dirty="0"/>
              <a:t>端口号，缺省为 </a:t>
            </a:r>
            <a:r>
              <a:rPr lang="en-US" altLang="zh-CN" sz="2800" b="0" dirty="0"/>
              <a:t>554</a:t>
            </a:r>
            <a:r>
              <a:rPr lang="zh-CN" altLang="en-US" sz="2800" b="0" dirty="0"/>
              <a:t>，若为缺省可不填写，否则必须写明</a:t>
            </a:r>
          </a:p>
          <a:p>
            <a:r>
              <a:rPr lang="zh-CN" altLang="en-US" sz="2800" b="0" dirty="0"/>
              <a:t>例如：</a:t>
            </a:r>
            <a:r>
              <a:rPr lang="en-US" altLang="zh-CN" sz="2800" b="0" dirty="0"/>
              <a:t>rtsp://media.example.com:554/twister/audiotrack</a:t>
            </a:r>
          </a:p>
          <a:p>
            <a:pPr marL="0" indent="0">
              <a:buNone/>
            </a:pPr>
            <a:endParaRPr lang="en-US" altLang="zh-CN" b="0" dirty="0"/>
          </a:p>
        </p:txBody>
      </p:sp>
      <p:sp>
        <p:nvSpPr>
          <p:cNvPr id="3" name="标题 2"/>
          <p:cNvSpPr>
            <a:spLocks noGrp="1"/>
          </p:cNvSpPr>
          <p:nvPr>
            <p:ph type="title"/>
          </p:nvPr>
        </p:nvSpPr>
        <p:spPr/>
        <p:txBody>
          <a:bodyPr>
            <a:normAutofit fontScale="90000"/>
          </a:bodyPr>
          <a:lstStyle/>
          <a:p>
            <a:r>
              <a:rPr lang="en-US" altLang="zh-CN" dirty="0"/>
              <a:t>4.2.4 RTSP</a:t>
            </a:r>
            <a:r>
              <a:rPr lang="zh-CN" altLang="en-US" dirty="0"/>
              <a:t>协议</a:t>
            </a:r>
          </a:p>
        </p:txBody>
      </p:sp>
    </p:spTree>
    <p:extLst>
      <p:ext uri="{BB962C8B-B14F-4D97-AF65-F5344CB8AC3E}">
        <p14:creationId xmlns:p14="http://schemas.microsoft.com/office/powerpoint/2010/main" val="359035535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0824" y="908048"/>
            <a:ext cx="8229600" cy="5400600"/>
          </a:xfrm>
        </p:spPr>
        <p:txBody>
          <a:bodyPr>
            <a:normAutofit fontScale="70000" lnSpcReduction="20000"/>
          </a:bodyPr>
          <a:lstStyle/>
          <a:p>
            <a:pPr>
              <a:lnSpc>
                <a:spcPct val="120000"/>
              </a:lnSpc>
            </a:pPr>
            <a:r>
              <a:rPr lang="en-US" altLang="zh-CN" dirty="0"/>
              <a:t>RTSP </a:t>
            </a:r>
            <a:r>
              <a:rPr lang="zh-CN" altLang="en-US" dirty="0"/>
              <a:t>协议格式：</a:t>
            </a:r>
            <a:br>
              <a:rPr lang="zh-CN" altLang="en-US" dirty="0"/>
            </a:br>
            <a:r>
              <a:rPr lang="zh-CN" altLang="en-US" b="0" dirty="0"/>
              <a:t>请求命令的格式为：</a:t>
            </a:r>
            <a:br>
              <a:rPr lang="zh-CN" altLang="en-US" dirty="0"/>
            </a:br>
            <a:r>
              <a:rPr lang="en-US" altLang="zh-CN" b="0" dirty="0"/>
              <a:t>METHOD URL CR LF</a:t>
            </a:r>
            <a:br>
              <a:rPr lang="en-US" altLang="zh-CN" dirty="0"/>
            </a:br>
            <a:r>
              <a:rPr lang="en-US" altLang="zh-CN" b="0" dirty="0"/>
              <a:t>Field1:value CR LF</a:t>
            </a:r>
            <a:br>
              <a:rPr lang="en-US" altLang="zh-CN" dirty="0"/>
            </a:br>
            <a:r>
              <a:rPr lang="en-US" altLang="zh-CN" b="0" dirty="0"/>
              <a:t>Field2:value CR LF</a:t>
            </a:r>
            <a:br>
              <a:rPr lang="en-US" altLang="zh-CN" dirty="0"/>
            </a:br>
            <a:r>
              <a:rPr lang="en-US" altLang="zh-CN" b="0" dirty="0"/>
              <a:t>......</a:t>
            </a:r>
            <a:br>
              <a:rPr lang="en-US" altLang="zh-CN" dirty="0"/>
            </a:br>
            <a:r>
              <a:rPr lang="en-US" altLang="zh-CN" b="0" dirty="0" err="1"/>
              <a:t>Fieldn:value</a:t>
            </a:r>
            <a:r>
              <a:rPr lang="en-US" altLang="zh-CN" b="0" dirty="0"/>
              <a:t> CR LF</a:t>
            </a:r>
            <a:br>
              <a:rPr lang="en-US" altLang="zh-CN" dirty="0"/>
            </a:br>
            <a:r>
              <a:rPr lang="en-US" altLang="zh-CN" b="0" dirty="0"/>
              <a:t>CR LF</a:t>
            </a:r>
          </a:p>
          <a:p>
            <a:pPr>
              <a:lnSpc>
                <a:spcPct val="120000"/>
              </a:lnSpc>
            </a:pPr>
            <a:r>
              <a:rPr lang="zh-CN" altLang="en-US" b="0" dirty="0"/>
              <a:t>应答的格式为：</a:t>
            </a:r>
            <a:br>
              <a:rPr lang="zh-CN" altLang="en-US" dirty="0"/>
            </a:br>
            <a:r>
              <a:rPr lang="en-US" altLang="zh-CN" b="0" dirty="0"/>
              <a:t>RTSP/</a:t>
            </a:r>
            <a:r>
              <a:rPr lang="en-US" altLang="zh-CN" b="0" dirty="0" err="1"/>
              <a:t>major_version.minor_version</a:t>
            </a:r>
            <a:r>
              <a:rPr lang="en-US" altLang="zh-CN" b="0" dirty="0"/>
              <a:t> status CR LF</a:t>
            </a:r>
            <a:br>
              <a:rPr lang="en-US" altLang="zh-CN" dirty="0"/>
            </a:br>
            <a:r>
              <a:rPr lang="en-US" altLang="zh-CN" b="0" dirty="0"/>
              <a:t>Field1:value CR LF</a:t>
            </a:r>
            <a:br>
              <a:rPr lang="en-US" altLang="zh-CN" dirty="0"/>
            </a:br>
            <a:r>
              <a:rPr lang="en-US" altLang="zh-CN" b="0" dirty="0"/>
              <a:t>Field2:value CR LF</a:t>
            </a:r>
            <a:br>
              <a:rPr lang="en-US" altLang="zh-CN" dirty="0"/>
            </a:br>
            <a:r>
              <a:rPr lang="en-US" altLang="zh-CN" b="0" dirty="0"/>
              <a:t>......</a:t>
            </a:r>
            <a:br>
              <a:rPr lang="en-US" altLang="zh-CN" dirty="0"/>
            </a:br>
            <a:r>
              <a:rPr lang="en-US" altLang="zh-CN" b="0" dirty="0" err="1"/>
              <a:t>Fieldn:value</a:t>
            </a:r>
            <a:r>
              <a:rPr lang="en-US" altLang="zh-CN" b="0" dirty="0"/>
              <a:t> CR LF</a:t>
            </a:r>
            <a:br>
              <a:rPr lang="en-US" altLang="zh-CN" dirty="0"/>
            </a:br>
            <a:r>
              <a:rPr lang="en-US" altLang="zh-CN" b="0" dirty="0"/>
              <a:t>CR LF</a:t>
            </a:r>
            <a:endParaRPr lang="zh-CN" altLang="en-US" dirty="0"/>
          </a:p>
        </p:txBody>
      </p:sp>
      <p:sp>
        <p:nvSpPr>
          <p:cNvPr id="3" name="标题 2"/>
          <p:cNvSpPr>
            <a:spLocks noGrp="1"/>
          </p:cNvSpPr>
          <p:nvPr>
            <p:ph type="title"/>
          </p:nvPr>
        </p:nvSpPr>
        <p:spPr/>
        <p:txBody>
          <a:bodyPr>
            <a:normAutofit fontScale="90000"/>
          </a:bodyPr>
          <a:lstStyle/>
          <a:p>
            <a:r>
              <a:rPr lang="en-US" altLang="zh-CN" dirty="0"/>
              <a:t>4.2.4 RTSP</a:t>
            </a:r>
            <a:r>
              <a:rPr lang="zh-CN" altLang="en-US" dirty="0"/>
              <a:t>报文</a:t>
            </a:r>
          </a:p>
        </p:txBody>
      </p:sp>
    </p:spTree>
    <p:extLst>
      <p:ext uri="{BB962C8B-B14F-4D97-AF65-F5344CB8AC3E}">
        <p14:creationId xmlns:p14="http://schemas.microsoft.com/office/powerpoint/2010/main" val="19420653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4.2.4 RSTP</a:t>
            </a:r>
            <a:r>
              <a:rPr lang="zh-CN" altLang="en-US" dirty="0"/>
              <a:t>例子</a:t>
            </a:r>
          </a:p>
        </p:txBody>
      </p:sp>
      <p:sp>
        <p:nvSpPr>
          <p:cNvPr id="4" name="内容占位符 3"/>
          <p:cNvSpPr txBox="1">
            <a:spLocks noGrp="1"/>
          </p:cNvSpPr>
          <p:nvPr>
            <p:ph idx="1"/>
          </p:nvPr>
        </p:nvSpPr>
        <p:spPr>
          <a:xfrm>
            <a:off x="255015" y="1196752"/>
            <a:ext cx="8229600" cy="1877437"/>
          </a:xfrm>
          <a:prstGeom prst="rect">
            <a:avLst/>
          </a:prstGeom>
          <a:noFill/>
        </p:spPr>
        <p:txBody>
          <a:bodyPr wrap="square" rtlCol="0">
            <a:spAutoFit/>
          </a:bodyPr>
          <a:lstStyle/>
          <a:p>
            <a:pPr marL="0" indent="0">
              <a:buNone/>
            </a:pPr>
            <a:r>
              <a:rPr lang="zh-CN" altLang="en-US" sz="2000" b="1" dirty="0"/>
              <a:t>客户端：</a:t>
            </a:r>
            <a:endParaRPr lang="en-US" altLang="zh-CN" sz="2000" b="1" dirty="0"/>
          </a:p>
          <a:p>
            <a:pPr marL="114300" lvl="1"/>
            <a:r>
              <a:rPr lang="en-US" altLang="zh-CN" sz="2000" b="0" dirty="0"/>
              <a:t>SETUP rtsp://server.address:port/object.sdp/trackID=1 RTSP/1.0\r\n </a:t>
            </a:r>
          </a:p>
          <a:p>
            <a:pPr marL="114300" lvl="1"/>
            <a:r>
              <a:rPr lang="en-US" altLang="zh-CN" sz="2000" b="0" dirty="0" err="1"/>
              <a:t>CSeq</a:t>
            </a:r>
            <a:r>
              <a:rPr lang="en-US" altLang="zh-CN" sz="2000" b="0" dirty="0"/>
              <a:t>: 2\r\n </a:t>
            </a:r>
          </a:p>
          <a:p>
            <a:pPr marL="114300" lvl="1"/>
            <a:r>
              <a:rPr lang="en-US" altLang="zh-CN" sz="2000" b="0" dirty="0"/>
              <a:t>Transport: RTP/</a:t>
            </a:r>
            <a:r>
              <a:rPr lang="en-US" altLang="zh-CN" sz="2000" b="0" dirty="0" err="1"/>
              <a:t>AVP;unicast;client_port</a:t>
            </a:r>
            <a:r>
              <a:rPr lang="en-US" altLang="zh-CN" sz="2000" b="0" dirty="0"/>
              <a:t>=9000-9001\r\n </a:t>
            </a:r>
          </a:p>
          <a:p>
            <a:pPr marL="114300" lvl="1"/>
            <a:r>
              <a:rPr lang="en-US" altLang="zh-CN" sz="2000" b="0" dirty="0"/>
              <a:t>\r\n</a:t>
            </a:r>
            <a:endParaRPr lang="zh-CN" altLang="en-US" sz="2000" b="0" dirty="0"/>
          </a:p>
        </p:txBody>
      </p:sp>
      <p:sp>
        <p:nvSpPr>
          <p:cNvPr id="5" name="内容占位符 3"/>
          <p:cNvSpPr txBox="1">
            <a:spLocks/>
          </p:cNvSpPr>
          <p:nvPr/>
        </p:nvSpPr>
        <p:spPr>
          <a:xfrm>
            <a:off x="251520" y="3429000"/>
            <a:ext cx="8229600" cy="1692771"/>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zh-CN" altLang="en-US" sz="2000" dirty="0"/>
              <a:t>服务端：</a:t>
            </a:r>
            <a:endParaRPr lang="en-US" altLang="zh-CN" sz="2000" dirty="0"/>
          </a:p>
          <a:p>
            <a:pPr marL="114300" lvl="1"/>
            <a:r>
              <a:rPr lang="en-US" altLang="zh-CN" sz="2000" dirty="0"/>
              <a:t>RTSP/1.0 200 OK\n Server: QTSS(IFI)/v88\n </a:t>
            </a:r>
            <a:r>
              <a:rPr lang="en-US" altLang="zh-CN" sz="2000" dirty="0" err="1"/>
              <a:t>Cseq</a:t>
            </a:r>
            <a:r>
              <a:rPr lang="en-US" altLang="zh-CN" sz="2000" dirty="0"/>
              <a:t>: 2\n Session: 1234567890;timeout=60 Transport: </a:t>
            </a:r>
            <a:r>
              <a:rPr lang="en-US" altLang="zh-CN" sz="2000" dirty="0" err="1"/>
              <a:t>rtp</a:t>
            </a:r>
            <a:r>
              <a:rPr lang="en-US" altLang="zh-CN" sz="2000" dirty="0"/>
              <a:t>/</a:t>
            </a:r>
            <a:r>
              <a:rPr lang="en-US" altLang="zh-CN" sz="2000" dirty="0" err="1"/>
              <a:t>avp;source</a:t>
            </a:r>
            <a:r>
              <a:rPr lang="en-US" altLang="zh-CN" sz="2000" dirty="0"/>
              <a:t>=129.240.65.208;server_port=9000-9001;client_port=9000-9001\n \n</a:t>
            </a:r>
            <a:endParaRPr lang="zh-CN" altLang="en-US" sz="2000" dirty="0"/>
          </a:p>
        </p:txBody>
      </p:sp>
    </p:spTree>
    <p:extLst>
      <p:ext uri="{BB962C8B-B14F-4D97-AF65-F5344CB8AC3E}">
        <p14:creationId xmlns:p14="http://schemas.microsoft.com/office/powerpoint/2010/main" val="3482323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4.2.4 RTSP</a:t>
            </a:r>
            <a:r>
              <a:rPr lang="zh-CN" altLang="en-US" dirty="0"/>
              <a:t>的状态转换</a:t>
            </a:r>
          </a:p>
        </p:txBody>
      </p:sp>
      <p:pic>
        <p:nvPicPr>
          <p:cNvPr id="110594" name="Picture 2" descr="http://pic002.cnblogs.com/images/2011/163542/201107142209338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121937"/>
            <a:ext cx="3312368" cy="48402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427984" y="3503283"/>
            <a:ext cx="3888432" cy="707886"/>
          </a:xfrm>
          <a:prstGeom prst="rect">
            <a:avLst/>
          </a:prstGeom>
          <a:noFill/>
        </p:spPr>
        <p:txBody>
          <a:bodyPr wrap="square" rtlCol="0">
            <a:spAutoFit/>
          </a:bodyPr>
          <a:lstStyle/>
          <a:p>
            <a:r>
              <a:rPr lang="en-US" altLang="zh-CN" sz="2000" dirty="0"/>
              <a:t>SETUP</a:t>
            </a:r>
            <a:r>
              <a:rPr lang="zh-CN" altLang="en-US" sz="2000" dirty="0"/>
              <a:t>：对</a:t>
            </a:r>
            <a:r>
              <a:rPr lang="en-US" altLang="zh-CN" sz="2000" dirty="0"/>
              <a:t>URL</a:t>
            </a:r>
            <a:r>
              <a:rPr lang="zh-CN" altLang="en-US" sz="2000" dirty="0"/>
              <a:t>的</a:t>
            </a:r>
            <a:r>
              <a:rPr lang="en-US" altLang="zh-CN" sz="2000" dirty="0"/>
              <a:t>setup</a:t>
            </a:r>
            <a:r>
              <a:rPr lang="zh-CN" altLang="en-US" sz="2000" dirty="0"/>
              <a:t>请求置顶用于流媒体的传输机制。</a:t>
            </a:r>
          </a:p>
        </p:txBody>
      </p:sp>
      <p:sp>
        <p:nvSpPr>
          <p:cNvPr id="6" name="TextBox 5"/>
          <p:cNvSpPr txBox="1"/>
          <p:nvPr/>
        </p:nvSpPr>
        <p:spPr>
          <a:xfrm>
            <a:off x="4421786" y="4357987"/>
            <a:ext cx="4038646" cy="707886"/>
          </a:xfrm>
          <a:prstGeom prst="rect">
            <a:avLst/>
          </a:prstGeom>
          <a:noFill/>
        </p:spPr>
        <p:txBody>
          <a:bodyPr wrap="square" rtlCol="0">
            <a:spAutoFit/>
          </a:bodyPr>
          <a:lstStyle/>
          <a:p>
            <a:r>
              <a:rPr lang="en-US" altLang="zh-CN" sz="2000" dirty="0"/>
              <a:t>TEARDOWN</a:t>
            </a:r>
            <a:r>
              <a:rPr lang="zh-CN" altLang="en-US" sz="2000" dirty="0"/>
              <a:t>：停止</a:t>
            </a:r>
            <a:r>
              <a:rPr lang="en-US" altLang="zh-CN" sz="2000" dirty="0"/>
              <a:t>URL</a:t>
            </a:r>
            <a:r>
              <a:rPr lang="zh-CN" altLang="en-US" sz="2000" dirty="0"/>
              <a:t>发送，释放资源</a:t>
            </a:r>
          </a:p>
        </p:txBody>
      </p:sp>
      <p:sp>
        <p:nvSpPr>
          <p:cNvPr id="7" name="TextBox 6"/>
          <p:cNvSpPr txBox="1"/>
          <p:nvPr/>
        </p:nvSpPr>
        <p:spPr>
          <a:xfrm>
            <a:off x="4427984" y="5066600"/>
            <a:ext cx="4176464" cy="400110"/>
          </a:xfrm>
          <a:prstGeom prst="rect">
            <a:avLst/>
          </a:prstGeom>
          <a:noFill/>
        </p:spPr>
        <p:txBody>
          <a:bodyPr wrap="square" rtlCol="0">
            <a:spAutoFit/>
          </a:bodyPr>
          <a:lstStyle/>
          <a:p>
            <a:r>
              <a:rPr lang="en-US" altLang="zh-CN" sz="2000" dirty="0"/>
              <a:t>PLAY</a:t>
            </a:r>
            <a:r>
              <a:rPr lang="zh-CN" altLang="en-US" sz="2000" dirty="0"/>
              <a:t>：安</a:t>
            </a:r>
            <a:r>
              <a:rPr lang="en-US" altLang="zh-CN" sz="2000" dirty="0"/>
              <a:t>SETUP</a:t>
            </a:r>
            <a:r>
              <a:rPr lang="zh-CN" altLang="en-US" sz="2000" dirty="0"/>
              <a:t>的方式进行数据传输</a:t>
            </a:r>
          </a:p>
        </p:txBody>
      </p:sp>
      <p:sp>
        <p:nvSpPr>
          <p:cNvPr id="8" name="TextBox 7"/>
          <p:cNvSpPr txBox="1"/>
          <p:nvPr/>
        </p:nvSpPr>
        <p:spPr>
          <a:xfrm>
            <a:off x="4499992" y="5574431"/>
            <a:ext cx="3600400" cy="400110"/>
          </a:xfrm>
          <a:prstGeom prst="rect">
            <a:avLst/>
          </a:prstGeom>
          <a:noFill/>
        </p:spPr>
        <p:txBody>
          <a:bodyPr wrap="square" rtlCol="0">
            <a:spAutoFit/>
          </a:bodyPr>
          <a:lstStyle/>
          <a:p>
            <a:r>
              <a:rPr lang="en-US" altLang="zh-CN" sz="2000" dirty="0"/>
              <a:t>SPAUSE</a:t>
            </a:r>
            <a:r>
              <a:rPr lang="zh-CN" altLang="en-US" sz="2000" dirty="0"/>
              <a:t>：中断数据传输</a:t>
            </a:r>
          </a:p>
        </p:txBody>
      </p:sp>
      <p:sp>
        <p:nvSpPr>
          <p:cNvPr id="5" name="TextBox 4"/>
          <p:cNvSpPr txBox="1"/>
          <p:nvPr/>
        </p:nvSpPr>
        <p:spPr>
          <a:xfrm>
            <a:off x="4499992" y="1371581"/>
            <a:ext cx="3960440" cy="1569660"/>
          </a:xfrm>
          <a:prstGeom prst="rect">
            <a:avLst/>
          </a:prstGeom>
          <a:noFill/>
        </p:spPr>
        <p:txBody>
          <a:bodyPr wrap="square" rtlCol="0">
            <a:spAutoFit/>
          </a:bodyPr>
          <a:lstStyle/>
          <a:p>
            <a:r>
              <a:rPr lang="zh-CN" altLang="en-US" sz="2400" dirty="0"/>
              <a:t>三种状态</a:t>
            </a:r>
            <a:endParaRPr lang="en-US" altLang="zh-CN" sz="2400" dirty="0"/>
          </a:p>
          <a:p>
            <a:pPr marL="342900" indent="-342900">
              <a:buAutoNum type="arabicPeriod"/>
            </a:pPr>
            <a:r>
              <a:rPr lang="en-US" altLang="zh-CN" sz="2400" dirty="0"/>
              <a:t>INIT</a:t>
            </a:r>
          </a:p>
          <a:p>
            <a:pPr marL="342900" indent="-342900">
              <a:buAutoNum type="arabicPeriod"/>
            </a:pPr>
            <a:r>
              <a:rPr lang="en-US" altLang="zh-CN" sz="2400" dirty="0"/>
              <a:t>READY</a:t>
            </a:r>
          </a:p>
          <a:p>
            <a:pPr marL="342900" indent="-342900">
              <a:buAutoNum type="arabicPeriod"/>
            </a:pPr>
            <a:r>
              <a:rPr lang="en-US" altLang="zh-CN" sz="2400" dirty="0"/>
              <a:t>PLAYING</a:t>
            </a:r>
            <a:endParaRPr lang="zh-CN" altLang="en-US" sz="2400" dirty="0"/>
          </a:p>
        </p:txBody>
      </p:sp>
      <p:sp>
        <p:nvSpPr>
          <p:cNvPr id="2" name="五角星 1">
            <a:extLst>
              <a:ext uri="{FF2B5EF4-FFF2-40B4-BE49-F238E27FC236}">
                <a16:creationId xmlns:a16="http://schemas.microsoft.com/office/drawing/2014/main" id="{A29BBFA9-8723-6832-BD6C-75D8C75FA521}"/>
              </a:ext>
            </a:extLst>
          </p:cNvPr>
          <p:cNvSpPr/>
          <p:nvPr/>
        </p:nvSpPr>
        <p:spPr>
          <a:xfrm>
            <a:off x="5364088" y="141523"/>
            <a:ext cx="685800" cy="703262"/>
          </a:xfrm>
          <a:prstGeom prst="star5">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b="1">
              <a:ln w="22225">
                <a:solidFill>
                  <a:schemeClr val="accent2"/>
                </a:solidFill>
                <a:prstDash val="solid"/>
              </a:ln>
              <a:solidFill>
                <a:schemeClr val="accent2">
                  <a:lumMod val="40000"/>
                  <a:lumOff val="60000"/>
                </a:schemeClr>
              </a:solidFill>
            </a:endParaRPr>
          </a:p>
        </p:txBody>
      </p:sp>
      <p:sp>
        <p:nvSpPr>
          <p:cNvPr id="9" name="五角星 8">
            <a:extLst>
              <a:ext uri="{FF2B5EF4-FFF2-40B4-BE49-F238E27FC236}">
                <a16:creationId xmlns:a16="http://schemas.microsoft.com/office/drawing/2014/main" id="{28B46785-C3A6-35F0-A688-8B9A2DDB505A}"/>
              </a:ext>
            </a:extLst>
          </p:cNvPr>
          <p:cNvSpPr/>
          <p:nvPr/>
        </p:nvSpPr>
        <p:spPr>
          <a:xfrm>
            <a:off x="624469" y="4849821"/>
            <a:ext cx="380032" cy="400110"/>
          </a:xfrm>
          <a:prstGeom prst="star5">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5016773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r>
              <a:rPr lang="en-US" altLang="zh-CN" dirty="0"/>
              <a:t>4.2.4 RTP</a:t>
            </a:r>
            <a:r>
              <a:rPr lang="zh-CN" altLang="en-US" dirty="0"/>
              <a:t>协议和</a:t>
            </a:r>
            <a:r>
              <a:rPr lang="en-US" altLang="zh-CN" dirty="0"/>
              <a:t>RTCP</a:t>
            </a:r>
            <a:r>
              <a:rPr lang="zh-CN" altLang="en-US" dirty="0"/>
              <a:t>协议</a:t>
            </a:r>
          </a:p>
        </p:txBody>
      </p:sp>
      <p:sp>
        <p:nvSpPr>
          <p:cNvPr id="31747" name="Rectangle 3"/>
          <p:cNvSpPr>
            <a:spLocks noGrp="1" noChangeArrowheads="1"/>
          </p:cNvSpPr>
          <p:nvPr>
            <p:ph idx="1"/>
          </p:nvPr>
        </p:nvSpPr>
        <p:spPr>
          <a:xfrm>
            <a:off x="255015" y="1196752"/>
            <a:ext cx="8229600" cy="4968552"/>
          </a:xfrm>
        </p:spPr>
        <p:txBody>
          <a:bodyPr/>
          <a:lstStyle/>
          <a:p>
            <a:r>
              <a:rPr lang="zh-CN" altLang="en-US" dirty="0"/>
              <a:t>实时传输协议</a:t>
            </a:r>
            <a:r>
              <a:rPr lang="en-US" altLang="zh-CN" dirty="0"/>
              <a:t>RTP</a:t>
            </a:r>
          </a:p>
          <a:p>
            <a:pPr lvl="1"/>
            <a:r>
              <a:rPr lang="en-US" altLang="zh-CN" dirty="0"/>
              <a:t>RTP</a:t>
            </a:r>
            <a:r>
              <a:rPr lang="zh-CN" altLang="en-US" dirty="0"/>
              <a:t>是为支持实时业务而设计的，是在点到点通信和多点广播网络上实时传输流媒体数据的实时传输协议。</a:t>
            </a:r>
            <a:r>
              <a:rPr lang="en-US" altLang="zh-CN" dirty="0"/>
              <a:t>RTP</a:t>
            </a:r>
            <a:r>
              <a:rPr lang="zh-CN" altLang="en-US" dirty="0"/>
              <a:t>为实时应用提供端到端的传输，但不提供任何服务质量的保证。  </a:t>
            </a:r>
          </a:p>
          <a:p>
            <a:r>
              <a:rPr lang="zh-CN" altLang="en-US" dirty="0"/>
              <a:t>实时传输控制协议</a:t>
            </a:r>
            <a:r>
              <a:rPr lang="en-US" altLang="zh-CN" dirty="0"/>
              <a:t>RTCP </a:t>
            </a:r>
          </a:p>
          <a:p>
            <a:pPr lvl="1"/>
            <a:r>
              <a:rPr lang="en-US" altLang="zh-CN" dirty="0"/>
              <a:t>RTCP</a:t>
            </a:r>
            <a:r>
              <a:rPr lang="zh-CN" altLang="en-US" dirty="0"/>
              <a:t>是与</a:t>
            </a:r>
            <a:r>
              <a:rPr lang="en-US" altLang="zh-CN" dirty="0"/>
              <a:t>RTP</a:t>
            </a:r>
            <a:r>
              <a:rPr lang="zh-CN" altLang="en-US" dirty="0"/>
              <a:t>配合使用的协议，也是</a:t>
            </a:r>
            <a:r>
              <a:rPr lang="en-US" altLang="zh-CN" dirty="0"/>
              <a:t>RTP</a:t>
            </a:r>
            <a:r>
              <a:rPr lang="zh-CN" altLang="en-US" dirty="0"/>
              <a:t>协议不可分割的部分，它们一起提供流量控制和拥塞控制服务。</a:t>
            </a:r>
          </a:p>
        </p:txBody>
      </p:sp>
    </p:spTree>
    <p:extLst>
      <p:ext uri="{BB962C8B-B14F-4D97-AF65-F5344CB8AC3E}">
        <p14:creationId xmlns:p14="http://schemas.microsoft.com/office/powerpoint/2010/main" val="330032517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18"/>
          <p:cNvSpPr>
            <a:spLocks noGrp="1"/>
          </p:cNvSpPr>
          <p:nvPr>
            <p:ph type="sldNum" sz="quarter" idx="4294967295"/>
          </p:nvPr>
        </p:nvSpPr>
        <p:spPr>
          <a:xfrm>
            <a:off x="6553200" y="6248400"/>
            <a:ext cx="1905000" cy="457200"/>
          </a:xfrm>
          <a:prstGeom prst="rect">
            <a:avLst/>
          </a:prstGeom>
        </p:spPr>
        <p:txBody>
          <a:bodyPr/>
          <a:lstStyle/>
          <a:p>
            <a:fld id="{7979FEA5-4925-4B79-BB3B-34585AD326CF}" type="slidenum">
              <a:rPr lang="zh-CN" altLang="en-US"/>
              <a:pPr/>
              <a:t>130</a:t>
            </a:fld>
            <a:endParaRPr lang="en-US" altLang="zh-CN"/>
          </a:p>
        </p:txBody>
      </p:sp>
      <p:sp>
        <p:nvSpPr>
          <p:cNvPr id="727042" name="Rectangle 2"/>
          <p:cNvSpPr>
            <a:spLocks noGrp="1" noChangeArrowheads="1"/>
          </p:cNvSpPr>
          <p:nvPr>
            <p:ph type="title"/>
          </p:nvPr>
        </p:nvSpPr>
        <p:spPr/>
        <p:txBody>
          <a:bodyPr>
            <a:normAutofit fontScale="90000"/>
          </a:bodyPr>
          <a:lstStyle/>
          <a:p>
            <a:r>
              <a:rPr lang="en-US" altLang="zh-CN" dirty="0"/>
              <a:t>4.2.4 </a:t>
            </a:r>
            <a:r>
              <a:rPr lang="zh-CN" altLang="en-US" dirty="0">
                <a:ea typeface="楷体_GB2312" pitchFamily="49" charset="-122"/>
              </a:rPr>
              <a:t>实时传输协议</a:t>
            </a:r>
            <a:r>
              <a:rPr lang="en-US" altLang="zh-CN" dirty="0">
                <a:ea typeface="楷体_GB2312" pitchFamily="49" charset="-122"/>
              </a:rPr>
              <a:t>RTP</a:t>
            </a:r>
          </a:p>
        </p:txBody>
      </p:sp>
      <p:sp>
        <p:nvSpPr>
          <p:cNvPr id="727043" name="Rectangle 3"/>
          <p:cNvSpPr>
            <a:spLocks noGrp="1" noChangeArrowheads="1"/>
          </p:cNvSpPr>
          <p:nvPr>
            <p:ph type="body" idx="1"/>
          </p:nvPr>
        </p:nvSpPr>
        <p:spPr>
          <a:xfrm>
            <a:off x="395536" y="1412776"/>
            <a:ext cx="7772400" cy="1905000"/>
          </a:xfrm>
        </p:spPr>
        <p:txBody>
          <a:bodyPr/>
          <a:lstStyle/>
          <a:p>
            <a:r>
              <a:rPr lang="en-US" altLang="zh-CN" sz="2800" dirty="0">
                <a:ea typeface="楷体_GB2312" pitchFamily="49" charset="-122"/>
              </a:rPr>
              <a:t>RTP</a:t>
            </a:r>
            <a:r>
              <a:rPr lang="zh-CN" altLang="en-US" sz="2800" dirty="0">
                <a:ea typeface="楷体_GB2312" pitchFamily="49" charset="-122"/>
              </a:rPr>
              <a:t>是一种提供端对端传输服务的实时传输协议，用来支持在单目标广播和多目标广播网络服务中传输实时数据，而实时数据的传输则由</a:t>
            </a:r>
            <a:r>
              <a:rPr lang="en-US" altLang="zh-CN" sz="2800" dirty="0">
                <a:ea typeface="楷体_GB2312" pitchFamily="49" charset="-122"/>
              </a:rPr>
              <a:t>RTCP</a:t>
            </a:r>
            <a:r>
              <a:rPr lang="zh-CN" altLang="en-US" sz="2800" dirty="0">
                <a:ea typeface="楷体_GB2312" pitchFamily="49" charset="-122"/>
              </a:rPr>
              <a:t>协议来监视和控制。</a:t>
            </a:r>
            <a:endParaRPr lang="zh-CN" altLang="en-US" dirty="0">
              <a:ea typeface="楷体_GB2312" pitchFamily="49" charset="-122"/>
            </a:endParaRPr>
          </a:p>
        </p:txBody>
      </p:sp>
      <p:graphicFrame>
        <p:nvGraphicFramePr>
          <p:cNvPr id="727064" name="Group 24"/>
          <p:cNvGraphicFramePr>
            <a:graphicFrameLocks noGrp="1"/>
          </p:cNvGraphicFramePr>
          <p:nvPr/>
        </p:nvGraphicFramePr>
        <p:xfrm>
          <a:off x="762000" y="3886200"/>
          <a:ext cx="7620000" cy="22860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2286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Payload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Type</a:t>
                      </a: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a:t>
                      </a: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有效载荷类型)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Sequence Number</a:t>
                      </a: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a:t>
                      </a: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顺序号)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Timestamp</a:t>
                      </a: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a:t>
                      </a: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时间戳)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Synchronization Source Identifier</a:t>
                      </a: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a:t>
                      </a: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同步源标识符)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Miscellaneous Fields</a:t>
                      </a:r>
                      <a:b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br>
                      <a:r>
                        <a:rPr kumimoji="0" lang="en-US" altLang="zh-CN" sz="2400" b="0" i="0" u="none" strike="noStrike" cap="none" normalizeH="0" baseline="0">
                          <a:ln>
                            <a:noFill/>
                          </a:ln>
                          <a:solidFill>
                            <a:schemeClr val="tx1"/>
                          </a:solidFill>
                          <a:effectLst/>
                          <a:latin typeface="Times New Roman" pitchFamily="18" charset="0"/>
                          <a:ea typeface="楷体_GB2312" pitchFamily="49" charset="-122"/>
                        </a:rPr>
                        <a:t>(</a:t>
                      </a:r>
                      <a:r>
                        <a:rPr kumimoji="0" lang="zh-CN" altLang="en-US" sz="2400" b="0" i="0" u="none" strike="noStrike" cap="none" normalizeH="0" baseline="0">
                          <a:ln>
                            <a:noFill/>
                          </a:ln>
                          <a:solidFill>
                            <a:schemeClr val="tx1"/>
                          </a:solidFill>
                          <a:effectLst/>
                          <a:latin typeface="Times New Roman" pitchFamily="18" charset="0"/>
                          <a:ea typeface="楷体_GB2312" pitchFamily="49" charset="-122"/>
                        </a:rPr>
                        <a:t>其他)</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248476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1905000" cy="457200"/>
          </a:xfrm>
          <a:prstGeom prst="rect">
            <a:avLst/>
          </a:prstGeom>
        </p:spPr>
        <p:txBody>
          <a:bodyPr/>
          <a:lstStyle/>
          <a:p>
            <a:fld id="{41B85DEA-DD05-41C2-957E-F4777A93F77F}" type="slidenum">
              <a:rPr lang="zh-CN" altLang="en-US"/>
              <a:pPr/>
              <a:t>131</a:t>
            </a:fld>
            <a:endParaRPr lang="en-US" altLang="zh-CN"/>
          </a:p>
        </p:txBody>
      </p:sp>
      <p:sp>
        <p:nvSpPr>
          <p:cNvPr id="728066" name="Rectangle 2"/>
          <p:cNvSpPr>
            <a:spLocks noGrp="1" noChangeArrowheads="1"/>
          </p:cNvSpPr>
          <p:nvPr>
            <p:ph type="title"/>
          </p:nvPr>
        </p:nvSpPr>
        <p:spPr/>
        <p:txBody>
          <a:bodyPr>
            <a:normAutofit fontScale="90000"/>
          </a:bodyPr>
          <a:lstStyle/>
          <a:p>
            <a:r>
              <a:rPr lang="en-US" altLang="zh-CN" dirty="0"/>
              <a:t>4.2.4 </a:t>
            </a:r>
            <a:r>
              <a:rPr lang="zh-CN" altLang="en-US" dirty="0"/>
              <a:t>实时传输控制协议</a:t>
            </a:r>
            <a:r>
              <a:rPr lang="en-US" altLang="zh-CN" dirty="0"/>
              <a:t>RTCP</a:t>
            </a:r>
          </a:p>
        </p:txBody>
      </p:sp>
      <p:sp>
        <p:nvSpPr>
          <p:cNvPr id="728067" name="Rectangle 3"/>
          <p:cNvSpPr>
            <a:spLocks noGrp="1" noChangeArrowheads="1"/>
          </p:cNvSpPr>
          <p:nvPr>
            <p:ph type="body" idx="1"/>
          </p:nvPr>
        </p:nvSpPr>
        <p:spPr>
          <a:xfrm>
            <a:off x="275956" y="908048"/>
            <a:ext cx="8610465" cy="5444440"/>
          </a:xfrm>
        </p:spPr>
        <p:txBody>
          <a:bodyPr>
            <a:normAutofit/>
          </a:bodyPr>
          <a:lstStyle/>
          <a:p>
            <a:pPr>
              <a:lnSpc>
                <a:spcPct val="130000"/>
              </a:lnSpc>
            </a:pPr>
            <a:r>
              <a:rPr lang="en-US" altLang="zh-CN" sz="2800" dirty="0">
                <a:ea typeface="楷体_GB2312" pitchFamily="49" charset="-122"/>
              </a:rPr>
              <a:t>RTP</a:t>
            </a:r>
            <a:r>
              <a:rPr lang="zh-CN" altLang="en-US" sz="2800" dirty="0">
                <a:ea typeface="楷体_GB2312" pitchFamily="49" charset="-122"/>
              </a:rPr>
              <a:t>被定义为在一对一或一对多的传输情况下工作，其目的是提供时间信息和实现流同步。</a:t>
            </a:r>
            <a:r>
              <a:rPr lang="en-US" altLang="zh-CN" sz="2800" dirty="0">
                <a:ea typeface="楷体_GB2312" pitchFamily="49" charset="-122"/>
              </a:rPr>
              <a:t>RTP</a:t>
            </a:r>
            <a:r>
              <a:rPr lang="zh-CN" altLang="en-US" sz="2800" dirty="0">
                <a:ea typeface="楷体_GB2312" pitchFamily="49" charset="-122"/>
              </a:rPr>
              <a:t>通常使用</a:t>
            </a:r>
            <a:r>
              <a:rPr lang="en-US" altLang="zh-CN" sz="2800" dirty="0">
                <a:ea typeface="楷体_GB2312" pitchFamily="49" charset="-122"/>
              </a:rPr>
              <a:t>UDP</a:t>
            </a:r>
            <a:r>
              <a:rPr lang="zh-CN" altLang="en-US" sz="2800" dirty="0">
                <a:ea typeface="楷体_GB2312" pitchFamily="49" charset="-122"/>
              </a:rPr>
              <a:t>来传送数据，但</a:t>
            </a:r>
            <a:r>
              <a:rPr lang="en-US" altLang="zh-CN" sz="2800" dirty="0">
                <a:ea typeface="楷体_GB2312" pitchFamily="49" charset="-122"/>
              </a:rPr>
              <a:t>RTP</a:t>
            </a:r>
            <a:r>
              <a:rPr lang="zh-CN" altLang="en-US" sz="2800" dirty="0">
                <a:ea typeface="楷体_GB2312" pitchFamily="49" charset="-122"/>
              </a:rPr>
              <a:t>也可以在</a:t>
            </a:r>
            <a:r>
              <a:rPr lang="en-US" altLang="zh-CN" sz="2800" dirty="0">
                <a:ea typeface="楷体_GB2312" pitchFamily="49" charset="-122"/>
              </a:rPr>
              <a:t>TCP</a:t>
            </a:r>
            <a:r>
              <a:rPr lang="zh-CN" altLang="en-US" sz="2800" dirty="0">
                <a:ea typeface="楷体_GB2312" pitchFamily="49" charset="-122"/>
              </a:rPr>
              <a:t>等其他协议之上工作。</a:t>
            </a:r>
            <a:endParaRPr lang="en-US" altLang="zh-CN" sz="2800" dirty="0">
              <a:ea typeface="楷体_GB2312" pitchFamily="49" charset="-122"/>
            </a:endParaRPr>
          </a:p>
          <a:p>
            <a:pPr>
              <a:lnSpc>
                <a:spcPct val="130000"/>
              </a:lnSpc>
            </a:pPr>
            <a:r>
              <a:rPr lang="zh-CN" altLang="en-US" sz="2800" dirty="0">
                <a:ea typeface="楷体_GB2312" pitchFamily="49" charset="-122"/>
              </a:rPr>
              <a:t>当应用程序开始一个</a:t>
            </a:r>
            <a:r>
              <a:rPr lang="en-US" altLang="zh-CN" sz="2800" dirty="0">
                <a:ea typeface="楷体_GB2312" pitchFamily="49" charset="-122"/>
              </a:rPr>
              <a:t>RTP</a:t>
            </a:r>
            <a:r>
              <a:rPr lang="zh-CN" altLang="en-US" sz="2800" dirty="0">
                <a:ea typeface="楷体_GB2312" pitchFamily="49" charset="-122"/>
              </a:rPr>
              <a:t>会话时将使用两个端口：一个给</a:t>
            </a:r>
            <a:r>
              <a:rPr lang="en-US" altLang="zh-CN" sz="2800" dirty="0">
                <a:ea typeface="楷体_GB2312" pitchFamily="49" charset="-122"/>
              </a:rPr>
              <a:t>RTP，</a:t>
            </a:r>
            <a:r>
              <a:rPr lang="zh-CN" altLang="en-US" sz="2800" dirty="0">
                <a:ea typeface="楷体_GB2312" pitchFamily="49" charset="-122"/>
              </a:rPr>
              <a:t>一个给</a:t>
            </a:r>
            <a:r>
              <a:rPr lang="en-US" altLang="zh-CN" sz="2800" dirty="0">
                <a:ea typeface="楷体_GB2312" pitchFamily="49" charset="-122"/>
              </a:rPr>
              <a:t>RTCP。</a:t>
            </a:r>
          </a:p>
          <a:p>
            <a:pPr>
              <a:lnSpc>
                <a:spcPct val="130000"/>
              </a:lnSpc>
            </a:pPr>
            <a:r>
              <a:rPr lang="en-US" altLang="zh-CN" sz="2800" dirty="0">
                <a:ea typeface="楷体_GB2312" pitchFamily="49" charset="-122"/>
              </a:rPr>
              <a:t>RTP</a:t>
            </a:r>
            <a:r>
              <a:rPr lang="zh-CN" altLang="en-US" sz="2800" dirty="0">
                <a:ea typeface="楷体_GB2312" pitchFamily="49" charset="-122"/>
              </a:rPr>
              <a:t>本身并不能为按顺序传送数据包提供可靠的传送机制，也不提供流量控制或拥塞控制，它依靠</a:t>
            </a:r>
            <a:r>
              <a:rPr lang="en-US" altLang="zh-CN" sz="2800" dirty="0">
                <a:ea typeface="楷体_GB2312" pitchFamily="49" charset="-122"/>
              </a:rPr>
              <a:t>RTCP</a:t>
            </a:r>
            <a:r>
              <a:rPr lang="zh-CN" altLang="en-US" sz="2800" dirty="0">
                <a:ea typeface="楷体_GB2312" pitchFamily="49" charset="-122"/>
              </a:rPr>
              <a:t>提供这些服务。 </a:t>
            </a:r>
          </a:p>
        </p:txBody>
      </p:sp>
    </p:spTree>
    <p:extLst>
      <p:ext uri="{BB962C8B-B14F-4D97-AF65-F5344CB8AC3E}">
        <p14:creationId xmlns:p14="http://schemas.microsoft.com/office/powerpoint/2010/main" val="22564913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1905000" cy="457200"/>
          </a:xfrm>
          <a:prstGeom prst="rect">
            <a:avLst/>
          </a:prstGeom>
        </p:spPr>
        <p:txBody>
          <a:bodyPr/>
          <a:lstStyle/>
          <a:p>
            <a:fld id="{45DE43EC-9224-499B-8BC6-11FBEE023B01}" type="slidenum">
              <a:rPr lang="zh-CN" altLang="en-US"/>
              <a:pPr/>
              <a:t>132</a:t>
            </a:fld>
            <a:endParaRPr lang="en-US" altLang="zh-CN"/>
          </a:p>
        </p:txBody>
      </p:sp>
      <p:sp>
        <p:nvSpPr>
          <p:cNvPr id="729090" name="Rectangle 2"/>
          <p:cNvSpPr>
            <a:spLocks noGrp="1" noChangeArrowheads="1"/>
          </p:cNvSpPr>
          <p:nvPr>
            <p:ph type="title"/>
          </p:nvPr>
        </p:nvSpPr>
        <p:spPr/>
        <p:txBody>
          <a:bodyPr>
            <a:normAutofit fontScale="90000"/>
          </a:bodyPr>
          <a:lstStyle/>
          <a:p>
            <a:r>
              <a:rPr lang="en-US" altLang="zh-CN" dirty="0"/>
              <a:t>4.2.4 </a:t>
            </a:r>
            <a:r>
              <a:rPr lang="zh-CN" altLang="en-US" dirty="0"/>
              <a:t>实时传输控制协议</a:t>
            </a:r>
            <a:r>
              <a:rPr lang="en-US" altLang="zh-CN" dirty="0"/>
              <a:t>RTCP</a:t>
            </a:r>
          </a:p>
        </p:txBody>
      </p:sp>
      <p:sp>
        <p:nvSpPr>
          <p:cNvPr id="729091" name="Rectangle 3"/>
          <p:cNvSpPr>
            <a:spLocks noGrp="1" noChangeArrowheads="1"/>
          </p:cNvSpPr>
          <p:nvPr>
            <p:ph type="body" idx="1"/>
          </p:nvPr>
        </p:nvSpPr>
        <p:spPr>
          <a:xfrm>
            <a:off x="169169" y="1196752"/>
            <a:ext cx="8805662" cy="5797552"/>
          </a:xfrm>
        </p:spPr>
        <p:txBody>
          <a:bodyPr>
            <a:noAutofit/>
          </a:bodyPr>
          <a:lstStyle/>
          <a:p>
            <a:pPr>
              <a:lnSpc>
                <a:spcPct val="130000"/>
              </a:lnSpc>
            </a:pPr>
            <a:r>
              <a:rPr lang="en-US" altLang="zh-CN" sz="3000" dirty="0">
                <a:ea typeface="楷体_GB2312" pitchFamily="49" charset="-122"/>
              </a:rPr>
              <a:t>RTCP</a:t>
            </a:r>
            <a:r>
              <a:rPr lang="zh-CN" altLang="en-US" sz="3000" dirty="0">
                <a:ea typeface="楷体_GB2312" pitchFamily="49" charset="-122"/>
              </a:rPr>
              <a:t>的主要功能是为应用程序提供会话质量或者广播性能质量的信息。每个</a:t>
            </a:r>
            <a:r>
              <a:rPr lang="en-US" altLang="zh-CN" sz="3000" dirty="0">
                <a:ea typeface="楷体_GB2312" pitchFamily="49" charset="-122"/>
              </a:rPr>
              <a:t>RTCP</a:t>
            </a:r>
            <a:r>
              <a:rPr lang="zh-CN" altLang="en-US" sz="3000" dirty="0">
                <a:ea typeface="楷体_GB2312" pitchFamily="49" charset="-122"/>
              </a:rPr>
              <a:t>信息包不封装声音数据或者电视数据，而是封装发送端和/或者接收端的统计报表。</a:t>
            </a:r>
            <a:endParaRPr lang="en-US" altLang="zh-CN" sz="3000" dirty="0">
              <a:ea typeface="楷体_GB2312" pitchFamily="49" charset="-122"/>
            </a:endParaRPr>
          </a:p>
          <a:p>
            <a:pPr>
              <a:lnSpc>
                <a:spcPct val="130000"/>
              </a:lnSpc>
            </a:pPr>
            <a:r>
              <a:rPr lang="zh-CN" altLang="en-US" sz="3000" dirty="0">
                <a:ea typeface="楷体_GB2312" pitchFamily="49" charset="-122"/>
              </a:rPr>
              <a:t>这些信息包括发送的信息包数目、丢失的信息包数目和信息包的抖动等情况，这些反馈信息对发送端、接收端或者网络管理员都是很有用的。</a:t>
            </a:r>
          </a:p>
        </p:txBody>
      </p:sp>
    </p:spTree>
    <p:extLst>
      <p:ext uri="{BB962C8B-B14F-4D97-AF65-F5344CB8AC3E}">
        <p14:creationId xmlns:p14="http://schemas.microsoft.com/office/powerpoint/2010/main" val="18945325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1905000" cy="457200"/>
          </a:xfrm>
          <a:prstGeom prst="rect">
            <a:avLst/>
          </a:prstGeom>
        </p:spPr>
        <p:txBody>
          <a:bodyPr/>
          <a:lstStyle/>
          <a:p>
            <a:fld id="{45DE43EC-9224-499B-8BC6-11FBEE023B01}" type="slidenum">
              <a:rPr lang="zh-CN" altLang="en-US"/>
              <a:pPr/>
              <a:t>133</a:t>
            </a:fld>
            <a:endParaRPr lang="en-US" altLang="zh-CN"/>
          </a:p>
        </p:txBody>
      </p:sp>
      <p:sp>
        <p:nvSpPr>
          <p:cNvPr id="729090" name="Rectangle 2"/>
          <p:cNvSpPr>
            <a:spLocks noGrp="1" noChangeArrowheads="1"/>
          </p:cNvSpPr>
          <p:nvPr>
            <p:ph type="title"/>
          </p:nvPr>
        </p:nvSpPr>
        <p:spPr/>
        <p:txBody>
          <a:bodyPr>
            <a:normAutofit fontScale="90000"/>
          </a:bodyPr>
          <a:lstStyle/>
          <a:p>
            <a:r>
              <a:rPr lang="en-US" altLang="zh-CN" dirty="0"/>
              <a:t>4.2.4 </a:t>
            </a:r>
            <a:r>
              <a:rPr lang="zh-CN" altLang="en-US" dirty="0"/>
              <a:t>实时传输控制协议</a:t>
            </a:r>
            <a:r>
              <a:rPr lang="en-US" altLang="zh-CN" dirty="0"/>
              <a:t>RTCP</a:t>
            </a:r>
          </a:p>
        </p:txBody>
      </p:sp>
      <p:sp>
        <p:nvSpPr>
          <p:cNvPr id="729091" name="Rectangle 3"/>
          <p:cNvSpPr>
            <a:spLocks noGrp="1" noChangeArrowheads="1"/>
          </p:cNvSpPr>
          <p:nvPr>
            <p:ph type="body" idx="1"/>
          </p:nvPr>
        </p:nvSpPr>
        <p:spPr>
          <a:xfrm>
            <a:off x="230834" y="908048"/>
            <a:ext cx="8805662" cy="792760"/>
          </a:xfrm>
        </p:spPr>
        <p:txBody>
          <a:bodyPr>
            <a:noAutofit/>
          </a:bodyPr>
          <a:lstStyle/>
          <a:p>
            <a:pPr>
              <a:lnSpc>
                <a:spcPct val="130000"/>
              </a:lnSpc>
            </a:pPr>
            <a:r>
              <a:rPr lang="zh-CN" altLang="en-US" sz="3000" dirty="0">
                <a:ea typeface="楷体_GB2312" pitchFamily="49" charset="-122"/>
              </a:rPr>
              <a:t>三个协议的联系</a:t>
            </a:r>
          </a:p>
        </p:txBody>
      </p:sp>
      <p:pic>
        <p:nvPicPr>
          <p:cNvPr id="2" name="图片 1">
            <a:extLst>
              <a:ext uri="{FF2B5EF4-FFF2-40B4-BE49-F238E27FC236}">
                <a16:creationId xmlns:a16="http://schemas.microsoft.com/office/drawing/2014/main" id="{E6481EAF-76A8-4A31-B2C3-44609DE4154E}"/>
              </a:ext>
            </a:extLst>
          </p:cNvPr>
          <p:cNvPicPr>
            <a:picLocks noChangeAspect="1"/>
          </p:cNvPicPr>
          <p:nvPr/>
        </p:nvPicPr>
        <p:blipFill>
          <a:blip r:embed="rId2"/>
          <a:stretch>
            <a:fillRect/>
          </a:stretch>
        </p:blipFill>
        <p:spPr>
          <a:xfrm>
            <a:off x="1518005" y="1610835"/>
            <a:ext cx="5695238" cy="4257143"/>
          </a:xfrm>
          <a:prstGeom prst="rect">
            <a:avLst/>
          </a:prstGeom>
        </p:spPr>
      </p:pic>
      <p:sp>
        <p:nvSpPr>
          <p:cNvPr id="3" name="对话气泡: 矩形 2">
            <a:extLst>
              <a:ext uri="{FF2B5EF4-FFF2-40B4-BE49-F238E27FC236}">
                <a16:creationId xmlns:a16="http://schemas.microsoft.com/office/drawing/2014/main" id="{3516581A-F18A-4B82-8AFB-11C17BE492D9}"/>
              </a:ext>
            </a:extLst>
          </p:cNvPr>
          <p:cNvSpPr/>
          <p:nvPr/>
        </p:nvSpPr>
        <p:spPr>
          <a:xfrm>
            <a:off x="365181" y="4964341"/>
            <a:ext cx="1152824" cy="565648"/>
          </a:xfrm>
          <a:prstGeom prst="wedgeRectCallout">
            <a:avLst>
              <a:gd name="adj1" fmla="val 55457"/>
              <a:gd name="adj2" fmla="val 729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RTSP</a:t>
            </a:r>
            <a:endParaRPr lang="zh-CN" altLang="en-US" dirty="0"/>
          </a:p>
        </p:txBody>
      </p:sp>
      <p:sp>
        <p:nvSpPr>
          <p:cNvPr id="7" name="对话气泡: 矩形 6">
            <a:extLst>
              <a:ext uri="{FF2B5EF4-FFF2-40B4-BE49-F238E27FC236}">
                <a16:creationId xmlns:a16="http://schemas.microsoft.com/office/drawing/2014/main" id="{EC169105-9A91-4971-92FB-228EE9FD1799}"/>
              </a:ext>
            </a:extLst>
          </p:cNvPr>
          <p:cNvSpPr/>
          <p:nvPr/>
        </p:nvSpPr>
        <p:spPr>
          <a:xfrm>
            <a:off x="230834" y="2304296"/>
            <a:ext cx="1219998" cy="565648"/>
          </a:xfrm>
          <a:prstGeom prst="wedgeRectCallout">
            <a:avLst>
              <a:gd name="adj1" fmla="val 87738"/>
              <a:gd name="adj2" fmla="val 955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内容：</a:t>
            </a:r>
            <a:r>
              <a:rPr lang="en-US" altLang="zh-CN" dirty="0"/>
              <a:t>RTP</a:t>
            </a:r>
            <a:endParaRPr lang="zh-CN" altLang="en-US" dirty="0"/>
          </a:p>
        </p:txBody>
      </p:sp>
      <p:sp>
        <p:nvSpPr>
          <p:cNvPr id="8" name="对话气泡: 矩形 7">
            <a:extLst>
              <a:ext uri="{FF2B5EF4-FFF2-40B4-BE49-F238E27FC236}">
                <a16:creationId xmlns:a16="http://schemas.microsoft.com/office/drawing/2014/main" id="{5554BA79-1CF0-4B93-89B9-C3629C3F3A24}"/>
              </a:ext>
            </a:extLst>
          </p:cNvPr>
          <p:cNvSpPr/>
          <p:nvPr/>
        </p:nvSpPr>
        <p:spPr>
          <a:xfrm>
            <a:off x="230834" y="3605933"/>
            <a:ext cx="1219998" cy="565648"/>
          </a:xfrm>
          <a:prstGeom prst="wedgeRectCallout">
            <a:avLst>
              <a:gd name="adj1" fmla="val 87738"/>
              <a:gd name="adj2" fmla="val 955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其他参数：</a:t>
            </a:r>
            <a:r>
              <a:rPr lang="en-US" altLang="zh-CN" dirty="0"/>
              <a:t>RTCP</a:t>
            </a:r>
            <a:endParaRPr lang="zh-CN" altLang="en-US" dirty="0"/>
          </a:p>
        </p:txBody>
      </p:sp>
      <p:sp>
        <p:nvSpPr>
          <p:cNvPr id="4" name="文本框 3">
            <a:extLst>
              <a:ext uri="{FF2B5EF4-FFF2-40B4-BE49-F238E27FC236}">
                <a16:creationId xmlns:a16="http://schemas.microsoft.com/office/drawing/2014/main" id="{87014A1F-C7DB-3DB3-F16C-9963560DDFF5}"/>
              </a:ext>
            </a:extLst>
          </p:cNvPr>
          <p:cNvSpPr txBox="1"/>
          <p:nvPr/>
        </p:nvSpPr>
        <p:spPr>
          <a:xfrm>
            <a:off x="365181" y="5953417"/>
            <a:ext cx="7470507" cy="369332"/>
          </a:xfrm>
          <a:prstGeom prst="rect">
            <a:avLst/>
          </a:prstGeom>
          <a:noFill/>
        </p:spPr>
        <p:txBody>
          <a:bodyPr wrap="none" rtlCol="0">
            <a:spAutoFit/>
          </a:bodyPr>
          <a:lstStyle/>
          <a:p>
            <a:r>
              <a:rPr kumimoji="1" lang="en" altLang="zh-CN" b="1" dirty="0"/>
              <a:t>RTP</a:t>
            </a:r>
            <a:r>
              <a:rPr kumimoji="1" lang="zh-CN" altLang="en-US" b="1" dirty="0"/>
              <a:t>负责实际的实时数据传输，而</a:t>
            </a:r>
            <a:r>
              <a:rPr kumimoji="1" lang="en" altLang="zh-CN" b="1" dirty="0"/>
              <a:t>RTSP</a:t>
            </a:r>
            <a:r>
              <a:rPr kumimoji="1" lang="zh-CN" altLang="en-US" b="1" dirty="0"/>
              <a:t>负责控制，</a:t>
            </a:r>
            <a:r>
              <a:rPr kumimoji="1" lang="en" altLang="zh-CN" b="1" dirty="0"/>
              <a:t>RTCP</a:t>
            </a:r>
            <a:r>
              <a:rPr kumimoji="1" lang="zh-CN" altLang="en-US" b="1" dirty="0"/>
              <a:t>提供传输质量反馈</a:t>
            </a:r>
          </a:p>
        </p:txBody>
      </p:sp>
    </p:spTree>
    <p:extLst>
      <p:ext uri="{BB962C8B-B14F-4D97-AF65-F5344CB8AC3E}">
        <p14:creationId xmlns:p14="http://schemas.microsoft.com/office/powerpoint/2010/main" val="25345698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en-US" altLang="zh-CN" dirty="0"/>
              <a:t>4.2.4 RSTP</a:t>
            </a:r>
            <a:r>
              <a:rPr lang="zh-CN" altLang="en-US" dirty="0"/>
              <a:t>应用：</a:t>
            </a:r>
            <a:r>
              <a:rPr lang="en-US" altLang="zh-CN" dirty="0"/>
              <a:t>IP</a:t>
            </a:r>
            <a:r>
              <a:rPr lang="zh-CN" altLang="en-US" dirty="0"/>
              <a:t>电话</a:t>
            </a:r>
          </a:p>
        </p:txBody>
      </p:sp>
      <p:pic>
        <p:nvPicPr>
          <p:cNvPr id="115714" name="Picture 2" descr="File:Voip-typical.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1772816"/>
            <a:ext cx="4176464" cy="420430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03808" y="1124744"/>
            <a:ext cx="7724576" cy="954107"/>
          </a:xfrm>
          <a:prstGeom prst="rect">
            <a:avLst/>
          </a:prstGeom>
        </p:spPr>
        <p:txBody>
          <a:bodyPr wrap="square">
            <a:spAutoFit/>
          </a:bodyPr>
          <a:lstStyle/>
          <a:p>
            <a:r>
              <a:rPr lang="en-US" altLang="zh-CN" sz="2800" b="1" dirty="0"/>
              <a:t>IP</a:t>
            </a:r>
            <a:r>
              <a:rPr lang="zh-CN" altLang="en-US" sz="2800" b="1" dirty="0"/>
              <a:t>电话</a:t>
            </a:r>
            <a:r>
              <a:rPr lang="zh-CN" altLang="en-US" sz="2800" dirty="0"/>
              <a:t>（简称</a:t>
            </a:r>
            <a:r>
              <a:rPr lang="en-US" altLang="zh-CN" sz="2800" b="1" dirty="0"/>
              <a:t>VoIP</a:t>
            </a:r>
            <a:r>
              <a:rPr lang="zh-CN" altLang="en-US" sz="2800" dirty="0"/>
              <a:t>）是一种透过</a:t>
            </a:r>
            <a:r>
              <a:rPr lang="zh-CN" altLang="en-US" sz="2800" dirty="0">
                <a:hlinkClick r:id="rId3" tooltip="互联网"/>
              </a:rPr>
              <a:t>互联网</a:t>
            </a:r>
            <a:r>
              <a:rPr lang="zh-CN" altLang="en-US" sz="2800" dirty="0"/>
              <a:t>，来实现</a:t>
            </a:r>
            <a:r>
              <a:rPr lang="zh-CN" altLang="en-US" sz="2800" dirty="0">
                <a:hlinkClick r:id="rId4" tooltip="电话"/>
              </a:rPr>
              <a:t>电话</a:t>
            </a:r>
            <a:r>
              <a:rPr lang="zh-CN" altLang="en-US" sz="2800" dirty="0"/>
              <a:t>通讯的技术。</a:t>
            </a:r>
          </a:p>
        </p:txBody>
      </p:sp>
      <p:sp>
        <p:nvSpPr>
          <p:cNvPr id="5" name="矩形 4"/>
          <p:cNvSpPr/>
          <p:nvPr/>
        </p:nvSpPr>
        <p:spPr>
          <a:xfrm>
            <a:off x="320147" y="2432405"/>
            <a:ext cx="3243741" cy="2677656"/>
          </a:xfrm>
          <a:prstGeom prst="rect">
            <a:avLst/>
          </a:prstGeom>
        </p:spPr>
        <p:txBody>
          <a:bodyPr wrap="square">
            <a:spAutoFit/>
          </a:bodyPr>
          <a:lstStyle/>
          <a:p>
            <a:r>
              <a:rPr lang="zh-CN" altLang="en-US" sz="2800" dirty="0"/>
              <a:t>原理：语音信号经过数字化处理、压缩编码打包、透过网络传输、然后解压、把数字信号还原成声音</a:t>
            </a:r>
          </a:p>
        </p:txBody>
      </p:sp>
    </p:spTree>
    <p:extLst>
      <p:ext uri="{BB962C8B-B14F-4D97-AF65-F5344CB8AC3E}">
        <p14:creationId xmlns:p14="http://schemas.microsoft.com/office/powerpoint/2010/main" val="244879995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US" altLang="zh-CN" dirty="0"/>
              <a:t>4.2.5 MMS</a:t>
            </a:r>
            <a:r>
              <a:rPr lang="zh-CN" altLang="en-US" dirty="0"/>
              <a:t>协议</a:t>
            </a:r>
          </a:p>
        </p:txBody>
      </p:sp>
      <p:sp>
        <p:nvSpPr>
          <p:cNvPr id="33795" name="Rectangle 3"/>
          <p:cNvSpPr>
            <a:spLocks noGrp="1" noChangeArrowheads="1"/>
          </p:cNvSpPr>
          <p:nvPr>
            <p:ph idx="1"/>
          </p:nvPr>
        </p:nvSpPr>
        <p:spPr>
          <a:xfrm>
            <a:off x="179512" y="1196752"/>
            <a:ext cx="8352928" cy="4392488"/>
          </a:xfrm>
        </p:spPr>
        <p:txBody>
          <a:bodyPr/>
          <a:lstStyle/>
          <a:p>
            <a:pPr lvl="1">
              <a:spcAft>
                <a:spcPts val="600"/>
              </a:spcAft>
            </a:pPr>
            <a:r>
              <a:rPr lang="en-US" altLang="zh-CN" dirty="0">
                <a:solidFill>
                  <a:srgbClr val="0000FF"/>
                </a:solidFill>
              </a:rPr>
              <a:t>MMS</a:t>
            </a:r>
            <a:r>
              <a:rPr lang="zh-CN" altLang="en-US" dirty="0">
                <a:solidFill>
                  <a:srgbClr val="0000FF"/>
                </a:solidFill>
              </a:rPr>
              <a:t>是一种用来访问并流式接收</a:t>
            </a:r>
            <a:r>
              <a:rPr lang="en-US" altLang="zh-CN" dirty="0">
                <a:solidFill>
                  <a:srgbClr val="0000FF"/>
                </a:solidFill>
              </a:rPr>
              <a:t>Windows Media</a:t>
            </a:r>
            <a:r>
              <a:rPr lang="zh-CN" altLang="en-US" dirty="0">
                <a:solidFill>
                  <a:srgbClr val="0000FF"/>
                </a:solidFill>
              </a:rPr>
              <a:t>服务器中</a:t>
            </a:r>
            <a:r>
              <a:rPr lang="en-US" altLang="zh-CN" dirty="0">
                <a:solidFill>
                  <a:srgbClr val="0000FF"/>
                </a:solidFill>
              </a:rPr>
              <a:t>.</a:t>
            </a:r>
            <a:r>
              <a:rPr lang="en-US" altLang="zh-CN" dirty="0" err="1">
                <a:solidFill>
                  <a:srgbClr val="0000FF"/>
                </a:solidFill>
              </a:rPr>
              <a:t>asf</a:t>
            </a:r>
            <a:r>
              <a:rPr lang="zh-CN" altLang="en-US" dirty="0">
                <a:solidFill>
                  <a:srgbClr val="0000FF"/>
                </a:solidFill>
              </a:rPr>
              <a:t>文件的一种流媒体传送协议，也是连接</a:t>
            </a:r>
            <a:r>
              <a:rPr lang="en-US" altLang="zh-CN" dirty="0">
                <a:solidFill>
                  <a:srgbClr val="0000FF"/>
                </a:solidFill>
              </a:rPr>
              <a:t>Windows Media</a:t>
            </a:r>
            <a:r>
              <a:rPr lang="zh-CN" altLang="en-US" dirty="0">
                <a:solidFill>
                  <a:srgbClr val="0000FF"/>
                </a:solidFill>
              </a:rPr>
              <a:t>单播服务的默认方法。</a:t>
            </a:r>
          </a:p>
          <a:p>
            <a:pPr lvl="1">
              <a:spcAft>
                <a:spcPts val="600"/>
              </a:spcAft>
            </a:pPr>
            <a:r>
              <a:rPr lang="zh-CN" altLang="en-US" dirty="0">
                <a:solidFill>
                  <a:srgbClr val="0000FF"/>
                </a:solidFill>
              </a:rPr>
              <a:t>若用户在</a:t>
            </a:r>
            <a:r>
              <a:rPr lang="en-US" altLang="zh-CN" dirty="0">
                <a:solidFill>
                  <a:srgbClr val="0000FF"/>
                </a:solidFill>
              </a:rPr>
              <a:t>Windows Media Player</a:t>
            </a:r>
            <a:r>
              <a:rPr lang="zh-CN" altLang="en-US" dirty="0">
                <a:solidFill>
                  <a:srgbClr val="0000FF"/>
                </a:solidFill>
              </a:rPr>
              <a:t>中键入一个</a:t>
            </a:r>
            <a:r>
              <a:rPr lang="en-US" altLang="zh-CN" dirty="0">
                <a:solidFill>
                  <a:srgbClr val="0000FF"/>
                </a:solidFill>
              </a:rPr>
              <a:t>URL</a:t>
            </a:r>
            <a:r>
              <a:rPr lang="zh-CN" altLang="en-US" dirty="0">
                <a:solidFill>
                  <a:srgbClr val="0000FF"/>
                </a:solidFill>
              </a:rPr>
              <a:t>来访问多媒体信息，而不是通过超级链接访问，就必须使用</a:t>
            </a:r>
            <a:r>
              <a:rPr lang="en-US" altLang="zh-CN" dirty="0">
                <a:solidFill>
                  <a:srgbClr val="0000FF"/>
                </a:solidFill>
              </a:rPr>
              <a:t>MMS</a:t>
            </a:r>
            <a:r>
              <a:rPr lang="zh-CN" altLang="en-US" dirty="0">
                <a:solidFill>
                  <a:srgbClr val="0000FF"/>
                </a:solidFill>
              </a:rPr>
              <a:t>协议引用该流。现在除了</a:t>
            </a:r>
            <a:r>
              <a:rPr lang="en-US" altLang="zh-CN" dirty="0">
                <a:solidFill>
                  <a:srgbClr val="0000FF"/>
                </a:solidFill>
              </a:rPr>
              <a:t>Windows Media</a:t>
            </a:r>
            <a:r>
              <a:rPr lang="zh-CN" altLang="en-US" dirty="0">
                <a:solidFill>
                  <a:srgbClr val="0000FF"/>
                </a:solidFill>
              </a:rPr>
              <a:t>外，其他的一些播放器也支持该协议，用户可以通过这些播放器很方便地收看网络电视、收听在线广播等。</a:t>
            </a:r>
          </a:p>
        </p:txBody>
      </p:sp>
    </p:spTree>
    <p:extLst>
      <p:ext uri="{BB962C8B-B14F-4D97-AF65-F5344CB8AC3E}">
        <p14:creationId xmlns:p14="http://schemas.microsoft.com/office/powerpoint/2010/main" val="154875416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chemeClr val="bg1">
                    <a:lumMod val="85000"/>
                  </a:schemeClr>
                </a:solidFill>
              </a:rPr>
              <a:t>互联网基础</a:t>
            </a:r>
            <a:endParaRPr lang="en-US" altLang="zh-CN" dirty="0">
              <a:solidFill>
                <a:schemeClr val="bg1">
                  <a:lumMod val="85000"/>
                </a:schemeClr>
              </a:solidFill>
            </a:endParaRPr>
          </a:p>
          <a:p>
            <a:pPr lvl="1"/>
            <a:r>
              <a:rPr lang="en-US" altLang="zh-CN" dirty="0">
                <a:solidFill>
                  <a:schemeClr val="bg1">
                    <a:lumMod val="85000"/>
                  </a:schemeClr>
                </a:solidFill>
              </a:rPr>
              <a:t>ISO-OSI</a:t>
            </a:r>
            <a:r>
              <a:rPr lang="zh-CN" altLang="en-US" dirty="0">
                <a:solidFill>
                  <a:schemeClr val="bg1">
                    <a:lumMod val="85000"/>
                  </a:schemeClr>
                </a:solidFill>
              </a:rPr>
              <a:t>模型</a:t>
            </a:r>
            <a:endParaRPr lang="en-US" altLang="zh-CN" dirty="0">
              <a:solidFill>
                <a:schemeClr val="bg1">
                  <a:lumMod val="85000"/>
                </a:schemeClr>
              </a:solidFill>
            </a:endParaRPr>
          </a:p>
          <a:p>
            <a:r>
              <a:rPr lang="zh-CN" altLang="en-US" dirty="0">
                <a:solidFill>
                  <a:schemeClr val="bg1">
                    <a:lumMod val="85000"/>
                  </a:schemeClr>
                </a:solidFill>
              </a:rPr>
              <a:t>多媒体应用</a:t>
            </a:r>
            <a:endParaRPr lang="en-US" altLang="zh-CN" dirty="0">
              <a:solidFill>
                <a:schemeClr val="bg1">
                  <a:lumMod val="85000"/>
                </a:schemeClr>
              </a:solidFill>
            </a:endParaRPr>
          </a:p>
          <a:p>
            <a:pPr lvl="1"/>
            <a:r>
              <a:rPr lang="zh-CN" altLang="en-US" dirty="0">
                <a:solidFill>
                  <a:schemeClr val="bg1">
                    <a:lumMod val="85000"/>
                  </a:schemeClr>
                </a:solidFill>
              </a:rPr>
              <a:t>多媒体传输协议</a:t>
            </a:r>
            <a:endParaRPr lang="en-US" altLang="zh-CN" dirty="0">
              <a:solidFill>
                <a:schemeClr val="bg1">
                  <a:lumMod val="85000"/>
                </a:schemeClr>
              </a:solidFill>
            </a:endParaRPr>
          </a:p>
          <a:p>
            <a:pPr marL="342900" lvl="1" indent="-342900">
              <a:buFont typeface="Arial" pitchFamily="34" charset="0"/>
              <a:buChar char="•"/>
            </a:pPr>
            <a:r>
              <a:rPr lang="zh-CN" altLang="en-US" sz="3200" b="1" dirty="0">
                <a:solidFill>
                  <a:srgbClr val="0000FF"/>
                </a:solidFill>
              </a:rPr>
              <a:t>互联网新技术</a:t>
            </a:r>
            <a:endParaRPr lang="en-US" altLang="zh-CN" sz="3200" b="1" dirty="0">
              <a:solidFill>
                <a:srgbClr val="0000FF"/>
              </a:solidFill>
            </a:endParaRPr>
          </a:p>
          <a:p>
            <a:pPr lvl="1"/>
            <a:endParaRPr lang="en-US" altLang="zh-CN" dirty="0"/>
          </a:p>
          <a:p>
            <a:pPr marL="0" indent="0">
              <a:buNone/>
            </a:pPr>
            <a:endParaRPr lang="zh-CN" altLang="en-US" dirty="0"/>
          </a:p>
        </p:txBody>
      </p:sp>
      <p:sp>
        <p:nvSpPr>
          <p:cNvPr id="3" name="标题 2"/>
          <p:cNvSpPr>
            <a:spLocks noGrp="1"/>
          </p:cNvSpPr>
          <p:nvPr>
            <p:ph type="title"/>
          </p:nvPr>
        </p:nvSpPr>
        <p:spPr/>
        <p:txBody>
          <a:bodyPr>
            <a:normAutofit fontScale="90000"/>
          </a:bodyPr>
          <a:lstStyle/>
          <a:p>
            <a:r>
              <a:rPr lang="zh-CN" altLang="en-US" dirty="0"/>
              <a:t>多媒体通信与网络</a:t>
            </a:r>
          </a:p>
        </p:txBody>
      </p:sp>
    </p:spTree>
    <p:extLst>
      <p:ext uri="{BB962C8B-B14F-4D97-AF65-F5344CB8AC3E}">
        <p14:creationId xmlns:p14="http://schemas.microsoft.com/office/powerpoint/2010/main" val="315208190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60" y="1268760"/>
            <a:ext cx="7125297" cy="3312368"/>
          </a:xfrm>
        </p:spPr>
        <p:txBody>
          <a:bodyPr>
            <a:normAutofit/>
          </a:bodyPr>
          <a:lstStyle/>
          <a:p>
            <a:r>
              <a:rPr lang="en-US" altLang="zh-CN" sz="4000" b="0" dirty="0"/>
              <a:t>CDN</a:t>
            </a:r>
            <a:r>
              <a:rPr lang="zh-CN" altLang="en-US" sz="4000" b="0" dirty="0"/>
              <a:t>加速技术</a:t>
            </a:r>
            <a:endParaRPr lang="en-US" altLang="zh-CN" sz="4000" b="0" dirty="0"/>
          </a:p>
          <a:p>
            <a:r>
              <a:rPr lang="zh-CN" altLang="en-US" sz="4000" b="0" dirty="0"/>
              <a:t>网络爬虫</a:t>
            </a:r>
            <a:endParaRPr lang="en-US" altLang="zh-CN" sz="4000" b="0" dirty="0"/>
          </a:p>
          <a:p>
            <a:r>
              <a:rPr lang="zh-CN" altLang="en-US" sz="4000" b="0" dirty="0"/>
              <a:t>网站建设新技术</a:t>
            </a:r>
          </a:p>
        </p:txBody>
      </p:sp>
      <p:sp>
        <p:nvSpPr>
          <p:cNvPr id="3" name="标题 2"/>
          <p:cNvSpPr>
            <a:spLocks noGrp="1"/>
          </p:cNvSpPr>
          <p:nvPr>
            <p:ph type="title"/>
          </p:nvPr>
        </p:nvSpPr>
        <p:spPr/>
        <p:txBody>
          <a:bodyPr>
            <a:normAutofit fontScale="90000"/>
          </a:bodyPr>
          <a:lstStyle/>
          <a:p>
            <a:r>
              <a:rPr lang="en-US" altLang="zh-CN" dirty="0"/>
              <a:t>4.3 </a:t>
            </a:r>
            <a:r>
              <a:rPr lang="zh-CN" altLang="en-US" dirty="0"/>
              <a:t>互联网新技术</a:t>
            </a:r>
          </a:p>
        </p:txBody>
      </p:sp>
    </p:spTree>
    <p:extLst>
      <p:ext uri="{BB962C8B-B14F-4D97-AF65-F5344CB8AC3E}">
        <p14:creationId xmlns:p14="http://schemas.microsoft.com/office/powerpoint/2010/main" val="192969136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b="0" dirty="0"/>
              <a:t>CDN</a:t>
            </a:r>
            <a:r>
              <a:rPr lang="zh-CN" altLang="en-US" b="0" dirty="0"/>
              <a:t>的全称是</a:t>
            </a:r>
            <a:r>
              <a:rPr lang="en-US" altLang="zh-CN" b="0" dirty="0"/>
              <a:t>Content Distribution Network</a:t>
            </a:r>
            <a:r>
              <a:rPr lang="zh-CN" altLang="en-US" b="0" dirty="0"/>
              <a:t>，即内容分发网络。</a:t>
            </a:r>
            <a:endParaRPr lang="en-US" altLang="zh-CN" b="0" dirty="0"/>
          </a:p>
          <a:p>
            <a:r>
              <a:rPr lang="zh-CN" altLang="en-US" b="0" dirty="0"/>
              <a:t>通过在网络各处放置</a:t>
            </a:r>
            <a:r>
              <a:rPr lang="zh-CN" altLang="en-US" b="0" dirty="0">
                <a:hlinkClick r:id="rId3" action="ppaction://hlinkfile"/>
              </a:rPr>
              <a:t>节点服务器</a:t>
            </a:r>
            <a:r>
              <a:rPr lang="zh-CN" altLang="en-US" b="0" dirty="0"/>
              <a:t>所构成的在现有的互联网基础之上的一层智能</a:t>
            </a:r>
            <a:r>
              <a:rPr lang="zh-CN" altLang="en-US" b="0" dirty="0">
                <a:hlinkClick r:id="rId4" action="ppaction://hlinkfile"/>
              </a:rPr>
              <a:t>虚拟网络</a:t>
            </a:r>
            <a:r>
              <a:rPr lang="zh-CN" altLang="en-US" b="0" dirty="0"/>
              <a:t>。</a:t>
            </a:r>
            <a:endParaRPr lang="en-US" altLang="zh-CN" b="0" dirty="0"/>
          </a:p>
          <a:p>
            <a:r>
              <a:rPr lang="zh-CN" altLang="en-US" b="0" dirty="0"/>
              <a:t>目的是使用户可就近取得所需内容，解决 </a:t>
            </a:r>
            <a:r>
              <a:rPr lang="en-US" altLang="zh-CN" b="0" dirty="0"/>
              <a:t>Internet</a:t>
            </a:r>
            <a:r>
              <a:rPr lang="zh-CN" altLang="en-US" b="0" dirty="0">
                <a:hlinkClick r:id="rId5" action="ppaction://hlinkfile"/>
              </a:rPr>
              <a:t>网络拥挤</a:t>
            </a:r>
            <a:r>
              <a:rPr lang="zh-CN" altLang="en-US" b="0" dirty="0"/>
              <a:t>的状况，提高用户访问网站的响应速度。</a:t>
            </a:r>
            <a:endParaRPr lang="en-US" altLang="zh-CN" b="0" dirty="0"/>
          </a:p>
        </p:txBody>
      </p:sp>
      <p:sp>
        <p:nvSpPr>
          <p:cNvPr id="2" name="标题 1"/>
          <p:cNvSpPr>
            <a:spLocks noGrp="1"/>
          </p:cNvSpPr>
          <p:nvPr>
            <p:ph type="title"/>
          </p:nvPr>
        </p:nvSpPr>
        <p:spPr/>
        <p:txBody>
          <a:bodyPr>
            <a:normAutofit fontScale="90000"/>
          </a:bodyPr>
          <a:lstStyle/>
          <a:p>
            <a:pPr algn="l"/>
            <a:r>
              <a:rPr lang="en-US" altLang="zh-CN" dirty="0"/>
              <a:t>4.3.1 </a:t>
            </a:r>
            <a:r>
              <a:rPr lang="zh-CN" altLang="en-US" dirty="0"/>
              <a:t>互联网访问加速技术</a:t>
            </a:r>
            <a:r>
              <a:rPr lang="en-US" altLang="zh-CN" dirty="0"/>
              <a:t>- CDN</a:t>
            </a:r>
            <a:endParaRPr lang="zh-CN" altLang="en-US" dirty="0"/>
          </a:p>
        </p:txBody>
      </p:sp>
    </p:spTree>
    <p:extLst>
      <p:ext uri="{BB962C8B-B14F-4D97-AF65-F5344CB8AC3E}">
        <p14:creationId xmlns:p14="http://schemas.microsoft.com/office/powerpoint/2010/main" val="410503244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250824" y="204785"/>
            <a:ext cx="8229600" cy="703263"/>
          </a:xfrm>
        </p:spPr>
        <p:txBody>
          <a:bodyPr>
            <a:normAutofit fontScale="90000"/>
          </a:bodyPr>
          <a:lstStyle/>
          <a:p>
            <a:pPr algn="l"/>
            <a:r>
              <a:rPr lang="en-US" altLang="zh-CN" dirty="0"/>
              <a:t>4.3.1 </a:t>
            </a:r>
            <a:r>
              <a:rPr lang="zh-CN" altLang="en-US" dirty="0"/>
              <a:t>互联网访问加速技术</a:t>
            </a:r>
            <a:r>
              <a:rPr lang="en-US" altLang="zh-CN" dirty="0"/>
              <a:t>- CDN</a:t>
            </a:r>
            <a:endParaRPr lang="zh-CN" altLang="en-US" dirty="0"/>
          </a:p>
        </p:txBody>
      </p:sp>
      <p:sp>
        <p:nvSpPr>
          <p:cNvPr id="4" name="AutoShape 2" descr="Image result for server dns cd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 name="图片 7"/>
          <p:cNvPicPr>
            <a:picLocks noChangeAspect="1"/>
          </p:cNvPicPr>
          <p:nvPr/>
        </p:nvPicPr>
        <p:blipFill>
          <a:blip r:embed="rId2"/>
          <a:stretch>
            <a:fillRect/>
          </a:stretch>
        </p:blipFill>
        <p:spPr>
          <a:xfrm>
            <a:off x="539552" y="1628800"/>
            <a:ext cx="8382000" cy="4067175"/>
          </a:xfrm>
          <a:prstGeom prst="rect">
            <a:avLst/>
          </a:prstGeom>
        </p:spPr>
      </p:pic>
    </p:spTree>
    <p:extLst>
      <p:ext uri="{BB962C8B-B14F-4D97-AF65-F5344CB8AC3E}">
        <p14:creationId xmlns:p14="http://schemas.microsoft.com/office/powerpoint/2010/main" val="238080996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a:xfrm>
            <a:off x="3779912" y="2891448"/>
            <a:ext cx="1872208"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www.163.com</a:t>
            </a:r>
            <a:endParaRPr lang="zh-CN" altLang="en-US" dirty="0"/>
          </a:p>
        </p:txBody>
      </p:sp>
      <p:sp>
        <p:nvSpPr>
          <p:cNvPr id="13" name="圆角矩形 12"/>
          <p:cNvSpPr/>
          <p:nvPr/>
        </p:nvSpPr>
        <p:spPr>
          <a:xfrm>
            <a:off x="1043608" y="1124744"/>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2"/>
              </a:rPr>
              <a:t>www.163.lxdns.com</a:t>
            </a:r>
            <a:endParaRPr lang="en-US" altLang="zh-CN" dirty="0"/>
          </a:p>
          <a:p>
            <a:pPr algn="ctr"/>
            <a:r>
              <a:rPr lang="zh-CN" altLang="en-US" dirty="0"/>
              <a:t>北京</a:t>
            </a:r>
            <a:r>
              <a:rPr lang="en-US" altLang="zh-CN" dirty="0"/>
              <a:t>IP</a:t>
            </a:r>
            <a:r>
              <a:rPr lang="zh-CN" altLang="en-US" dirty="0"/>
              <a:t>（北京）</a:t>
            </a:r>
          </a:p>
        </p:txBody>
      </p:sp>
      <p:sp>
        <p:nvSpPr>
          <p:cNvPr id="14" name="圆角矩形 13"/>
          <p:cNvSpPr/>
          <p:nvPr/>
        </p:nvSpPr>
        <p:spPr>
          <a:xfrm>
            <a:off x="5940152" y="1196752"/>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2"/>
              </a:rPr>
              <a:t>www.163.lxdns.com</a:t>
            </a:r>
            <a:endParaRPr lang="en-US" altLang="zh-CN" dirty="0"/>
          </a:p>
          <a:p>
            <a:pPr algn="ctr"/>
            <a:r>
              <a:rPr lang="zh-CN" altLang="en-US" dirty="0"/>
              <a:t>杭州</a:t>
            </a:r>
            <a:r>
              <a:rPr lang="en-US" altLang="zh-CN" dirty="0"/>
              <a:t>IP</a:t>
            </a:r>
            <a:r>
              <a:rPr lang="zh-CN" altLang="en-US" dirty="0"/>
              <a:t>（杭州）</a:t>
            </a:r>
          </a:p>
        </p:txBody>
      </p:sp>
      <p:sp>
        <p:nvSpPr>
          <p:cNvPr id="15" name="圆角矩形 14"/>
          <p:cNvSpPr/>
          <p:nvPr/>
        </p:nvSpPr>
        <p:spPr>
          <a:xfrm>
            <a:off x="167190" y="2910960"/>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2"/>
              </a:rPr>
              <a:t>www.163.lxdns.com</a:t>
            </a:r>
            <a:endParaRPr lang="en-US" altLang="zh-CN" dirty="0"/>
          </a:p>
          <a:p>
            <a:pPr algn="ctr"/>
            <a:r>
              <a:rPr lang="zh-CN" altLang="en-US" dirty="0"/>
              <a:t>深圳</a:t>
            </a:r>
            <a:r>
              <a:rPr lang="en-US" altLang="zh-CN" dirty="0"/>
              <a:t>IP</a:t>
            </a:r>
            <a:r>
              <a:rPr lang="zh-CN" altLang="en-US" dirty="0"/>
              <a:t>（深圳）</a:t>
            </a:r>
          </a:p>
        </p:txBody>
      </p:sp>
      <p:sp>
        <p:nvSpPr>
          <p:cNvPr id="16" name="圆角矩形 15"/>
          <p:cNvSpPr/>
          <p:nvPr/>
        </p:nvSpPr>
        <p:spPr>
          <a:xfrm>
            <a:off x="6444208" y="2901204"/>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3"/>
              </a:rPr>
              <a:t>www.163.lxdns</a:t>
            </a:r>
            <a:r>
              <a:rPr lang="en-US" altLang="zh-CN" dirty="0"/>
              <a:t>.com</a:t>
            </a:r>
            <a:r>
              <a:rPr lang="zh-CN" altLang="en-US" dirty="0"/>
              <a:t>（武汉）</a:t>
            </a:r>
          </a:p>
        </p:txBody>
      </p:sp>
      <p:sp>
        <p:nvSpPr>
          <p:cNvPr id="17" name="圆角矩形 16"/>
          <p:cNvSpPr/>
          <p:nvPr/>
        </p:nvSpPr>
        <p:spPr>
          <a:xfrm>
            <a:off x="1187624" y="4869160"/>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2"/>
              </a:rPr>
              <a:t>www.163.lxdns.com</a:t>
            </a:r>
            <a:endParaRPr lang="en-US" altLang="zh-CN" dirty="0"/>
          </a:p>
          <a:p>
            <a:pPr algn="ctr"/>
            <a:r>
              <a:rPr lang="zh-CN" altLang="en-US" dirty="0"/>
              <a:t>厦门</a:t>
            </a:r>
            <a:r>
              <a:rPr lang="en-US" altLang="zh-CN" dirty="0"/>
              <a:t>IP</a:t>
            </a:r>
            <a:r>
              <a:rPr lang="zh-CN" altLang="en-US" dirty="0"/>
              <a:t>（厦门）</a:t>
            </a:r>
          </a:p>
        </p:txBody>
      </p:sp>
      <p:sp>
        <p:nvSpPr>
          <p:cNvPr id="18" name="圆角矩形 17"/>
          <p:cNvSpPr/>
          <p:nvPr/>
        </p:nvSpPr>
        <p:spPr>
          <a:xfrm>
            <a:off x="6156176" y="5013176"/>
            <a:ext cx="24311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hlinkClick r:id="rId2"/>
              </a:rPr>
              <a:t>www.163.lxdns.com</a:t>
            </a:r>
            <a:endParaRPr lang="en-US" altLang="zh-CN" dirty="0"/>
          </a:p>
          <a:p>
            <a:pPr algn="ctr"/>
            <a:r>
              <a:rPr lang="zh-CN" altLang="en-US" dirty="0"/>
              <a:t>青岛</a:t>
            </a:r>
            <a:r>
              <a:rPr lang="en-US" altLang="zh-CN" dirty="0"/>
              <a:t>IP</a:t>
            </a:r>
            <a:r>
              <a:rPr lang="zh-CN" altLang="en-US" dirty="0"/>
              <a:t>（青岛）</a:t>
            </a:r>
          </a:p>
        </p:txBody>
      </p:sp>
      <p:cxnSp>
        <p:nvCxnSpPr>
          <p:cNvPr id="20" name="直接连接符 19"/>
          <p:cNvCxnSpPr>
            <a:stCxn id="12" idx="0"/>
            <a:endCxn id="13" idx="2"/>
          </p:cNvCxnSpPr>
          <p:nvPr/>
        </p:nvCxnSpPr>
        <p:spPr>
          <a:xfrm flipH="1" flipV="1">
            <a:off x="2259158" y="2039144"/>
            <a:ext cx="2456858" cy="8523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2" idx="0"/>
            <a:endCxn id="14" idx="2"/>
          </p:cNvCxnSpPr>
          <p:nvPr/>
        </p:nvCxnSpPr>
        <p:spPr>
          <a:xfrm flipV="1">
            <a:off x="4716016" y="2111152"/>
            <a:ext cx="2439686" cy="780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2" idx="1"/>
            <a:endCxn id="15" idx="3"/>
          </p:cNvCxnSpPr>
          <p:nvPr/>
        </p:nvCxnSpPr>
        <p:spPr>
          <a:xfrm flipH="1">
            <a:off x="2598290" y="3348648"/>
            <a:ext cx="1181622" cy="195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2" idx="3"/>
            <a:endCxn id="16" idx="1"/>
          </p:cNvCxnSpPr>
          <p:nvPr/>
        </p:nvCxnSpPr>
        <p:spPr>
          <a:xfrm>
            <a:off x="5652120" y="3348648"/>
            <a:ext cx="792088" cy="9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2" idx="2"/>
            <a:endCxn id="17" idx="0"/>
          </p:cNvCxnSpPr>
          <p:nvPr/>
        </p:nvCxnSpPr>
        <p:spPr>
          <a:xfrm flipH="1">
            <a:off x="2403174" y="3805848"/>
            <a:ext cx="2312842" cy="1063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2" idx="2"/>
            <a:endCxn id="18" idx="0"/>
          </p:cNvCxnSpPr>
          <p:nvPr/>
        </p:nvCxnSpPr>
        <p:spPr>
          <a:xfrm>
            <a:off x="4716016" y="3805848"/>
            <a:ext cx="2655710" cy="12073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248457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923133"/>
            <a:ext cx="8229600" cy="703263"/>
          </a:xfrm>
        </p:spPr>
        <p:txBody>
          <a:bodyPr>
            <a:normAutofit/>
          </a:bodyPr>
          <a:lstStyle/>
          <a:p>
            <a:pPr algn="l"/>
            <a:r>
              <a:rPr lang="zh-CN" altLang="en-US" sz="3200" dirty="0"/>
              <a:t>厦门地区请求解析网易域名</a:t>
            </a:r>
          </a:p>
        </p:txBody>
      </p:sp>
      <p:pic>
        <p:nvPicPr>
          <p:cNvPr id="4" name="Picture 2" descr="C:\Users\Administrator\Downloads\厦门查询网易.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556792"/>
            <a:ext cx="6984776" cy="5070636"/>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4905216" y="3790176"/>
            <a:ext cx="2736304" cy="601464"/>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标题 1"/>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t>4.3.1 </a:t>
            </a:r>
            <a:r>
              <a:rPr lang="zh-CN" altLang="en-US"/>
              <a:t>互联网访问加速技术</a:t>
            </a:r>
            <a:r>
              <a:rPr lang="en-US" altLang="zh-CN"/>
              <a:t>- CDN</a:t>
            </a:r>
            <a:endParaRPr lang="zh-CN" altLang="en-US" dirty="0"/>
          </a:p>
        </p:txBody>
      </p:sp>
    </p:spTree>
    <p:extLst>
      <p:ext uri="{BB962C8B-B14F-4D97-AF65-F5344CB8AC3E}">
        <p14:creationId xmlns:p14="http://schemas.microsoft.com/office/powerpoint/2010/main" val="292787375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85" y="1124744"/>
            <a:ext cx="8229600" cy="703263"/>
          </a:xfrm>
        </p:spPr>
        <p:txBody>
          <a:bodyPr>
            <a:normAutofit/>
          </a:bodyPr>
          <a:lstStyle/>
          <a:p>
            <a:pPr algn="l"/>
            <a:r>
              <a:rPr lang="zh-CN" altLang="en-US" sz="3200" dirty="0"/>
              <a:t>上海地区请求解析网易域名</a:t>
            </a:r>
          </a:p>
        </p:txBody>
      </p:sp>
      <p:pic>
        <p:nvPicPr>
          <p:cNvPr id="11266" name="Picture 2" descr="C:\Users\Administrator\Downloads\上海查询网易.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988840"/>
            <a:ext cx="7274485" cy="4197821"/>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5220072" y="4869160"/>
            <a:ext cx="2736304" cy="300732"/>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标题 1"/>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t>4.3.1 </a:t>
            </a:r>
            <a:r>
              <a:rPr lang="zh-CN" altLang="en-US"/>
              <a:t>互联网访问加速技术</a:t>
            </a:r>
            <a:r>
              <a:rPr lang="en-US" altLang="zh-CN"/>
              <a:t>- CDN</a:t>
            </a:r>
            <a:endParaRPr lang="zh-CN" altLang="en-US" dirty="0"/>
          </a:p>
        </p:txBody>
      </p:sp>
    </p:spTree>
    <p:extLst>
      <p:ext uri="{BB962C8B-B14F-4D97-AF65-F5344CB8AC3E}">
        <p14:creationId xmlns:p14="http://schemas.microsoft.com/office/powerpoint/2010/main" val="265222282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386" y="1069553"/>
            <a:ext cx="8229600" cy="703263"/>
          </a:xfrm>
        </p:spPr>
        <p:txBody>
          <a:bodyPr>
            <a:normAutofit/>
          </a:bodyPr>
          <a:lstStyle/>
          <a:p>
            <a:pPr algn="l"/>
            <a:r>
              <a:rPr lang="zh-CN" altLang="en-US" sz="3200" dirty="0"/>
              <a:t>大连请求解析网易域名</a:t>
            </a:r>
          </a:p>
        </p:txBody>
      </p:sp>
      <p:pic>
        <p:nvPicPr>
          <p:cNvPr id="12290" name="Picture 2" descr="C:\Users\Administrator\Downloads\大连查询网易.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772816"/>
            <a:ext cx="7653422" cy="403244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5076056" y="4391640"/>
            <a:ext cx="2736304" cy="300732"/>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标题 1"/>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t>4.3.1 </a:t>
            </a:r>
            <a:r>
              <a:rPr lang="zh-CN" altLang="en-US"/>
              <a:t>互联网访问加速技术</a:t>
            </a:r>
            <a:r>
              <a:rPr lang="en-US" altLang="zh-CN"/>
              <a:t>- CDN</a:t>
            </a:r>
            <a:endParaRPr lang="zh-CN" altLang="en-US" dirty="0"/>
          </a:p>
        </p:txBody>
      </p:sp>
    </p:spTree>
    <p:extLst>
      <p:ext uri="{BB962C8B-B14F-4D97-AF65-F5344CB8AC3E}">
        <p14:creationId xmlns:p14="http://schemas.microsoft.com/office/powerpoint/2010/main" val="228409825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386" y="1069553"/>
            <a:ext cx="8229600" cy="703263"/>
          </a:xfrm>
        </p:spPr>
        <p:txBody>
          <a:bodyPr>
            <a:normAutofit/>
          </a:bodyPr>
          <a:lstStyle/>
          <a:p>
            <a:pPr algn="l"/>
            <a:r>
              <a:rPr lang="zh-CN" altLang="en-US" sz="3200" dirty="0"/>
              <a:t>总结：</a:t>
            </a:r>
          </a:p>
        </p:txBody>
      </p:sp>
      <p:sp>
        <p:nvSpPr>
          <p:cNvPr id="6" name="标题 1"/>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t>4.3.1 </a:t>
            </a:r>
            <a:r>
              <a:rPr lang="zh-CN" altLang="en-US"/>
              <a:t>互联网访问加速技术</a:t>
            </a:r>
            <a:r>
              <a:rPr lang="en-US" altLang="zh-CN"/>
              <a:t>- CDN</a:t>
            </a:r>
            <a:endParaRPr lang="zh-CN" altLang="en-US" dirty="0"/>
          </a:p>
        </p:txBody>
      </p:sp>
      <p:sp>
        <p:nvSpPr>
          <p:cNvPr id="3" name="矩形 2"/>
          <p:cNvSpPr/>
          <p:nvPr/>
        </p:nvSpPr>
        <p:spPr>
          <a:xfrm>
            <a:off x="539552" y="1916832"/>
            <a:ext cx="8316416" cy="2160591"/>
          </a:xfrm>
          <a:prstGeom prst="rect">
            <a:avLst/>
          </a:prstGeom>
        </p:spPr>
        <p:txBody>
          <a:bodyPr wrap="square">
            <a:spAutoFit/>
          </a:bodyPr>
          <a:lstStyle/>
          <a:p>
            <a:pPr>
              <a:lnSpc>
                <a:spcPct val="120000"/>
              </a:lnSpc>
            </a:pPr>
            <a:r>
              <a:rPr lang="en-US" altLang="zh-CN" sz="2800" dirty="0">
                <a:solidFill>
                  <a:srgbClr val="3D464D"/>
                </a:solidFill>
                <a:latin typeface="PingFang SC"/>
              </a:rPr>
              <a:t>1. </a:t>
            </a:r>
            <a:r>
              <a:rPr lang="zh-CN" altLang="en-US" sz="2800" dirty="0">
                <a:solidFill>
                  <a:srgbClr val="3D464D"/>
                </a:solidFill>
                <a:latin typeface="PingFang SC"/>
              </a:rPr>
              <a:t>域名的智能解析：使用</a:t>
            </a:r>
            <a:r>
              <a:rPr lang="en-US" altLang="zh-CN" sz="2800" dirty="0">
                <a:solidFill>
                  <a:srgbClr val="3D464D"/>
                </a:solidFill>
                <a:latin typeface="PingFang SC"/>
              </a:rPr>
              <a:t>CDN</a:t>
            </a:r>
            <a:r>
              <a:rPr lang="zh-CN" altLang="en-US" sz="2800" dirty="0">
                <a:solidFill>
                  <a:srgbClr val="3D464D"/>
                </a:solidFill>
                <a:latin typeface="PingFang SC"/>
              </a:rPr>
              <a:t>服务的网站，其域名交给</a:t>
            </a:r>
            <a:r>
              <a:rPr lang="en-US" altLang="zh-CN" sz="2800" dirty="0">
                <a:solidFill>
                  <a:srgbClr val="3D464D"/>
                </a:solidFill>
                <a:latin typeface="PingFang SC"/>
              </a:rPr>
              <a:t>CDN</a:t>
            </a:r>
            <a:r>
              <a:rPr lang="zh-CN" altLang="en-US" sz="2800" dirty="0">
                <a:solidFill>
                  <a:srgbClr val="3D464D"/>
                </a:solidFill>
                <a:latin typeface="PingFang SC"/>
              </a:rPr>
              <a:t>的负载均衡设备处理，</a:t>
            </a:r>
            <a:r>
              <a:rPr lang="en-US" altLang="zh-CN" sz="2800" dirty="0">
                <a:solidFill>
                  <a:srgbClr val="3D464D"/>
                </a:solidFill>
                <a:latin typeface="PingFang SC"/>
              </a:rPr>
              <a:t>CDN</a:t>
            </a:r>
            <a:r>
              <a:rPr lang="zh-CN" altLang="en-US" sz="2800" dirty="0">
                <a:solidFill>
                  <a:srgbClr val="3D464D"/>
                </a:solidFill>
                <a:latin typeface="PingFang SC"/>
              </a:rPr>
              <a:t>负载均衡设备将为用户选择一台合适的缓存服务器，用户通过访问这台缓存服务器来获取自己所需的数据。</a:t>
            </a:r>
            <a:endParaRPr lang="zh-CN" altLang="en-US" sz="2800" dirty="0"/>
          </a:p>
        </p:txBody>
      </p:sp>
      <p:sp>
        <p:nvSpPr>
          <p:cNvPr id="4" name="矩形 3"/>
          <p:cNvSpPr/>
          <p:nvPr/>
        </p:nvSpPr>
        <p:spPr>
          <a:xfrm>
            <a:off x="611560" y="4221088"/>
            <a:ext cx="8064896" cy="1643527"/>
          </a:xfrm>
          <a:prstGeom prst="rect">
            <a:avLst/>
          </a:prstGeom>
        </p:spPr>
        <p:txBody>
          <a:bodyPr wrap="square">
            <a:spAutoFit/>
          </a:bodyPr>
          <a:lstStyle/>
          <a:p>
            <a:pPr>
              <a:lnSpc>
                <a:spcPct val="120000"/>
              </a:lnSpc>
            </a:pPr>
            <a:r>
              <a:rPr lang="en-US" altLang="zh-CN" sz="2800" dirty="0">
                <a:solidFill>
                  <a:srgbClr val="3D464D"/>
                </a:solidFill>
                <a:latin typeface="PingFang SC"/>
              </a:rPr>
              <a:t>2. </a:t>
            </a:r>
            <a:r>
              <a:rPr lang="zh-CN" altLang="en-US" sz="2800" dirty="0">
                <a:solidFill>
                  <a:srgbClr val="3D464D"/>
                </a:solidFill>
                <a:latin typeface="PingFang SC"/>
              </a:rPr>
              <a:t>高效的访问机制：用户可以以最短的路径，最快的速度对网站进行访问。因此，</a:t>
            </a:r>
            <a:r>
              <a:rPr lang="en-US" altLang="zh-CN" sz="2800" dirty="0">
                <a:solidFill>
                  <a:srgbClr val="3D464D"/>
                </a:solidFill>
                <a:latin typeface="PingFang SC"/>
              </a:rPr>
              <a:t>CDN</a:t>
            </a:r>
            <a:r>
              <a:rPr lang="zh-CN" altLang="en-US" sz="2800" dirty="0">
                <a:solidFill>
                  <a:srgbClr val="3D464D"/>
                </a:solidFill>
                <a:latin typeface="PingFang SC"/>
              </a:rPr>
              <a:t>可以加速用户访问速度，减少源站中心负载压力。</a:t>
            </a:r>
            <a:endParaRPr lang="zh-CN" altLang="en-US" sz="2800" dirty="0"/>
          </a:p>
        </p:txBody>
      </p:sp>
    </p:spTree>
    <p:extLst>
      <p:ext uri="{BB962C8B-B14F-4D97-AF65-F5344CB8AC3E}">
        <p14:creationId xmlns:p14="http://schemas.microsoft.com/office/powerpoint/2010/main" val="31314162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矩形 23"/>
          <p:cNvSpPr>
            <a:spLocks noChangeArrowheads="1"/>
          </p:cNvSpPr>
          <p:nvPr/>
        </p:nvSpPr>
        <p:spPr bwMode="auto">
          <a:xfrm>
            <a:off x="467544" y="1340768"/>
            <a:ext cx="8064896"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1" hangingPunct="1">
              <a:lnSpc>
                <a:spcPct val="125000"/>
              </a:lnSpc>
            </a:pPr>
            <a:r>
              <a:rPr lang="zh-CN" altLang="en-US" sz="3200" dirty="0">
                <a:latin typeface="+mn-ea"/>
              </a:rPr>
              <a:t>网络爬虫是一种按照一定的规则，自动的抓取万维网信息的程序或者脚本，是搜索引擎的重要组成。</a:t>
            </a:r>
            <a:endParaRPr lang="en-US" altLang="zh-CN" sz="3200" dirty="0">
              <a:latin typeface="+mn-ea"/>
            </a:endParaRPr>
          </a:p>
          <a:p>
            <a:pPr indent="457200" eaLnBrk="1" hangingPunct="1">
              <a:lnSpc>
                <a:spcPct val="125000"/>
              </a:lnSpc>
            </a:pPr>
            <a:r>
              <a:rPr lang="zh-CN" altLang="en-US" sz="3200" dirty="0">
                <a:latin typeface="+mn-ea"/>
              </a:rPr>
              <a:t>爬虫从一个或若干初始网页的URL开始，获得初始网页上的URL，在抓取网页的过程中，不断从当前页面上抽取新的URL放入队列，直到满足系统的一定停止条件。</a:t>
            </a:r>
          </a:p>
        </p:txBody>
      </p:sp>
      <p:sp>
        <p:nvSpPr>
          <p:cNvPr id="2" name="标题 1"/>
          <p:cNvSpPr>
            <a:spLocks noGrp="1"/>
          </p:cNvSpPr>
          <p:nvPr>
            <p:ph type="title"/>
          </p:nvPr>
        </p:nvSpPr>
        <p:spPr/>
        <p:txBody>
          <a:bodyPr>
            <a:normAutofit fontScale="90000"/>
          </a:bodyPr>
          <a:lstStyle/>
          <a:p>
            <a:r>
              <a:rPr lang="en-US" altLang="zh-CN" dirty="0"/>
              <a:t>4.3.2 </a:t>
            </a:r>
            <a:r>
              <a:rPr lang="zh-CN" altLang="en-US" dirty="0"/>
              <a:t>网络爬虫</a:t>
            </a:r>
          </a:p>
        </p:txBody>
      </p:sp>
    </p:spTree>
    <p:extLst>
      <p:ext uri="{BB962C8B-B14F-4D97-AF65-F5344CB8AC3E}">
        <p14:creationId xmlns:p14="http://schemas.microsoft.com/office/powerpoint/2010/main" val="396276793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文本框 39"/>
          <p:cNvSpPr txBox="1">
            <a:spLocks noChangeArrowheads="1"/>
          </p:cNvSpPr>
          <p:nvPr/>
        </p:nvSpPr>
        <p:spPr bwMode="auto">
          <a:xfrm>
            <a:off x="8133160" y="6380163"/>
            <a:ext cx="9465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vl2pPr marL="742950" indent="-285750"/>
            <a:lvl3pPr/>
            <a:lvl4pPr/>
            <a:lvl5pPr/>
            <a:lvl6pPr/>
            <a:lvl7pPr/>
            <a:lvl8pPr/>
            <a:lvl9pPr/>
          </a:lstStyle>
          <a:p>
            <a:pPr eaLnBrk="1" hangingPunct="1"/>
            <a:fld id="{F2929CBB-8CCB-43CB-A960-36D68F47049C}" type="datetime1">
              <a:rPr lang="en-US" altLang="zh-CN"/>
              <a:pPr eaLnBrk="1" hangingPunct="1"/>
              <a:t>6/18/25</a:t>
            </a:fld>
            <a:endParaRPr lang="zh-CN" altLang="zh-CN"/>
          </a:p>
        </p:txBody>
      </p:sp>
      <p:sp>
        <p:nvSpPr>
          <p:cNvPr id="7174" name="AutoShape 6"/>
          <p:cNvSpPr>
            <a:spLocks noChangeArrowheads="1"/>
          </p:cNvSpPr>
          <p:nvPr/>
        </p:nvSpPr>
        <p:spPr bwMode="auto">
          <a:xfrm>
            <a:off x="6262688" y="1327151"/>
            <a:ext cx="1849041" cy="1965325"/>
          </a:xfrm>
          <a:prstGeom prst="flowChartMagneticDisk">
            <a:avLst/>
          </a:prstGeom>
          <a:noFill/>
          <a:ln w="28575" cap="flat" cmpd="sng">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175" name="Text Box 7"/>
          <p:cNvSpPr txBox="1">
            <a:spLocks noChangeArrowheads="1"/>
          </p:cNvSpPr>
          <p:nvPr/>
        </p:nvSpPr>
        <p:spPr bwMode="auto">
          <a:xfrm>
            <a:off x="6456760" y="2233613"/>
            <a:ext cx="1656159"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800" b="1"/>
              <a:t>下载网页库</a:t>
            </a:r>
          </a:p>
        </p:txBody>
      </p:sp>
      <p:sp>
        <p:nvSpPr>
          <p:cNvPr id="7176" name="Rectangle 8"/>
          <p:cNvSpPr>
            <a:spLocks noChangeArrowheads="1"/>
          </p:cNvSpPr>
          <p:nvPr/>
        </p:nvSpPr>
        <p:spPr bwMode="auto">
          <a:xfrm>
            <a:off x="1100138" y="2203451"/>
            <a:ext cx="884635" cy="2041525"/>
          </a:xfrm>
          <a:prstGeom prst="rect">
            <a:avLst/>
          </a:prstGeom>
          <a:noFill/>
          <a:ln w="28575" cap="flat" cmpd="sng">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177" name="Line 9"/>
          <p:cNvSpPr>
            <a:spLocks noChangeShapeType="1"/>
          </p:cNvSpPr>
          <p:nvPr/>
        </p:nvSpPr>
        <p:spPr bwMode="auto">
          <a:xfrm>
            <a:off x="1112044" y="2611439"/>
            <a:ext cx="872729" cy="1587"/>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8" name="Line 10"/>
          <p:cNvSpPr>
            <a:spLocks noChangeShapeType="1"/>
          </p:cNvSpPr>
          <p:nvPr/>
        </p:nvSpPr>
        <p:spPr bwMode="auto">
          <a:xfrm>
            <a:off x="1112044" y="3019425"/>
            <a:ext cx="872729" cy="1588"/>
          </a:xfrm>
          <a:prstGeom prst="line">
            <a:avLst/>
          </a:prstGeom>
          <a:noFill/>
          <a:ln w="9525" cap="flat" cmpd="sng">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9" name="Line 11"/>
          <p:cNvSpPr>
            <a:spLocks noChangeShapeType="1"/>
          </p:cNvSpPr>
          <p:nvPr/>
        </p:nvSpPr>
        <p:spPr bwMode="auto">
          <a:xfrm>
            <a:off x="1100138" y="3429000"/>
            <a:ext cx="873919"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0" name="Line 12"/>
          <p:cNvSpPr>
            <a:spLocks noChangeShapeType="1"/>
          </p:cNvSpPr>
          <p:nvPr/>
        </p:nvSpPr>
        <p:spPr bwMode="auto">
          <a:xfrm>
            <a:off x="1100138" y="3821114"/>
            <a:ext cx="873919" cy="1587"/>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1" name="Rectangle 13"/>
          <p:cNvSpPr>
            <a:spLocks noChangeArrowheads="1"/>
          </p:cNvSpPr>
          <p:nvPr/>
        </p:nvSpPr>
        <p:spPr bwMode="auto">
          <a:xfrm>
            <a:off x="3845719" y="2701926"/>
            <a:ext cx="884635" cy="2043113"/>
          </a:xfrm>
          <a:prstGeom prst="rect">
            <a:avLst/>
          </a:prstGeom>
          <a:noFill/>
          <a:ln w="28575" cap="flat" cmpd="sng">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182" name="Line 14"/>
          <p:cNvSpPr>
            <a:spLocks noChangeShapeType="1"/>
          </p:cNvSpPr>
          <p:nvPr/>
        </p:nvSpPr>
        <p:spPr bwMode="auto">
          <a:xfrm>
            <a:off x="3857625" y="3111500"/>
            <a:ext cx="872729" cy="0"/>
          </a:xfrm>
          <a:prstGeom prst="line">
            <a:avLst/>
          </a:prstGeom>
          <a:noFill/>
          <a:ln w="9525" cap="flat" cmpd="sng">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3" name="Line 15"/>
          <p:cNvSpPr>
            <a:spLocks noChangeShapeType="1"/>
          </p:cNvSpPr>
          <p:nvPr/>
        </p:nvSpPr>
        <p:spPr bwMode="auto">
          <a:xfrm>
            <a:off x="3857625" y="3519488"/>
            <a:ext cx="872729"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4" name="Line 16"/>
          <p:cNvSpPr>
            <a:spLocks noChangeShapeType="1"/>
          </p:cNvSpPr>
          <p:nvPr/>
        </p:nvSpPr>
        <p:spPr bwMode="auto">
          <a:xfrm>
            <a:off x="3845719" y="3927475"/>
            <a:ext cx="873919"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5" name="Line 17"/>
          <p:cNvSpPr>
            <a:spLocks noChangeShapeType="1"/>
          </p:cNvSpPr>
          <p:nvPr/>
        </p:nvSpPr>
        <p:spPr bwMode="auto">
          <a:xfrm>
            <a:off x="3845719" y="4321175"/>
            <a:ext cx="873919" cy="0"/>
          </a:xfrm>
          <a:prstGeom prst="line">
            <a:avLst/>
          </a:prstGeom>
          <a:noFill/>
          <a:ln w="9525" cap="flat" cmpd="sng">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6" name="Rectangle 18"/>
          <p:cNvSpPr>
            <a:spLocks noChangeArrowheads="1"/>
          </p:cNvSpPr>
          <p:nvPr/>
        </p:nvSpPr>
        <p:spPr bwMode="auto">
          <a:xfrm>
            <a:off x="6704410" y="4276726"/>
            <a:ext cx="884634" cy="2041525"/>
          </a:xfrm>
          <a:prstGeom prst="rect">
            <a:avLst/>
          </a:prstGeom>
          <a:noFill/>
          <a:ln w="28575" cap="flat" cmpd="sng">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187" name="Line 19"/>
          <p:cNvSpPr>
            <a:spLocks noChangeShapeType="1"/>
          </p:cNvSpPr>
          <p:nvPr/>
        </p:nvSpPr>
        <p:spPr bwMode="auto">
          <a:xfrm>
            <a:off x="6716316" y="4684713"/>
            <a:ext cx="872728"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8" name="Line 20"/>
          <p:cNvSpPr>
            <a:spLocks noChangeShapeType="1"/>
          </p:cNvSpPr>
          <p:nvPr/>
        </p:nvSpPr>
        <p:spPr bwMode="auto">
          <a:xfrm>
            <a:off x="6716316" y="5092700"/>
            <a:ext cx="872728"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9" name="Line 21"/>
          <p:cNvSpPr>
            <a:spLocks noChangeShapeType="1"/>
          </p:cNvSpPr>
          <p:nvPr/>
        </p:nvSpPr>
        <p:spPr bwMode="auto">
          <a:xfrm>
            <a:off x="6704410" y="5500689"/>
            <a:ext cx="873919" cy="1587"/>
          </a:xfrm>
          <a:prstGeom prst="line">
            <a:avLst/>
          </a:prstGeom>
          <a:noFill/>
          <a:ln w="9525" cap="flat" cmpd="sng">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0" name="Line 22"/>
          <p:cNvSpPr>
            <a:spLocks noChangeShapeType="1"/>
          </p:cNvSpPr>
          <p:nvPr/>
        </p:nvSpPr>
        <p:spPr bwMode="auto">
          <a:xfrm>
            <a:off x="6704410" y="5894388"/>
            <a:ext cx="873919" cy="0"/>
          </a:xfrm>
          <a:prstGeom prst="line">
            <a:avLst/>
          </a:prstGeom>
          <a:noFill/>
          <a:ln w="9525" cap="flat" cmpd="sng">
            <a:solidFill>
              <a:schemeClr val="accent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1" name="Text Box 23"/>
          <p:cNvSpPr txBox="1">
            <a:spLocks noChangeArrowheads="1"/>
          </p:cNvSpPr>
          <p:nvPr/>
        </p:nvSpPr>
        <p:spPr bwMode="auto">
          <a:xfrm>
            <a:off x="1034654" y="4292601"/>
            <a:ext cx="165615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800" b="1"/>
              <a:t>种子URL</a:t>
            </a:r>
          </a:p>
        </p:txBody>
      </p:sp>
      <p:sp>
        <p:nvSpPr>
          <p:cNvPr id="7192" name="箭头 184"/>
          <p:cNvSpPr>
            <a:spLocks noChangeShapeType="1"/>
          </p:cNvSpPr>
          <p:nvPr/>
        </p:nvSpPr>
        <p:spPr bwMode="auto">
          <a:xfrm flipV="1">
            <a:off x="1996678" y="2944814"/>
            <a:ext cx="1860947" cy="288925"/>
          </a:xfrm>
          <a:prstGeom prst="line">
            <a:avLst/>
          </a:prstGeom>
          <a:noFill/>
          <a:ln w="9525" cap="flat" cmpd="sng">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3" name="箭头 184"/>
          <p:cNvSpPr>
            <a:spLocks noChangeShapeType="1"/>
          </p:cNvSpPr>
          <p:nvPr/>
        </p:nvSpPr>
        <p:spPr bwMode="auto">
          <a:xfrm flipV="1">
            <a:off x="4743450" y="2535238"/>
            <a:ext cx="1513285" cy="1198562"/>
          </a:xfrm>
          <a:prstGeom prst="line">
            <a:avLst/>
          </a:prstGeom>
          <a:noFill/>
          <a:ln w="9525" cap="flat" cmpd="sng">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4" name="箭头 184"/>
          <p:cNvSpPr>
            <a:spLocks noChangeShapeType="1"/>
          </p:cNvSpPr>
          <p:nvPr/>
        </p:nvSpPr>
        <p:spPr bwMode="auto">
          <a:xfrm>
            <a:off x="4750594" y="3733801"/>
            <a:ext cx="1950244" cy="803275"/>
          </a:xfrm>
          <a:prstGeom prst="line">
            <a:avLst/>
          </a:prstGeom>
          <a:noFill/>
          <a:ln w="9525" cap="flat" cmpd="sng">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5" name="Text Box 27"/>
          <p:cNvSpPr txBox="1">
            <a:spLocks noChangeArrowheads="1"/>
          </p:cNvSpPr>
          <p:nvPr/>
        </p:nvSpPr>
        <p:spPr bwMode="auto">
          <a:xfrm>
            <a:off x="6491288" y="3784601"/>
            <a:ext cx="225717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sz="2800" b="1" dirty="0"/>
              <a:t>已抓取URL</a:t>
            </a:r>
            <a:endParaRPr lang="zh-CN" altLang="en-US" dirty="0"/>
          </a:p>
        </p:txBody>
      </p:sp>
      <p:sp>
        <p:nvSpPr>
          <p:cNvPr id="7196" name="Text Box 28"/>
          <p:cNvSpPr txBox="1">
            <a:spLocks noChangeArrowheads="1"/>
          </p:cNvSpPr>
          <p:nvPr/>
        </p:nvSpPr>
        <p:spPr bwMode="auto">
          <a:xfrm>
            <a:off x="3613547" y="4787901"/>
            <a:ext cx="1656159"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800" b="1"/>
              <a:t>待抓取URL</a:t>
            </a:r>
            <a:endParaRPr lang="zh-CN" altLang="en-US"/>
          </a:p>
        </p:txBody>
      </p:sp>
      <p:cxnSp>
        <p:nvCxnSpPr>
          <p:cNvPr id="7197" name="AutoShape 29"/>
          <p:cNvCxnSpPr>
            <a:cxnSpLocks noChangeShapeType="1"/>
          </p:cNvCxnSpPr>
          <p:nvPr/>
        </p:nvCxnSpPr>
        <p:spPr bwMode="auto">
          <a:xfrm rot="10800000">
            <a:off x="3845719" y="4162425"/>
            <a:ext cx="2858691" cy="1574800"/>
          </a:xfrm>
          <a:prstGeom prst="curvedConnector3">
            <a:avLst>
              <a:gd name="adj1" fmla="val 139579"/>
            </a:avLst>
          </a:prstGeom>
          <a:noFill/>
          <a:ln w="9525" cap="flat" cmpd="sng">
            <a:solidFill>
              <a:schemeClr val="accent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8" name="Text Box 30"/>
          <p:cNvSpPr txBox="1">
            <a:spLocks noChangeArrowheads="1"/>
          </p:cNvSpPr>
          <p:nvPr/>
        </p:nvSpPr>
        <p:spPr bwMode="auto">
          <a:xfrm>
            <a:off x="4886325" y="2278064"/>
            <a:ext cx="1654969"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000"/>
              <a:t>DNS解析 &amp;&amp;</a:t>
            </a:r>
          </a:p>
          <a:p>
            <a:r>
              <a:rPr lang="zh-CN" altLang="en-US" sz="2000"/>
              <a:t>网页数据</a:t>
            </a:r>
          </a:p>
          <a:p>
            <a:r>
              <a:rPr lang="zh-CN" altLang="en-US" sz="2000"/>
              <a:t>分析</a:t>
            </a:r>
          </a:p>
        </p:txBody>
      </p:sp>
      <p:sp>
        <p:nvSpPr>
          <p:cNvPr id="7199" name="Text Box 31"/>
          <p:cNvSpPr txBox="1">
            <a:spLocks noChangeArrowheads="1"/>
          </p:cNvSpPr>
          <p:nvPr/>
        </p:nvSpPr>
        <p:spPr bwMode="auto">
          <a:xfrm>
            <a:off x="4862513" y="4108451"/>
            <a:ext cx="1654969"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000"/>
              <a:t>下载网页</a:t>
            </a:r>
          </a:p>
          <a:p>
            <a:r>
              <a:rPr lang="zh-CN" altLang="en-US" sz="2000"/>
              <a:t>进入已抓取队列</a:t>
            </a:r>
          </a:p>
        </p:txBody>
      </p:sp>
      <p:sp>
        <p:nvSpPr>
          <p:cNvPr id="7200" name="Text Box 32"/>
          <p:cNvSpPr txBox="1">
            <a:spLocks noChangeArrowheads="1"/>
          </p:cNvSpPr>
          <p:nvPr/>
        </p:nvSpPr>
        <p:spPr bwMode="auto">
          <a:xfrm>
            <a:off x="2557463" y="5638800"/>
            <a:ext cx="165616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000"/>
              <a:t>从队列信息中抽取新的URL</a:t>
            </a:r>
          </a:p>
        </p:txBody>
      </p:sp>
      <p:sp>
        <p:nvSpPr>
          <p:cNvPr id="7201" name="Text Box 33"/>
          <p:cNvSpPr txBox="1">
            <a:spLocks noChangeArrowheads="1"/>
          </p:cNvSpPr>
          <p:nvPr/>
        </p:nvSpPr>
        <p:spPr bwMode="auto">
          <a:xfrm>
            <a:off x="2171700" y="2643189"/>
            <a:ext cx="165616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000"/>
              <a:t>作为初始URL</a:t>
            </a:r>
            <a:endParaRPr lang="zh-CN" altLang="en-US"/>
          </a:p>
        </p:txBody>
      </p:sp>
      <p:sp>
        <p:nvSpPr>
          <p:cNvPr id="2" name="标题 1"/>
          <p:cNvSpPr>
            <a:spLocks noGrp="1"/>
          </p:cNvSpPr>
          <p:nvPr>
            <p:ph type="title"/>
          </p:nvPr>
        </p:nvSpPr>
        <p:spPr/>
        <p:txBody>
          <a:bodyPr>
            <a:normAutofit fontScale="90000"/>
          </a:bodyPr>
          <a:lstStyle/>
          <a:p>
            <a:r>
              <a:rPr lang="en-US" altLang="zh-CN" dirty="0"/>
              <a:t>4.3.2 </a:t>
            </a:r>
            <a:r>
              <a:rPr lang="zh-CN" altLang="en-US" dirty="0"/>
              <a:t>简单流程</a:t>
            </a:r>
          </a:p>
        </p:txBody>
      </p:sp>
    </p:spTree>
    <p:extLst>
      <p:ext uri="{BB962C8B-B14F-4D97-AF65-F5344CB8AC3E}">
        <p14:creationId xmlns:p14="http://schemas.microsoft.com/office/powerpoint/2010/main" val="11847849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矩形 23"/>
          <p:cNvSpPr>
            <a:spLocks noChangeArrowheads="1"/>
          </p:cNvSpPr>
          <p:nvPr/>
        </p:nvSpPr>
        <p:spPr bwMode="auto">
          <a:xfrm>
            <a:off x="539552" y="1412776"/>
            <a:ext cx="8136904"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spcBef>
                <a:spcPts val="600"/>
              </a:spcBef>
            </a:pPr>
            <a:r>
              <a:rPr lang="zh-CN" altLang="en-US" sz="2800" dirty="0">
                <a:latin typeface="+mn-ea"/>
              </a:rPr>
              <a:t>1.关键字匹配：防止重复遍历</a:t>
            </a:r>
          </a:p>
          <a:p>
            <a:pPr eaLnBrk="1" hangingPunct="1">
              <a:lnSpc>
                <a:spcPct val="125000"/>
              </a:lnSpc>
              <a:spcBef>
                <a:spcPts val="600"/>
              </a:spcBef>
            </a:pPr>
            <a:r>
              <a:rPr lang="zh-CN" altLang="en-US" sz="2800" dirty="0">
                <a:latin typeface="+mn-ea"/>
              </a:rPr>
              <a:t>   KNUTH-MORRIS-PRATT算法（KMP算法）</a:t>
            </a:r>
          </a:p>
          <a:p>
            <a:pPr eaLnBrk="1" hangingPunct="1">
              <a:lnSpc>
                <a:spcPct val="125000"/>
              </a:lnSpc>
              <a:spcBef>
                <a:spcPts val="600"/>
              </a:spcBef>
            </a:pPr>
            <a:r>
              <a:rPr lang="zh-CN" altLang="en-US" sz="2800" dirty="0">
                <a:latin typeface="+mn-ea"/>
              </a:rPr>
              <a:t>   有限自动机算法</a:t>
            </a:r>
          </a:p>
          <a:p>
            <a:pPr eaLnBrk="1" hangingPunct="1">
              <a:lnSpc>
                <a:spcPct val="125000"/>
              </a:lnSpc>
              <a:spcBef>
                <a:spcPts val="600"/>
              </a:spcBef>
            </a:pPr>
            <a:r>
              <a:rPr lang="zh-CN" altLang="en-US" sz="2800" dirty="0">
                <a:latin typeface="+mn-ea"/>
              </a:rPr>
              <a:t>   BOYER-MOORE算法</a:t>
            </a:r>
          </a:p>
          <a:p>
            <a:pPr eaLnBrk="1" hangingPunct="1">
              <a:lnSpc>
                <a:spcPct val="125000"/>
              </a:lnSpc>
              <a:spcBef>
                <a:spcPts val="600"/>
              </a:spcBef>
            </a:pPr>
            <a:r>
              <a:rPr lang="zh-CN" altLang="en-US" sz="2800" dirty="0">
                <a:latin typeface="+mn-ea"/>
              </a:rPr>
              <a:t>2.网页内容冗余检测</a:t>
            </a:r>
          </a:p>
          <a:p>
            <a:pPr eaLnBrk="1" hangingPunct="1">
              <a:lnSpc>
                <a:spcPct val="125000"/>
              </a:lnSpc>
              <a:spcBef>
                <a:spcPts val="600"/>
              </a:spcBef>
            </a:pPr>
            <a:r>
              <a:rPr lang="zh-CN" altLang="en-US" sz="2800" dirty="0">
                <a:latin typeface="+mn-ea"/>
              </a:rPr>
              <a:t>3.大数量网页处理：分布式</a:t>
            </a:r>
          </a:p>
        </p:txBody>
      </p:sp>
      <p:sp>
        <p:nvSpPr>
          <p:cNvPr id="2" name="标题 1"/>
          <p:cNvSpPr>
            <a:spLocks noGrp="1"/>
          </p:cNvSpPr>
          <p:nvPr>
            <p:ph type="title"/>
          </p:nvPr>
        </p:nvSpPr>
        <p:spPr/>
        <p:txBody>
          <a:bodyPr>
            <a:normAutofit fontScale="90000"/>
          </a:bodyPr>
          <a:lstStyle/>
          <a:p>
            <a:r>
              <a:rPr lang="en-US" altLang="zh-CN" dirty="0"/>
              <a:t>4.3.2 </a:t>
            </a:r>
            <a:r>
              <a:rPr lang="zh-CN" altLang="en-US" dirty="0"/>
              <a:t>关键技术</a:t>
            </a:r>
          </a:p>
        </p:txBody>
      </p:sp>
    </p:spTree>
    <p:extLst>
      <p:ext uri="{BB962C8B-B14F-4D97-AF65-F5344CB8AC3E}">
        <p14:creationId xmlns:p14="http://schemas.microsoft.com/office/powerpoint/2010/main" val="3937254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矩形 23"/>
          <p:cNvSpPr>
            <a:spLocks noChangeArrowheads="1"/>
          </p:cNvSpPr>
          <p:nvPr/>
        </p:nvSpPr>
        <p:spPr bwMode="auto">
          <a:xfrm>
            <a:off x="755576" y="1412776"/>
            <a:ext cx="813690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25000"/>
              </a:lnSpc>
              <a:spcBef>
                <a:spcPts val="1200"/>
              </a:spcBef>
            </a:pPr>
            <a:r>
              <a:rPr lang="zh-CN" altLang="en-US" sz="2800" dirty="0">
                <a:latin typeface="+mn-ea"/>
              </a:rPr>
              <a:t>1.深度优先搜索</a:t>
            </a:r>
          </a:p>
          <a:p>
            <a:pPr eaLnBrk="1" hangingPunct="1">
              <a:lnSpc>
                <a:spcPct val="125000"/>
              </a:lnSpc>
              <a:spcBef>
                <a:spcPts val="1200"/>
              </a:spcBef>
            </a:pPr>
            <a:r>
              <a:rPr lang="zh-CN" altLang="en-US" sz="2800" dirty="0">
                <a:latin typeface="+mn-ea"/>
              </a:rPr>
              <a:t>2.广度优先搜索</a:t>
            </a:r>
          </a:p>
          <a:p>
            <a:pPr eaLnBrk="1" hangingPunct="1">
              <a:lnSpc>
                <a:spcPct val="125000"/>
              </a:lnSpc>
              <a:spcBef>
                <a:spcPts val="1200"/>
              </a:spcBef>
            </a:pPr>
            <a:r>
              <a:rPr lang="zh-CN" altLang="en-US" sz="2800" dirty="0">
                <a:latin typeface="+mn-ea"/>
              </a:rPr>
              <a:t>3.大站优先策略</a:t>
            </a:r>
          </a:p>
          <a:p>
            <a:pPr eaLnBrk="1" hangingPunct="1">
              <a:lnSpc>
                <a:spcPct val="125000"/>
              </a:lnSpc>
            </a:pPr>
            <a:r>
              <a:rPr lang="zh-CN" altLang="en-US" sz="2800" dirty="0">
                <a:latin typeface="+mn-ea"/>
              </a:rPr>
              <a:t>   对于待抓取URL队列中的所有网页，根据所属的网站进行分类。对于待下载页面数多的网站，优先下载。这个策略也因此叫做大站优先策略。</a:t>
            </a:r>
          </a:p>
        </p:txBody>
      </p:sp>
      <p:sp>
        <p:nvSpPr>
          <p:cNvPr id="2" name="标题 1"/>
          <p:cNvSpPr>
            <a:spLocks noGrp="1"/>
          </p:cNvSpPr>
          <p:nvPr>
            <p:ph type="title"/>
          </p:nvPr>
        </p:nvSpPr>
        <p:spPr/>
        <p:txBody>
          <a:bodyPr>
            <a:normAutofit fontScale="90000"/>
          </a:bodyPr>
          <a:lstStyle/>
          <a:p>
            <a:r>
              <a:rPr lang="en-US" altLang="zh-CN" dirty="0"/>
              <a:t>4.3.2 </a:t>
            </a:r>
            <a:r>
              <a:rPr lang="zh-CN" altLang="en-US" dirty="0"/>
              <a:t>抓取策略 :: 暴力</a:t>
            </a:r>
          </a:p>
        </p:txBody>
      </p:sp>
    </p:spTree>
    <p:extLst>
      <p:ext uri="{BB962C8B-B14F-4D97-AF65-F5344CB8AC3E}">
        <p14:creationId xmlns:p14="http://schemas.microsoft.com/office/powerpoint/2010/main" val="132275211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5014" y="1196752"/>
            <a:ext cx="8888985" cy="4525963"/>
          </a:xfrm>
        </p:spPr>
        <p:txBody>
          <a:bodyPr/>
          <a:lstStyle/>
          <a:p>
            <a:r>
              <a:rPr lang="zh-CN" altLang="en-US" b="0" dirty="0"/>
              <a:t>用 </a:t>
            </a:r>
            <a:r>
              <a:rPr lang="en-US" altLang="zh-CN" b="0" dirty="0"/>
              <a:t>Android QQ </a:t>
            </a:r>
            <a:r>
              <a:rPr lang="zh-CN" altLang="en-US" b="0" dirty="0"/>
              <a:t>来监视某人的出行及作息规律</a:t>
            </a:r>
            <a:endParaRPr lang="en-US" altLang="zh-CN" b="0" dirty="0"/>
          </a:p>
          <a:p>
            <a:r>
              <a:rPr lang="en-US" altLang="zh-CN" b="0" dirty="0">
                <a:hlinkClick r:id="rId2"/>
              </a:rPr>
              <a:t>https://www.v2ex.com/t/121272#reply48</a:t>
            </a:r>
            <a:endParaRPr lang="en-US" altLang="zh-CN" b="0" dirty="0"/>
          </a:p>
          <a:p>
            <a:endParaRPr lang="en-US" altLang="zh-CN" b="0" dirty="0"/>
          </a:p>
          <a:p>
            <a:r>
              <a:rPr lang="zh-CN" altLang="en-US" dirty="0"/>
              <a:t>一个数学系高材生的约会大作战</a:t>
            </a:r>
            <a:endParaRPr lang="en-US" altLang="zh-CN" dirty="0"/>
          </a:p>
          <a:p>
            <a:r>
              <a:rPr lang="en-US" altLang="zh-CN" b="0" dirty="0">
                <a:hlinkClick r:id="rId3"/>
              </a:rPr>
              <a:t>http://36kr.com/p/209357.html?page=1</a:t>
            </a:r>
            <a:endParaRPr lang="zh-CN" altLang="en-US" b="0" dirty="0"/>
          </a:p>
          <a:p>
            <a:endParaRPr lang="zh-CN" altLang="en-US" b="0" dirty="0"/>
          </a:p>
          <a:p>
            <a:pPr marL="0" indent="0">
              <a:buNone/>
            </a:pPr>
            <a:endParaRPr lang="zh-CN" altLang="en-US" dirty="0"/>
          </a:p>
        </p:txBody>
      </p:sp>
      <p:sp>
        <p:nvSpPr>
          <p:cNvPr id="3" name="标题 2"/>
          <p:cNvSpPr>
            <a:spLocks noGrp="1"/>
          </p:cNvSpPr>
          <p:nvPr>
            <p:ph type="title"/>
          </p:nvPr>
        </p:nvSpPr>
        <p:spPr/>
        <p:txBody>
          <a:bodyPr>
            <a:normAutofit fontScale="90000"/>
          </a:bodyPr>
          <a:lstStyle/>
          <a:p>
            <a:r>
              <a:rPr lang="en-US" altLang="zh-CN" dirty="0"/>
              <a:t>4.3.2 </a:t>
            </a:r>
            <a:r>
              <a:rPr lang="zh-CN" altLang="en-US" dirty="0"/>
              <a:t>爬虫应用</a:t>
            </a:r>
          </a:p>
        </p:txBody>
      </p:sp>
    </p:spTree>
    <p:extLst>
      <p:ext uri="{BB962C8B-B14F-4D97-AF65-F5344CB8AC3E}">
        <p14:creationId xmlns:p14="http://schemas.microsoft.com/office/powerpoint/2010/main" val="7717695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fontScale="90000"/>
          </a:bodyPr>
          <a:lstStyle/>
          <a:p>
            <a:r>
              <a:rPr lang="en-US" altLang="zh-CN" dirty="0"/>
              <a:t>4.3.3 </a:t>
            </a:r>
            <a:r>
              <a:rPr lang="zh-CN" altLang="en-US" dirty="0"/>
              <a:t>网站建设新技术 </a:t>
            </a:r>
            <a:r>
              <a:rPr lang="en-US" altLang="zh-CN" dirty="0"/>
              <a:t>Node.js</a:t>
            </a:r>
            <a:endParaRPr lang="zh-CN" altLang="en-US" dirty="0"/>
          </a:p>
        </p:txBody>
      </p:sp>
      <p:sp>
        <p:nvSpPr>
          <p:cNvPr id="3075" name="Rectangle 3"/>
          <p:cNvSpPr>
            <a:spLocks noGrp="1" noChangeArrowheads="1"/>
          </p:cNvSpPr>
          <p:nvPr>
            <p:ph idx="1"/>
          </p:nvPr>
        </p:nvSpPr>
        <p:spPr>
          <a:xfrm>
            <a:off x="255014" y="1196752"/>
            <a:ext cx="8637465" cy="4525963"/>
          </a:xfrm>
        </p:spPr>
        <p:txBody>
          <a:bodyPr/>
          <a:lstStyle/>
          <a:p>
            <a:pPr eaLnBrk="1" hangingPunct="1"/>
            <a:r>
              <a:rPr lang="en-US" altLang="zh-CN" b="0" dirty="0"/>
              <a:t>Node.js </a:t>
            </a:r>
            <a:r>
              <a:rPr lang="zh-CN" altLang="en-US" b="0" dirty="0"/>
              <a:t>就是运行在服务端的 </a:t>
            </a:r>
            <a:r>
              <a:rPr lang="en-US" altLang="zh-CN" b="0" dirty="0"/>
              <a:t>JavaScript</a:t>
            </a:r>
            <a:r>
              <a:rPr lang="zh-CN" altLang="en-US" b="0" dirty="0"/>
              <a:t>。</a:t>
            </a:r>
          </a:p>
          <a:p>
            <a:pPr eaLnBrk="1" hangingPunct="1"/>
            <a:r>
              <a:rPr lang="en-US" altLang="zh-CN" b="0" dirty="0"/>
              <a:t>Node.js </a:t>
            </a:r>
            <a:r>
              <a:rPr lang="zh-CN" altLang="en-US" b="0" dirty="0"/>
              <a:t>是一个基于</a:t>
            </a:r>
            <a:r>
              <a:rPr lang="en-US" altLang="zh-CN" b="0" dirty="0"/>
              <a:t>Chrome JavaScript </a:t>
            </a:r>
            <a:r>
              <a:rPr lang="zh-CN" altLang="en-US" b="0" dirty="0"/>
              <a:t>运行时建立的一个平台。</a:t>
            </a:r>
          </a:p>
          <a:p>
            <a:pPr eaLnBrk="1" hangingPunct="1"/>
            <a:r>
              <a:rPr lang="en-US" altLang="zh-CN" b="0" dirty="0"/>
              <a:t>Node.js</a:t>
            </a:r>
            <a:r>
              <a:rPr lang="zh-CN" altLang="en-US" b="0" dirty="0"/>
              <a:t>是一个事件驱动</a:t>
            </a:r>
            <a:r>
              <a:rPr lang="en-US" altLang="zh-CN" b="0" dirty="0"/>
              <a:t>I/O</a:t>
            </a:r>
            <a:r>
              <a:rPr lang="zh-CN" altLang="en-US" b="0" dirty="0"/>
              <a:t>服务端</a:t>
            </a:r>
            <a:r>
              <a:rPr lang="en-US" altLang="zh-CN" b="0" dirty="0"/>
              <a:t>JavaScript</a:t>
            </a:r>
            <a:r>
              <a:rPr lang="zh-CN" altLang="en-US" b="0" dirty="0"/>
              <a:t>环境，基于</a:t>
            </a:r>
            <a:r>
              <a:rPr lang="en-US" altLang="zh-CN" b="0" dirty="0"/>
              <a:t>Google</a:t>
            </a:r>
            <a:r>
              <a:rPr lang="zh-CN" altLang="en-US" b="0" dirty="0"/>
              <a:t>的</a:t>
            </a:r>
            <a:r>
              <a:rPr lang="en-US" altLang="zh-CN" b="0" dirty="0"/>
              <a:t>V8</a:t>
            </a:r>
            <a:r>
              <a:rPr lang="zh-CN" altLang="en-US" b="0" dirty="0"/>
              <a:t>引擎，速度快，性能好。</a:t>
            </a:r>
            <a:endParaRPr lang="en-US" altLang="zh-CN" b="0" dirty="0"/>
          </a:p>
          <a:p>
            <a:pPr eaLnBrk="1" hangingPunct="1"/>
            <a:r>
              <a:rPr lang="en-US" altLang="zh-CN" b="0" dirty="0"/>
              <a:t>Node.js </a:t>
            </a:r>
            <a:r>
              <a:rPr lang="zh-CN" altLang="en-US" b="0" dirty="0"/>
              <a:t>框架下，前后端采用同一套代码进行编写，提高了效率和通用性。</a:t>
            </a:r>
          </a:p>
        </p:txBody>
      </p:sp>
    </p:spTree>
    <p:extLst>
      <p:ext uri="{BB962C8B-B14F-4D97-AF65-F5344CB8AC3E}">
        <p14:creationId xmlns:p14="http://schemas.microsoft.com/office/powerpoint/2010/main" val="273184047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idx="1"/>
          </p:nvPr>
        </p:nvSpPr>
        <p:spPr>
          <a:xfrm>
            <a:off x="539750" y="1268760"/>
            <a:ext cx="8085138" cy="4681190"/>
          </a:xfrm>
        </p:spPr>
        <p:txBody>
          <a:bodyPr/>
          <a:lstStyle/>
          <a:p>
            <a:pPr eaLnBrk="1" hangingPunct="1">
              <a:buFontTx/>
              <a:buNone/>
            </a:pPr>
            <a:r>
              <a:rPr lang="en-US" altLang="zh-CN" sz="2800" dirty="0"/>
              <a:t> </a:t>
            </a:r>
            <a:r>
              <a:rPr lang="en-US" altLang="zh-CN" sz="4400" dirty="0"/>
              <a:t>Node.js</a:t>
            </a:r>
            <a:r>
              <a:rPr lang="zh-CN" altLang="en-US" sz="4400" dirty="0"/>
              <a:t>的工作原理</a:t>
            </a:r>
          </a:p>
          <a:p>
            <a:pPr algn="ctr" eaLnBrk="1" hangingPunct="1">
              <a:buFontTx/>
              <a:buNone/>
            </a:pPr>
            <a:endParaRPr lang="zh-CN" altLang="en-US" sz="2800" dirty="0"/>
          </a:p>
        </p:txBody>
      </p:sp>
      <p:sp>
        <p:nvSpPr>
          <p:cNvPr id="2" name="矩形 1"/>
          <p:cNvSpPr/>
          <p:nvPr/>
        </p:nvSpPr>
        <p:spPr>
          <a:xfrm>
            <a:off x="971550" y="2493119"/>
            <a:ext cx="2087563" cy="9366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6" name="矩形 5"/>
          <p:cNvSpPr/>
          <p:nvPr/>
        </p:nvSpPr>
        <p:spPr>
          <a:xfrm>
            <a:off x="3492500" y="2493119"/>
            <a:ext cx="2087563" cy="9366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7" name="矩形 6"/>
          <p:cNvSpPr/>
          <p:nvPr/>
        </p:nvSpPr>
        <p:spPr>
          <a:xfrm>
            <a:off x="6084888" y="2493119"/>
            <a:ext cx="2087562" cy="9366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5" name="下箭头 4"/>
          <p:cNvSpPr/>
          <p:nvPr/>
        </p:nvSpPr>
        <p:spPr>
          <a:xfrm>
            <a:off x="1773238" y="3747244"/>
            <a:ext cx="484187" cy="97790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9" name="下箭头 8"/>
          <p:cNvSpPr/>
          <p:nvPr/>
        </p:nvSpPr>
        <p:spPr>
          <a:xfrm>
            <a:off x="6886575" y="3725019"/>
            <a:ext cx="484188" cy="979488"/>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10" name="下箭头 9"/>
          <p:cNvSpPr/>
          <p:nvPr/>
        </p:nvSpPr>
        <p:spPr>
          <a:xfrm>
            <a:off x="4294188" y="3725019"/>
            <a:ext cx="484187" cy="979488"/>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8" name="矩形 7"/>
          <p:cNvSpPr/>
          <p:nvPr/>
        </p:nvSpPr>
        <p:spPr>
          <a:xfrm>
            <a:off x="935038" y="4869160"/>
            <a:ext cx="7200900" cy="136800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tLang="zh-CN" sz="4400" dirty="0"/>
              <a:t>Node.js</a:t>
            </a:r>
            <a:r>
              <a:rPr lang="zh-CN" altLang="en-US" sz="4400" dirty="0"/>
              <a:t>进程</a:t>
            </a:r>
          </a:p>
        </p:txBody>
      </p:sp>
      <p:sp>
        <p:nvSpPr>
          <p:cNvPr id="4" name="矩形 3"/>
          <p:cNvSpPr/>
          <p:nvPr/>
        </p:nvSpPr>
        <p:spPr>
          <a:xfrm>
            <a:off x="222290" y="140752"/>
            <a:ext cx="8814206" cy="769441"/>
          </a:xfrm>
          <a:prstGeom prst="rect">
            <a:avLst/>
          </a:prstGeom>
        </p:spPr>
        <p:txBody>
          <a:bodyPr wrap="square">
            <a:spAutoFit/>
          </a:bodyPr>
          <a:lstStyle/>
          <a:p>
            <a:r>
              <a:rPr lang="en-US" altLang="zh-CN" sz="4400" dirty="0">
                <a:solidFill>
                  <a:prstClr val="black"/>
                </a:solidFill>
                <a:cs typeface="+mj-cs"/>
              </a:rPr>
              <a:t>4.3.3 </a:t>
            </a:r>
            <a:r>
              <a:rPr lang="zh-CN" altLang="en-US" sz="4400" dirty="0">
                <a:solidFill>
                  <a:prstClr val="black"/>
                </a:solidFill>
                <a:cs typeface="+mj-cs"/>
              </a:rPr>
              <a:t>网站建设新技术 </a:t>
            </a:r>
            <a:r>
              <a:rPr lang="en-US" altLang="zh-CN" sz="4400" dirty="0">
                <a:solidFill>
                  <a:prstClr val="black"/>
                </a:solidFill>
                <a:cs typeface="+mj-cs"/>
              </a:rPr>
              <a:t>Node.js</a:t>
            </a:r>
            <a:endParaRPr lang="zh-CN" altLang="en-US" dirty="0"/>
          </a:p>
        </p:txBody>
      </p:sp>
    </p:spTree>
    <p:extLst>
      <p:ext uri="{BB962C8B-B14F-4D97-AF65-F5344CB8AC3E}">
        <p14:creationId xmlns:p14="http://schemas.microsoft.com/office/powerpoint/2010/main" val="210509802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9562" y="2418556"/>
            <a:ext cx="8229600" cy="703263"/>
          </a:xfrm>
        </p:spPr>
        <p:txBody>
          <a:bodyPr/>
          <a:lstStyle/>
          <a:p>
            <a:pPr eaLnBrk="1" hangingPunct="1"/>
            <a:r>
              <a:rPr lang="en-US" altLang="zh-CN" sz="3200" dirty="0" err="1"/>
              <a:t>PhP</a:t>
            </a:r>
            <a:r>
              <a:rPr lang="zh-CN" altLang="en-US" sz="3200" dirty="0"/>
              <a:t>模型</a:t>
            </a:r>
          </a:p>
        </p:txBody>
      </p:sp>
      <p:sp>
        <p:nvSpPr>
          <p:cNvPr id="5123" name="Rectangle 3"/>
          <p:cNvSpPr>
            <a:spLocks noGrp="1" noChangeArrowheads="1"/>
          </p:cNvSpPr>
          <p:nvPr>
            <p:ph idx="1"/>
          </p:nvPr>
        </p:nvSpPr>
        <p:spPr>
          <a:xfrm>
            <a:off x="539750" y="1196975"/>
            <a:ext cx="8229600" cy="5145088"/>
          </a:xfrm>
        </p:spPr>
        <p:txBody>
          <a:bodyPr/>
          <a:lstStyle/>
          <a:p>
            <a:pPr marL="609600" indent="-609600" eaLnBrk="1" hangingPunct="1">
              <a:lnSpc>
                <a:spcPct val="80000"/>
              </a:lnSpc>
              <a:buFontTx/>
              <a:buAutoNum type="arabicPeriod"/>
            </a:pPr>
            <a:endParaRPr lang="en-US" altLang="zh-CN" sz="1600" dirty="0"/>
          </a:p>
          <a:p>
            <a:pPr marL="609600" indent="-609600" eaLnBrk="1" hangingPunct="1">
              <a:lnSpc>
                <a:spcPct val="80000"/>
              </a:lnSpc>
              <a:buFontTx/>
              <a:buNone/>
            </a:pPr>
            <a:r>
              <a:rPr lang="en-US" altLang="zh-CN" sz="1600" dirty="0"/>
              <a:t>  </a:t>
            </a:r>
          </a:p>
        </p:txBody>
      </p:sp>
      <p:sp>
        <p:nvSpPr>
          <p:cNvPr id="6" name="矩形 5"/>
          <p:cNvSpPr/>
          <p:nvPr/>
        </p:nvSpPr>
        <p:spPr>
          <a:xfrm>
            <a:off x="971550" y="1376363"/>
            <a:ext cx="2016125" cy="4683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7" name="矩形 6"/>
          <p:cNvSpPr/>
          <p:nvPr/>
        </p:nvSpPr>
        <p:spPr>
          <a:xfrm>
            <a:off x="3492500" y="1376363"/>
            <a:ext cx="2087563" cy="4683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8" name="矩形 7"/>
          <p:cNvSpPr/>
          <p:nvPr/>
        </p:nvSpPr>
        <p:spPr>
          <a:xfrm>
            <a:off x="6084888" y="1376363"/>
            <a:ext cx="2016125" cy="4683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用户</a:t>
            </a:r>
            <a:r>
              <a:rPr lang="en-US" altLang="zh-CN" dirty="0"/>
              <a:t>Request</a:t>
            </a:r>
            <a:endParaRPr lang="zh-CN" altLang="en-US" dirty="0"/>
          </a:p>
        </p:txBody>
      </p:sp>
      <p:sp>
        <p:nvSpPr>
          <p:cNvPr id="9" name="下箭头 8"/>
          <p:cNvSpPr/>
          <p:nvPr/>
        </p:nvSpPr>
        <p:spPr>
          <a:xfrm>
            <a:off x="4254500" y="1989138"/>
            <a:ext cx="484188" cy="64770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2" name="矩形 1"/>
          <p:cNvSpPr/>
          <p:nvPr/>
        </p:nvSpPr>
        <p:spPr>
          <a:xfrm>
            <a:off x="3452813" y="2840038"/>
            <a:ext cx="2087562" cy="493712"/>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tLang="zh-CN" dirty="0"/>
              <a:t>APACHE /IIS/NGINX</a:t>
            </a:r>
            <a:endParaRPr lang="zh-CN" altLang="en-US" dirty="0"/>
          </a:p>
        </p:txBody>
      </p:sp>
      <p:sp>
        <p:nvSpPr>
          <p:cNvPr id="14" name="下箭头 13"/>
          <p:cNvSpPr/>
          <p:nvPr/>
        </p:nvSpPr>
        <p:spPr>
          <a:xfrm>
            <a:off x="4254500" y="3500438"/>
            <a:ext cx="484188" cy="649287"/>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15" name="矩形 14"/>
          <p:cNvSpPr/>
          <p:nvPr/>
        </p:nvSpPr>
        <p:spPr>
          <a:xfrm>
            <a:off x="1000125" y="4365625"/>
            <a:ext cx="2016125" cy="468313"/>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altLang="zh-CN" dirty="0"/>
              <a:t>PHP</a:t>
            </a:r>
            <a:r>
              <a:rPr lang="zh-CN" altLang="en-US" dirty="0"/>
              <a:t>线程</a:t>
            </a:r>
          </a:p>
        </p:txBody>
      </p:sp>
      <p:sp>
        <p:nvSpPr>
          <p:cNvPr id="16" name="矩形 15"/>
          <p:cNvSpPr/>
          <p:nvPr/>
        </p:nvSpPr>
        <p:spPr>
          <a:xfrm>
            <a:off x="6084888" y="4365625"/>
            <a:ext cx="2016125" cy="468313"/>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altLang="zh-CN" dirty="0"/>
              <a:t>PHP</a:t>
            </a:r>
            <a:r>
              <a:rPr lang="zh-CN" altLang="en-US" dirty="0"/>
              <a:t>线程</a:t>
            </a:r>
          </a:p>
        </p:txBody>
      </p:sp>
      <p:sp>
        <p:nvSpPr>
          <p:cNvPr id="17" name="矩形 16"/>
          <p:cNvSpPr/>
          <p:nvPr/>
        </p:nvSpPr>
        <p:spPr>
          <a:xfrm>
            <a:off x="3452813" y="4365625"/>
            <a:ext cx="2016125" cy="468313"/>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altLang="zh-CN" dirty="0"/>
              <a:t>PHP</a:t>
            </a:r>
            <a:r>
              <a:rPr lang="zh-CN" altLang="en-US" dirty="0"/>
              <a:t>线程</a:t>
            </a:r>
          </a:p>
        </p:txBody>
      </p:sp>
      <p:sp>
        <p:nvSpPr>
          <p:cNvPr id="18" name="下箭头 17"/>
          <p:cNvSpPr/>
          <p:nvPr/>
        </p:nvSpPr>
        <p:spPr>
          <a:xfrm>
            <a:off x="6850063" y="4903788"/>
            <a:ext cx="484187" cy="64770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19" name="下箭头 18"/>
          <p:cNvSpPr/>
          <p:nvPr/>
        </p:nvSpPr>
        <p:spPr>
          <a:xfrm>
            <a:off x="4217988" y="4903788"/>
            <a:ext cx="485775" cy="64770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20" name="下箭头 19"/>
          <p:cNvSpPr/>
          <p:nvPr/>
        </p:nvSpPr>
        <p:spPr>
          <a:xfrm>
            <a:off x="1736725" y="4941888"/>
            <a:ext cx="485775" cy="647700"/>
          </a:xfrm>
          <a:prstGeom prst="down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zh-CN" altLang="en-US"/>
          </a:p>
        </p:txBody>
      </p:sp>
      <p:sp>
        <p:nvSpPr>
          <p:cNvPr id="21" name="矩形 20"/>
          <p:cNvSpPr/>
          <p:nvPr/>
        </p:nvSpPr>
        <p:spPr>
          <a:xfrm>
            <a:off x="6084888" y="5783263"/>
            <a:ext cx="2016125" cy="46672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处理</a:t>
            </a:r>
            <a:r>
              <a:rPr lang="en-US" altLang="zh-CN" dirty="0"/>
              <a:t>Request</a:t>
            </a:r>
            <a:endParaRPr lang="zh-CN" altLang="en-US" dirty="0"/>
          </a:p>
        </p:txBody>
      </p:sp>
      <p:sp>
        <p:nvSpPr>
          <p:cNvPr id="22" name="矩形 21"/>
          <p:cNvSpPr/>
          <p:nvPr/>
        </p:nvSpPr>
        <p:spPr>
          <a:xfrm>
            <a:off x="3416300" y="5792788"/>
            <a:ext cx="2016125" cy="4683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处理</a:t>
            </a:r>
            <a:r>
              <a:rPr lang="en-US" altLang="zh-CN" dirty="0"/>
              <a:t>Request</a:t>
            </a:r>
            <a:endParaRPr lang="zh-CN" altLang="en-US" dirty="0"/>
          </a:p>
        </p:txBody>
      </p:sp>
      <p:sp>
        <p:nvSpPr>
          <p:cNvPr id="23" name="矩形 22"/>
          <p:cNvSpPr/>
          <p:nvPr/>
        </p:nvSpPr>
        <p:spPr>
          <a:xfrm>
            <a:off x="971550" y="5805488"/>
            <a:ext cx="2016125" cy="4683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zh-CN" altLang="en-US" dirty="0"/>
              <a:t>处理</a:t>
            </a:r>
            <a:r>
              <a:rPr lang="en-US" altLang="zh-CN" dirty="0"/>
              <a:t>Request</a:t>
            </a:r>
            <a:endParaRPr lang="zh-CN" altLang="en-US" dirty="0"/>
          </a:p>
        </p:txBody>
      </p:sp>
      <p:sp>
        <p:nvSpPr>
          <p:cNvPr id="4" name="矩形 3"/>
          <p:cNvSpPr/>
          <p:nvPr/>
        </p:nvSpPr>
        <p:spPr>
          <a:xfrm>
            <a:off x="117699" y="42317"/>
            <a:ext cx="9241978" cy="769441"/>
          </a:xfrm>
          <a:prstGeom prst="rect">
            <a:avLst/>
          </a:prstGeom>
        </p:spPr>
        <p:txBody>
          <a:bodyPr wrap="square">
            <a:spAutoFit/>
          </a:bodyPr>
          <a:lstStyle/>
          <a:p>
            <a:pPr lvl="0"/>
            <a:r>
              <a:rPr lang="en-US" altLang="zh-CN" sz="4400" dirty="0">
                <a:solidFill>
                  <a:prstClr val="black"/>
                </a:solidFill>
              </a:rPr>
              <a:t>4.3.3 </a:t>
            </a:r>
            <a:r>
              <a:rPr lang="zh-CN" altLang="en-US" sz="4400" dirty="0">
                <a:solidFill>
                  <a:prstClr val="black"/>
                </a:solidFill>
              </a:rPr>
              <a:t>网站建设新技术 </a:t>
            </a:r>
            <a:r>
              <a:rPr lang="en-US" altLang="zh-CN" sz="4400" dirty="0">
                <a:solidFill>
                  <a:prstClr val="black"/>
                </a:solidFill>
              </a:rPr>
              <a:t>Node.js</a:t>
            </a:r>
            <a:endParaRPr lang="zh-CN" altLang="en-US" dirty="0">
              <a:solidFill>
                <a:prstClr val="black"/>
              </a:solidFill>
            </a:endParaRPr>
          </a:p>
        </p:txBody>
      </p:sp>
    </p:spTree>
    <p:extLst>
      <p:ext uri="{BB962C8B-B14F-4D97-AF65-F5344CB8AC3E}">
        <p14:creationId xmlns:p14="http://schemas.microsoft.com/office/powerpoint/2010/main" val="253306344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lvl="0"/>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
        <p:nvSpPr>
          <p:cNvPr id="4099" name="Rectangle 3"/>
          <p:cNvSpPr>
            <a:spLocks noGrp="1" noChangeArrowheads="1"/>
          </p:cNvSpPr>
          <p:nvPr>
            <p:ph idx="1"/>
          </p:nvPr>
        </p:nvSpPr>
        <p:spPr>
          <a:xfrm>
            <a:off x="611560" y="1268760"/>
            <a:ext cx="8218487" cy="5073427"/>
          </a:xfrm>
        </p:spPr>
        <p:txBody>
          <a:bodyPr rtlCol="0">
            <a:normAutofit/>
          </a:bodyPr>
          <a:lstStyle/>
          <a:p>
            <a:pPr marL="0" indent="0" eaLnBrk="1" fontAlgn="auto" hangingPunct="1">
              <a:spcAft>
                <a:spcPts val="0"/>
              </a:spcAft>
              <a:buNone/>
              <a:defRPr/>
            </a:pPr>
            <a:r>
              <a:rPr lang="en-US" altLang="zh-CN" b="0" dirty="0"/>
              <a:t>1. </a:t>
            </a:r>
            <a:r>
              <a:rPr lang="zh-CN" altLang="en-US" b="0" dirty="0"/>
              <a:t>它是一个</a:t>
            </a:r>
            <a:r>
              <a:rPr lang="en-US" altLang="zh-CN" b="0" dirty="0" err="1"/>
              <a:t>Javascript</a:t>
            </a:r>
            <a:r>
              <a:rPr lang="zh-CN" altLang="en-US" b="0" dirty="0"/>
              <a:t>运行环境</a:t>
            </a:r>
          </a:p>
          <a:p>
            <a:pPr marL="0" indent="0" eaLnBrk="1" fontAlgn="auto" hangingPunct="1">
              <a:spcAft>
                <a:spcPts val="0"/>
              </a:spcAft>
              <a:buNone/>
              <a:defRPr/>
            </a:pPr>
            <a:r>
              <a:rPr lang="en-US" altLang="zh-CN" b="0" dirty="0"/>
              <a:t>2. </a:t>
            </a:r>
            <a:r>
              <a:rPr lang="zh-CN" altLang="en-US" b="0" dirty="0"/>
              <a:t>依赖于</a:t>
            </a:r>
            <a:r>
              <a:rPr lang="en-US" altLang="zh-CN" b="0" dirty="0"/>
              <a:t>Chrome V8</a:t>
            </a:r>
            <a:r>
              <a:rPr lang="zh-CN" altLang="en-US" b="0" dirty="0"/>
              <a:t>引擎进行代码解释</a:t>
            </a:r>
          </a:p>
          <a:p>
            <a:pPr marL="0" indent="0" eaLnBrk="1" fontAlgn="auto" hangingPunct="1">
              <a:spcAft>
                <a:spcPts val="0"/>
              </a:spcAft>
              <a:buNone/>
              <a:defRPr/>
            </a:pPr>
            <a:r>
              <a:rPr lang="en-US" altLang="zh-CN" b="0" dirty="0"/>
              <a:t>3. </a:t>
            </a:r>
            <a:r>
              <a:rPr lang="zh-CN" altLang="en-US" b="0" dirty="0"/>
              <a:t>事件驱动</a:t>
            </a:r>
          </a:p>
          <a:p>
            <a:pPr marL="0" indent="0" eaLnBrk="1" fontAlgn="auto" hangingPunct="1">
              <a:spcAft>
                <a:spcPts val="0"/>
              </a:spcAft>
              <a:buNone/>
              <a:defRPr/>
            </a:pPr>
            <a:r>
              <a:rPr lang="en-US" altLang="zh-CN" b="0" dirty="0"/>
              <a:t>4. </a:t>
            </a:r>
            <a:r>
              <a:rPr lang="zh-CN" altLang="en-US" b="0" dirty="0"/>
              <a:t>非阻塞</a:t>
            </a:r>
            <a:r>
              <a:rPr lang="en-US" altLang="zh-CN" b="0" dirty="0"/>
              <a:t>I/O</a:t>
            </a:r>
          </a:p>
          <a:p>
            <a:pPr marL="0" indent="0" eaLnBrk="1" fontAlgn="auto" hangingPunct="1">
              <a:spcAft>
                <a:spcPts val="0"/>
              </a:spcAft>
              <a:buNone/>
              <a:defRPr/>
            </a:pPr>
            <a:r>
              <a:rPr lang="en-US" altLang="zh-CN" b="0" dirty="0"/>
              <a:t>5. </a:t>
            </a:r>
            <a:r>
              <a:rPr lang="zh-CN" altLang="en-US" b="0" dirty="0"/>
              <a:t>轻量、可伸缩，适于实时数据交互应用</a:t>
            </a:r>
          </a:p>
          <a:p>
            <a:pPr marL="0" indent="0" eaLnBrk="1" fontAlgn="auto" hangingPunct="1">
              <a:spcAft>
                <a:spcPts val="0"/>
              </a:spcAft>
              <a:buNone/>
              <a:defRPr/>
            </a:pPr>
            <a:r>
              <a:rPr lang="en-US" altLang="zh-CN" b="0" dirty="0"/>
              <a:t>6. </a:t>
            </a:r>
            <a:r>
              <a:rPr lang="zh-CN" altLang="en-US" b="0" dirty="0"/>
              <a:t>单进程，单线程</a:t>
            </a:r>
            <a:endParaRPr lang="en-US" altLang="zh-CN" b="0" dirty="0"/>
          </a:p>
          <a:p>
            <a:pPr marL="0" indent="0" eaLnBrk="1" fontAlgn="auto" hangingPunct="1">
              <a:spcAft>
                <a:spcPts val="0"/>
              </a:spcAft>
              <a:buNone/>
              <a:defRPr/>
            </a:pPr>
            <a:r>
              <a:rPr lang="en-US" altLang="zh-CN" b="0" dirty="0"/>
              <a:t>7. </a:t>
            </a:r>
            <a:r>
              <a:rPr lang="zh-CN" altLang="en-US" b="0" dirty="0"/>
              <a:t>模块化编程</a:t>
            </a:r>
            <a:endParaRPr lang="en-US" altLang="zh-CN" b="0" dirty="0"/>
          </a:p>
          <a:p>
            <a:pPr marL="0" indent="0" eaLnBrk="1" fontAlgn="auto" hangingPunct="1">
              <a:spcAft>
                <a:spcPts val="0"/>
              </a:spcAft>
              <a:buNone/>
              <a:defRPr/>
            </a:pPr>
            <a:r>
              <a:rPr lang="en-US" altLang="zh-CN" b="0" dirty="0"/>
              <a:t>8. </a:t>
            </a:r>
            <a:r>
              <a:rPr lang="zh-CN" altLang="en-US" b="0" dirty="0"/>
              <a:t>事件轮询（</a:t>
            </a:r>
            <a:r>
              <a:rPr lang="en-US" altLang="zh-CN" b="0" dirty="0"/>
              <a:t>event loop</a:t>
            </a:r>
            <a:r>
              <a:rPr lang="zh-CN" altLang="en-US" b="0" dirty="0"/>
              <a:t>）</a:t>
            </a:r>
          </a:p>
          <a:p>
            <a:pPr marL="0" indent="0">
              <a:buNone/>
              <a:defRPr/>
            </a:pPr>
            <a:endParaRPr lang="zh-CN" altLang="en-US" b="0" dirty="0"/>
          </a:p>
        </p:txBody>
      </p:sp>
    </p:spTree>
    <p:extLst>
      <p:ext uri="{BB962C8B-B14F-4D97-AF65-F5344CB8AC3E}">
        <p14:creationId xmlns:p14="http://schemas.microsoft.com/office/powerpoint/2010/main" val="310640441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23528" y="1340768"/>
            <a:ext cx="8229600" cy="703263"/>
          </a:xfrm>
        </p:spPr>
        <p:txBody>
          <a:bodyPr/>
          <a:lstStyle/>
          <a:p>
            <a:pPr eaLnBrk="1" hangingPunct="1"/>
            <a:r>
              <a:rPr lang="en-US" altLang="zh-CN" sz="3600" dirty="0" err="1"/>
              <a:t>NodeJS</a:t>
            </a:r>
            <a:r>
              <a:rPr lang="zh-CN" altLang="en-US" sz="3600" dirty="0"/>
              <a:t>带来的对系统瓶颈的解决方案</a:t>
            </a:r>
          </a:p>
        </p:txBody>
      </p:sp>
      <p:sp>
        <p:nvSpPr>
          <p:cNvPr id="4099" name="Rectangle 3"/>
          <p:cNvSpPr>
            <a:spLocks noGrp="1" noChangeArrowheads="1"/>
          </p:cNvSpPr>
          <p:nvPr>
            <p:ph idx="1"/>
          </p:nvPr>
        </p:nvSpPr>
        <p:spPr>
          <a:xfrm>
            <a:off x="539552" y="2312925"/>
            <a:ext cx="8218487" cy="2232149"/>
          </a:xfrm>
        </p:spPr>
        <p:txBody>
          <a:bodyPr rtlCol="0">
            <a:normAutofit/>
          </a:bodyPr>
          <a:lstStyle/>
          <a:p>
            <a:pPr marL="0" indent="0" eaLnBrk="1" fontAlgn="auto" hangingPunct="1">
              <a:spcAft>
                <a:spcPts val="0"/>
              </a:spcAft>
              <a:buNone/>
              <a:defRPr/>
            </a:pPr>
            <a:r>
              <a:rPr lang="en-US" altLang="zh-CN" b="0" dirty="0"/>
              <a:t>1. </a:t>
            </a:r>
            <a:r>
              <a:rPr lang="zh-CN" altLang="en-US" b="0" dirty="0"/>
              <a:t>并发连接</a:t>
            </a:r>
          </a:p>
          <a:p>
            <a:pPr marL="0" indent="0">
              <a:buNone/>
              <a:defRPr/>
            </a:pPr>
            <a:r>
              <a:rPr lang="zh-CN" altLang="en-US" b="0" dirty="0"/>
              <a:t>想象一个场景，我们在银行排队办理业务，我们看看下面两个模型。</a:t>
            </a:r>
          </a:p>
          <a:p>
            <a:pPr marL="0" indent="0">
              <a:buNone/>
              <a:defRPr/>
            </a:pPr>
            <a:endParaRPr lang="zh-CN" altLang="en-US" b="0" dirty="0"/>
          </a:p>
        </p:txBody>
      </p:sp>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Tree>
    <p:extLst>
      <p:ext uri="{BB962C8B-B14F-4D97-AF65-F5344CB8AC3E}">
        <p14:creationId xmlns:p14="http://schemas.microsoft.com/office/powerpoint/2010/main" val="17847697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564904"/>
            <a:ext cx="5508922" cy="2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矩形 2"/>
          <p:cNvSpPr>
            <a:spLocks noChangeArrowheads="1"/>
          </p:cNvSpPr>
          <p:nvPr/>
        </p:nvSpPr>
        <p:spPr bwMode="auto">
          <a:xfrm>
            <a:off x="503238" y="5300663"/>
            <a:ext cx="8137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t>这种模型的问题显而易见，服务端只有一个线程，并发请求（用户）到达只能处理一个，其余的要先等待，这就是阻塞，正在享受服务的请求阻塞后面的请求了。</a:t>
            </a:r>
            <a:endParaRPr lang="en-US" altLang="zh-CN"/>
          </a:p>
        </p:txBody>
      </p:sp>
      <p:sp>
        <p:nvSpPr>
          <p:cNvPr id="6"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
        <p:nvSpPr>
          <p:cNvPr id="2" name="文本框 1">
            <a:extLst>
              <a:ext uri="{FF2B5EF4-FFF2-40B4-BE49-F238E27FC236}">
                <a16:creationId xmlns:a16="http://schemas.microsoft.com/office/drawing/2014/main" id="{83B957EB-E842-47A2-8673-A2C440346172}"/>
              </a:ext>
            </a:extLst>
          </p:cNvPr>
          <p:cNvSpPr txBox="1"/>
          <p:nvPr/>
        </p:nvSpPr>
        <p:spPr>
          <a:xfrm>
            <a:off x="683568" y="1340768"/>
            <a:ext cx="2592288" cy="369332"/>
          </a:xfrm>
          <a:prstGeom prst="rect">
            <a:avLst/>
          </a:prstGeom>
          <a:noFill/>
        </p:spPr>
        <p:txBody>
          <a:bodyPr wrap="square" rtlCol="0">
            <a:spAutoFit/>
          </a:bodyPr>
          <a:lstStyle/>
          <a:p>
            <a:r>
              <a:rPr lang="en-US" altLang="zh-CN" dirty="0"/>
              <a:t>a. </a:t>
            </a:r>
            <a:r>
              <a:rPr lang="zh-CN" altLang="en-US" dirty="0"/>
              <a:t>单进程模式</a:t>
            </a:r>
          </a:p>
        </p:txBody>
      </p:sp>
      <p:sp>
        <p:nvSpPr>
          <p:cNvPr id="3" name="对话气泡: 矩形 2">
            <a:extLst>
              <a:ext uri="{FF2B5EF4-FFF2-40B4-BE49-F238E27FC236}">
                <a16:creationId xmlns:a16="http://schemas.microsoft.com/office/drawing/2014/main" id="{9B6EAAC5-A554-42CA-BBF4-81DD806F8F0B}"/>
              </a:ext>
            </a:extLst>
          </p:cNvPr>
          <p:cNvSpPr/>
          <p:nvPr/>
        </p:nvSpPr>
        <p:spPr>
          <a:xfrm>
            <a:off x="3779912" y="2204863"/>
            <a:ext cx="936104" cy="435533"/>
          </a:xfrm>
          <a:prstGeom prst="wedgeRectCallout">
            <a:avLst>
              <a:gd name="adj1" fmla="val -51094"/>
              <a:gd name="adj2" fmla="val 853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业务员</a:t>
            </a:r>
          </a:p>
        </p:txBody>
      </p:sp>
    </p:spTree>
    <p:extLst>
      <p:ext uri="{BB962C8B-B14F-4D97-AF65-F5344CB8AC3E}">
        <p14:creationId xmlns:p14="http://schemas.microsoft.com/office/powerpoint/2010/main" val="64841961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5949" y="2157400"/>
            <a:ext cx="6172101" cy="3179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矩形 1"/>
          <p:cNvSpPr>
            <a:spLocks noChangeArrowheads="1"/>
          </p:cNvSpPr>
          <p:nvPr/>
        </p:nvSpPr>
        <p:spPr bwMode="auto">
          <a:xfrm>
            <a:off x="539552" y="5301208"/>
            <a:ext cx="77803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dirty="0"/>
              <a:t>这个模型已经比上一个有所进步，它调节服务端线程的数量来提高对并发请求的接收和响应，但并发量高的时候，请求仍然需要等待。</a:t>
            </a:r>
          </a:p>
        </p:txBody>
      </p:sp>
      <p:sp>
        <p:nvSpPr>
          <p:cNvPr id="6"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
        <p:nvSpPr>
          <p:cNvPr id="2" name="文本框 1">
            <a:extLst>
              <a:ext uri="{FF2B5EF4-FFF2-40B4-BE49-F238E27FC236}">
                <a16:creationId xmlns:a16="http://schemas.microsoft.com/office/drawing/2014/main" id="{1A1A0AD1-DB68-43D1-B205-57A7FDB5CFE7}"/>
              </a:ext>
            </a:extLst>
          </p:cNvPr>
          <p:cNvSpPr txBox="1"/>
          <p:nvPr/>
        </p:nvSpPr>
        <p:spPr>
          <a:xfrm>
            <a:off x="683568" y="1340768"/>
            <a:ext cx="2592288" cy="369332"/>
          </a:xfrm>
          <a:prstGeom prst="rect">
            <a:avLst/>
          </a:prstGeom>
          <a:noFill/>
        </p:spPr>
        <p:txBody>
          <a:bodyPr wrap="square" rtlCol="0">
            <a:spAutoFit/>
          </a:bodyPr>
          <a:lstStyle/>
          <a:p>
            <a:r>
              <a:rPr lang="en-US" altLang="zh-CN" dirty="0"/>
              <a:t>a. </a:t>
            </a:r>
            <a:r>
              <a:rPr lang="zh-CN" altLang="en-US" dirty="0"/>
              <a:t>多进程模式</a:t>
            </a:r>
          </a:p>
        </p:txBody>
      </p:sp>
      <p:sp>
        <p:nvSpPr>
          <p:cNvPr id="3" name="对话气泡: 矩形 2">
            <a:extLst>
              <a:ext uri="{FF2B5EF4-FFF2-40B4-BE49-F238E27FC236}">
                <a16:creationId xmlns:a16="http://schemas.microsoft.com/office/drawing/2014/main" id="{3EA45686-3AA2-4AB4-A871-F1C83E0CEB3C}"/>
              </a:ext>
            </a:extLst>
          </p:cNvPr>
          <p:cNvSpPr/>
          <p:nvPr/>
        </p:nvSpPr>
        <p:spPr>
          <a:xfrm>
            <a:off x="3429520" y="1939633"/>
            <a:ext cx="936104" cy="435533"/>
          </a:xfrm>
          <a:prstGeom prst="wedgeRectCallout">
            <a:avLst>
              <a:gd name="adj1" fmla="val -51094"/>
              <a:gd name="adj2" fmla="val 853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业务员</a:t>
            </a:r>
          </a:p>
        </p:txBody>
      </p:sp>
      <p:sp>
        <p:nvSpPr>
          <p:cNvPr id="4" name="对话气泡: 矩形 3">
            <a:extLst>
              <a:ext uri="{FF2B5EF4-FFF2-40B4-BE49-F238E27FC236}">
                <a16:creationId xmlns:a16="http://schemas.microsoft.com/office/drawing/2014/main" id="{F341B69B-22D5-4EEF-9B23-F1E643BB825C}"/>
              </a:ext>
            </a:extLst>
          </p:cNvPr>
          <p:cNvSpPr/>
          <p:nvPr/>
        </p:nvSpPr>
        <p:spPr>
          <a:xfrm>
            <a:off x="5312021" y="1768272"/>
            <a:ext cx="936104" cy="435533"/>
          </a:xfrm>
          <a:prstGeom prst="wedgeRectCallout">
            <a:avLst>
              <a:gd name="adj1" fmla="val -51094"/>
              <a:gd name="adj2" fmla="val 853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业务员</a:t>
            </a:r>
          </a:p>
        </p:txBody>
      </p:sp>
      <p:sp>
        <p:nvSpPr>
          <p:cNvPr id="8" name="对话气泡: 矩形 7">
            <a:extLst>
              <a:ext uri="{FF2B5EF4-FFF2-40B4-BE49-F238E27FC236}">
                <a16:creationId xmlns:a16="http://schemas.microsoft.com/office/drawing/2014/main" id="{378E9FA8-9D9A-47D6-9B6C-90E427F1498B}"/>
              </a:ext>
            </a:extLst>
          </p:cNvPr>
          <p:cNvSpPr/>
          <p:nvPr/>
        </p:nvSpPr>
        <p:spPr>
          <a:xfrm>
            <a:off x="7165699" y="1768272"/>
            <a:ext cx="936104" cy="435533"/>
          </a:xfrm>
          <a:prstGeom prst="wedgeRectCallout">
            <a:avLst>
              <a:gd name="adj1" fmla="val -51094"/>
              <a:gd name="adj2" fmla="val 853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业务员</a:t>
            </a:r>
          </a:p>
        </p:txBody>
      </p:sp>
    </p:spTree>
    <p:extLst>
      <p:ext uri="{BB962C8B-B14F-4D97-AF65-F5344CB8AC3E}">
        <p14:creationId xmlns:p14="http://schemas.microsoft.com/office/powerpoint/2010/main" val="74132425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内容占位符 1"/>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47159" y="1404906"/>
            <a:ext cx="7581900" cy="2943225"/>
          </a:xfrm>
        </p:spPr>
      </p:pic>
      <p:sp>
        <p:nvSpPr>
          <p:cNvPr id="11267" name="矩形 3"/>
          <p:cNvSpPr>
            <a:spLocks noChangeArrowheads="1"/>
          </p:cNvSpPr>
          <p:nvPr/>
        </p:nvSpPr>
        <p:spPr bwMode="auto">
          <a:xfrm>
            <a:off x="627842" y="4797152"/>
            <a:ext cx="7775575" cy="170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t>服务端与客户端每建立一个连接，都要为这个连接分配一套配套的资源，主要体现为系统内存资源，以</a:t>
            </a:r>
            <a:r>
              <a:rPr lang="en-US" altLang="zh-CN" dirty="0"/>
              <a:t>PHP</a:t>
            </a:r>
            <a:r>
              <a:rPr lang="zh-CN" altLang="en-US" dirty="0"/>
              <a:t>为例，维护一个连接可能需要</a:t>
            </a:r>
            <a:r>
              <a:rPr lang="en-US" altLang="zh-CN" dirty="0"/>
              <a:t>20M</a:t>
            </a:r>
            <a:r>
              <a:rPr lang="zh-CN" altLang="en-US" dirty="0"/>
              <a:t>的内存。开销巨大。</a:t>
            </a:r>
          </a:p>
          <a:p>
            <a:pPr eaLnBrk="1" hangingPunct="1">
              <a:lnSpc>
                <a:spcPct val="150000"/>
              </a:lnSpc>
            </a:pPr>
            <a:endParaRPr lang="zh-CN" altLang="en-US" dirty="0"/>
          </a:p>
        </p:txBody>
      </p:sp>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Tree>
    <p:extLst>
      <p:ext uri="{BB962C8B-B14F-4D97-AF65-F5344CB8AC3E}">
        <p14:creationId xmlns:p14="http://schemas.microsoft.com/office/powerpoint/2010/main" val="24972828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228817"/>
            <a:ext cx="6643445" cy="3695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矩形 7"/>
          <p:cNvSpPr>
            <a:spLocks noChangeArrowheads="1"/>
          </p:cNvSpPr>
          <p:nvPr/>
        </p:nvSpPr>
        <p:spPr bwMode="auto">
          <a:xfrm>
            <a:off x="323850" y="4076700"/>
            <a:ext cx="8569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p>
        </p:txBody>
      </p:sp>
      <p:sp>
        <p:nvSpPr>
          <p:cNvPr id="5"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4.3.3 </a:t>
            </a:r>
            <a:r>
              <a:rPr lang="zh-CN" altLang="en-US" dirty="0">
                <a:solidFill>
                  <a:prstClr val="black"/>
                </a:solidFill>
              </a:rPr>
              <a:t>网站建设新技术 </a:t>
            </a:r>
            <a:r>
              <a:rPr lang="en-US" altLang="zh-CN" dirty="0" err="1"/>
              <a:t>NodeJS</a:t>
            </a:r>
            <a:r>
              <a:rPr lang="zh-CN" altLang="en-US" dirty="0"/>
              <a:t>的特点</a:t>
            </a:r>
          </a:p>
        </p:txBody>
      </p:sp>
      <p:sp>
        <p:nvSpPr>
          <p:cNvPr id="2" name="文本框 1">
            <a:extLst>
              <a:ext uri="{FF2B5EF4-FFF2-40B4-BE49-F238E27FC236}">
                <a16:creationId xmlns:a16="http://schemas.microsoft.com/office/drawing/2014/main" id="{4904CA57-C2B2-45F5-9AA7-3A6105001A14}"/>
              </a:ext>
            </a:extLst>
          </p:cNvPr>
          <p:cNvSpPr txBox="1"/>
          <p:nvPr/>
        </p:nvSpPr>
        <p:spPr>
          <a:xfrm>
            <a:off x="683568" y="1340768"/>
            <a:ext cx="2592288" cy="369332"/>
          </a:xfrm>
          <a:prstGeom prst="rect">
            <a:avLst/>
          </a:prstGeom>
          <a:noFill/>
        </p:spPr>
        <p:txBody>
          <a:bodyPr wrap="square" rtlCol="0">
            <a:spAutoFit/>
          </a:bodyPr>
          <a:lstStyle/>
          <a:p>
            <a:r>
              <a:rPr lang="en-US" altLang="zh-CN" dirty="0"/>
              <a:t>c. </a:t>
            </a:r>
            <a:r>
              <a:rPr lang="zh-CN" altLang="en-US" dirty="0"/>
              <a:t>异步模式</a:t>
            </a:r>
          </a:p>
        </p:txBody>
      </p:sp>
    </p:spTree>
    <p:extLst>
      <p:ext uri="{BB962C8B-B14F-4D97-AF65-F5344CB8AC3E}">
        <p14:creationId xmlns:p14="http://schemas.microsoft.com/office/powerpoint/2010/main" val="160343119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1"/>
          <p:cNvSpPr>
            <a:spLocks noChangeArrowheads="1"/>
          </p:cNvSpPr>
          <p:nvPr/>
        </p:nvSpPr>
        <p:spPr bwMode="auto">
          <a:xfrm>
            <a:off x="441294" y="1268760"/>
            <a:ext cx="8064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defRPr/>
            </a:pPr>
            <a:r>
              <a:rPr lang="en-US" altLang="zh-CN" sz="3200" b="1" dirty="0">
                <a:solidFill>
                  <a:srgbClr val="0000FF"/>
                </a:solidFill>
                <a:latin typeface="Calibri"/>
              </a:rPr>
              <a:t>2. I/O</a:t>
            </a:r>
            <a:r>
              <a:rPr lang="zh-CN" altLang="en-US" sz="3200" b="1" dirty="0">
                <a:solidFill>
                  <a:srgbClr val="0000FF"/>
                </a:solidFill>
                <a:latin typeface="Calibri"/>
              </a:rPr>
              <a:t>阻塞</a:t>
            </a:r>
            <a:endParaRPr lang="zh-CN" altLang="en-US" dirty="0"/>
          </a:p>
        </p:txBody>
      </p:sp>
      <p:pic>
        <p:nvPicPr>
          <p:cNvPr id="1433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4131" y="3140968"/>
            <a:ext cx="583882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4.3.4 </a:t>
            </a:r>
            <a:r>
              <a:rPr lang="zh-CN" altLang="en-US" dirty="0">
                <a:solidFill>
                  <a:prstClr val="black"/>
                </a:solidFill>
              </a:rPr>
              <a:t>网站建设新技术 </a:t>
            </a:r>
            <a:r>
              <a:rPr lang="en-US" altLang="zh-CN" dirty="0" err="1"/>
              <a:t>NodeJS</a:t>
            </a:r>
            <a:r>
              <a:rPr lang="zh-CN" altLang="en-US" dirty="0"/>
              <a:t>的特点</a:t>
            </a:r>
          </a:p>
        </p:txBody>
      </p:sp>
      <p:sp>
        <p:nvSpPr>
          <p:cNvPr id="5" name="矩形 3"/>
          <p:cNvSpPr>
            <a:spLocks noChangeArrowheads="1"/>
          </p:cNvSpPr>
          <p:nvPr/>
        </p:nvSpPr>
        <p:spPr bwMode="auto">
          <a:xfrm>
            <a:off x="467544" y="2060848"/>
            <a:ext cx="8027958" cy="79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000" dirty="0"/>
              <a:t>一般代码都是串行获取数据，顺序运行，执行完一条在执行下一条，遇到</a:t>
            </a:r>
            <a:r>
              <a:rPr lang="en-US" altLang="zh-CN" sz="2000" dirty="0"/>
              <a:t>IO</a:t>
            </a:r>
            <a:r>
              <a:rPr lang="zh-CN" altLang="en-US" sz="2000" dirty="0"/>
              <a:t>操作，比较费时</a:t>
            </a:r>
          </a:p>
        </p:txBody>
      </p:sp>
    </p:spTree>
    <p:extLst>
      <p:ext uri="{BB962C8B-B14F-4D97-AF65-F5344CB8AC3E}">
        <p14:creationId xmlns:p14="http://schemas.microsoft.com/office/powerpoint/2010/main" val="176580357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5"/>
          <p:cNvSpPr>
            <a:spLocks noChangeArrowheads="1"/>
          </p:cNvSpPr>
          <p:nvPr/>
        </p:nvSpPr>
        <p:spPr bwMode="auto">
          <a:xfrm>
            <a:off x="380032" y="1002755"/>
            <a:ext cx="81003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err="1"/>
              <a:t>NodeJS</a:t>
            </a:r>
            <a:r>
              <a:rPr lang="zh-CN" altLang="en-US" sz="2800" dirty="0"/>
              <a:t>非阻塞</a:t>
            </a:r>
            <a:r>
              <a:rPr lang="en-US" altLang="zh-CN" sz="2800" dirty="0"/>
              <a:t>I/O</a:t>
            </a:r>
            <a:r>
              <a:rPr lang="zh-CN" altLang="en-US" sz="2800" dirty="0"/>
              <a:t>，发射</a:t>
            </a:r>
            <a:r>
              <a:rPr lang="en-US" altLang="zh-CN" sz="2800" dirty="0"/>
              <a:t>/</a:t>
            </a:r>
            <a:r>
              <a:rPr lang="zh-CN" altLang="en-US" sz="2800" dirty="0"/>
              <a:t>监听事件来控制执行过程。</a:t>
            </a:r>
            <a:endParaRPr lang="en-US" altLang="zh-CN" sz="2800" dirty="0"/>
          </a:p>
        </p:txBody>
      </p:sp>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4.3.4 </a:t>
            </a:r>
            <a:r>
              <a:rPr lang="zh-CN" altLang="en-US" dirty="0">
                <a:solidFill>
                  <a:prstClr val="black"/>
                </a:solidFill>
              </a:rPr>
              <a:t>网站建设新技术 </a:t>
            </a:r>
            <a:r>
              <a:rPr lang="en-US" altLang="zh-CN" dirty="0" err="1"/>
              <a:t>NodeJS</a:t>
            </a:r>
            <a:r>
              <a:rPr lang="zh-CN" altLang="en-US" dirty="0"/>
              <a:t>的特点</a:t>
            </a:r>
          </a:p>
        </p:txBody>
      </p:sp>
      <p:sp>
        <p:nvSpPr>
          <p:cNvPr id="6" name="文本框 5">
            <a:extLst>
              <a:ext uri="{FF2B5EF4-FFF2-40B4-BE49-F238E27FC236}">
                <a16:creationId xmlns:a16="http://schemas.microsoft.com/office/drawing/2014/main" id="{8DE6870E-F6D7-496F-86AE-DA177BE888AF}"/>
              </a:ext>
            </a:extLst>
          </p:cNvPr>
          <p:cNvSpPr txBox="1"/>
          <p:nvPr/>
        </p:nvSpPr>
        <p:spPr>
          <a:xfrm>
            <a:off x="827584" y="5036231"/>
            <a:ext cx="8100391" cy="1015663"/>
          </a:xfrm>
          <a:prstGeom prst="rect">
            <a:avLst/>
          </a:prstGeom>
          <a:noFill/>
        </p:spPr>
        <p:txBody>
          <a:bodyPr wrap="square">
            <a:spAutoFit/>
          </a:bodyPr>
          <a:lstStyle/>
          <a:p>
            <a:r>
              <a:rPr lang="zh-CN" altLang="en-US" sz="2000" dirty="0"/>
              <a:t>主线程 </a:t>
            </a:r>
            <a:r>
              <a:rPr lang="en-US" altLang="zh-CN" sz="2000" dirty="0"/>
              <a:t>"</a:t>
            </a:r>
            <a:r>
              <a:rPr lang="zh-CN" altLang="en-US" sz="2000" dirty="0"/>
              <a:t>单线程</a:t>
            </a:r>
            <a:r>
              <a:rPr lang="en-US" altLang="zh-CN" sz="2000" dirty="0"/>
              <a:t>"</a:t>
            </a:r>
            <a:r>
              <a:rPr lang="zh-CN" altLang="en-US" sz="2000" dirty="0"/>
              <a:t>，通过事件驱动模型把 </a:t>
            </a:r>
            <a:r>
              <a:rPr lang="en-US" altLang="zh-CN" sz="2000" dirty="0"/>
              <a:t>I/O </a:t>
            </a:r>
            <a:r>
              <a:rPr lang="zh-CN" altLang="en-US" sz="2000" dirty="0"/>
              <a:t>和计算进行分离。</a:t>
            </a:r>
          </a:p>
          <a:p>
            <a:r>
              <a:rPr lang="zh-CN" altLang="en-US" sz="2000" dirty="0"/>
              <a:t>它还有一个线程池专门负责执行那些耗时较长的 </a:t>
            </a:r>
            <a:r>
              <a:rPr lang="en-US" altLang="zh-CN" sz="2000" dirty="0"/>
              <a:t>I/O </a:t>
            </a:r>
            <a:r>
              <a:rPr lang="zh-CN" altLang="en-US" sz="2000" dirty="0"/>
              <a:t>操作任务</a:t>
            </a:r>
            <a:r>
              <a:rPr lang="en-US" altLang="zh-CN" sz="2000" dirty="0"/>
              <a:t>,</a:t>
            </a:r>
            <a:r>
              <a:rPr lang="zh-CN" altLang="en-US" sz="2000" dirty="0"/>
              <a:t>任务执行完成后会通知主线程。</a:t>
            </a:r>
          </a:p>
        </p:txBody>
      </p:sp>
      <p:sp>
        <p:nvSpPr>
          <p:cNvPr id="10" name="文本框 9">
            <a:extLst>
              <a:ext uri="{FF2B5EF4-FFF2-40B4-BE49-F238E27FC236}">
                <a16:creationId xmlns:a16="http://schemas.microsoft.com/office/drawing/2014/main" id="{06DD13F7-C362-495C-A5D1-FAA0095E239A}"/>
              </a:ext>
            </a:extLst>
          </p:cNvPr>
          <p:cNvSpPr txBox="1"/>
          <p:nvPr/>
        </p:nvSpPr>
        <p:spPr>
          <a:xfrm>
            <a:off x="1259632" y="1620682"/>
            <a:ext cx="6624736" cy="3304110"/>
          </a:xfrm>
          <a:prstGeom prst="rect">
            <a:avLst/>
          </a:prstGeom>
          <a:noFill/>
        </p:spPr>
        <p:txBody>
          <a:bodyPr wrap="square">
            <a:spAutoFit/>
          </a:bodyPr>
          <a:lstStyle/>
          <a:p>
            <a:pPr>
              <a:lnSpc>
                <a:spcPct val="130000"/>
              </a:lnSpc>
            </a:pPr>
            <a:r>
              <a:rPr lang="zh-CN" altLang="en-US" dirty="0"/>
              <a:t>var events = require('events');</a:t>
            </a:r>
          </a:p>
          <a:p>
            <a:pPr>
              <a:lnSpc>
                <a:spcPct val="130000"/>
              </a:lnSpc>
            </a:pPr>
            <a:r>
              <a:rPr lang="zh-CN" altLang="en-US" dirty="0"/>
              <a:t>var emitter = new events.EventEmitter();</a:t>
            </a:r>
          </a:p>
          <a:p>
            <a:pPr>
              <a:lnSpc>
                <a:spcPct val="130000"/>
              </a:lnSpc>
            </a:pPr>
            <a:r>
              <a:rPr lang="zh-CN" altLang="en-US" dirty="0"/>
              <a:t>emitter.on('someEvent', function(arg1, arg2) {</a:t>
            </a:r>
          </a:p>
          <a:p>
            <a:pPr>
              <a:lnSpc>
                <a:spcPct val="130000"/>
              </a:lnSpc>
            </a:pPr>
            <a:r>
              <a:rPr lang="zh-CN" altLang="en-US" dirty="0"/>
              <a:t>console.log('listener1', arg1, arg2);</a:t>
            </a:r>
          </a:p>
          <a:p>
            <a:pPr>
              <a:lnSpc>
                <a:spcPct val="130000"/>
              </a:lnSpc>
            </a:pPr>
            <a:r>
              <a:rPr lang="zh-CN" altLang="en-US" dirty="0"/>
              <a:t>});</a:t>
            </a:r>
          </a:p>
          <a:p>
            <a:pPr>
              <a:lnSpc>
                <a:spcPct val="130000"/>
              </a:lnSpc>
            </a:pPr>
            <a:r>
              <a:rPr lang="zh-CN" altLang="en-US" dirty="0"/>
              <a:t>emitter.on('someEvent', function(arg1, arg2) {</a:t>
            </a:r>
          </a:p>
          <a:p>
            <a:pPr>
              <a:lnSpc>
                <a:spcPct val="130000"/>
              </a:lnSpc>
            </a:pPr>
            <a:r>
              <a:rPr lang="zh-CN" altLang="en-US" dirty="0"/>
              <a:t>console.log('listener2', arg1, arg2);</a:t>
            </a:r>
          </a:p>
          <a:p>
            <a:pPr>
              <a:lnSpc>
                <a:spcPct val="130000"/>
              </a:lnSpc>
            </a:pPr>
            <a:r>
              <a:rPr lang="zh-CN" altLang="en-US" dirty="0"/>
              <a:t>});</a:t>
            </a:r>
          </a:p>
          <a:p>
            <a:pPr>
              <a:lnSpc>
                <a:spcPct val="130000"/>
              </a:lnSpc>
            </a:pPr>
            <a:r>
              <a:rPr lang="zh-CN" altLang="en-US" dirty="0"/>
              <a:t>emitter.emit('someEvent’, </a:t>
            </a:r>
            <a:r>
              <a:rPr lang="en-US" altLang="zh-CN" dirty="0"/>
              <a:t> ‘</a:t>
            </a:r>
            <a:r>
              <a:rPr lang="en-US" altLang="zh-CN" dirty="0" err="1"/>
              <a:t>sombody</a:t>
            </a:r>
            <a:r>
              <a:rPr lang="zh-CN" altLang="en-US" dirty="0"/>
              <a:t>', 1991);</a:t>
            </a:r>
          </a:p>
        </p:txBody>
      </p:sp>
    </p:spTree>
    <p:extLst>
      <p:ext uri="{BB962C8B-B14F-4D97-AF65-F5344CB8AC3E}">
        <p14:creationId xmlns:p14="http://schemas.microsoft.com/office/powerpoint/2010/main" val="7471644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矩形 2"/>
          <p:cNvSpPr>
            <a:spLocks noChangeArrowheads="1"/>
          </p:cNvSpPr>
          <p:nvPr/>
        </p:nvSpPr>
        <p:spPr bwMode="auto">
          <a:xfrm>
            <a:off x="611560" y="1196752"/>
            <a:ext cx="76327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t>优点：</a:t>
            </a:r>
            <a:endParaRPr lang="en-US" altLang="zh-CN" sz="2800" b="1" dirty="0"/>
          </a:p>
          <a:p>
            <a:pPr eaLnBrk="1" hangingPunct="1"/>
            <a:r>
              <a:rPr lang="en-US" altLang="zh-CN" sz="2800" b="1" dirty="0"/>
              <a:t>      </a:t>
            </a:r>
            <a:r>
              <a:rPr lang="en-US" altLang="zh-CN" sz="2800" dirty="0"/>
              <a:t>1. </a:t>
            </a:r>
            <a:r>
              <a:rPr lang="zh-CN" altLang="en-US" sz="2800" dirty="0"/>
              <a:t>高并发    </a:t>
            </a:r>
            <a:endParaRPr lang="en-US" altLang="zh-CN" sz="2800" dirty="0"/>
          </a:p>
          <a:p>
            <a:pPr eaLnBrk="1" hangingPunct="1"/>
            <a:r>
              <a:rPr lang="en-US" altLang="zh-CN" sz="2800" dirty="0"/>
              <a:t>      2. </a:t>
            </a:r>
            <a:r>
              <a:rPr lang="zh-CN" altLang="en-US" sz="2800" dirty="0"/>
              <a:t>适合</a:t>
            </a:r>
            <a:r>
              <a:rPr lang="en-US" altLang="zh-CN" sz="2800" dirty="0"/>
              <a:t>I/O</a:t>
            </a:r>
            <a:r>
              <a:rPr lang="zh-CN" altLang="en-US" sz="2800" dirty="0"/>
              <a:t>密集型应用</a:t>
            </a:r>
          </a:p>
          <a:p>
            <a:pPr eaLnBrk="1" hangingPunct="1"/>
            <a:r>
              <a:rPr lang="zh-CN" altLang="en-US" sz="2800" b="1" dirty="0"/>
              <a:t>缺点：</a:t>
            </a:r>
            <a:endParaRPr lang="en-US" altLang="zh-CN" sz="2800" b="1" dirty="0"/>
          </a:p>
          <a:p>
            <a:pPr eaLnBrk="1" hangingPunct="1"/>
            <a:r>
              <a:rPr lang="en-US" altLang="zh-CN" sz="2800" dirty="0"/>
              <a:t>       1. </a:t>
            </a:r>
            <a:r>
              <a:rPr lang="zh-CN" altLang="en-US" sz="2800" dirty="0"/>
              <a:t>不适合</a:t>
            </a:r>
            <a:r>
              <a:rPr lang="en-US" altLang="zh-CN" sz="2800" dirty="0"/>
              <a:t>CPU</a:t>
            </a:r>
            <a:r>
              <a:rPr lang="zh-CN" altLang="en-US" sz="2800" dirty="0"/>
              <a:t>密集型应用</a:t>
            </a:r>
            <a:endParaRPr lang="en-US" altLang="zh-CN" sz="2800" dirty="0"/>
          </a:p>
          <a:p>
            <a:pPr eaLnBrk="1" hangingPunct="1"/>
            <a:r>
              <a:rPr lang="en-US" altLang="zh-CN" sz="2800" dirty="0"/>
              <a:t>       2. </a:t>
            </a:r>
            <a:r>
              <a:rPr lang="zh-CN" altLang="en-US" sz="2800" dirty="0"/>
              <a:t>只支持单核</a:t>
            </a:r>
            <a:r>
              <a:rPr lang="en-US" altLang="zh-CN" sz="2800" dirty="0"/>
              <a:t>CPU</a:t>
            </a:r>
            <a:r>
              <a:rPr lang="zh-CN" altLang="en-US" sz="2800" dirty="0"/>
              <a:t>，不能充分利用</a:t>
            </a:r>
            <a:r>
              <a:rPr lang="en-US" altLang="zh-CN" sz="2800" dirty="0"/>
              <a:t>CPU</a:t>
            </a:r>
          </a:p>
          <a:p>
            <a:pPr eaLnBrk="1" hangingPunct="1"/>
            <a:r>
              <a:rPr lang="en-US" altLang="zh-CN" sz="2800" dirty="0"/>
              <a:t>       3. </a:t>
            </a:r>
            <a:r>
              <a:rPr lang="zh-CN" altLang="en-US" sz="2800" dirty="0"/>
              <a:t>可靠性低，一旦代码某个环节崩溃，整个系统都崩溃 原因：</a:t>
            </a:r>
            <a:endParaRPr lang="en-US" altLang="zh-CN" sz="2800" dirty="0"/>
          </a:p>
          <a:p>
            <a:pPr eaLnBrk="1" hangingPunct="1"/>
            <a:r>
              <a:rPr lang="en-US" altLang="zh-CN" sz="2800" dirty="0"/>
              <a:t>       4. </a:t>
            </a:r>
            <a:r>
              <a:rPr lang="zh-CN" altLang="en-US" sz="2800" dirty="0"/>
              <a:t>开源组件库质量参差不齐，更新快，向下不兼容</a:t>
            </a:r>
          </a:p>
        </p:txBody>
      </p:sp>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4.3.4 </a:t>
            </a:r>
            <a:r>
              <a:rPr lang="zh-CN" altLang="en-US" dirty="0">
                <a:solidFill>
                  <a:prstClr val="black"/>
                </a:solidFill>
              </a:rPr>
              <a:t>网站建设新技术 </a:t>
            </a:r>
            <a:r>
              <a:rPr lang="en-US" altLang="zh-CN" dirty="0" err="1"/>
              <a:t>NodeJS</a:t>
            </a:r>
            <a:r>
              <a:rPr lang="zh-CN" altLang="en-US" dirty="0"/>
              <a:t>的特点</a:t>
            </a:r>
          </a:p>
        </p:txBody>
      </p:sp>
    </p:spTree>
    <p:extLst>
      <p:ext uri="{BB962C8B-B14F-4D97-AF65-F5344CB8AC3E}">
        <p14:creationId xmlns:p14="http://schemas.microsoft.com/office/powerpoint/2010/main" val="229287901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矩形 2"/>
          <p:cNvSpPr>
            <a:spLocks noChangeArrowheads="1"/>
          </p:cNvSpPr>
          <p:nvPr/>
        </p:nvSpPr>
        <p:spPr bwMode="auto">
          <a:xfrm>
            <a:off x="395536" y="1196752"/>
            <a:ext cx="76327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t>常用框架：</a:t>
            </a:r>
            <a:endParaRPr lang="en-US" altLang="zh-CN" sz="2800" b="1" dirty="0"/>
          </a:p>
        </p:txBody>
      </p:sp>
      <p:sp>
        <p:nvSpPr>
          <p:cNvPr id="4" name="Rectangle 2"/>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solidFill>
                  <a:prstClr val="black"/>
                </a:solidFill>
              </a:rPr>
              <a:t>4.3.4 </a:t>
            </a:r>
            <a:r>
              <a:rPr lang="zh-CN" altLang="en-US" dirty="0">
                <a:solidFill>
                  <a:prstClr val="black"/>
                </a:solidFill>
              </a:rPr>
              <a:t>网站建设新技术 </a:t>
            </a:r>
            <a:r>
              <a:rPr lang="en-US" altLang="zh-CN" dirty="0" err="1"/>
              <a:t>NodeJS</a:t>
            </a:r>
            <a:r>
              <a:rPr lang="zh-CN" altLang="en-US" dirty="0"/>
              <a:t>的特点</a:t>
            </a:r>
          </a:p>
        </p:txBody>
      </p:sp>
      <p:pic>
        <p:nvPicPr>
          <p:cNvPr id="2" name="图片 1"/>
          <p:cNvPicPr>
            <a:picLocks noChangeAspect="1"/>
          </p:cNvPicPr>
          <p:nvPr/>
        </p:nvPicPr>
        <p:blipFill>
          <a:blip r:embed="rId2"/>
          <a:stretch>
            <a:fillRect/>
          </a:stretch>
        </p:blipFill>
        <p:spPr>
          <a:xfrm>
            <a:off x="2123728" y="1724200"/>
            <a:ext cx="4704762" cy="1447619"/>
          </a:xfrm>
          <a:prstGeom prst="rect">
            <a:avLst/>
          </a:prstGeom>
        </p:spPr>
      </p:pic>
      <p:pic>
        <p:nvPicPr>
          <p:cNvPr id="3" name="图片 2"/>
          <p:cNvPicPr>
            <a:picLocks noChangeAspect="1"/>
          </p:cNvPicPr>
          <p:nvPr/>
        </p:nvPicPr>
        <p:blipFill rotWithShape="1">
          <a:blip r:embed="rId3"/>
          <a:srcRect l="19968" r="21705"/>
          <a:stretch/>
        </p:blipFill>
        <p:spPr>
          <a:xfrm>
            <a:off x="971600" y="3898805"/>
            <a:ext cx="2952328" cy="2162949"/>
          </a:xfrm>
          <a:prstGeom prst="rect">
            <a:avLst/>
          </a:prstGeom>
        </p:spPr>
      </p:pic>
      <p:pic>
        <p:nvPicPr>
          <p:cNvPr id="5" name="图片 4"/>
          <p:cNvPicPr>
            <a:picLocks noChangeAspect="1"/>
          </p:cNvPicPr>
          <p:nvPr/>
        </p:nvPicPr>
        <p:blipFill>
          <a:blip r:embed="rId4"/>
          <a:stretch>
            <a:fillRect/>
          </a:stretch>
        </p:blipFill>
        <p:spPr>
          <a:xfrm>
            <a:off x="5364087" y="3789262"/>
            <a:ext cx="3616783" cy="2272492"/>
          </a:xfrm>
          <a:prstGeom prst="rect">
            <a:avLst/>
          </a:prstGeom>
        </p:spPr>
      </p:pic>
    </p:spTree>
    <p:extLst>
      <p:ext uri="{BB962C8B-B14F-4D97-AF65-F5344CB8AC3E}">
        <p14:creationId xmlns:p14="http://schemas.microsoft.com/office/powerpoint/2010/main" val="1755194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25921</TotalTime>
  <Words>10000</Words>
  <Application>Microsoft Macintosh PowerPoint</Application>
  <PresentationFormat>全屏显示(4:3)</PresentationFormat>
  <Paragraphs>1341</Paragraphs>
  <Slides>162</Slides>
  <Notes>42</Notes>
  <HiddenSlides>3</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162</vt:i4>
      </vt:variant>
    </vt:vector>
  </HeadingPairs>
  <TitlesOfParts>
    <vt:vector size="177" baseType="lpstr">
      <vt:lpstr>-apple-system</vt:lpstr>
      <vt:lpstr>黑体</vt:lpstr>
      <vt:lpstr>华文细黑</vt:lpstr>
      <vt:lpstr>楷体_GB2312</vt:lpstr>
      <vt:lpstr>微软雅黑</vt:lpstr>
      <vt:lpstr>PingFang SC</vt:lpstr>
      <vt:lpstr>suxingme</vt:lpstr>
      <vt:lpstr>arial</vt:lpstr>
      <vt:lpstr>arial</vt:lpstr>
      <vt:lpstr>Arial Rounded MT Bold</vt:lpstr>
      <vt:lpstr>Calibri</vt:lpstr>
      <vt:lpstr>Tahoma</vt:lpstr>
      <vt:lpstr>Times New Roman</vt:lpstr>
      <vt:lpstr>Wingdings</vt:lpstr>
      <vt:lpstr>Office 主题​​</vt:lpstr>
      <vt:lpstr>PowerPoint 演示文稿</vt:lpstr>
      <vt:lpstr>PowerPoint 演示文稿</vt:lpstr>
      <vt:lpstr>PowerPoint 演示文稿</vt:lpstr>
      <vt:lpstr>第4章 多媒体通信与网络</vt:lpstr>
      <vt:lpstr>多媒体网络概述</vt:lpstr>
      <vt:lpstr>多媒体网络概述</vt:lpstr>
      <vt:lpstr>多媒体网络结构</vt:lpstr>
      <vt:lpstr>多媒体网络结构</vt:lpstr>
      <vt:lpstr>多媒体网络技术</vt:lpstr>
      <vt:lpstr>互联网上多媒体应用</vt:lpstr>
      <vt:lpstr>互联网上多媒体应用</vt:lpstr>
      <vt:lpstr>互联网上多媒体应用</vt:lpstr>
      <vt:lpstr>互联网络的服务质量（QoS）</vt:lpstr>
      <vt:lpstr>互联网络的服务质量（QoS）</vt:lpstr>
      <vt:lpstr>多媒体服务质量</vt:lpstr>
      <vt:lpstr>多媒体服务质量</vt:lpstr>
      <vt:lpstr>多媒体服务质量</vt:lpstr>
      <vt:lpstr>多媒体服务质量</vt:lpstr>
      <vt:lpstr>多媒体服务质量</vt:lpstr>
      <vt:lpstr>第4章 多媒体通信与网络</vt:lpstr>
      <vt:lpstr>4.1 因特网</vt:lpstr>
      <vt:lpstr>4.1 发展历史</vt:lpstr>
      <vt:lpstr>4.1 网络分层结构</vt:lpstr>
      <vt:lpstr>4.1.1 网络分层-物理层</vt:lpstr>
      <vt:lpstr>4.1.2 网络分层-链路层</vt:lpstr>
      <vt:lpstr>4.1.2 网络分层-链路层</vt:lpstr>
      <vt:lpstr>4.1.2 网络分层-链接层</vt:lpstr>
      <vt:lpstr>4.1.2 网络分层-链接层</vt:lpstr>
      <vt:lpstr>4.1.2 网络分层-链接层</vt:lpstr>
      <vt:lpstr>4.1.2 网络分层-链接层</vt:lpstr>
      <vt:lpstr>4.1.2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4.1.3 网络分层-网络层</vt:lpstr>
      <vt:lpstr>4.1.4 网络分层-传输层</vt:lpstr>
      <vt:lpstr>4.1.4 网络分层-传输层</vt:lpstr>
      <vt:lpstr>4.1.4 网络分层-传输层 UDP协议</vt:lpstr>
      <vt:lpstr>4.1.4 网络分层-传输层 UDP协议</vt:lpstr>
      <vt:lpstr>4.1.4 网络分层-传输层 TCP协议</vt:lpstr>
      <vt:lpstr>4.1.4 网络分层-传输层 TCP协议</vt:lpstr>
      <vt:lpstr>4.1.5 网络分层-应用层</vt:lpstr>
      <vt:lpstr>4.1.5 网络分层-应用层 电子邮件协议</vt:lpstr>
      <vt:lpstr>4.1.5 网络分层-应用层 邮件协议</vt:lpstr>
      <vt:lpstr>4.1.6 互联网协议总结</vt:lpstr>
      <vt:lpstr>4.1.6 互联网协议总结</vt:lpstr>
      <vt:lpstr>动态IP技术</vt:lpstr>
      <vt:lpstr>用户应用程序的网络访问</vt:lpstr>
      <vt:lpstr>域名和IP的转换</vt:lpstr>
      <vt:lpstr>域名和IP地址</vt:lpstr>
      <vt:lpstr>4.1.6 互联网协议总结</vt:lpstr>
      <vt:lpstr>4.1.6 互联网协议总结</vt:lpstr>
      <vt:lpstr>确定了IP，要发送什么数据</vt:lpstr>
      <vt:lpstr>TCP数据包</vt:lpstr>
      <vt:lpstr>IP数据包</vt:lpstr>
      <vt:lpstr>以太网数据包</vt:lpstr>
      <vt:lpstr>Google服务器的响应</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4.1.6 互联网协议总结</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4.1.7 协议分析工具</vt:lpstr>
      <vt:lpstr>PowerPoint 演示文稿</vt:lpstr>
      <vt:lpstr> </vt:lpstr>
      <vt:lpstr>实践环节（3）</vt:lpstr>
      <vt:lpstr>4.1.8 常用网络命令</vt:lpstr>
      <vt:lpstr>4.1.8常用网络命令</vt:lpstr>
      <vt:lpstr>4.1.8 网络编程 如何发送邮件</vt:lpstr>
      <vt:lpstr>4.1.8 网络编程 如何发送虚假邮件</vt:lpstr>
      <vt:lpstr>4.2 多媒体通信与网络</vt:lpstr>
      <vt:lpstr>4.2 网络多媒体技术的应用</vt:lpstr>
      <vt:lpstr>4.2.1 RTMP</vt:lpstr>
      <vt:lpstr>4.2.1 RTMP</vt:lpstr>
      <vt:lpstr>4.2.1 RTMP</vt:lpstr>
      <vt:lpstr>4.2.1 RTMP</vt:lpstr>
      <vt:lpstr>4.2.1 RTMP</vt:lpstr>
      <vt:lpstr>4.2.1 RTMP</vt:lpstr>
      <vt:lpstr>4.2.1 RTMP</vt:lpstr>
      <vt:lpstr>4.2.1 RTMP</vt:lpstr>
      <vt:lpstr>4.2.1 RTMP</vt:lpstr>
      <vt:lpstr>4.2.1 RTMP</vt:lpstr>
      <vt:lpstr>4.2.1 RTMP</vt:lpstr>
      <vt:lpstr>4.2.1 RTMP</vt:lpstr>
      <vt:lpstr>4.2.1 RTMP</vt:lpstr>
      <vt:lpstr>4.2.1 RTMP</vt:lpstr>
      <vt:lpstr>4.2.1 RTMP</vt:lpstr>
      <vt:lpstr>4.2.1 RTMP</vt:lpstr>
      <vt:lpstr>4.2.1 网络视频会议</vt:lpstr>
      <vt:lpstr>4.2.1 网络视频会议</vt:lpstr>
      <vt:lpstr>4.2.1 网络视频会议</vt:lpstr>
      <vt:lpstr>4.2.1 网络视频会议</vt:lpstr>
      <vt:lpstr>4.2.2 视频点播</vt:lpstr>
      <vt:lpstr>4.2.2 视频点播</vt:lpstr>
      <vt:lpstr>4.2.2视频点播</vt:lpstr>
      <vt:lpstr>4.2.3 网络直播</vt:lpstr>
      <vt:lpstr>4.2.4 流媒体通信</vt:lpstr>
      <vt:lpstr>4.2.4 流媒体技术</vt:lpstr>
      <vt:lpstr>4.2.4 RTSP协议</vt:lpstr>
      <vt:lpstr>4.2.4 RTSP协议</vt:lpstr>
      <vt:lpstr>4.2.4 RTSP报文</vt:lpstr>
      <vt:lpstr>4.2.4 RSTP例子</vt:lpstr>
      <vt:lpstr>4.2.4 RTSP的状态转换</vt:lpstr>
      <vt:lpstr>4.2.4 RTP协议和RTCP协议</vt:lpstr>
      <vt:lpstr>4.2.4 实时传输协议RTP</vt:lpstr>
      <vt:lpstr>4.2.4 实时传输控制协议RTCP</vt:lpstr>
      <vt:lpstr>4.2.4 实时传输控制协议RTCP</vt:lpstr>
      <vt:lpstr>4.2.4 实时传输控制协议RTCP</vt:lpstr>
      <vt:lpstr>4.2.4 RSTP应用：IP电话</vt:lpstr>
      <vt:lpstr>4.2.5 MMS协议</vt:lpstr>
      <vt:lpstr>多媒体通信与网络</vt:lpstr>
      <vt:lpstr>4.3 互联网新技术</vt:lpstr>
      <vt:lpstr>4.3.1 互联网访问加速技术- CDN</vt:lpstr>
      <vt:lpstr>4.3.1 互联网访问加速技术- CDN</vt:lpstr>
      <vt:lpstr>PowerPoint 演示文稿</vt:lpstr>
      <vt:lpstr>厦门地区请求解析网易域名</vt:lpstr>
      <vt:lpstr>上海地区请求解析网易域名</vt:lpstr>
      <vt:lpstr>大连请求解析网易域名</vt:lpstr>
      <vt:lpstr>总结：</vt:lpstr>
      <vt:lpstr>4.3.2 网络爬虫</vt:lpstr>
      <vt:lpstr>4.3.2 简单流程</vt:lpstr>
      <vt:lpstr>4.3.2 关键技术</vt:lpstr>
      <vt:lpstr>4.3.2 抓取策略 :: 暴力</vt:lpstr>
      <vt:lpstr>4.3.2 爬虫应用</vt:lpstr>
      <vt:lpstr>4.3.3 网站建设新技术 Node.js</vt:lpstr>
      <vt:lpstr>PowerPoint 演示文稿</vt:lpstr>
      <vt:lpstr>PhP模型</vt:lpstr>
      <vt:lpstr>4.3.3 网站建设新技术 NodeJS的特点</vt:lpstr>
      <vt:lpstr>NodeJS带来的对系统瓶颈的解决方案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多媒体技术</dc:title>
  <dc:creator>hfu</dc:creator>
  <cp:lastModifiedBy>LiJia</cp:lastModifiedBy>
  <cp:revision>260</cp:revision>
  <dcterms:created xsi:type="dcterms:W3CDTF">2013-10-02T02:26:23Z</dcterms:created>
  <dcterms:modified xsi:type="dcterms:W3CDTF">2025-06-18T03:39:50Z</dcterms:modified>
</cp:coreProperties>
</file>