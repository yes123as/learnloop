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439" r:id="rId3"/>
    <p:sldId id="534" r:id="rId4"/>
    <p:sldId id="368" r:id="rId5"/>
    <p:sldId id="313" r:id="rId6"/>
    <p:sldId id="371" r:id="rId7"/>
    <p:sldId id="274" r:id="rId8"/>
    <p:sldId id="536" r:id="rId9"/>
    <p:sldId id="314" r:id="rId10"/>
    <p:sldId id="372" r:id="rId11"/>
    <p:sldId id="373" r:id="rId12"/>
    <p:sldId id="535" r:id="rId13"/>
    <p:sldId id="385" r:id="rId14"/>
    <p:sldId id="475" r:id="rId15"/>
    <p:sldId id="389" r:id="rId16"/>
    <p:sldId id="391" r:id="rId17"/>
    <p:sldId id="402" r:id="rId18"/>
    <p:sldId id="401" r:id="rId19"/>
    <p:sldId id="403" r:id="rId20"/>
    <p:sldId id="404" r:id="rId21"/>
    <p:sldId id="428" r:id="rId22"/>
    <p:sldId id="429" r:id="rId23"/>
    <p:sldId id="527" r:id="rId24"/>
    <p:sldId id="528" r:id="rId25"/>
    <p:sldId id="482" r:id="rId26"/>
    <p:sldId id="483" r:id="rId27"/>
    <p:sldId id="484" r:id="rId28"/>
    <p:sldId id="485" r:id="rId29"/>
    <p:sldId id="486" r:id="rId30"/>
    <p:sldId id="487" r:id="rId31"/>
    <p:sldId id="496" r:id="rId32"/>
    <p:sldId id="497" r:id="rId33"/>
    <p:sldId id="498" r:id="rId34"/>
    <p:sldId id="499" r:id="rId35"/>
    <p:sldId id="426" r:id="rId36"/>
    <p:sldId id="427" r:id="rId37"/>
    <p:sldId id="434" r:id="rId38"/>
    <p:sldId id="514" r:id="rId39"/>
    <p:sldId id="515" r:id="rId40"/>
    <p:sldId id="516" r:id="rId41"/>
    <p:sldId id="517" r:id="rId42"/>
    <p:sldId id="473" r:id="rId43"/>
    <p:sldId id="523" r:id="rId44"/>
    <p:sldId id="524" r:id="rId45"/>
    <p:sldId id="474" r:id="rId46"/>
    <p:sldId id="430" r:id="rId47"/>
    <p:sldId id="421" r:id="rId48"/>
    <p:sldId id="423" r:id="rId49"/>
    <p:sldId id="537" r:id="rId50"/>
    <p:sldId id="431" r:id="rId51"/>
    <p:sldId id="555" r:id="rId52"/>
    <p:sldId id="538" r:id="rId53"/>
    <p:sldId id="531" r:id="rId54"/>
    <p:sldId id="533" r:id="rId55"/>
    <p:sldId id="532" r:id="rId56"/>
    <p:sldId id="540" r:id="rId57"/>
    <p:sldId id="542" r:id="rId58"/>
    <p:sldId id="543" r:id="rId59"/>
    <p:sldId id="544" r:id="rId60"/>
    <p:sldId id="545" r:id="rId61"/>
    <p:sldId id="546" r:id="rId62"/>
    <p:sldId id="547" r:id="rId63"/>
    <p:sldId id="548" r:id="rId64"/>
    <p:sldId id="549" r:id="rId65"/>
    <p:sldId id="550" r:id="rId66"/>
    <p:sldId id="435" r:id="rId67"/>
    <p:sldId id="491" r:id="rId68"/>
    <p:sldId id="551" r:id="rId69"/>
    <p:sldId id="552" r:id="rId70"/>
    <p:sldId id="492" r:id="rId71"/>
    <p:sldId id="493" r:id="rId72"/>
    <p:sldId id="494" r:id="rId73"/>
    <p:sldId id="495" r:id="rId74"/>
    <p:sldId id="436" r:id="rId75"/>
    <p:sldId id="554" r:id="rId76"/>
    <p:sldId id="539" r:id="rId77"/>
    <p:sldId id="553" r:id="rId78"/>
    <p:sldId id="438" r:id="rId7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16" autoAdjust="0"/>
    <p:restoredTop sz="83673" autoAdjust="0"/>
  </p:normalViewPr>
  <p:slideViewPr>
    <p:cSldViewPr>
      <p:cViewPr varScale="1">
        <p:scale>
          <a:sx n="106" d="100"/>
          <a:sy n="106" d="100"/>
        </p:scale>
        <p:origin x="1944"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佳" userId="e57d5a21-7935-4641-b1a9-5d59d95d9ff4" providerId="ADAL" clId="{33B3E528-A404-1E42-B08D-D36E196EFC30}"/>
    <pc:docChg chg="undo custSel modSld">
      <pc:chgData name="李佳" userId="e57d5a21-7935-4641-b1a9-5d59d95d9ff4" providerId="ADAL" clId="{33B3E528-A404-1E42-B08D-D36E196EFC30}" dt="2023-05-15T02:32:26.430" v="43" actId="113"/>
      <pc:docMkLst>
        <pc:docMk/>
      </pc:docMkLst>
      <pc:sldChg chg="addSp modSp mod">
        <pc:chgData name="李佳" userId="e57d5a21-7935-4641-b1a9-5d59d95d9ff4" providerId="ADAL" clId="{33B3E528-A404-1E42-B08D-D36E196EFC30}" dt="2023-05-15T02:32:26.430" v="43" actId="113"/>
        <pc:sldMkLst>
          <pc:docMk/>
          <pc:sldMk cId="2475686607" sldId="495"/>
        </pc:sldMkLst>
      </pc:sldChg>
    </pc:docChg>
  </pc:docChgLst>
  <pc:docChgLst>
    <pc:chgData name="李佳" userId="e57d5a21-7935-4641-b1a9-5d59d95d9ff4" providerId="ADAL" clId="{3B72FF10-4D2F-8A43-9681-51ABD7C92750}"/>
    <pc:docChg chg="custSel modSld">
      <pc:chgData name="李佳" userId="e57d5a21-7935-4641-b1a9-5d59d95d9ff4" providerId="ADAL" clId="{3B72FF10-4D2F-8A43-9681-51ABD7C92750}" dt="2024-03-13T13:52:40.148" v="50" actId="1076"/>
      <pc:docMkLst>
        <pc:docMk/>
      </pc:docMkLst>
      <pc:sldChg chg="modNotesTx">
        <pc:chgData name="李佳" userId="e57d5a21-7935-4641-b1a9-5d59d95d9ff4" providerId="ADAL" clId="{3B72FF10-4D2F-8A43-9681-51ABD7C92750}" dt="2024-03-13T13:41:23.086" v="0" actId="20577"/>
        <pc:sldMkLst>
          <pc:docMk/>
          <pc:sldMk cId="756672444" sldId="385"/>
        </pc:sldMkLst>
      </pc:sldChg>
      <pc:sldChg chg="addSp modSp mod">
        <pc:chgData name="李佳" userId="e57d5a21-7935-4641-b1a9-5d59d95d9ff4" providerId="ADAL" clId="{3B72FF10-4D2F-8A43-9681-51ABD7C92750}" dt="2024-03-13T13:52:40.148" v="50" actId="1076"/>
        <pc:sldMkLst>
          <pc:docMk/>
          <pc:sldMk cId="2806174294" sldId="391"/>
        </pc:sldMkLst>
      </pc:sldChg>
      <pc:sldChg chg="modSp mod">
        <pc:chgData name="李佳" userId="e57d5a21-7935-4641-b1a9-5d59d95d9ff4" providerId="ADAL" clId="{3B72FF10-4D2F-8A43-9681-51ABD7C92750}" dt="2024-03-13T13:52:21.173" v="46" actId="27636"/>
        <pc:sldMkLst>
          <pc:docMk/>
          <pc:sldMk cId="307559930" sldId="435"/>
        </pc:sldMkLst>
      </pc:sldChg>
    </pc:docChg>
  </pc:docChgLst>
  <pc:docChgLst>
    <pc:chgData name="李佳" userId="e57d5a21-7935-4641-b1a9-5d59d95d9ff4" providerId="ADAL" clId="{9A33CB68-E816-CE48-A577-411FD4163963}"/>
    <pc:docChg chg="modSld">
      <pc:chgData name="李佳" userId="e57d5a21-7935-4641-b1a9-5d59d95d9ff4" providerId="ADAL" clId="{9A33CB68-E816-CE48-A577-411FD4163963}" dt="2023-03-14T07:38:59.456" v="28"/>
      <pc:docMkLst>
        <pc:docMk/>
      </pc:docMkLst>
      <pc:sldChg chg="modSp mod">
        <pc:chgData name="李佳" userId="e57d5a21-7935-4641-b1a9-5d59d95d9ff4" providerId="ADAL" clId="{9A33CB68-E816-CE48-A577-411FD4163963}" dt="2023-03-14T07:27:22.820" v="15" actId="20577"/>
        <pc:sldMkLst>
          <pc:docMk/>
          <pc:sldMk cId="3395170029" sldId="256"/>
        </pc:sldMkLst>
      </pc:sldChg>
      <pc:sldChg chg="modNotesTx">
        <pc:chgData name="李佳" userId="e57d5a21-7935-4641-b1a9-5d59d95d9ff4" providerId="ADAL" clId="{9A33CB68-E816-CE48-A577-411FD4163963}" dt="2023-03-14T07:31:22.242" v="24" actId="20577"/>
        <pc:sldMkLst>
          <pc:docMk/>
          <pc:sldMk cId="2506370532" sldId="313"/>
        </pc:sldMkLst>
      </pc:sldChg>
      <pc:sldChg chg="modSp modAnim">
        <pc:chgData name="李佳" userId="e57d5a21-7935-4641-b1a9-5d59d95d9ff4" providerId="ADAL" clId="{9A33CB68-E816-CE48-A577-411FD4163963}" dt="2023-03-14T07:38:59.456" v="28"/>
        <pc:sldMkLst>
          <pc:docMk/>
          <pc:sldMk cId="3560765541" sldId="373"/>
        </pc:sldMkLst>
      </pc:sldChg>
    </pc:docChg>
  </pc:docChgLst>
  <pc:docChgLst>
    <pc:chgData name="LiJia" userId="dc2167eb-47af-4ce2-a4c9-47bebca37882" providerId="ADAL" clId="{BE7EEEFC-1D71-994E-B0D6-91A37EC7E44E}"/>
    <pc:docChg chg="undo custSel modSld">
      <pc:chgData name="LiJia" userId="dc2167eb-47af-4ce2-a4c9-47bebca37882" providerId="ADAL" clId="{BE7EEEFC-1D71-994E-B0D6-91A37EC7E44E}" dt="2025-05-12T07:32:48.896" v="116" actId="207"/>
      <pc:docMkLst>
        <pc:docMk/>
      </pc:docMkLst>
      <pc:sldChg chg="addSp modSp mod">
        <pc:chgData name="LiJia" userId="dc2167eb-47af-4ce2-a4c9-47bebca37882" providerId="ADAL" clId="{BE7EEEFC-1D71-994E-B0D6-91A37EC7E44E}" dt="2025-05-12T07:12:59.811" v="56" actId="207"/>
        <pc:sldMkLst>
          <pc:docMk/>
          <pc:sldMk cId="2806174294" sldId="391"/>
        </pc:sldMkLst>
        <pc:spChg chg="mod">
          <ac:chgData name="LiJia" userId="dc2167eb-47af-4ce2-a4c9-47bebca37882" providerId="ADAL" clId="{BE7EEEFC-1D71-994E-B0D6-91A37EC7E44E}" dt="2025-05-12T07:12:05.103" v="21" actId="1036"/>
          <ac:spMkLst>
            <pc:docMk/>
            <pc:sldMk cId="2806174294" sldId="391"/>
            <ac:spMk id="2" creationId="{42DEB7B9-D889-60D6-0040-840DA0887080}"/>
          </ac:spMkLst>
        </pc:spChg>
        <pc:spChg chg="mod">
          <ac:chgData name="LiJia" userId="dc2167eb-47af-4ce2-a4c9-47bebca37882" providerId="ADAL" clId="{BE7EEEFC-1D71-994E-B0D6-91A37EC7E44E}" dt="2025-05-12T07:11:19.943" v="2" actId="1076"/>
          <ac:spMkLst>
            <pc:docMk/>
            <pc:sldMk cId="2806174294" sldId="391"/>
            <ac:spMk id="4" creationId="{B3F7AB5E-1563-9762-4F93-EADF67E15F7F}"/>
          </ac:spMkLst>
        </pc:spChg>
        <pc:spChg chg="add mod">
          <ac:chgData name="LiJia" userId="dc2167eb-47af-4ce2-a4c9-47bebca37882" providerId="ADAL" clId="{BE7EEEFC-1D71-994E-B0D6-91A37EC7E44E}" dt="2025-05-12T07:12:56.833" v="55" actId="207"/>
          <ac:spMkLst>
            <pc:docMk/>
            <pc:sldMk cId="2806174294" sldId="391"/>
            <ac:spMk id="5" creationId="{B7477B5F-6CB5-91B2-DD86-B3E6E366D9D4}"/>
          </ac:spMkLst>
        </pc:spChg>
        <pc:spChg chg="add mod">
          <ac:chgData name="LiJia" userId="dc2167eb-47af-4ce2-a4c9-47bebca37882" providerId="ADAL" clId="{BE7EEEFC-1D71-994E-B0D6-91A37EC7E44E}" dt="2025-05-12T07:12:59.811" v="56" actId="207"/>
          <ac:spMkLst>
            <pc:docMk/>
            <pc:sldMk cId="2806174294" sldId="391"/>
            <ac:spMk id="6" creationId="{1419EFDD-EA57-1492-450C-849DEEB37E98}"/>
          </ac:spMkLst>
        </pc:spChg>
      </pc:sldChg>
      <pc:sldChg chg="modSp mod">
        <pc:chgData name="LiJia" userId="dc2167eb-47af-4ce2-a4c9-47bebca37882" providerId="ADAL" clId="{BE7EEEFC-1D71-994E-B0D6-91A37EC7E44E}" dt="2025-05-12T07:32:48.896" v="116" actId="207"/>
        <pc:sldMkLst>
          <pc:docMk/>
          <pc:sldMk cId="2096791566" sldId="486"/>
        </pc:sldMkLst>
        <pc:graphicFrameChg chg="modGraphic">
          <ac:chgData name="LiJia" userId="dc2167eb-47af-4ce2-a4c9-47bebca37882" providerId="ADAL" clId="{BE7EEEFC-1D71-994E-B0D6-91A37EC7E44E}" dt="2025-05-12T07:32:48.896" v="116" actId="207"/>
          <ac:graphicFrameMkLst>
            <pc:docMk/>
            <pc:sldMk cId="2096791566" sldId="486"/>
            <ac:graphicFrameMk id="32807" creationId="{00000000-0000-0000-0000-000000000000}"/>
          </ac:graphicFrameMkLst>
        </pc:graphicFrameChg>
      </pc:sldChg>
      <pc:sldChg chg="addSp delSp modSp mod">
        <pc:chgData name="LiJia" userId="dc2167eb-47af-4ce2-a4c9-47bebca37882" providerId="ADAL" clId="{BE7EEEFC-1D71-994E-B0D6-91A37EC7E44E}" dt="2025-05-12T07:32:14.357" v="115"/>
        <pc:sldMkLst>
          <pc:docMk/>
          <pc:sldMk cId="3094702768" sldId="527"/>
        </pc:sldMkLst>
        <pc:spChg chg="add del mod">
          <ac:chgData name="LiJia" userId="dc2167eb-47af-4ce2-a4c9-47bebca37882" providerId="ADAL" clId="{BE7EEEFC-1D71-994E-B0D6-91A37EC7E44E}" dt="2025-05-12T07:31:52.271" v="111" actId="21"/>
          <ac:spMkLst>
            <pc:docMk/>
            <pc:sldMk cId="3094702768" sldId="527"/>
            <ac:spMk id="5" creationId="{177E456A-B5BD-8DD5-0458-2ED9DEB65849}"/>
          </ac:spMkLst>
        </pc:spChg>
        <pc:spChg chg="add mod">
          <ac:chgData name="LiJia" userId="dc2167eb-47af-4ce2-a4c9-47bebca37882" providerId="ADAL" clId="{BE7EEEFC-1D71-994E-B0D6-91A37EC7E44E}" dt="2025-05-12T07:32:14.357" v="115"/>
          <ac:spMkLst>
            <pc:docMk/>
            <pc:sldMk cId="3094702768" sldId="527"/>
            <ac:spMk id="12" creationId="{581E52B6-1B50-0E31-9608-C2434421B566}"/>
          </ac:spMkLst>
        </pc:spChg>
        <pc:spChg chg="mod">
          <ac:chgData name="LiJia" userId="dc2167eb-47af-4ce2-a4c9-47bebca37882" providerId="ADAL" clId="{BE7EEEFC-1D71-994E-B0D6-91A37EC7E44E}" dt="2025-05-12T07:20:58.327" v="64" actId="14100"/>
          <ac:spMkLst>
            <pc:docMk/>
            <pc:sldMk cId="3094702768" sldId="527"/>
            <ac:spMk id="8195" creationId="{00000000-0000-0000-0000-000000000000}"/>
          </ac:spMkLst>
        </pc:spChg>
        <pc:picChg chg="mod">
          <ac:chgData name="LiJia" userId="dc2167eb-47af-4ce2-a4c9-47bebca37882" providerId="ADAL" clId="{BE7EEEFC-1D71-994E-B0D6-91A37EC7E44E}" dt="2025-05-12T07:21:01.186" v="68" actId="1035"/>
          <ac:picMkLst>
            <pc:docMk/>
            <pc:sldMk cId="3094702768" sldId="527"/>
            <ac:picMk id="4" creationId="{00000000-0000-0000-0000-000000000000}"/>
          </ac:picMkLst>
        </pc:picChg>
        <pc:picChg chg="mod">
          <ac:chgData name="LiJia" userId="dc2167eb-47af-4ce2-a4c9-47bebca37882" providerId="ADAL" clId="{BE7EEEFC-1D71-994E-B0D6-91A37EC7E44E}" dt="2025-05-12T07:21:01.186" v="68" actId="1035"/>
          <ac:picMkLst>
            <pc:docMk/>
            <pc:sldMk cId="3094702768" sldId="527"/>
            <ac:picMk id="1026" creationId="{00000000-0000-0000-0000-000000000000}"/>
          </ac:picMkLst>
        </pc:picChg>
        <pc:cxnChg chg="add del mod">
          <ac:chgData name="LiJia" userId="dc2167eb-47af-4ce2-a4c9-47bebca37882" providerId="ADAL" clId="{BE7EEEFC-1D71-994E-B0D6-91A37EC7E44E}" dt="2025-05-12T07:31:52.271" v="111" actId="21"/>
          <ac:cxnSpMkLst>
            <pc:docMk/>
            <pc:sldMk cId="3094702768" sldId="527"/>
            <ac:cxnSpMk id="7" creationId="{22EA14A7-3FEC-755A-9637-F8DA0227018F}"/>
          </ac:cxnSpMkLst>
        </pc:cxnChg>
        <pc:cxnChg chg="add mod">
          <ac:chgData name="LiJia" userId="dc2167eb-47af-4ce2-a4c9-47bebca37882" providerId="ADAL" clId="{BE7EEEFC-1D71-994E-B0D6-91A37EC7E44E}" dt="2025-05-12T07:32:14.357" v="115"/>
          <ac:cxnSpMkLst>
            <pc:docMk/>
            <pc:sldMk cId="3094702768" sldId="527"/>
            <ac:cxnSpMk id="13" creationId="{24D4CA47-5679-E194-D6DD-AE02741F4A1A}"/>
          </ac:cxnSpMkLst>
        </pc:cxnChg>
      </pc:sldChg>
      <pc:sldChg chg="addSp modSp mod">
        <pc:chgData name="LiJia" userId="dc2167eb-47af-4ce2-a4c9-47bebca37882" providerId="ADAL" clId="{BE7EEEFC-1D71-994E-B0D6-91A37EC7E44E}" dt="2025-05-12T07:32:05.608" v="114" actId="14100"/>
        <pc:sldMkLst>
          <pc:docMk/>
          <pc:sldMk cId="3935250226" sldId="528"/>
        </pc:sldMkLst>
        <pc:spChg chg="add mod">
          <ac:chgData name="LiJia" userId="dc2167eb-47af-4ce2-a4c9-47bebca37882" providerId="ADAL" clId="{BE7EEEFC-1D71-994E-B0D6-91A37EC7E44E}" dt="2025-05-12T07:32:00.040" v="113" actId="1076"/>
          <ac:spMkLst>
            <pc:docMk/>
            <pc:sldMk cId="3935250226" sldId="528"/>
            <ac:spMk id="2" creationId="{7BF582F2-0B17-DDDC-3020-0FE13A504755}"/>
          </ac:spMkLst>
        </pc:spChg>
        <pc:cxnChg chg="add mod">
          <ac:chgData name="LiJia" userId="dc2167eb-47af-4ce2-a4c9-47bebca37882" providerId="ADAL" clId="{BE7EEEFC-1D71-994E-B0D6-91A37EC7E44E}" dt="2025-05-12T07:32:05.608" v="114" actId="14100"/>
          <ac:cxnSpMkLst>
            <pc:docMk/>
            <pc:sldMk cId="3935250226" sldId="528"/>
            <ac:cxnSpMk id="4" creationId="{BFD49546-3F96-97D3-44E9-ED9260C46E6D}"/>
          </ac:cxnSpMkLst>
        </pc:cxnChg>
      </pc:sldChg>
    </pc:docChg>
  </pc:docChgLst>
  <pc:docChgLst>
    <pc:chgData name="李佳" userId="e57d5a21-7935-4641-b1a9-5d59d95d9ff4" providerId="ADAL" clId="{5EEBDB51-6529-F34C-99DC-18B5B12BD929}"/>
    <pc:docChg chg="custSel modSld">
      <pc:chgData name="李佳" userId="e57d5a21-7935-4641-b1a9-5d59d95d9ff4" providerId="ADAL" clId="{5EEBDB51-6529-F34C-99DC-18B5B12BD929}" dt="2023-05-02T13:46:38.467" v="30"/>
      <pc:docMkLst>
        <pc:docMk/>
      </pc:docMkLst>
      <pc:sldChg chg="modSp mod modNotesTx">
        <pc:chgData name="李佳" userId="e57d5a21-7935-4641-b1a9-5d59d95d9ff4" providerId="ADAL" clId="{5EEBDB51-6529-F34C-99DC-18B5B12BD929}" dt="2023-05-02T13:46:38.467" v="30"/>
        <pc:sldMkLst>
          <pc:docMk/>
          <pc:sldMk cId="307559930" sldId="435"/>
        </pc:sldMkLst>
      </pc:sldChg>
    </pc:docChg>
  </pc:docChgLst>
  <pc:docChgLst>
    <pc:chgData name="李佳" userId="e57d5a21-7935-4641-b1a9-5d59d95d9ff4" providerId="ADAL" clId="{3C4BEB4E-6B8D-3D40-8937-24B5CC3D0E8B}"/>
    <pc:docChg chg="undo redo custSel addSld delSld modSld">
      <pc:chgData name="李佳" userId="e57d5a21-7935-4641-b1a9-5d59d95d9ff4" providerId="ADAL" clId="{3C4BEB4E-6B8D-3D40-8937-24B5CC3D0E8B}" dt="2023-03-17T05:27:58.342" v="815"/>
      <pc:docMkLst>
        <pc:docMk/>
      </pc:docMkLst>
      <pc:sldChg chg="modSp">
        <pc:chgData name="李佳" userId="e57d5a21-7935-4641-b1a9-5d59d95d9ff4" providerId="ADAL" clId="{3C4BEB4E-6B8D-3D40-8937-24B5CC3D0E8B}" dt="2023-03-16T11:40:33.737" v="0" actId="113"/>
        <pc:sldMkLst>
          <pc:docMk/>
          <pc:sldMk cId="3663542618" sldId="314"/>
        </pc:sldMkLst>
      </pc:sldChg>
      <pc:sldChg chg="addSp delSp mod modNotesTx">
        <pc:chgData name="李佳" userId="e57d5a21-7935-4641-b1a9-5d59d95d9ff4" providerId="ADAL" clId="{3C4BEB4E-6B8D-3D40-8937-24B5CC3D0E8B}" dt="2023-03-16T12:05:26.919" v="15" actId="20577"/>
        <pc:sldMkLst>
          <pc:docMk/>
          <pc:sldMk cId="3560765541" sldId="373"/>
        </pc:sldMkLst>
      </pc:sldChg>
      <pc:sldChg chg="modSp mod modNotesTx">
        <pc:chgData name="李佳" userId="e57d5a21-7935-4641-b1a9-5d59d95d9ff4" providerId="ADAL" clId="{3C4BEB4E-6B8D-3D40-8937-24B5CC3D0E8B}" dt="2023-03-17T03:56:11.866" v="711" actId="207"/>
        <pc:sldMkLst>
          <pc:docMk/>
          <pc:sldMk cId="4064227925" sldId="389"/>
        </pc:sldMkLst>
      </pc:sldChg>
      <pc:sldChg chg="addSp modSp mod">
        <pc:chgData name="李佳" userId="e57d5a21-7935-4641-b1a9-5d59d95d9ff4" providerId="ADAL" clId="{3C4BEB4E-6B8D-3D40-8937-24B5CC3D0E8B}" dt="2023-03-16T12:27:41.663" v="123" actId="20577"/>
        <pc:sldMkLst>
          <pc:docMk/>
          <pc:sldMk cId="2806174294" sldId="391"/>
        </pc:sldMkLst>
      </pc:sldChg>
      <pc:sldChg chg="modSp mod">
        <pc:chgData name="李佳" userId="e57d5a21-7935-4641-b1a9-5d59d95d9ff4" providerId="ADAL" clId="{3C4BEB4E-6B8D-3D40-8937-24B5CC3D0E8B}" dt="2023-03-16T12:22:01.691" v="66" actId="207"/>
        <pc:sldMkLst>
          <pc:docMk/>
          <pc:sldMk cId="1149129579" sldId="401"/>
        </pc:sldMkLst>
      </pc:sldChg>
      <pc:sldChg chg="modSp mod">
        <pc:chgData name="李佳" userId="e57d5a21-7935-4641-b1a9-5d59d95d9ff4" providerId="ADAL" clId="{3C4BEB4E-6B8D-3D40-8937-24B5CC3D0E8B}" dt="2023-03-16T12:12:11.366" v="28" actId="14100"/>
        <pc:sldMkLst>
          <pc:docMk/>
          <pc:sldMk cId="2570703640" sldId="402"/>
        </pc:sldMkLst>
      </pc:sldChg>
      <pc:sldChg chg="modSp mod">
        <pc:chgData name="李佳" userId="e57d5a21-7935-4641-b1a9-5d59d95d9ff4" providerId="ADAL" clId="{3C4BEB4E-6B8D-3D40-8937-24B5CC3D0E8B}" dt="2023-03-16T12:23:29.913" v="99" actId="1076"/>
        <pc:sldMkLst>
          <pc:docMk/>
          <pc:sldMk cId="45509758" sldId="403"/>
        </pc:sldMkLst>
      </pc:sldChg>
      <pc:sldChg chg="modNotesTx">
        <pc:chgData name="李佳" userId="e57d5a21-7935-4641-b1a9-5d59d95d9ff4" providerId="ADAL" clId="{3C4BEB4E-6B8D-3D40-8937-24B5CC3D0E8B}" dt="2023-03-16T12:24:30.610" v="107"/>
        <pc:sldMkLst>
          <pc:docMk/>
          <pc:sldMk cId="1018906999" sldId="404"/>
        </pc:sldMkLst>
      </pc:sldChg>
      <pc:sldChg chg="modSp mod">
        <pc:chgData name="李佳" userId="e57d5a21-7935-4641-b1a9-5d59d95d9ff4" providerId="ADAL" clId="{3C4BEB4E-6B8D-3D40-8937-24B5CC3D0E8B}" dt="2023-03-16T13:10:44.904" v="241" actId="113"/>
        <pc:sldMkLst>
          <pc:docMk/>
          <pc:sldMk cId="1168154589" sldId="421"/>
        </pc:sldMkLst>
      </pc:sldChg>
      <pc:sldChg chg="modSp mod">
        <pc:chgData name="李佳" userId="e57d5a21-7935-4641-b1a9-5d59d95d9ff4" providerId="ADAL" clId="{3C4BEB4E-6B8D-3D40-8937-24B5CC3D0E8B}" dt="2023-03-16T12:55:22.682" v="219"/>
        <pc:sldMkLst>
          <pc:docMk/>
          <pc:sldMk cId="2689729033" sldId="426"/>
        </pc:sldMkLst>
      </pc:sldChg>
      <pc:sldChg chg="modSp mod modNotesTx">
        <pc:chgData name="李佳" userId="e57d5a21-7935-4641-b1a9-5d59d95d9ff4" providerId="ADAL" clId="{3C4BEB4E-6B8D-3D40-8937-24B5CC3D0E8B}" dt="2023-03-16T12:25:22.470" v="109" actId="207"/>
        <pc:sldMkLst>
          <pc:docMk/>
          <pc:sldMk cId="721745140" sldId="428"/>
        </pc:sldMkLst>
      </pc:sldChg>
      <pc:sldChg chg="delSp modSp mod">
        <pc:chgData name="李佳" userId="e57d5a21-7935-4641-b1a9-5d59d95d9ff4" providerId="ADAL" clId="{3C4BEB4E-6B8D-3D40-8937-24B5CC3D0E8B}" dt="2023-03-16T12:26:52.554" v="122" actId="113"/>
        <pc:sldMkLst>
          <pc:docMk/>
          <pc:sldMk cId="3289710590" sldId="429"/>
        </pc:sldMkLst>
      </pc:sldChg>
      <pc:sldChg chg="addSp delSp modSp mod">
        <pc:chgData name="李佳" userId="e57d5a21-7935-4641-b1a9-5d59d95d9ff4" providerId="ADAL" clId="{3C4BEB4E-6B8D-3D40-8937-24B5CC3D0E8B}" dt="2023-03-16T13:07:23.238" v="237" actId="478"/>
        <pc:sldMkLst>
          <pc:docMk/>
          <pc:sldMk cId="1949186139" sldId="430"/>
        </pc:sldMkLst>
      </pc:sldChg>
      <pc:sldChg chg="addSp delSp modSp mod modNotesTx">
        <pc:chgData name="李佳" userId="e57d5a21-7935-4641-b1a9-5d59d95d9ff4" providerId="ADAL" clId="{3C4BEB4E-6B8D-3D40-8937-24B5CC3D0E8B}" dt="2023-03-17T02:43:46.149" v="314" actId="1076"/>
        <pc:sldMkLst>
          <pc:docMk/>
          <pc:sldMk cId="2978117110" sldId="431"/>
        </pc:sldMkLst>
      </pc:sldChg>
      <pc:sldChg chg="modSp mod">
        <pc:chgData name="李佳" userId="e57d5a21-7935-4641-b1a9-5d59d95d9ff4" providerId="ADAL" clId="{3C4BEB4E-6B8D-3D40-8937-24B5CC3D0E8B}" dt="2023-03-17T04:13:09.925" v="786" actId="20577"/>
        <pc:sldMkLst>
          <pc:docMk/>
          <pc:sldMk cId="2073484719" sldId="436"/>
        </pc:sldMkLst>
      </pc:sldChg>
      <pc:sldChg chg="modSp mod modNotesTx">
        <pc:chgData name="李佳" userId="e57d5a21-7935-4641-b1a9-5d59d95d9ff4" providerId="ADAL" clId="{3C4BEB4E-6B8D-3D40-8937-24B5CC3D0E8B}" dt="2023-03-17T05:27:58.342" v="815"/>
        <pc:sldMkLst>
          <pc:docMk/>
          <pc:sldMk cId="1082893233" sldId="438"/>
        </pc:sldMkLst>
      </pc:sldChg>
      <pc:sldChg chg="modNotesTx">
        <pc:chgData name="李佳" userId="e57d5a21-7935-4641-b1a9-5d59d95d9ff4" providerId="ADAL" clId="{3C4BEB4E-6B8D-3D40-8937-24B5CC3D0E8B}" dt="2023-03-17T03:02:41.493" v="683" actId="20577"/>
        <pc:sldMkLst>
          <pc:docMk/>
          <pc:sldMk cId="2886323331" sldId="439"/>
        </pc:sldMkLst>
      </pc:sldChg>
      <pc:sldChg chg="addSp delSp modSp mod">
        <pc:chgData name="李佳" userId="e57d5a21-7935-4641-b1a9-5d59d95d9ff4" providerId="ADAL" clId="{3C4BEB4E-6B8D-3D40-8937-24B5CC3D0E8B}" dt="2023-03-16T13:02:14.878" v="221" actId="478"/>
        <pc:sldMkLst>
          <pc:docMk/>
          <pc:sldMk cId="208162586" sldId="473"/>
        </pc:sldMkLst>
      </pc:sldChg>
      <pc:sldChg chg="modNotesTx">
        <pc:chgData name="李佳" userId="e57d5a21-7935-4641-b1a9-5d59d95d9ff4" providerId="ADAL" clId="{3C4BEB4E-6B8D-3D40-8937-24B5CC3D0E8B}" dt="2023-03-16T12:08:13.600" v="27" actId="20577"/>
        <pc:sldMkLst>
          <pc:docMk/>
          <pc:sldMk cId="2449675943" sldId="475"/>
        </pc:sldMkLst>
      </pc:sldChg>
      <pc:sldChg chg="modSp mod">
        <pc:chgData name="李佳" userId="e57d5a21-7935-4641-b1a9-5d59d95d9ff4" providerId="ADAL" clId="{3C4BEB4E-6B8D-3D40-8937-24B5CC3D0E8B}" dt="2023-03-16T12:43:46.445" v="181" actId="20577"/>
        <pc:sldMkLst>
          <pc:docMk/>
          <pc:sldMk cId="2399247001" sldId="483"/>
        </pc:sldMkLst>
      </pc:sldChg>
      <pc:sldChg chg="addSp modSp mod modNotesTx">
        <pc:chgData name="李佳" userId="e57d5a21-7935-4641-b1a9-5d59d95d9ff4" providerId="ADAL" clId="{3C4BEB4E-6B8D-3D40-8937-24B5CC3D0E8B}" dt="2023-03-16T12:46:24.775" v="189" actId="1076"/>
        <pc:sldMkLst>
          <pc:docMk/>
          <pc:sldMk cId="3011815459" sldId="484"/>
        </pc:sldMkLst>
      </pc:sldChg>
      <pc:sldChg chg="modSp mod">
        <pc:chgData name="李佳" userId="e57d5a21-7935-4641-b1a9-5d59d95d9ff4" providerId="ADAL" clId="{3C4BEB4E-6B8D-3D40-8937-24B5CC3D0E8B}" dt="2023-03-16T12:47:01.471" v="192" actId="2711"/>
        <pc:sldMkLst>
          <pc:docMk/>
          <pc:sldMk cId="382895679" sldId="485"/>
        </pc:sldMkLst>
      </pc:sldChg>
      <pc:sldChg chg="modSp mod">
        <pc:chgData name="李佳" userId="e57d5a21-7935-4641-b1a9-5d59d95d9ff4" providerId="ADAL" clId="{3C4BEB4E-6B8D-3D40-8937-24B5CC3D0E8B}" dt="2023-03-16T12:49:05.793" v="193" actId="2711"/>
        <pc:sldMkLst>
          <pc:docMk/>
          <pc:sldMk cId="2096791566" sldId="486"/>
        </pc:sldMkLst>
      </pc:sldChg>
      <pc:sldChg chg="modSp mod">
        <pc:chgData name="李佳" userId="e57d5a21-7935-4641-b1a9-5d59d95d9ff4" providerId="ADAL" clId="{3C4BEB4E-6B8D-3D40-8937-24B5CC3D0E8B}" dt="2023-03-16T12:49:45.223" v="197" actId="2711"/>
        <pc:sldMkLst>
          <pc:docMk/>
          <pc:sldMk cId="2383590798" sldId="487"/>
        </pc:sldMkLst>
      </pc:sldChg>
      <pc:sldChg chg="modSp mod">
        <pc:chgData name="李佳" userId="e57d5a21-7935-4641-b1a9-5d59d95d9ff4" providerId="ADAL" clId="{3C4BEB4E-6B8D-3D40-8937-24B5CC3D0E8B}" dt="2023-03-17T04:02:25.811" v="738" actId="1037"/>
        <pc:sldMkLst>
          <pc:docMk/>
          <pc:sldMk cId="1500301650" sldId="491"/>
        </pc:sldMkLst>
      </pc:sldChg>
      <pc:sldChg chg="modSp mod">
        <pc:chgData name="李佳" userId="e57d5a21-7935-4641-b1a9-5d59d95d9ff4" providerId="ADAL" clId="{3C4BEB4E-6B8D-3D40-8937-24B5CC3D0E8B}" dt="2023-03-17T04:05:43.180" v="753" actId="20577"/>
        <pc:sldMkLst>
          <pc:docMk/>
          <pc:sldMk cId="368078819" sldId="492"/>
        </pc:sldMkLst>
      </pc:sldChg>
      <pc:sldChg chg="addSp delSp">
        <pc:chgData name="李佳" userId="e57d5a21-7935-4641-b1a9-5d59d95d9ff4" providerId="ADAL" clId="{3C4BEB4E-6B8D-3D40-8937-24B5CC3D0E8B}" dt="2023-03-17T04:09:59.557" v="758" actId="478"/>
        <pc:sldMkLst>
          <pc:docMk/>
          <pc:sldMk cId="3046080050" sldId="494"/>
        </pc:sldMkLst>
      </pc:sldChg>
      <pc:sldChg chg="addSp delSp">
        <pc:chgData name="李佳" userId="e57d5a21-7935-4641-b1a9-5d59d95d9ff4" providerId="ADAL" clId="{3C4BEB4E-6B8D-3D40-8937-24B5CC3D0E8B}" dt="2023-03-17T04:13:08.650" v="784" actId="478"/>
        <pc:sldMkLst>
          <pc:docMk/>
          <pc:sldMk cId="2475686607" sldId="495"/>
        </pc:sldMkLst>
      </pc:sldChg>
      <pc:sldChg chg="modSp mod">
        <pc:chgData name="李佳" userId="e57d5a21-7935-4641-b1a9-5d59d95d9ff4" providerId="ADAL" clId="{3C4BEB4E-6B8D-3D40-8937-24B5CC3D0E8B}" dt="2023-03-16T12:51:08.505" v="206" actId="113"/>
        <pc:sldMkLst>
          <pc:docMk/>
          <pc:sldMk cId="3304138323" sldId="496"/>
        </pc:sldMkLst>
      </pc:sldChg>
      <pc:sldChg chg="modSp mod">
        <pc:chgData name="李佳" userId="e57d5a21-7935-4641-b1a9-5d59d95d9ff4" providerId="ADAL" clId="{3C4BEB4E-6B8D-3D40-8937-24B5CC3D0E8B}" dt="2023-03-16T12:53:10.312" v="209" actId="207"/>
        <pc:sldMkLst>
          <pc:docMk/>
          <pc:sldMk cId="1551797528" sldId="498"/>
        </pc:sldMkLst>
      </pc:sldChg>
      <pc:sldChg chg="modSp mod">
        <pc:chgData name="李佳" userId="e57d5a21-7935-4641-b1a9-5d59d95d9ff4" providerId="ADAL" clId="{3C4BEB4E-6B8D-3D40-8937-24B5CC3D0E8B}" dt="2023-03-16T12:54:55.065" v="212" actId="1076"/>
        <pc:sldMkLst>
          <pc:docMk/>
          <pc:sldMk cId="2816931924" sldId="499"/>
        </pc:sldMkLst>
      </pc:sldChg>
      <pc:sldChg chg="modSp mod">
        <pc:chgData name="李佳" userId="e57d5a21-7935-4641-b1a9-5d59d95d9ff4" providerId="ADAL" clId="{3C4BEB4E-6B8D-3D40-8937-24B5CC3D0E8B}" dt="2023-03-16T13:05:17.006" v="235" actId="1076"/>
        <pc:sldMkLst>
          <pc:docMk/>
          <pc:sldMk cId="2396366568" sldId="524"/>
        </pc:sldMkLst>
      </pc:sldChg>
      <pc:sldChg chg="addSp modSp mod modNotesTx">
        <pc:chgData name="李佳" userId="e57d5a21-7935-4641-b1a9-5d59d95d9ff4" providerId="ADAL" clId="{3C4BEB4E-6B8D-3D40-8937-24B5CC3D0E8B}" dt="2023-03-16T12:39:54.104" v="144" actId="1076"/>
        <pc:sldMkLst>
          <pc:docMk/>
          <pc:sldMk cId="3094702768" sldId="527"/>
        </pc:sldMkLst>
      </pc:sldChg>
      <pc:sldChg chg="modSp mod">
        <pc:chgData name="李佳" userId="e57d5a21-7935-4641-b1a9-5d59d95d9ff4" providerId="ADAL" clId="{3C4BEB4E-6B8D-3D40-8937-24B5CC3D0E8B}" dt="2023-03-16T12:41:07.883" v="145" actId="115"/>
        <pc:sldMkLst>
          <pc:docMk/>
          <pc:sldMk cId="3935250226" sldId="528"/>
        </pc:sldMkLst>
      </pc:sldChg>
      <pc:sldChg chg="addSp modSp mod modNotesTx">
        <pc:chgData name="李佳" userId="e57d5a21-7935-4641-b1a9-5d59d95d9ff4" providerId="ADAL" clId="{3C4BEB4E-6B8D-3D40-8937-24B5CC3D0E8B}" dt="2023-03-17T03:00:14.822" v="395" actId="20577"/>
        <pc:sldMkLst>
          <pc:docMk/>
          <pc:sldMk cId="47615958" sldId="531"/>
        </pc:sldMkLst>
      </pc:sldChg>
      <pc:sldChg chg="modNotesTx">
        <pc:chgData name="李佳" userId="e57d5a21-7935-4641-b1a9-5d59d95d9ff4" providerId="ADAL" clId="{3C4BEB4E-6B8D-3D40-8937-24B5CC3D0E8B}" dt="2023-03-16T12:02:12.037" v="5" actId="20577"/>
        <pc:sldMkLst>
          <pc:docMk/>
          <pc:sldMk cId="291834653" sldId="535"/>
        </pc:sldMkLst>
      </pc:sldChg>
      <pc:sldChg chg="modSp mod">
        <pc:chgData name="李佳" userId="e57d5a21-7935-4641-b1a9-5d59d95d9ff4" providerId="ADAL" clId="{3C4BEB4E-6B8D-3D40-8937-24B5CC3D0E8B}" dt="2023-03-16T13:23:18.422" v="244" actId="255"/>
        <pc:sldMkLst>
          <pc:docMk/>
          <pc:sldMk cId="1149340704" sldId="537"/>
        </pc:sldMkLst>
      </pc:sldChg>
      <pc:sldChg chg="modSp mod">
        <pc:chgData name="李佳" userId="e57d5a21-7935-4641-b1a9-5d59d95d9ff4" providerId="ADAL" clId="{3C4BEB4E-6B8D-3D40-8937-24B5CC3D0E8B}" dt="2023-03-17T05:12:36.817" v="803" actId="20577"/>
        <pc:sldMkLst>
          <pc:docMk/>
          <pc:sldMk cId="1762747409" sldId="539"/>
        </pc:sldMkLst>
      </pc:sldChg>
      <pc:sldChg chg="modSp mod">
        <pc:chgData name="李佳" userId="e57d5a21-7935-4641-b1a9-5d59d95d9ff4" providerId="ADAL" clId="{3C4BEB4E-6B8D-3D40-8937-24B5CC3D0E8B}" dt="2023-03-17T03:33:35.188" v="689" actId="20577"/>
        <pc:sldMkLst>
          <pc:docMk/>
          <pc:sldMk cId="3606593288" sldId="540"/>
        </pc:sldMkLst>
      </pc:sldChg>
      <pc:sldChg chg="modSp mod">
        <pc:chgData name="李佳" userId="e57d5a21-7935-4641-b1a9-5d59d95d9ff4" providerId="ADAL" clId="{3C4BEB4E-6B8D-3D40-8937-24B5CC3D0E8B}" dt="2023-03-17T03:38:50.353" v="691" actId="115"/>
        <pc:sldMkLst>
          <pc:docMk/>
          <pc:sldMk cId="1400757190" sldId="542"/>
        </pc:sldMkLst>
      </pc:sldChg>
      <pc:sldChg chg="modSp mod">
        <pc:chgData name="李佳" userId="e57d5a21-7935-4641-b1a9-5d59d95d9ff4" providerId="ADAL" clId="{3C4BEB4E-6B8D-3D40-8937-24B5CC3D0E8B}" dt="2023-03-17T03:40:59.849" v="692" actId="113"/>
        <pc:sldMkLst>
          <pc:docMk/>
          <pc:sldMk cId="2040504485" sldId="543"/>
        </pc:sldMkLst>
      </pc:sldChg>
      <pc:sldChg chg="addSp delSp modSp mod modNotesTx">
        <pc:chgData name="李佳" userId="e57d5a21-7935-4641-b1a9-5d59d95d9ff4" providerId="ADAL" clId="{3C4BEB4E-6B8D-3D40-8937-24B5CC3D0E8B}" dt="2023-03-17T03:48:58.936" v="704" actId="113"/>
        <pc:sldMkLst>
          <pc:docMk/>
          <pc:sldMk cId="1560046939" sldId="544"/>
        </pc:sldMkLst>
      </pc:sldChg>
      <pc:sldChg chg="modSp mod">
        <pc:chgData name="李佳" userId="e57d5a21-7935-4641-b1a9-5d59d95d9ff4" providerId="ADAL" clId="{3C4BEB4E-6B8D-3D40-8937-24B5CC3D0E8B}" dt="2023-03-17T03:49:07.985" v="708" actId="113"/>
        <pc:sldMkLst>
          <pc:docMk/>
          <pc:sldMk cId="872650798" sldId="545"/>
        </pc:sldMkLst>
      </pc:sldChg>
      <pc:sldChg chg="modSp mod">
        <pc:chgData name="李佳" userId="e57d5a21-7935-4641-b1a9-5d59d95d9ff4" providerId="ADAL" clId="{3C4BEB4E-6B8D-3D40-8937-24B5CC3D0E8B}" dt="2023-03-17T03:53:14.090" v="710" actId="207"/>
        <pc:sldMkLst>
          <pc:docMk/>
          <pc:sldMk cId="3151802236" sldId="547"/>
        </pc:sldMkLst>
      </pc:sldChg>
      <pc:sldChg chg="modSp mod">
        <pc:chgData name="李佳" userId="e57d5a21-7935-4641-b1a9-5d59d95d9ff4" providerId="ADAL" clId="{3C4BEB4E-6B8D-3D40-8937-24B5CC3D0E8B}" dt="2023-03-17T03:56:59.377" v="727" actId="20577"/>
        <pc:sldMkLst>
          <pc:docMk/>
          <pc:sldMk cId="2121991121" sldId="548"/>
        </pc:sldMkLst>
      </pc:sldChg>
      <pc:sldChg chg="modSp mod">
        <pc:chgData name="李佳" userId="e57d5a21-7935-4641-b1a9-5d59d95d9ff4" providerId="ADAL" clId="{3C4BEB4E-6B8D-3D40-8937-24B5CC3D0E8B}" dt="2023-03-17T03:58:06.754" v="735" actId="115"/>
        <pc:sldMkLst>
          <pc:docMk/>
          <pc:sldMk cId="2425275137" sldId="549"/>
        </pc:sldMkLst>
      </pc:sldChg>
      <pc:sldChg chg="modSp mod">
        <pc:chgData name="李佳" userId="e57d5a21-7935-4641-b1a9-5d59d95d9ff4" providerId="ADAL" clId="{3C4BEB4E-6B8D-3D40-8937-24B5CC3D0E8B}" dt="2023-03-17T04:03:05.264" v="739" actId="113"/>
        <pc:sldMkLst>
          <pc:docMk/>
          <pc:sldMk cId="2951474448" sldId="551"/>
        </pc:sldMkLst>
      </pc:sldChg>
      <pc:sldChg chg="modSp mod">
        <pc:chgData name="李佳" userId="e57d5a21-7935-4641-b1a9-5d59d95d9ff4" providerId="ADAL" clId="{3C4BEB4E-6B8D-3D40-8937-24B5CC3D0E8B}" dt="2023-03-17T04:05:00.741" v="743" actId="1076"/>
        <pc:sldMkLst>
          <pc:docMk/>
          <pc:sldMk cId="3520718356" sldId="552"/>
        </pc:sldMkLst>
      </pc:sldChg>
      <pc:sldChg chg="modSp mod">
        <pc:chgData name="李佳" userId="e57d5a21-7935-4641-b1a9-5d59d95d9ff4" providerId="ADAL" clId="{3C4BEB4E-6B8D-3D40-8937-24B5CC3D0E8B}" dt="2023-03-17T05:00:17.781" v="796" actId="20577"/>
        <pc:sldMkLst>
          <pc:docMk/>
          <pc:sldMk cId="99878729" sldId="554"/>
        </pc:sldMkLst>
      </pc:sldChg>
      <pc:sldChg chg="addSp delSp modSp add mod modNotesTx">
        <pc:chgData name="李佳" userId="e57d5a21-7935-4641-b1a9-5d59d95d9ff4" providerId="ADAL" clId="{3C4BEB4E-6B8D-3D40-8937-24B5CC3D0E8B}" dt="2023-03-17T02:50:10.052" v="336" actId="478"/>
        <pc:sldMkLst>
          <pc:docMk/>
          <pc:sldMk cId="1459287540" sldId="555"/>
        </pc:sldMkLst>
      </pc:sldChg>
      <pc:sldChg chg="add del">
        <pc:chgData name="李佳" userId="e57d5a21-7935-4641-b1a9-5d59d95d9ff4" providerId="ADAL" clId="{3C4BEB4E-6B8D-3D40-8937-24B5CC3D0E8B}" dt="2023-03-17T04:08:47.461" v="755" actId="2696"/>
        <pc:sldMkLst>
          <pc:docMk/>
          <pc:sldMk cId="302957177" sldId="5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F5B45E-269A-4AAD-B652-7A68FBE04ADD}"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D2DC40-3959-47C6-9593-54FC440C069A}" type="slidenum">
              <a:rPr lang="zh-CN" altLang="en-US" smtClean="0"/>
              <a:t>‹#›</a:t>
            </a:fld>
            <a:endParaRPr lang="zh-CN" altLang="en-US"/>
          </a:p>
        </p:txBody>
      </p:sp>
    </p:spTree>
    <p:extLst>
      <p:ext uri="{BB962C8B-B14F-4D97-AF65-F5344CB8AC3E}">
        <p14:creationId xmlns:p14="http://schemas.microsoft.com/office/powerpoint/2010/main" val="2920166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希望通过这个单元的学习，同学们可以充分了解多媒体数据如何存储压缩，真正地熟悉常见的文件格式背后的内容。这些多媒体文件格式我们在日常生活中广泛使用，要知其然知其所以然</a:t>
            </a:r>
          </a:p>
        </p:txBody>
      </p:sp>
      <p:sp>
        <p:nvSpPr>
          <p:cNvPr id="4" name="灯片编号占位符 3"/>
          <p:cNvSpPr>
            <a:spLocks noGrp="1"/>
          </p:cNvSpPr>
          <p:nvPr>
            <p:ph type="sldNum" sz="quarter" idx="5"/>
          </p:nvPr>
        </p:nvSpPr>
        <p:spPr/>
        <p:txBody>
          <a:bodyPr/>
          <a:lstStyle/>
          <a:p>
            <a:fld id="{DBD2DC40-3959-47C6-9593-54FC440C069A}" type="slidenum">
              <a:rPr lang="zh-CN" altLang="en-US" smtClean="0"/>
              <a:t>2</a:t>
            </a:fld>
            <a:endParaRPr lang="zh-CN" altLang="en-US"/>
          </a:p>
        </p:txBody>
      </p:sp>
    </p:spTree>
    <p:extLst>
      <p:ext uri="{BB962C8B-B14F-4D97-AF65-F5344CB8AC3E}">
        <p14:creationId xmlns:p14="http://schemas.microsoft.com/office/powerpoint/2010/main" val="314904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ENIAC:</a:t>
            </a:r>
            <a:r>
              <a:rPr lang="zh-CN" altLang="en-US" b="0" i="0" u="none" strike="noStrike" dirty="0">
                <a:solidFill>
                  <a:srgbClr val="202124"/>
                </a:solidFill>
                <a:effectLst/>
                <a:latin typeface="Google Sans"/>
              </a:rPr>
              <a:t>电子数值积分计算机</a:t>
            </a:r>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5</a:t>
            </a:fld>
            <a:endParaRPr lang="zh-CN" altLang="en-US"/>
          </a:p>
        </p:txBody>
      </p:sp>
    </p:spTree>
    <p:extLst>
      <p:ext uri="{BB962C8B-B14F-4D97-AF65-F5344CB8AC3E}">
        <p14:creationId xmlns:p14="http://schemas.microsoft.com/office/powerpoint/2010/main" val="2517181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AE8595B3-5B03-4A5F-990F-63B2AF3F4443}" type="slidenum">
              <a:rPr lang="en-US" altLang="zh-CN"/>
              <a:pPr eaLnBrk="1" hangingPunct="1"/>
              <a:t>6</a:t>
            </a:fld>
            <a:endParaRPr lang="en-US" altLang="zh-CN"/>
          </a:p>
        </p:txBody>
      </p:sp>
      <p:sp>
        <p:nvSpPr>
          <p:cNvPr id="424963" name="Rectangle 2"/>
          <p:cNvSpPr>
            <a:spLocks noGrp="1" noRot="1" noChangeAspect="1" noChangeArrowheads="1" noTextEdit="1"/>
          </p:cNvSpPr>
          <p:nvPr>
            <p:ph type="sldImg"/>
          </p:nvPr>
        </p:nvSpPr>
        <p:spPr>
          <a:ln/>
        </p:spPr>
      </p:sp>
      <p:sp>
        <p:nvSpPr>
          <p:cNvPr id="424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3574511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7</a:t>
            </a:fld>
            <a:endParaRPr lang="zh-CN" altLang="en-US"/>
          </a:p>
        </p:txBody>
      </p:sp>
    </p:spTree>
    <p:extLst>
      <p:ext uri="{BB962C8B-B14F-4D97-AF65-F5344CB8AC3E}">
        <p14:creationId xmlns:p14="http://schemas.microsoft.com/office/powerpoint/2010/main" val="1400541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10</a:t>
            </a:fld>
            <a:endParaRPr lang="zh-CN" altLang="en-US"/>
          </a:p>
        </p:txBody>
      </p:sp>
    </p:spTree>
    <p:extLst>
      <p:ext uri="{BB962C8B-B14F-4D97-AF65-F5344CB8AC3E}">
        <p14:creationId xmlns:p14="http://schemas.microsoft.com/office/powerpoint/2010/main" val="1627571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u="none" strike="noStrike" dirty="0">
                <a:solidFill>
                  <a:srgbClr val="444444"/>
                </a:solidFill>
                <a:effectLst/>
                <a:latin typeface="-apple-system"/>
              </a:rPr>
              <a:t>U</a:t>
            </a:r>
            <a:r>
              <a:rPr lang="en" altLang="zh-CN" b="0" i="0" u="none" strike="noStrike" dirty="0" err="1">
                <a:solidFill>
                  <a:srgbClr val="444444"/>
                </a:solidFill>
                <a:effectLst/>
                <a:latin typeface="-apple-system"/>
              </a:rPr>
              <a:t>nicode</a:t>
            </a:r>
            <a:r>
              <a:rPr lang="zh-CN" altLang="en-US" b="0" i="0" u="none" strike="noStrike" dirty="0">
                <a:solidFill>
                  <a:srgbClr val="444444"/>
                </a:solidFill>
                <a:effectLst/>
                <a:latin typeface="-apple-system"/>
              </a:rPr>
              <a:t>是一种字符编码，让每个字符和一个数字对应起来，仅此而已，至于这个数字如何存储它就不管了。</a:t>
            </a:r>
            <a:r>
              <a:rPr lang="en" altLang="zh-CN" b="0" i="0" u="none" strike="noStrike" dirty="0">
                <a:solidFill>
                  <a:srgbClr val="444444"/>
                </a:solidFill>
                <a:effectLst/>
                <a:latin typeface="-apple-system"/>
              </a:rPr>
              <a:t>utf8</a:t>
            </a:r>
            <a:r>
              <a:rPr lang="zh-CN" altLang="en-US" b="0" i="0" u="none" strike="noStrike" dirty="0">
                <a:solidFill>
                  <a:srgbClr val="444444"/>
                </a:solidFill>
                <a:effectLst/>
                <a:latin typeface="-apple-system"/>
              </a:rPr>
              <a:t>就是定义了如何具体存储这个编码数字的一种方法。</a:t>
            </a:r>
            <a:endParaRPr lang="en-US" altLang="zh-CN" dirty="0"/>
          </a:p>
          <a:p>
            <a:endParaRPr lang="en-US" altLang="zh-CN" dirty="0"/>
          </a:p>
          <a:p>
            <a:r>
              <a:rPr lang="en-US" altLang="zh-CN" dirty="0"/>
              <a:t>UTF-8</a:t>
            </a:r>
            <a:r>
              <a:rPr lang="zh-CN" altLang="en-US" dirty="0"/>
              <a:t>编码的文字可以在各国支持</a:t>
            </a:r>
            <a:r>
              <a:rPr lang="en-US" altLang="zh-CN" dirty="0"/>
              <a:t>UTF8</a:t>
            </a:r>
            <a:r>
              <a:rPr lang="zh-CN" altLang="en-US" dirty="0"/>
              <a:t>字符集的浏览器上显示。如，如果是</a:t>
            </a:r>
            <a:r>
              <a:rPr lang="en-US" altLang="zh-CN" dirty="0"/>
              <a:t>UTF8</a:t>
            </a:r>
            <a:r>
              <a:rPr lang="zh-CN" altLang="en-US" dirty="0"/>
              <a:t>编码，则在外国人的英文</a:t>
            </a:r>
            <a:r>
              <a:rPr lang="en-US" altLang="zh-CN" dirty="0"/>
              <a:t>IE</a:t>
            </a:r>
            <a:r>
              <a:rPr lang="zh-CN" altLang="en-US" dirty="0"/>
              <a:t>上也能显示中文，他们无需下载</a:t>
            </a:r>
            <a:r>
              <a:rPr lang="en-US" altLang="zh-CN" dirty="0"/>
              <a:t>IE</a:t>
            </a:r>
            <a:r>
              <a:rPr lang="zh-CN" altLang="en-US" dirty="0"/>
              <a:t>的中文语言支持包。</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11</a:t>
            </a:fld>
            <a:endParaRPr lang="zh-CN" altLang="en-US"/>
          </a:p>
        </p:txBody>
      </p:sp>
    </p:spTree>
    <p:extLst>
      <p:ext uri="{BB962C8B-B14F-4D97-AF65-F5344CB8AC3E}">
        <p14:creationId xmlns:p14="http://schemas.microsoft.com/office/powerpoint/2010/main" val="408179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12</a:t>
            </a:fld>
            <a:endParaRPr lang="zh-CN" altLang="en-US"/>
          </a:p>
        </p:txBody>
      </p:sp>
    </p:spTree>
    <p:extLst>
      <p:ext uri="{BB962C8B-B14F-4D97-AF65-F5344CB8AC3E}">
        <p14:creationId xmlns:p14="http://schemas.microsoft.com/office/powerpoint/2010/main" val="164631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b="0" dirty="0"/>
              <a:t>GBK</a:t>
            </a:r>
            <a:r>
              <a:rPr lang="zh-CN" altLang="en-US" b="0" dirty="0"/>
              <a:t>包含全部中文字符，是国家编码，通用性比</a:t>
            </a:r>
            <a:r>
              <a:rPr lang="en-US" altLang="zh-CN" b="0" dirty="0"/>
              <a:t>UTF8</a:t>
            </a:r>
            <a:r>
              <a:rPr lang="zh-CN" altLang="en-US" b="0" dirty="0"/>
              <a:t>差，不过</a:t>
            </a:r>
            <a:r>
              <a:rPr lang="en-US" altLang="zh-CN" b="0" dirty="0"/>
              <a:t>UTF8</a:t>
            </a:r>
            <a:r>
              <a:rPr lang="zh-CN" altLang="en-US" b="0" dirty="0"/>
              <a:t>占用的数据库比</a:t>
            </a:r>
            <a:r>
              <a:rPr lang="en-US" altLang="zh-CN" b="0" dirty="0"/>
              <a:t>GBD</a:t>
            </a:r>
            <a:r>
              <a:rPr lang="zh-CN" altLang="en-US" b="0" dirty="0"/>
              <a:t>大。</a:t>
            </a:r>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13</a:t>
            </a:fld>
            <a:endParaRPr lang="zh-CN" altLang="en-US"/>
          </a:p>
        </p:txBody>
      </p:sp>
    </p:spTree>
    <p:extLst>
      <p:ext uri="{BB962C8B-B14F-4D97-AF65-F5344CB8AC3E}">
        <p14:creationId xmlns:p14="http://schemas.microsoft.com/office/powerpoint/2010/main" val="1083832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相传，</a:t>
            </a:r>
            <a:r>
              <a:rPr lang="zh-CN" altLang="en-US" sz="1200" b="0" i="0" kern="1200" dirty="0">
                <a:solidFill>
                  <a:schemeClr val="tx1"/>
                </a:solidFill>
                <a:effectLst/>
                <a:latin typeface="+mn-lt"/>
                <a:ea typeface="+mn-ea"/>
                <a:cs typeface="+mn-cs"/>
              </a:rPr>
              <a:t>传说中仓颉生有“双瞳四目”。</a:t>
            </a:r>
            <a:r>
              <a:rPr lang="en-US" altLang="zh-CN" sz="1200" b="0" i="0" u="none" strike="noStrike" kern="1200" baseline="30000" dirty="0">
                <a:solidFill>
                  <a:schemeClr val="tx1"/>
                </a:solidFill>
                <a:effectLst/>
                <a:latin typeface="+mn-lt"/>
                <a:ea typeface="+mn-ea"/>
                <a:cs typeface="+mn-cs"/>
              </a:rPr>
              <a:t> </a:t>
            </a:r>
            <a:r>
              <a:rPr lang="zh-CN" altLang="en-US" dirty="0"/>
              <a:t>仓颉“始作书契，以代结绳”。在此以前，人们结绳记事，即大事打一大结，小事打一小结，相连的事打一连环结。后又发展到用刀子在木竹上刻以符号作为记事。随着历史的发展，文明渐进，事情繁杂，名物繁多，用结和刻木的方法，远不能适应需要，这就有创造文字的迫切要求。</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14</a:t>
            </a:fld>
            <a:endParaRPr lang="zh-CN" altLang="en-US"/>
          </a:p>
        </p:txBody>
      </p:sp>
    </p:spTree>
    <p:extLst>
      <p:ext uri="{BB962C8B-B14F-4D97-AF65-F5344CB8AC3E}">
        <p14:creationId xmlns:p14="http://schemas.microsoft.com/office/powerpoint/2010/main" val="1151563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EB9A8E93-0E7D-4555-846C-59B3E7028D8E}" type="slidenum">
              <a:rPr lang="en-US" altLang="zh-CN"/>
              <a:pPr eaLnBrk="1" hangingPunct="1"/>
              <a:t>15</a:t>
            </a:fld>
            <a:endParaRPr lang="en-US" altLang="zh-CN"/>
          </a:p>
        </p:txBody>
      </p:sp>
      <p:sp>
        <p:nvSpPr>
          <p:cNvPr id="433155" name="Rectangle 2"/>
          <p:cNvSpPr>
            <a:spLocks noGrp="1" noRot="1" noChangeAspect="1" noChangeArrowheads="1" noTextEdit="1"/>
          </p:cNvSpPr>
          <p:nvPr>
            <p:ph type="sldImg"/>
          </p:nvPr>
        </p:nvSpPr>
        <p:spPr>
          <a:ln/>
        </p:spPr>
      </p:sp>
      <p:sp>
        <p:nvSpPr>
          <p:cNvPr id="433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u="none" strike="noStrike" dirty="0">
                <a:solidFill>
                  <a:srgbClr val="444444"/>
                </a:solidFill>
                <a:effectLst/>
                <a:latin typeface="-apple-system"/>
              </a:rPr>
              <a:t>一般条件下光由一个介质进入另一种介质，频率不变，波长改变。而颜色是针对人的体验而言的。某种颜色的光，从空气中射入水中，颜色不会发生变化。</a:t>
            </a:r>
            <a:endParaRPr lang="zh-CN" altLang="zh-CN" dirty="0"/>
          </a:p>
        </p:txBody>
      </p:sp>
    </p:spTree>
    <p:extLst>
      <p:ext uri="{BB962C8B-B14F-4D97-AF65-F5344CB8AC3E}">
        <p14:creationId xmlns:p14="http://schemas.microsoft.com/office/powerpoint/2010/main" val="837533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6A076A40-9AC2-4C57-A89A-772955841CF3}" type="slidenum">
              <a:rPr lang="en-US" altLang="zh-CN"/>
              <a:pPr eaLnBrk="1" hangingPunct="1"/>
              <a:t>16</a:t>
            </a:fld>
            <a:endParaRPr lang="en-US" altLang="zh-CN"/>
          </a:p>
        </p:txBody>
      </p:sp>
      <p:sp>
        <p:nvSpPr>
          <p:cNvPr id="435203" name="Rectangle 2"/>
          <p:cNvSpPr>
            <a:spLocks noGrp="1" noRot="1" noChangeAspect="1" noChangeArrowheads="1" noTextEdit="1"/>
          </p:cNvSpPr>
          <p:nvPr>
            <p:ph type="sldImg"/>
          </p:nvPr>
        </p:nvSpPr>
        <p:spPr>
          <a:ln/>
        </p:spPr>
      </p:sp>
      <p:sp>
        <p:nvSpPr>
          <p:cNvPr id="435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2945911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6A076A40-9AC2-4C57-A89A-772955841CF3}" type="slidenum">
              <a:rPr lang="en-US" altLang="zh-CN"/>
              <a:pPr eaLnBrk="1" hangingPunct="1"/>
              <a:t>18</a:t>
            </a:fld>
            <a:endParaRPr lang="en-US" altLang="zh-CN"/>
          </a:p>
        </p:txBody>
      </p:sp>
      <p:sp>
        <p:nvSpPr>
          <p:cNvPr id="435203" name="Rectangle 2"/>
          <p:cNvSpPr>
            <a:spLocks noGrp="1" noRot="1" noChangeAspect="1" noChangeArrowheads="1" noTextEdit="1"/>
          </p:cNvSpPr>
          <p:nvPr>
            <p:ph type="sldImg"/>
          </p:nvPr>
        </p:nvSpPr>
        <p:spPr>
          <a:ln/>
        </p:spPr>
      </p:sp>
      <p:sp>
        <p:nvSpPr>
          <p:cNvPr id="435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23770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6A076A40-9AC2-4C57-A89A-772955841CF3}" type="slidenum">
              <a:rPr lang="en-US" altLang="zh-CN"/>
              <a:pPr eaLnBrk="1" hangingPunct="1"/>
              <a:t>19</a:t>
            </a:fld>
            <a:endParaRPr lang="en-US" altLang="zh-CN"/>
          </a:p>
        </p:txBody>
      </p:sp>
      <p:sp>
        <p:nvSpPr>
          <p:cNvPr id="435203" name="Rectangle 2"/>
          <p:cNvSpPr>
            <a:spLocks noGrp="1" noRot="1" noChangeAspect="1" noChangeArrowheads="1" noTextEdit="1"/>
          </p:cNvSpPr>
          <p:nvPr>
            <p:ph type="sldImg"/>
          </p:nvPr>
        </p:nvSpPr>
        <p:spPr>
          <a:ln/>
        </p:spPr>
      </p:sp>
      <p:sp>
        <p:nvSpPr>
          <p:cNvPr id="435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35038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CCD:</a:t>
            </a:r>
            <a:r>
              <a:rPr lang="zh-CN" altLang="en-US" b="0" i="0" u="none" strike="noStrike" dirty="0">
                <a:solidFill>
                  <a:srgbClr val="4D5156"/>
                </a:solidFill>
                <a:effectLst/>
                <a:latin typeface="arial" panose="020B0604020202020204" pitchFamily="34" charset="0"/>
              </a:rPr>
              <a:t>电荷耦合元件</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20</a:t>
            </a:fld>
            <a:endParaRPr lang="zh-CN" altLang="en-US"/>
          </a:p>
        </p:txBody>
      </p:sp>
    </p:spTree>
    <p:extLst>
      <p:ext uri="{BB962C8B-B14F-4D97-AF65-F5344CB8AC3E}">
        <p14:creationId xmlns:p14="http://schemas.microsoft.com/office/powerpoint/2010/main" val="3044993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CCD:</a:t>
            </a:r>
            <a:r>
              <a:rPr lang="zh-CN" altLang="en-US" b="0" i="0" u="none" strike="noStrike" dirty="0">
                <a:solidFill>
                  <a:srgbClr val="4D5156"/>
                </a:solidFill>
                <a:effectLst/>
                <a:latin typeface="arial" panose="020B0604020202020204" pitchFamily="34" charset="0"/>
              </a:rPr>
              <a:t>电荷耦合元件</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21</a:t>
            </a:fld>
            <a:endParaRPr lang="zh-CN" altLang="en-US"/>
          </a:p>
        </p:txBody>
      </p:sp>
    </p:spTree>
    <p:extLst>
      <p:ext uri="{BB962C8B-B14F-4D97-AF65-F5344CB8AC3E}">
        <p14:creationId xmlns:p14="http://schemas.microsoft.com/office/powerpoint/2010/main" val="667454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22</a:t>
            </a:fld>
            <a:endParaRPr lang="zh-CN" altLang="en-US"/>
          </a:p>
        </p:txBody>
      </p:sp>
    </p:spTree>
    <p:extLst>
      <p:ext uri="{BB962C8B-B14F-4D97-AF65-F5344CB8AC3E}">
        <p14:creationId xmlns:p14="http://schemas.microsoft.com/office/powerpoint/2010/main" val="1975735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121212"/>
                </a:solidFill>
                <a:effectLst/>
                <a:latin typeface="-apple-system"/>
              </a:rPr>
              <a:t>可以使天然光变成偏振光的光学元件叫偏振片。</a:t>
            </a:r>
            <a:endParaRPr lang="en-US" altLang="zh-CN" b="0" i="0" u="none" strike="noStrike" dirty="0">
              <a:solidFill>
                <a:srgbClr val="121212"/>
              </a:solidFill>
              <a:effectLst/>
              <a:latin typeface="-apple-system"/>
            </a:endParaRPr>
          </a:p>
          <a:p>
            <a:r>
              <a:rPr lang="zh-CN" altLang="en-US" b="0" i="0" u="none" strike="noStrike" dirty="0">
                <a:solidFill>
                  <a:srgbClr val="121212"/>
                </a:solidFill>
                <a:effectLst/>
                <a:latin typeface="-apple-system"/>
              </a:rPr>
              <a:t>偏振片的工作原理是什么？ </a:t>
            </a:r>
            <a:r>
              <a:rPr lang="en-US" altLang="zh-CN" b="0" i="0" u="none" strike="noStrike" dirty="0">
                <a:solidFill>
                  <a:srgbClr val="121212"/>
                </a:solidFill>
                <a:effectLst/>
                <a:latin typeface="-apple-system"/>
              </a:rPr>
              <a:t>- </a:t>
            </a:r>
            <a:r>
              <a:rPr lang="zh-CN" altLang="en-US" b="0" i="0" u="none" strike="noStrike" dirty="0">
                <a:solidFill>
                  <a:srgbClr val="121212"/>
                </a:solidFill>
                <a:effectLst/>
                <a:latin typeface="-apple-system"/>
              </a:rPr>
              <a:t>大恒图像的回答 </a:t>
            </a:r>
            <a:r>
              <a:rPr lang="en-US" altLang="zh-CN" b="0" i="0" u="none" strike="noStrike" dirty="0">
                <a:solidFill>
                  <a:srgbClr val="121212"/>
                </a:solidFill>
                <a:effectLst/>
                <a:latin typeface="-apple-system"/>
              </a:rPr>
              <a:t>- </a:t>
            </a:r>
            <a:r>
              <a:rPr lang="zh-CN" altLang="en-US" b="0" i="0" u="none" strike="noStrike" dirty="0">
                <a:solidFill>
                  <a:srgbClr val="121212"/>
                </a:solidFill>
                <a:effectLst/>
                <a:latin typeface="-apple-system"/>
              </a:rPr>
              <a:t>知乎 </a:t>
            </a:r>
            <a:r>
              <a:rPr lang="en" altLang="zh-CN" b="0" i="0" u="none" strike="noStrike" dirty="0">
                <a:solidFill>
                  <a:srgbClr val="121212"/>
                </a:solidFill>
                <a:effectLst/>
                <a:latin typeface="-apple-system"/>
              </a:rPr>
              <a:t>https://</a:t>
            </a:r>
            <a:r>
              <a:rPr lang="en" altLang="zh-CN" b="0" i="0" u="none" strike="noStrike" dirty="0" err="1">
                <a:solidFill>
                  <a:srgbClr val="121212"/>
                </a:solidFill>
                <a:effectLst/>
                <a:latin typeface="-apple-system"/>
              </a:rPr>
              <a:t>www.zhihu.com</a:t>
            </a:r>
            <a:r>
              <a:rPr lang="en" altLang="zh-CN" b="0" i="0" u="none" strike="noStrike" dirty="0">
                <a:solidFill>
                  <a:srgbClr val="121212"/>
                </a:solidFill>
                <a:effectLst/>
                <a:latin typeface="-apple-system"/>
              </a:rPr>
              <a:t>/question/309380531/answer/2757554267</a:t>
            </a:r>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23</a:t>
            </a:fld>
            <a:endParaRPr lang="zh-CN" altLang="en-US"/>
          </a:p>
        </p:txBody>
      </p:sp>
    </p:spTree>
    <p:extLst>
      <p:ext uri="{BB962C8B-B14F-4D97-AF65-F5344CB8AC3E}">
        <p14:creationId xmlns:p14="http://schemas.microsoft.com/office/powerpoint/2010/main" val="2824772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24</a:t>
            </a:fld>
            <a:endParaRPr lang="zh-CN" altLang="en-US"/>
          </a:p>
        </p:txBody>
      </p:sp>
    </p:spTree>
    <p:extLst>
      <p:ext uri="{BB962C8B-B14F-4D97-AF65-F5344CB8AC3E}">
        <p14:creationId xmlns:p14="http://schemas.microsoft.com/office/powerpoint/2010/main" val="2824772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27</a:t>
            </a:fld>
            <a:endParaRPr lang="zh-CN" altLang="en-US"/>
          </a:p>
        </p:txBody>
      </p:sp>
    </p:spTree>
    <p:extLst>
      <p:ext uri="{BB962C8B-B14F-4D97-AF65-F5344CB8AC3E}">
        <p14:creationId xmlns:p14="http://schemas.microsoft.com/office/powerpoint/2010/main" val="371157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0CC73D07-C2EE-4CF7-94AF-D6A5C0B1E90A}" type="datetime2">
              <a:rPr lang="zh-CN" altLang="en-US" smtClean="0">
                <a:latin typeface="Arial" pitchFamily="34" charset="0"/>
              </a:rPr>
              <a:pPr eaLnBrk="1" hangingPunct="1"/>
              <a:t>2026年4月22日 Wednesday</a:t>
            </a:fld>
            <a:endParaRPr lang="en-US" altLang="zh-CN">
              <a:latin typeface="Arial" pitchFamily="34" charset="0"/>
            </a:endParaRPr>
          </a:p>
        </p:txBody>
      </p:sp>
      <p:sp>
        <p:nvSpPr>
          <p:cNvPr id="13209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3BB1D360-A77A-4213-8228-E90766A97D48}" type="slidenum">
              <a:rPr lang="en-US" altLang="zh-CN" smtClean="0">
                <a:latin typeface="Arial" pitchFamily="34" charset="0"/>
              </a:rPr>
              <a:pPr eaLnBrk="1" hangingPunct="1"/>
              <a:t>35</a:t>
            </a:fld>
            <a:endParaRPr lang="en-US" altLang="zh-CN">
              <a:latin typeface="Arial" pitchFamily="34" charset="0"/>
            </a:endParaRPr>
          </a:p>
        </p:txBody>
      </p:sp>
      <p:sp>
        <p:nvSpPr>
          <p:cNvPr id="132100" name="Rectangle 2"/>
          <p:cNvSpPr>
            <a:spLocks noGrp="1" noRot="1" noChangeAspect="1" noChangeArrowheads="1" noTextEdit="1"/>
          </p:cNvSpPr>
          <p:nvPr>
            <p:ph type="sldImg"/>
          </p:nvPr>
        </p:nvSpPr>
        <p:spPr>
          <a:ln/>
        </p:spPr>
      </p:sp>
      <p:sp>
        <p:nvSpPr>
          <p:cNvPr id="1321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564181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E673E83-9979-4652-8AF9-25AD70F2F902}" type="datetime2">
              <a:rPr lang="zh-CN" altLang="en-US" smtClean="0">
                <a:latin typeface="Arial" pitchFamily="34" charset="0"/>
              </a:rPr>
              <a:pPr eaLnBrk="1" hangingPunct="1"/>
              <a:t>2026年4月22日 Wednesday</a:t>
            </a:fld>
            <a:endParaRPr lang="en-US" altLang="zh-CN">
              <a:latin typeface="Arial" pitchFamily="34" charset="0"/>
            </a:endParaRPr>
          </a:p>
        </p:txBody>
      </p:sp>
      <p:sp>
        <p:nvSpPr>
          <p:cNvPr id="13312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6D30AB1C-0DF7-4655-AE79-4E418B484707}" type="slidenum">
              <a:rPr lang="en-US" altLang="zh-CN" smtClean="0">
                <a:latin typeface="Arial" pitchFamily="34" charset="0"/>
              </a:rPr>
              <a:pPr eaLnBrk="1" hangingPunct="1"/>
              <a:t>36</a:t>
            </a:fld>
            <a:endParaRPr lang="en-US" altLang="zh-CN">
              <a:latin typeface="Arial" pitchFamily="34" charset="0"/>
            </a:endParaRPr>
          </a:p>
        </p:txBody>
      </p:sp>
      <p:sp>
        <p:nvSpPr>
          <p:cNvPr id="133124" name="Rectangle 2"/>
          <p:cNvSpPr>
            <a:spLocks noGrp="1" noRot="1" noChangeAspect="1" noChangeArrowheads="1" noTextEdit="1"/>
          </p:cNvSpPr>
          <p:nvPr>
            <p:ph type="sldImg"/>
          </p:nvPr>
        </p:nvSpPr>
        <p:spPr>
          <a:ln/>
        </p:spPr>
      </p:sp>
      <p:sp>
        <p:nvSpPr>
          <p:cNvPr id="1331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7951248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E673E83-9979-4652-8AF9-25AD70F2F902}" type="datetime2">
              <a:rPr lang="zh-CN" altLang="en-US" smtClean="0">
                <a:latin typeface="Arial" pitchFamily="34" charset="0"/>
              </a:rPr>
              <a:pPr eaLnBrk="1" hangingPunct="1"/>
              <a:t>2026年4月22日 Wednesday</a:t>
            </a:fld>
            <a:endParaRPr lang="en-US" altLang="zh-CN">
              <a:latin typeface="Arial" pitchFamily="34" charset="0"/>
            </a:endParaRPr>
          </a:p>
        </p:txBody>
      </p:sp>
      <p:sp>
        <p:nvSpPr>
          <p:cNvPr id="13312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6D30AB1C-0DF7-4655-AE79-4E418B484707}" type="slidenum">
              <a:rPr lang="en-US" altLang="zh-CN" smtClean="0">
                <a:latin typeface="Arial" pitchFamily="34" charset="0"/>
              </a:rPr>
              <a:pPr eaLnBrk="1" hangingPunct="1"/>
              <a:t>37</a:t>
            </a:fld>
            <a:endParaRPr lang="en-US" altLang="zh-CN">
              <a:latin typeface="Arial" pitchFamily="34" charset="0"/>
            </a:endParaRPr>
          </a:p>
        </p:txBody>
      </p:sp>
      <p:sp>
        <p:nvSpPr>
          <p:cNvPr id="133124" name="Rectangle 2"/>
          <p:cNvSpPr>
            <a:spLocks noGrp="1" noRot="1" noChangeAspect="1" noChangeArrowheads="1" noTextEdit="1"/>
          </p:cNvSpPr>
          <p:nvPr>
            <p:ph type="sldImg"/>
          </p:nvPr>
        </p:nvSpPr>
        <p:spPr>
          <a:ln/>
        </p:spPr>
      </p:sp>
      <p:sp>
        <p:nvSpPr>
          <p:cNvPr id="1331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681180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958F629E-46A7-4D42-AD5E-B92ABE06AABB}" type="datetime2">
              <a:rPr lang="zh-CN" altLang="en-US" smtClean="0">
                <a:latin typeface="Arial" pitchFamily="34" charset="0"/>
              </a:rPr>
              <a:pPr eaLnBrk="1" hangingPunct="1"/>
              <a:t>2026年4月22日 Wednesday</a:t>
            </a:fld>
            <a:endParaRPr lang="en-US" altLang="zh-CN">
              <a:latin typeface="Arial" pitchFamily="34" charset="0"/>
            </a:endParaRPr>
          </a:p>
        </p:txBody>
      </p:sp>
      <p:sp>
        <p:nvSpPr>
          <p:cNvPr id="13517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3637E2B6-05B2-4E5D-B1B1-30EE5388FF18}" type="slidenum">
              <a:rPr lang="en-US" altLang="zh-CN" smtClean="0">
                <a:latin typeface="Arial" pitchFamily="34" charset="0"/>
              </a:rPr>
              <a:pPr eaLnBrk="1" hangingPunct="1"/>
              <a:t>46</a:t>
            </a:fld>
            <a:endParaRPr lang="en-US" altLang="zh-CN">
              <a:latin typeface="Arial" pitchFamily="34" charset="0"/>
            </a:endParaRPr>
          </a:p>
        </p:txBody>
      </p:sp>
      <p:sp>
        <p:nvSpPr>
          <p:cNvPr id="135172" name="Rectangle 2"/>
          <p:cNvSpPr>
            <a:spLocks noGrp="1" noRot="1" noChangeAspect="1" noChangeArrowheads="1" noTextEdit="1"/>
          </p:cNvSpPr>
          <p:nvPr>
            <p:ph type="sldImg"/>
          </p:nvPr>
        </p:nvSpPr>
        <p:spPr>
          <a:ln/>
        </p:spPr>
      </p:sp>
      <p:sp>
        <p:nvSpPr>
          <p:cNvPr id="1351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6546429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CD5ABE00-E5A5-42A0-9D62-F4C21AFC56C5}" type="datetime2">
              <a:rPr lang="zh-CN" altLang="en-US" smtClean="0">
                <a:latin typeface="Arial" pitchFamily="34" charset="0"/>
              </a:rPr>
              <a:pPr eaLnBrk="1" hangingPunct="1"/>
              <a:t>2026年4月22日 Wednesday</a:t>
            </a:fld>
            <a:endParaRPr lang="en-US" altLang="zh-CN">
              <a:latin typeface="Arial" pitchFamily="34" charset="0"/>
            </a:endParaRPr>
          </a:p>
        </p:txBody>
      </p:sp>
      <p:sp>
        <p:nvSpPr>
          <p:cNvPr id="13414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F2F56B20-8296-462E-988C-1720275C4CDE}" type="slidenum">
              <a:rPr lang="en-US" altLang="zh-CN" smtClean="0">
                <a:latin typeface="Arial" pitchFamily="34" charset="0"/>
              </a:rPr>
              <a:pPr eaLnBrk="1" hangingPunct="1"/>
              <a:t>47</a:t>
            </a:fld>
            <a:endParaRPr lang="en-US" altLang="zh-CN">
              <a:latin typeface="Arial" pitchFamily="34" charset="0"/>
            </a:endParaRPr>
          </a:p>
        </p:txBody>
      </p:sp>
      <p:sp>
        <p:nvSpPr>
          <p:cNvPr id="134148" name="Rectangle 2"/>
          <p:cNvSpPr>
            <a:spLocks noGrp="1" noRot="1" noChangeAspect="1" noChangeArrowheads="1" noTextEdit="1"/>
          </p:cNvSpPr>
          <p:nvPr>
            <p:ph type="sldImg"/>
          </p:nvPr>
        </p:nvSpPr>
        <p:spPr>
          <a:ln/>
        </p:spPr>
      </p:sp>
      <p:sp>
        <p:nvSpPr>
          <p:cNvPr id="1341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2716196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531DFEFB-0F19-4052-B997-FACCE758F8C1}" type="datetime2">
              <a:rPr lang="zh-CN" altLang="en-US" smtClean="0">
                <a:latin typeface="Arial" pitchFamily="34" charset="0"/>
              </a:rPr>
              <a:pPr eaLnBrk="1" hangingPunct="1"/>
              <a:t>2026年4月22日 Wednesday</a:t>
            </a:fld>
            <a:endParaRPr lang="en-US" altLang="zh-CN">
              <a:latin typeface="Arial" pitchFamily="34" charset="0"/>
            </a:endParaRPr>
          </a:p>
        </p:txBody>
      </p:sp>
      <p:sp>
        <p:nvSpPr>
          <p:cNvPr id="13619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61C22123-911E-404E-B944-228D7B926D13}" type="slidenum">
              <a:rPr lang="en-US" altLang="zh-CN" smtClean="0">
                <a:latin typeface="Arial" pitchFamily="34" charset="0"/>
              </a:rPr>
              <a:pPr eaLnBrk="1" hangingPunct="1"/>
              <a:t>48</a:t>
            </a:fld>
            <a:endParaRPr lang="en-US" altLang="zh-CN">
              <a:latin typeface="Arial" pitchFamily="34" charset="0"/>
            </a:endParaRPr>
          </a:p>
        </p:txBody>
      </p:sp>
      <p:sp>
        <p:nvSpPr>
          <p:cNvPr id="136196" name="Rectangle 2"/>
          <p:cNvSpPr>
            <a:spLocks noGrp="1" noRot="1" noChangeAspect="1" noChangeArrowheads="1" noTextEdit="1"/>
          </p:cNvSpPr>
          <p:nvPr>
            <p:ph type="sldImg"/>
          </p:nvPr>
        </p:nvSpPr>
        <p:spPr>
          <a:ln/>
        </p:spPr>
      </p:sp>
      <p:sp>
        <p:nvSpPr>
          <p:cNvPr id="1361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4153690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学单词时间</a:t>
            </a:r>
            <a:r>
              <a:rPr lang="en-US" altLang="zh-CN" dirty="0"/>
              <a:t> </a:t>
            </a:r>
            <a:r>
              <a:rPr lang="en-US" altLang="zh-CN" dirty="0">
                <a:sym typeface="Wingdings" pitchFamily="2" charset="2"/>
              </a:rPr>
              <a:t> </a:t>
            </a:r>
          </a:p>
          <a:p>
            <a:r>
              <a:rPr lang="en-US" altLang="zh-CN" dirty="0"/>
              <a:t>Interleave </a:t>
            </a:r>
            <a:r>
              <a:rPr lang="zh-CN" altLang="en-US" dirty="0"/>
              <a:t>交错；插空白页于；插叙</a:t>
            </a:r>
          </a:p>
        </p:txBody>
      </p:sp>
      <p:sp>
        <p:nvSpPr>
          <p:cNvPr id="4" name="灯片编号占位符 3"/>
          <p:cNvSpPr>
            <a:spLocks noGrp="1"/>
          </p:cNvSpPr>
          <p:nvPr>
            <p:ph type="sldNum" sz="quarter" idx="5"/>
          </p:nvPr>
        </p:nvSpPr>
        <p:spPr/>
        <p:txBody>
          <a:bodyPr/>
          <a:lstStyle/>
          <a:p>
            <a:fld id="{DBD2DC40-3959-47C6-9593-54FC440C069A}" type="slidenum">
              <a:rPr lang="zh-CN" altLang="en-US" smtClean="0"/>
              <a:t>50</a:t>
            </a:fld>
            <a:endParaRPr lang="zh-CN" altLang="en-US"/>
          </a:p>
        </p:txBody>
      </p:sp>
    </p:spTree>
    <p:extLst>
      <p:ext uri="{BB962C8B-B14F-4D97-AF65-F5344CB8AC3E}">
        <p14:creationId xmlns:p14="http://schemas.microsoft.com/office/powerpoint/2010/main" val="35127911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51</a:t>
            </a:fld>
            <a:endParaRPr lang="zh-CN" altLang="en-US"/>
          </a:p>
        </p:txBody>
      </p:sp>
    </p:spTree>
    <p:extLst>
      <p:ext uri="{BB962C8B-B14F-4D97-AF65-F5344CB8AC3E}">
        <p14:creationId xmlns:p14="http://schemas.microsoft.com/office/powerpoint/2010/main" val="1810738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52</a:t>
            </a:fld>
            <a:endParaRPr lang="zh-CN" altLang="en-US"/>
          </a:p>
        </p:txBody>
      </p:sp>
    </p:spTree>
    <p:extLst>
      <p:ext uri="{BB962C8B-B14F-4D97-AF65-F5344CB8AC3E}">
        <p14:creationId xmlns:p14="http://schemas.microsoft.com/office/powerpoint/2010/main" val="10356629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5083CD-E317-4FCE-B591-11F3E60A2613}" type="slidenum">
              <a:rPr lang="en-US" altLang="zh-CN"/>
              <a:pPr/>
              <a:t>53</a:t>
            </a:fld>
            <a:endParaRPr lang="en-US" altLang="zh-CN"/>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lang="en-US" altLang="zh-CN" b="1" dirty="0"/>
              <a:t>MOV</a:t>
            </a:r>
            <a:r>
              <a:rPr lang="zh-CN" altLang="en-US" b="1" dirty="0"/>
              <a:t>视频格式：</a:t>
            </a:r>
            <a:r>
              <a:rPr lang="en-US" altLang="zh-CN" b="1" dirty="0"/>
              <a:t>AVI</a:t>
            </a:r>
            <a:r>
              <a:rPr lang="zh-CN" altLang="en-US" b="1" dirty="0"/>
              <a:t>文件格式和</a:t>
            </a:r>
            <a:r>
              <a:rPr lang="en-US" altLang="zh-CN" b="1" dirty="0"/>
              <a:t>VFW</a:t>
            </a:r>
            <a:r>
              <a:rPr lang="zh-CN" altLang="en-US" b="1" dirty="0"/>
              <a:t>软件是</a:t>
            </a:r>
            <a:r>
              <a:rPr lang="en-US" altLang="zh-CN" b="1" dirty="0"/>
              <a:t>Microsoft</a:t>
            </a:r>
            <a:r>
              <a:rPr lang="zh-CN" altLang="en-US" b="1" dirty="0"/>
              <a:t>为</a:t>
            </a:r>
            <a:r>
              <a:rPr lang="en-US" altLang="zh-CN" b="1" dirty="0"/>
              <a:t>PC</a:t>
            </a:r>
            <a:r>
              <a:rPr lang="zh-CN" altLang="en-US" b="1" dirty="0"/>
              <a:t>机设计的数字视频格式和应用软件。对于目前世界上的另一大类微机－－</a:t>
            </a:r>
            <a:r>
              <a:rPr lang="en-US" altLang="zh-CN" b="1" dirty="0"/>
              <a:t>Apple</a:t>
            </a:r>
            <a:r>
              <a:rPr lang="zh-CN" altLang="en-US" b="1" dirty="0"/>
              <a:t>公司的</a:t>
            </a:r>
            <a:r>
              <a:rPr lang="en-US" altLang="zh-CN" b="1" dirty="0"/>
              <a:t>Macintosh(</a:t>
            </a:r>
            <a:r>
              <a:rPr lang="zh-CN" altLang="en-US" b="0" i="0" u="none" strike="noStrike" dirty="0">
                <a:solidFill>
                  <a:srgbClr val="638C0B"/>
                </a:solidFill>
                <a:effectLst/>
                <a:latin typeface="Arial" panose="020B0604020202020204" pitchFamily="34" charset="0"/>
              </a:rPr>
              <a:t>麦金塔</a:t>
            </a:r>
            <a:r>
              <a:rPr lang="en-US" altLang="zh-CN" b="1" dirty="0"/>
              <a:t>)</a:t>
            </a:r>
            <a:r>
              <a:rPr lang="zh-CN" altLang="en-US" b="1" dirty="0"/>
              <a:t>机，</a:t>
            </a:r>
            <a:r>
              <a:rPr lang="en-US" altLang="zh-CN" b="1" dirty="0"/>
              <a:t>Apple</a:t>
            </a:r>
            <a:r>
              <a:rPr lang="zh-CN" altLang="en-US" b="1" dirty="0"/>
              <a:t>公司也推出了相应的视频格式，即</a:t>
            </a:r>
            <a:r>
              <a:rPr lang="en-US" altLang="zh-CN" b="1" dirty="0"/>
              <a:t>MOV</a:t>
            </a:r>
            <a:r>
              <a:rPr lang="zh-CN" altLang="en-US" b="1" dirty="0"/>
              <a:t>（</a:t>
            </a:r>
            <a:r>
              <a:rPr lang="en-US" altLang="zh-CN" b="1" dirty="0"/>
              <a:t>Movie digital video technology</a:t>
            </a:r>
            <a:r>
              <a:rPr lang="zh-CN" altLang="en-US" b="1" dirty="0"/>
              <a:t>）的文件格式，其文件以</a:t>
            </a:r>
            <a:r>
              <a:rPr lang="en-US" altLang="zh-CN" b="1" dirty="0"/>
              <a:t>MOV</a:t>
            </a:r>
            <a:r>
              <a:rPr lang="zh-CN" altLang="en-US" b="1" dirty="0"/>
              <a:t>为后缀，相应的视频应用软件为</a:t>
            </a:r>
            <a:r>
              <a:rPr lang="en-US" altLang="zh-CN" b="1" dirty="0"/>
              <a:t>Apple's QuickTime for Macintosh</a:t>
            </a:r>
            <a:r>
              <a:rPr lang="zh-CN" altLang="en-US" b="1" dirty="0"/>
              <a:t>。该软件的功能与</a:t>
            </a:r>
            <a:r>
              <a:rPr lang="en-US" altLang="zh-CN" b="1" dirty="0"/>
              <a:t>VFW</a:t>
            </a:r>
            <a:r>
              <a:rPr lang="zh-CN" altLang="en-US" b="1" dirty="0"/>
              <a:t>类似，只不过用于</a:t>
            </a:r>
            <a:r>
              <a:rPr lang="en-US" altLang="zh-CN" b="1" dirty="0"/>
              <a:t>Macintosh</a:t>
            </a:r>
            <a:r>
              <a:rPr lang="zh-CN" altLang="en-US" b="1" dirty="0"/>
              <a:t>机。同时</a:t>
            </a:r>
            <a:r>
              <a:rPr lang="en-US" altLang="zh-CN" b="1" dirty="0"/>
              <a:t>Apple</a:t>
            </a:r>
            <a:r>
              <a:rPr lang="zh-CN" altLang="en-US" b="1" dirty="0"/>
              <a:t>公司也推出了适用于</a:t>
            </a:r>
            <a:r>
              <a:rPr lang="en-US" altLang="zh-CN" b="1" dirty="0"/>
              <a:t>PC</a:t>
            </a:r>
            <a:r>
              <a:rPr lang="zh-CN" altLang="en-US" b="1" dirty="0"/>
              <a:t>机的视频应用软件</a:t>
            </a:r>
            <a:r>
              <a:rPr lang="en-US" altLang="zh-CN" b="1" dirty="0"/>
              <a:t>Apple's QuickTime for Windows</a:t>
            </a:r>
            <a:r>
              <a:rPr lang="zh-CN" altLang="en-US" b="1" dirty="0"/>
              <a:t>，因此在</a:t>
            </a:r>
            <a:r>
              <a:rPr lang="en-US" altLang="zh-CN" b="1" dirty="0"/>
              <a:t>MPC</a:t>
            </a:r>
            <a:r>
              <a:rPr lang="zh-CN" altLang="en-US" b="1" dirty="0"/>
              <a:t>机上也可以播放</a:t>
            </a:r>
            <a:r>
              <a:rPr lang="en-US" altLang="zh-CN" b="1" dirty="0"/>
              <a:t>MOV</a:t>
            </a:r>
            <a:r>
              <a:rPr lang="zh-CN" altLang="en-US" b="1" dirty="0"/>
              <a:t>视频文件。</a:t>
            </a:r>
            <a:br>
              <a:rPr lang="zh-CN" altLang="en-US" b="1" dirty="0"/>
            </a:br>
            <a:endParaRPr lang="zh-CN" altLang="en-US" b="1" dirty="0"/>
          </a:p>
          <a:p>
            <a:endParaRPr lang="en-US" altLang="zh-CN" dirty="0"/>
          </a:p>
        </p:txBody>
      </p:sp>
    </p:spTree>
    <p:extLst>
      <p:ext uri="{BB962C8B-B14F-4D97-AF65-F5344CB8AC3E}">
        <p14:creationId xmlns:p14="http://schemas.microsoft.com/office/powerpoint/2010/main" val="33641159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54</a:t>
            </a:fld>
            <a:endParaRPr lang="zh-CN" altLang="en-US"/>
          </a:p>
        </p:txBody>
      </p:sp>
    </p:spTree>
    <p:extLst>
      <p:ext uri="{BB962C8B-B14F-4D97-AF65-F5344CB8AC3E}">
        <p14:creationId xmlns:p14="http://schemas.microsoft.com/office/powerpoint/2010/main" val="27802742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CD-ROM</a:t>
            </a:r>
            <a:r>
              <a:rPr lang="zh-CN" altLang="en-US" sz="1200" dirty="0"/>
              <a:t>：</a:t>
            </a:r>
            <a:r>
              <a:rPr lang="en-US" altLang="zh-CN" sz="1200" dirty="0"/>
              <a:t> </a:t>
            </a:r>
            <a:r>
              <a:rPr lang="zh-CN" altLang="en-US" b="0" i="0" u="none" strike="noStrike" dirty="0">
                <a:solidFill>
                  <a:srgbClr val="4D5156"/>
                </a:solidFill>
                <a:effectLst/>
                <a:latin typeface="arial" panose="020B0604020202020204" pitchFamily="34" charset="0"/>
              </a:rPr>
              <a:t>只读光盘，是一种在电脑上使用的光盘。这种光盘只能写入数据一次，信息将永久保存在光盘上，使用时通过光盘驱动器读出信息。</a:t>
            </a:r>
            <a:r>
              <a:rPr lang="en" altLang="zh-CN" b="0" i="0" u="none" strike="noStrike" dirty="0">
                <a:solidFill>
                  <a:srgbClr val="4D5156"/>
                </a:solidFill>
                <a:effectLst/>
                <a:latin typeface="arial" panose="020B0604020202020204" pitchFamily="34" charset="0"/>
              </a:rPr>
              <a:t>CD</a:t>
            </a:r>
            <a:r>
              <a:rPr lang="zh-CN" altLang="en-US" b="0" i="0" u="none" strike="noStrike" dirty="0">
                <a:solidFill>
                  <a:srgbClr val="4D5156"/>
                </a:solidFill>
                <a:effectLst/>
                <a:latin typeface="arial" panose="020B0604020202020204" pitchFamily="34" charset="0"/>
              </a:rPr>
              <a:t>的格式最初是为音乐的存储和回放设计，</a:t>
            </a:r>
            <a:r>
              <a:rPr lang="en-US" altLang="zh-CN" b="0" i="0" u="none" strike="noStrike" dirty="0">
                <a:solidFill>
                  <a:srgbClr val="4D5156"/>
                </a:solidFill>
                <a:effectLst/>
                <a:latin typeface="arial" panose="020B0604020202020204" pitchFamily="34" charset="0"/>
              </a:rPr>
              <a:t>1985</a:t>
            </a:r>
            <a:r>
              <a:rPr lang="zh-CN" altLang="en-US" b="0" i="0" u="none" strike="noStrike" dirty="0">
                <a:solidFill>
                  <a:srgbClr val="4D5156"/>
                </a:solidFill>
                <a:effectLst/>
                <a:latin typeface="arial" panose="020B0604020202020204" pitchFamily="34" charset="0"/>
              </a:rPr>
              <a:t>年，由</a:t>
            </a:r>
            <a:r>
              <a:rPr lang="en" altLang="zh-CN" b="0" i="0" u="none" strike="noStrike" dirty="0">
                <a:solidFill>
                  <a:srgbClr val="4D5156"/>
                </a:solidFill>
                <a:effectLst/>
                <a:latin typeface="arial" panose="020B0604020202020204" pitchFamily="34" charset="0"/>
              </a:rPr>
              <a:t>SONY</a:t>
            </a:r>
            <a:r>
              <a:rPr lang="zh-CN" altLang="en-US" b="0" i="0" u="none" strike="noStrike" dirty="0">
                <a:solidFill>
                  <a:srgbClr val="4D5156"/>
                </a:solidFill>
                <a:effectLst/>
                <a:latin typeface="arial" panose="020B0604020202020204" pitchFamily="34" charset="0"/>
              </a:rPr>
              <a:t>和飞利浦制定的黄皮书标准使得这种格式能够适应各种二进制数据。</a:t>
            </a:r>
            <a:endParaRPr lang="en-US" altLang="zh-CN" b="0" i="0" u="none" strike="noStrike" dirty="0">
              <a:solidFill>
                <a:srgbClr val="4D5156"/>
              </a:solidFill>
              <a:effectLst/>
              <a:latin typeface="arial" panose="020B0604020202020204" pitchFamily="34" charset="0"/>
            </a:endParaRPr>
          </a:p>
          <a:p>
            <a:r>
              <a:rPr lang="en" altLang="zh-CN" b="0" i="0" u="none" strike="noStrike" dirty="0">
                <a:solidFill>
                  <a:srgbClr val="121212"/>
                </a:solidFill>
                <a:effectLst/>
                <a:latin typeface="-apple-system"/>
              </a:rPr>
              <a:t>PCM</a:t>
            </a:r>
            <a:r>
              <a:rPr lang="zh-CN" altLang="en-US" b="0" i="0" u="none" strike="noStrike" dirty="0">
                <a:solidFill>
                  <a:srgbClr val="121212"/>
                </a:solidFill>
                <a:effectLst/>
                <a:latin typeface="-apple-system"/>
              </a:rPr>
              <a:t>的完整定义是：将模拟信号的抽样量化值变换成代码称为脉冲编码调制（</a:t>
            </a:r>
            <a:r>
              <a:rPr lang="en" altLang="zh-CN" b="0" i="0" u="none" strike="noStrike" dirty="0">
                <a:solidFill>
                  <a:srgbClr val="121212"/>
                </a:solidFill>
                <a:effectLst/>
                <a:latin typeface="-apple-system"/>
              </a:rPr>
              <a:t>PCM</a:t>
            </a:r>
            <a:r>
              <a:rPr lang="zh-CN" altLang="en-US" b="0" i="0" u="none" strike="noStrike" dirty="0">
                <a:solidFill>
                  <a:srgbClr val="121212"/>
                </a:solidFill>
                <a:effectLst/>
                <a:latin typeface="-apple-system"/>
              </a:rPr>
              <a:t>设备）</a:t>
            </a:r>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59</a:t>
            </a:fld>
            <a:endParaRPr lang="zh-CN" altLang="en-US"/>
          </a:p>
        </p:txBody>
      </p:sp>
    </p:spTree>
    <p:extLst>
      <p:ext uri="{BB962C8B-B14F-4D97-AF65-F5344CB8AC3E}">
        <p14:creationId xmlns:p14="http://schemas.microsoft.com/office/powerpoint/2010/main" val="20931151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35CFDE82-20C0-456A-8807-423483F64B25}" type="slidenum">
              <a:rPr lang="en-US" altLang="zh-CN"/>
              <a:pPr eaLnBrk="1" hangingPunct="1"/>
              <a:t>66</a:t>
            </a:fld>
            <a:endParaRPr lang="en-US" altLang="zh-CN"/>
          </a:p>
        </p:txBody>
      </p:sp>
      <p:sp>
        <p:nvSpPr>
          <p:cNvPr id="495619" name="Rectangle 2"/>
          <p:cNvSpPr>
            <a:spLocks noGrp="1" noRot="1" noChangeAspect="1" noChangeArrowheads="1" noTextEdit="1"/>
          </p:cNvSpPr>
          <p:nvPr>
            <p:ph type="sldImg"/>
          </p:nvPr>
        </p:nvSpPr>
        <p:spPr>
          <a:ln/>
        </p:spPr>
      </p:sp>
      <p:sp>
        <p:nvSpPr>
          <p:cNvPr id="495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u="none" strike="noStrike" dirty="0">
                <a:solidFill>
                  <a:srgbClr val="121212"/>
                </a:solidFill>
                <a:effectLst/>
                <a:latin typeface="-apple-system"/>
              </a:rPr>
              <a:t>作为力学名词，「振动」和「震动」，「振」和「震」的涵义有区别，有联系，已成惯例。</a:t>
            </a:r>
          </a:p>
          <a:p>
            <a:pPr algn="l"/>
            <a:r>
              <a:rPr lang="zh-CN" altLang="en-US" b="0" i="0" u="none" strike="noStrike" dirty="0">
                <a:solidFill>
                  <a:srgbClr val="121212"/>
                </a:solidFill>
                <a:effectLst/>
                <a:latin typeface="-apple-system"/>
              </a:rPr>
              <a:t>物体来回运动叫「振动」</a:t>
            </a:r>
            <a:r>
              <a:rPr lang="en-US" altLang="zh-CN" b="0" i="0" u="none" strike="noStrike" dirty="0">
                <a:solidFill>
                  <a:srgbClr val="121212"/>
                </a:solidFill>
                <a:effectLst/>
                <a:latin typeface="-apple-system"/>
              </a:rPr>
              <a:t>,</a:t>
            </a:r>
            <a:r>
              <a:rPr lang="zh-CN" altLang="en-US" b="0" i="0" u="none" strike="noStrike" dirty="0">
                <a:solidFill>
                  <a:srgbClr val="121212"/>
                </a:solidFill>
                <a:effectLst/>
                <a:latin typeface="-apple-system"/>
              </a:rPr>
              <a:t>一般说地震所产生的运动就叫震动。</a:t>
            </a:r>
          </a:p>
          <a:p>
            <a:pPr algn="l"/>
            <a:r>
              <a:rPr lang="zh-CN" altLang="en-US" b="0" i="0" u="none" strike="noStrike" dirty="0">
                <a:solidFill>
                  <a:srgbClr val="121212"/>
                </a:solidFill>
                <a:effectLst/>
                <a:latin typeface="-apple-system"/>
              </a:rPr>
              <a:t>物体振动：物体围绕一平衡位置的往返重复运动。</a:t>
            </a:r>
          </a:p>
          <a:p>
            <a:pPr algn="l"/>
            <a:r>
              <a:rPr lang="zh-CN" altLang="en-US" b="0" i="0" u="none" strike="noStrike" dirty="0">
                <a:solidFill>
                  <a:srgbClr val="121212"/>
                </a:solidFill>
                <a:effectLst/>
                <a:latin typeface="-apple-system"/>
              </a:rPr>
              <a:t>物体的一部分或整体受力的作用产生形变，形变部分具有恢复其原来状态的力</a:t>
            </a:r>
            <a:r>
              <a:rPr lang="en-US" altLang="zh-CN" b="0" i="0" u="none" strike="noStrike" dirty="0">
                <a:solidFill>
                  <a:srgbClr val="121212"/>
                </a:solidFill>
                <a:effectLst/>
                <a:latin typeface="-apple-system"/>
              </a:rPr>
              <a:t>(</a:t>
            </a:r>
            <a:r>
              <a:rPr lang="zh-CN" altLang="en-US" b="0" i="0" u="none" strike="noStrike" dirty="0">
                <a:solidFill>
                  <a:srgbClr val="121212"/>
                </a:solidFill>
                <a:effectLst/>
                <a:latin typeface="-apple-system"/>
              </a:rPr>
              <a:t>恢复力，或称具有形变势能</a:t>
            </a:r>
            <a:r>
              <a:rPr lang="en-US" altLang="zh-CN" b="0" i="0" u="none" strike="noStrike" dirty="0">
                <a:solidFill>
                  <a:srgbClr val="121212"/>
                </a:solidFill>
                <a:effectLst/>
                <a:latin typeface="-apple-system"/>
              </a:rPr>
              <a:t>)</a:t>
            </a:r>
            <a:r>
              <a:rPr lang="zh-CN" altLang="en-US" b="0" i="0" u="none" strike="noStrike" dirty="0">
                <a:solidFill>
                  <a:srgbClr val="121212"/>
                </a:solidFill>
                <a:effectLst/>
                <a:latin typeface="-apple-system"/>
              </a:rPr>
              <a:t>；</a:t>
            </a:r>
          </a:p>
          <a:p>
            <a:pPr algn="l"/>
            <a:r>
              <a:rPr lang="zh-CN" altLang="en-US" b="0" i="0" u="none" strike="noStrike" dirty="0">
                <a:solidFill>
                  <a:srgbClr val="121212"/>
                </a:solidFill>
                <a:effectLst/>
                <a:latin typeface="-apple-system"/>
              </a:rPr>
              <a:t>物体震动：物体受到外力影响而后无规律的颤动。</a:t>
            </a:r>
          </a:p>
          <a:p>
            <a:pPr eaLnBrk="1" hangingPunct="1"/>
            <a:endParaRPr lang="zh-CN" altLang="zh-CN" dirty="0"/>
          </a:p>
        </p:txBody>
      </p:sp>
    </p:spTree>
    <p:extLst>
      <p:ext uri="{BB962C8B-B14F-4D97-AF65-F5344CB8AC3E}">
        <p14:creationId xmlns:p14="http://schemas.microsoft.com/office/powerpoint/2010/main" val="25759582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71</a:t>
            </a:fld>
            <a:endParaRPr lang="zh-CN" altLang="en-US"/>
          </a:p>
        </p:txBody>
      </p:sp>
    </p:spTree>
    <p:extLst>
      <p:ext uri="{BB962C8B-B14F-4D97-AF65-F5344CB8AC3E}">
        <p14:creationId xmlns:p14="http://schemas.microsoft.com/office/powerpoint/2010/main" val="18185607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72</a:t>
            </a:fld>
            <a:endParaRPr lang="zh-CN" altLang="en-US"/>
          </a:p>
        </p:txBody>
      </p:sp>
    </p:spTree>
    <p:extLst>
      <p:ext uri="{BB962C8B-B14F-4D97-AF65-F5344CB8AC3E}">
        <p14:creationId xmlns:p14="http://schemas.microsoft.com/office/powerpoint/2010/main" val="20399465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B4804E17-A54B-46B3-BBA6-878110C2C735}" type="slidenum">
              <a:rPr lang="en-US" altLang="zh-CN"/>
              <a:pPr eaLnBrk="1" hangingPunct="1"/>
              <a:t>74</a:t>
            </a:fld>
            <a:endParaRPr lang="en-US" altLang="zh-CN"/>
          </a:p>
        </p:txBody>
      </p:sp>
      <p:sp>
        <p:nvSpPr>
          <p:cNvPr id="496643" name="Rectangle 2"/>
          <p:cNvSpPr>
            <a:spLocks noGrp="1" noRot="1" noChangeAspect="1" noChangeArrowheads="1" noTextEdit="1"/>
          </p:cNvSpPr>
          <p:nvPr>
            <p:ph type="sldImg"/>
          </p:nvPr>
        </p:nvSpPr>
        <p:spPr>
          <a:ln/>
        </p:spPr>
      </p:sp>
      <p:sp>
        <p:nvSpPr>
          <p:cNvPr id="496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378597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B4804E17-A54B-46B3-BBA6-878110C2C735}" type="slidenum">
              <a:rPr lang="en-US" altLang="zh-CN"/>
              <a:pPr eaLnBrk="1" hangingPunct="1"/>
              <a:t>76</a:t>
            </a:fld>
            <a:endParaRPr lang="en-US" altLang="zh-CN"/>
          </a:p>
        </p:txBody>
      </p:sp>
      <p:sp>
        <p:nvSpPr>
          <p:cNvPr id="496643" name="Rectangle 2"/>
          <p:cNvSpPr>
            <a:spLocks noGrp="1" noRot="1" noChangeAspect="1" noChangeArrowheads="1" noTextEdit="1"/>
          </p:cNvSpPr>
          <p:nvPr>
            <p:ph type="sldImg"/>
          </p:nvPr>
        </p:nvSpPr>
        <p:spPr>
          <a:ln/>
        </p:spPr>
      </p:sp>
      <p:sp>
        <p:nvSpPr>
          <p:cNvPr id="496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0802562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B4804E17-A54B-46B3-BBA6-878110C2C735}" type="slidenum">
              <a:rPr lang="en-US" altLang="zh-CN"/>
              <a:pPr eaLnBrk="1" hangingPunct="1"/>
              <a:t>77</a:t>
            </a:fld>
            <a:endParaRPr lang="en-US" altLang="zh-CN"/>
          </a:p>
        </p:txBody>
      </p:sp>
      <p:sp>
        <p:nvSpPr>
          <p:cNvPr id="496643" name="Rectangle 2"/>
          <p:cNvSpPr>
            <a:spLocks noGrp="1" noRot="1" noChangeAspect="1" noChangeArrowheads="1" noTextEdit="1"/>
          </p:cNvSpPr>
          <p:nvPr>
            <p:ph type="sldImg"/>
          </p:nvPr>
        </p:nvSpPr>
        <p:spPr>
          <a:ln/>
        </p:spPr>
      </p:sp>
      <p:sp>
        <p:nvSpPr>
          <p:cNvPr id="496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WAV</a:t>
            </a:r>
            <a:r>
              <a:rPr lang="zh-CN" altLang="en-US" dirty="0"/>
              <a:t>文件遵循</a:t>
            </a:r>
            <a:r>
              <a:rPr lang="en-US" altLang="zh-CN" dirty="0"/>
              <a:t>RIFF</a:t>
            </a:r>
            <a:r>
              <a:rPr lang="zh-CN" altLang="en-US" dirty="0"/>
              <a:t>规则，</a:t>
            </a:r>
            <a:r>
              <a:rPr lang="zh-CN" altLang="en-US" sz="1200" b="0" i="0" kern="1200" dirty="0">
                <a:solidFill>
                  <a:schemeClr val="tx1"/>
                </a:solidFill>
                <a:effectLst/>
                <a:latin typeface="+mn-lt"/>
                <a:ea typeface="+mn-ea"/>
                <a:cs typeface="+mn-cs"/>
              </a:rPr>
              <a:t>资源互换文件格式，</a:t>
            </a:r>
            <a:r>
              <a:rPr lang="zh-CN" altLang="en-US" dirty="0"/>
              <a:t>其内容以区块（</a:t>
            </a:r>
            <a:r>
              <a:rPr lang="en-US" altLang="zh-CN" dirty="0"/>
              <a:t>chunk</a:t>
            </a:r>
            <a:r>
              <a:rPr lang="zh-CN" altLang="en-US" dirty="0"/>
              <a:t>）为最小单位进行存储。</a:t>
            </a:r>
            <a:r>
              <a:rPr lang="en-US" altLang="zh-CN" dirty="0"/>
              <a:t>WAV</a:t>
            </a:r>
            <a:r>
              <a:rPr lang="zh-CN" altLang="en-US" dirty="0"/>
              <a:t>文件一般由</a:t>
            </a:r>
            <a:r>
              <a:rPr lang="en-US" altLang="zh-CN" dirty="0"/>
              <a:t>3</a:t>
            </a:r>
            <a:r>
              <a:rPr lang="zh-CN" altLang="en-US" dirty="0"/>
              <a:t>个区块组成：</a:t>
            </a:r>
            <a:r>
              <a:rPr lang="en-US" altLang="zh-CN" dirty="0"/>
              <a:t>RIFF chunk</a:t>
            </a:r>
            <a:r>
              <a:rPr lang="zh-CN" altLang="en-US" dirty="0"/>
              <a:t>、</a:t>
            </a:r>
            <a:r>
              <a:rPr lang="en-US" altLang="zh-CN" dirty="0"/>
              <a:t>Format chunk</a:t>
            </a:r>
            <a:r>
              <a:rPr lang="zh-CN" altLang="en-US" dirty="0"/>
              <a:t>和</a:t>
            </a:r>
            <a:r>
              <a:rPr lang="en-US" altLang="zh-CN" dirty="0"/>
              <a:t>Data chunk</a:t>
            </a:r>
            <a:r>
              <a:rPr lang="zh-CN" altLang="en-US" dirty="0"/>
              <a:t>。</a:t>
            </a:r>
            <a:r>
              <a:rPr lang="en-US" altLang="zh-CN" sz="1200" b="0" i="0" kern="1200" dirty="0">
                <a:solidFill>
                  <a:schemeClr val="tx1"/>
                </a:solidFill>
                <a:effectLst/>
                <a:latin typeface="+mn-lt"/>
                <a:ea typeface="+mn-ea"/>
                <a:cs typeface="+mn-cs"/>
              </a:rPr>
              <a:t>“RIFF”</a:t>
            </a:r>
            <a:r>
              <a:rPr lang="zh-CN" altLang="en-US" sz="1200" b="0" i="0" kern="1200" dirty="0">
                <a:solidFill>
                  <a:schemeClr val="tx1"/>
                </a:solidFill>
                <a:effectLst/>
                <a:latin typeface="+mn-lt"/>
                <a:ea typeface="+mn-ea"/>
                <a:cs typeface="+mn-cs"/>
              </a:rPr>
              <a:t>表示字符串（</a:t>
            </a:r>
            <a:r>
              <a:rPr lang="en-US" altLang="zh-CN" sz="1200" b="0" i="0" kern="1200" dirty="0">
                <a:solidFill>
                  <a:schemeClr val="tx1"/>
                </a:solidFill>
                <a:effectLst/>
                <a:latin typeface="+mn-lt"/>
                <a:ea typeface="+mn-ea"/>
                <a:cs typeface="+mn-cs"/>
              </a:rPr>
              <a:t>Chunk ID</a:t>
            </a:r>
            <a:r>
              <a:rPr lang="zh-CN" altLang="en-US"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RIFF</a:t>
            </a:r>
            <a:r>
              <a:rPr lang="zh-CN" altLang="en-US" sz="1200" b="0" i="0" kern="1200" dirty="0">
                <a:solidFill>
                  <a:schemeClr val="tx1"/>
                </a:solidFill>
                <a:effectLst/>
                <a:latin typeface="+mn-lt"/>
                <a:ea typeface="+mn-ea"/>
                <a:cs typeface="+mn-cs"/>
              </a:rPr>
              <a:t>文件大小（数据块的大小）形式类型或者列表类型“</a:t>
            </a:r>
            <a:r>
              <a:rPr lang="en-US" altLang="zh-CN" sz="1200" b="0" i="0" kern="1200" dirty="0">
                <a:solidFill>
                  <a:schemeClr val="tx1"/>
                </a:solidFill>
                <a:effectLst/>
                <a:latin typeface="+mn-lt"/>
                <a:ea typeface="+mn-ea"/>
                <a:cs typeface="+mn-cs"/>
              </a:rPr>
              <a:t>AVI”,”WAVE”</a:t>
            </a:r>
          </a:p>
          <a:p>
            <a:endParaRPr lang="zh-CN" altLang="zh-CN" dirty="0"/>
          </a:p>
        </p:txBody>
      </p:sp>
    </p:spTree>
    <p:extLst>
      <p:ext uri="{BB962C8B-B14F-4D97-AF65-F5344CB8AC3E}">
        <p14:creationId xmlns:p14="http://schemas.microsoft.com/office/powerpoint/2010/main" val="15972815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B4804E17-A54B-46B3-BBA6-878110C2C735}" type="slidenum">
              <a:rPr lang="en-US" altLang="zh-CN"/>
              <a:pPr eaLnBrk="1" hangingPunct="1"/>
              <a:t>78</a:t>
            </a:fld>
            <a:endParaRPr lang="en-US" altLang="zh-CN"/>
          </a:p>
        </p:txBody>
      </p:sp>
      <p:sp>
        <p:nvSpPr>
          <p:cNvPr id="496643" name="Rectangle 2"/>
          <p:cNvSpPr>
            <a:spLocks noGrp="1" noRot="1" noChangeAspect="1" noChangeArrowheads="1" noTextEdit="1"/>
          </p:cNvSpPr>
          <p:nvPr>
            <p:ph type="sldImg"/>
          </p:nvPr>
        </p:nvSpPr>
        <p:spPr>
          <a:ln/>
        </p:spPr>
      </p:sp>
      <p:sp>
        <p:nvSpPr>
          <p:cNvPr id="496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u="none" strike="noStrike" dirty="0">
                <a:solidFill>
                  <a:srgbClr val="4D5156"/>
                </a:solidFill>
                <a:effectLst/>
                <a:latin typeface="arial" panose="020B0604020202020204" pitchFamily="34" charset="0"/>
              </a:rPr>
              <a:t>每秒的传输速率</a:t>
            </a:r>
            <a:r>
              <a:rPr lang="en-US" altLang="zh-CN" b="0" i="0" u="none" strike="noStrike" dirty="0">
                <a:solidFill>
                  <a:srgbClr val="4D5156"/>
                </a:solidFill>
                <a:effectLst/>
                <a:latin typeface="arial" panose="020B0604020202020204" pitchFamily="34" charset="0"/>
              </a:rPr>
              <a:t>(</a:t>
            </a:r>
            <a:r>
              <a:rPr lang="zh-CN" altLang="en-US" b="0" i="0" u="none" strike="noStrike" dirty="0">
                <a:solidFill>
                  <a:srgbClr val="EA4335"/>
                </a:solidFill>
                <a:effectLst/>
                <a:latin typeface="arial" panose="020B0604020202020204" pitchFamily="34" charset="0"/>
              </a:rPr>
              <a:t>位速</a:t>
            </a:r>
            <a:r>
              <a:rPr lang="en-US" altLang="zh-CN" b="0" i="0" u="none" strike="noStrike" dirty="0">
                <a:solidFill>
                  <a:srgbClr val="4D5156"/>
                </a:solidFill>
                <a:effectLst/>
                <a:latin typeface="arial" panose="020B0604020202020204" pitchFamily="34" charset="0"/>
              </a:rPr>
              <a:t>, </a:t>
            </a:r>
            <a:r>
              <a:rPr lang="zh-CN" altLang="en-US" b="0" i="0" u="none" strike="noStrike" dirty="0">
                <a:solidFill>
                  <a:srgbClr val="4D5156"/>
                </a:solidFill>
                <a:effectLst/>
                <a:latin typeface="arial" panose="020B0604020202020204" pitchFamily="34" charset="0"/>
              </a:rPr>
              <a:t>也叫比特率</a:t>
            </a:r>
            <a:r>
              <a:rPr lang="en-US" altLang="zh-CN" b="0" i="0" u="none" strike="noStrike" dirty="0">
                <a:solidFill>
                  <a:srgbClr val="4D5156"/>
                </a:solidFill>
                <a:effectLst/>
                <a:latin typeface="arial" panose="020B0604020202020204" pitchFamily="34" charset="0"/>
              </a:rPr>
              <a:t>)</a:t>
            </a:r>
            <a:r>
              <a:rPr lang="zh-CN" altLang="en-US" b="0" i="0" u="none" strike="noStrike" dirty="0">
                <a:solidFill>
                  <a:srgbClr val="4D5156"/>
                </a:solidFill>
                <a:effectLst/>
                <a:latin typeface="arial" panose="020B0604020202020204" pitchFamily="34" charset="0"/>
              </a:rPr>
              <a:t>，如</a:t>
            </a:r>
            <a:r>
              <a:rPr lang="en-US" altLang="zh-CN" b="0" i="0" u="none" strike="noStrike" dirty="0">
                <a:solidFill>
                  <a:srgbClr val="4D5156"/>
                </a:solidFill>
                <a:effectLst/>
                <a:latin typeface="arial" panose="020B0604020202020204" pitchFamily="34" charset="0"/>
              </a:rPr>
              <a:t>705.6</a:t>
            </a:r>
            <a:r>
              <a:rPr lang="en" altLang="zh-CN" b="0" i="0" u="none" strike="noStrike" dirty="0">
                <a:solidFill>
                  <a:srgbClr val="4D5156"/>
                </a:solidFill>
                <a:effectLst/>
                <a:latin typeface="arial" panose="020B0604020202020204" pitchFamily="34" charset="0"/>
              </a:rPr>
              <a:t>kbps </a:t>
            </a:r>
            <a:r>
              <a:rPr lang="zh-CN" altLang="en-US" b="0" i="0" u="none" strike="noStrike" dirty="0">
                <a:solidFill>
                  <a:srgbClr val="4D5156"/>
                </a:solidFill>
                <a:effectLst/>
                <a:latin typeface="arial" panose="020B0604020202020204" pitchFamily="34" charset="0"/>
              </a:rPr>
              <a:t>或</a:t>
            </a:r>
            <a:r>
              <a:rPr lang="en-US" altLang="zh-CN" b="0" i="0" u="none" strike="noStrike" dirty="0">
                <a:solidFill>
                  <a:srgbClr val="4D5156"/>
                </a:solidFill>
                <a:effectLst/>
                <a:latin typeface="arial" panose="020B0604020202020204" pitchFamily="34" charset="0"/>
              </a:rPr>
              <a:t>705600</a:t>
            </a:r>
            <a:r>
              <a:rPr lang="en" altLang="zh-CN" b="0" i="0" u="none" strike="noStrike" dirty="0">
                <a:solidFill>
                  <a:srgbClr val="4D5156"/>
                </a:solidFill>
                <a:effectLst/>
                <a:latin typeface="arial" panose="020B0604020202020204" pitchFamily="34" charset="0"/>
              </a:rPr>
              <a:t>bps, </a:t>
            </a:r>
            <a:r>
              <a:rPr lang="zh-CN" altLang="en-US" b="0" i="0" u="none" strike="noStrike" dirty="0">
                <a:solidFill>
                  <a:srgbClr val="4D5156"/>
                </a:solidFill>
                <a:effectLst/>
                <a:latin typeface="arial" panose="020B0604020202020204" pitchFamily="34" charset="0"/>
              </a:rPr>
              <a:t>其中的</a:t>
            </a:r>
            <a:r>
              <a:rPr lang="en" altLang="zh-CN" b="0" i="0" u="none" strike="noStrike" dirty="0">
                <a:solidFill>
                  <a:srgbClr val="4D5156"/>
                </a:solidFill>
                <a:effectLst/>
                <a:latin typeface="arial" panose="020B0604020202020204" pitchFamily="34" charset="0"/>
              </a:rPr>
              <a:t>b </a:t>
            </a:r>
            <a:r>
              <a:rPr lang="zh-CN" altLang="en-US" b="0" i="0" u="none" strike="noStrike" dirty="0">
                <a:solidFill>
                  <a:srgbClr val="4D5156"/>
                </a:solidFill>
                <a:effectLst/>
                <a:latin typeface="arial" panose="020B0604020202020204" pitchFamily="34" charset="0"/>
              </a:rPr>
              <a:t>是</a:t>
            </a:r>
            <a:r>
              <a:rPr lang="en" altLang="zh-CN" b="0" i="0" u="none" strike="noStrike" dirty="0">
                <a:solidFill>
                  <a:srgbClr val="4D5156"/>
                </a:solidFill>
                <a:effectLst/>
                <a:latin typeface="arial" panose="020B0604020202020204" pitchFamily="34" charset="0"/>
              </a:rPr>
              <a:t>bit, </a:t>
            </a:r>
            <a:r>
              <a:rPr lang="en" altLang="zh-CN" b="0" i="0" u="none" strike="noStrike" dirty="0" err="1">
                <a:solidFill>
                  <a:srgbClr val="4D5156"/>
                </a:solidFill>
                <a:effectLst/>
                <a:latin typeface="arial" panose="020B0604020202020204" pitchFamily="34" charset="0"/>
              </a:rPr>
              <a:t>ps</a:t>
            </a:r>
            <a:r>
              <a:rPr lang="en" altLang="zh-CN" b="0" i="0" u="none" strike="noStrike" dirty="0">
                <a:solidFill>
                  <a:srgbClr val="4D5156"/>
                </a:solidFill>
                <a:effectLst/>
                <a:latin typeface="arial" panose="020B0604020202020204" pitchFamily="34" charset="0"/>
              </a:rPr>
              <a:t> </a:t>
            </a:r>
            <a:r>
              <a:rPr lang="zh-CN" altLang="en-US" b="0" i="0" u="none" strike="noStrike" dirty="0">
                <a:solidFill>
                  <a:srgbClr val="4D5156"/>
                </a:solidFill>
                <a:effectLst/>
                <a:latin typeface="arial" panose="020B0604020202020204" pitchFamily="34" charset="0"/>
              </a:rPr>
              <a:t>是每秒</a:t>
            </a:r>
            <a:r>
              <a:rPr lang="en-US" altLang="zh-CN" b="0" i="0" u="none" strike="noStrike" dirty="0">
                <a:solidFill>
                  <a:srgbClr val="4D5156"/>
                </a:solidFill>
                <a:effectLst/>
                <a:latin typeface="arial" panose="020B0604020202020204" pitchFamily="34" charset="0"/>
              </a:rPr>
              <a:t>(</a:t>
            </a:r>
            <a:r>
              <a:rPr lang="en" altLang="zh-CN" b="0" i="0" u="none" strike="noStrike" dirty="0">
                <a:solidFill>
                  <a:srgbClr val="4D5156"/>
                </a:solidFill>
                <a:effectLst/>
                <a:latin typeface="arial" panose="020B0604020202020204" pitchFamily="34" charset="0"/>
              </a:rPr>
              <a:t>per second)</a:t>
            </a:r>
            <a:r>
              <a:rPr lang="zh-CN" altLang="en-US" b="0" i="0" u="none" strike="noStrike" dirty="0">
                <a:solidFill>
                  <a:srgbClr val="4D5156"/>
                </a:solidFill>
                <a:effectLst/>
                <a:latin typeface="arial" panose="020B0604020202020204" pitchFamily="34" charset="0"/>
              </a:rPr>
              <a:t>的意思，表示每秒</a:t>
            </a:r>
            <a:r>
              <a:rPr lang="en-US" altLang="zh-CN" b="0" i="0" u="none" strike="noStrike" dirty="0">
                <a:solidFill>
                  <a:srgbClr val="4D5156"/>
                </a:solidFill>
                <a:effectLst/>
                <a:latin typeface="arial" panose="020B0604020202020204" pitchFamily="34" charset="0"/>
              </a:rPr>
              <a:t>705600</a:t>
            </a:r>
            <a:r>
              <a:rPr lang="en" altLang="zh-CN" b="0" i="0" u="none" strike="noStrike" dirty="0">
                <a:solidFill>
                  <a:srgbClr val="4D5156"/>
                </a:solidFill>
                <a:effectLst/>
                <a:latin typeface="arial" panose="020B0604020202020204" pitchFamily="34" charset="0"/>
              </a:rPr>
              <a:t>bit</a:t>
            </a:r>
            <a:r>
              <a:rPr lang="zh-CN" altLang="en-US" b="0" i="0" u="none" strike="noStrike" dirty="0">
                <a:solidFill>
                  <a:srgbClr val="4D5156"/>
                </a:solidFill>
                <a:effectLst/>
                <a:latin typeface="arial" panose="020B0604020202020204" pitchFamily="34" charset="0"/>
              </a:rPr>
              <a:t>的容量</a:t>
            </a:r>
            <a:endParaRPr lang="zh-CN" altLang="zh-CN" dirty="0"/>
          </a:p>
        </p:txBody>
      </p:sp>
    </p:spTree>
    <p:extLst>
      <p:ext uri="{BB962C8B-B14F-4D97-AF65-F5344CB8AC3E}">
        <p14:creationId xmlns:p14="http://schemas.microsoft.com/office/powerpoint/2010/main" val="3969746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cstate="print">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000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Rectangle 5"/>
          <p:cNvSpPr>
            <a:spLocks noChangeArrowheads="1"/>
          </p:cNvSpPr>
          <p:nvPr userDrawn="1"/>
        </p:nvSpPr>
        <p:spPr bwMode="auto">
          <a:xfrm rot="16200000" flipV="1">
            <a:off x="4662486" y="-3503613"/>
            <a:ext cx="69851" cy="8893175"/>
          </a:xfrm>
          <a:prstGeom prst="rect">
            <a:avLst/>
          </a:prstGeom>
          <a:gradFill rotWithShape="1">
            <a:gsLst>
              <a:gs pos="0">
                <a:schemeClr val="bg1">
                  <a:lumMod val="91000"/>
                  <a:alpha val="74000"/>
                </a:schemeClr>
              </a:gs>
              <a:gs pos="100000">
                <a:srgbClr val="0099CC"/>
              </a:gs>
            </a:gsLst>
            <a:lin ang="5400000" scaled="1"/>
          </a:gradFill>
          <a:ln>
            <a:noFill/>
          </a:ln>
        </p:spPr>
        <p:txBody>
          <a:bodyPr wrap="none" anchor="ctr"/>
          <a:lstStyle/>
          <a:p>
            <a:endParaRPr lang="zh-CN" altLang="zh-CN"/>
          </a:p>
        </p:txBody>
      </p:sp>
      <p:sp>
        <p:nvSpPr>
          <p:cNvPr id="8" name="Line 8"/>
          <p:cNvSpPr>
            <a:spLocks noChangeShapeType="1"/>
          </p:cNvSpPr>
          <p:nvPr userDrawn="1"/>
        </p:nvSpPr>
        <p:spPr bwMode="auto">
          <a:xfrm>
            <a:off x="0" y="6357938"/>
            <a:ext cx="9144000" cy="0"/>
          </a:xfrm>
          <a:prstGeom prst="line">
            <a:avLst/>
          </a:prstGeom>
          <a:noFill/>
          <a:ln w="19050">
            <a:solidFill>
              <a:srgbClr val="0099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 name="图片 8"/>
          <p:cNvPicPr>
            <a:picLocks noChangeAspect="1"/>
          </p:cNvPicPr>
          <p:nvPr userDrawn="1"/>
        </p:nvPicPr>
        <p:blipFill rotWithShape="1">
          <a:blip r:embed="rId2" cstate="print">
            <a:clrChange>
              <a:clrFrom>
                <a:srgbClr val="F0F0F0"/>
              </a:clrFrom>
              <a:clrTo>
                <a:srgbClr val="F0F0F0">
                  <a:alpha val="0"/>
                </a:srgbClr>
              </a:clrTo>
            </a:clrChange>
            <a:extLst>
              <a:ext uri="{28A0092B-C50C-407E-A947-70E740481C1C}">
                <a14:useLocalDpi xmlns:a14="http://schemas.microsoft.com/office/drawing/2010/main" val="0"/>
              </a:ext>
            </a:extLst>
          </a:blip>
          <a:srcRect/>
          <a:stretch/>
        </p:blipFill>
        <p:spPr>
          <a:xfrm>
            <a:off x="7487816" y="6364645"/>
            <a:ext cx="1656184" cy="520739"/>
          </a:xfrm>
          <a:prstGeom prst="rect">
            <a:avLst/>
          </a:prstGeom>
        </p:spPr>
      </p:pic>
      <p:sp>
        <p:nvSpPr>
          <p:cNvPr id="12" name="文本占位符 2"/>
          <p:cNvSpPr>
            <a:spLocks noGrp="1"/>
          </p:cNvSpPr>
          <p:nvPr>
            <p:ph idx="1"/>
          </p:nvPr>
        </p:nvSpPr>
        <p:spPr>
          <a:xfrm>
            <a:off x="255014" y="1196752"/>
            <a:ext cx="8565457" cy="5040558"/>
          </a:xfrm>
          <a:prstGeom prst="rect">
            <a:avLst/>
          </a:prstGeom>
        </p:spPr>
        <p:txBody>
          <a:bodyPr vert="horz" lIns="91440" tIns="45720" rIns="91440" bIns="45720" rtlCol="0">
            <a:normAutofit/>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标题占位符 1"/>
          <p:cNvSpPr>
            <a:spLocks noGrp="1"/>
          </p:cNvSpPr>
          <p:nvPr>
            <p:ph type="title"/>
          </p:nvPr>
        </p:nvSpPr>
        <p:spPr>
          <a:xfrm>
            <a:off x="250824" y="204785"/>
            <a:ext cx="8229600" cy="7032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10" name="日期占位符 3"/>
          <p:cNvSpPr>
            <a:spLocks noGrp="1"/>
          </p:cNvSpPr>
          <p:nvPr>
            <p:ph type="dt" sz="half" idx="10"/>
          </p:nvPr>
        </p:nvSpPr>
        <p:spPr>
          <a:xfrm>
            <a:off x="107504" y="6448251"/>
            <a:ext cx="2133600" cy="365125"/>
          </a:xfrm>
        </p:spPr>
        <p:txBody>
          <a:bodyPr/>
          <a:lstStyle/>
          <a:p>
            <a:fld id="{F180CA16-04D8-4E20-8625-B81EE8F86C01}" type="datetime1">
              <a:rPr lang="zh-CN" altLang="en-US" smtClean="0"/>
              <a:t>2026/4/22</a:t>
            </a:fld>
            <a:endParaRPr lang="zh-CN" altLang="en-US" dirty="0"/>
          </a:p>
        </p:txBody>
      </p:sp>
      <p:sp>
        <p:nvSpPr>
          <p:cNvPr id="13" name="灯片编号占位符 5"/>
          <p:cNvSpPr>
            <a:spLocks noGrp="1"/>
          </p:cNvSpPr>
          <p:nvPr>
            <p:ph type="sldNum" sz="quarter" idx="12"/>
          </p:nvPr>
        </p:nvSpPr>
        <p:spPr>
          <a:xfrm>
            <a:off x="5354216" y="6442451"/>
            <a:ext cx="2133600" cy="365125"/>
          </a:xfrm>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196063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51BE6DB-8669-4906-946D-1BA81DA8CDDA}" type="datetime1">
              <a:rPr lang="zh-CN" altLang="en-US" smtClean="0"/>
              <a:t>2026/4/22</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491006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E249D3A-4C91-451A-A19E-90BDB0390F80}" type="datetime1">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844399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7DA7607-7F49-4739-9D26-28E2BB6EE1A0}" type="datetime1">
              <a:rPr lang="zh-CN" altLang="en-US" smtClean="0"/>
              <a:t>2026/4/22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3643950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2B50CDE-3E94-456E-A66D-EE744136A05B}" type="datetime1">
              <a:rPr lang="zh-CN" altLang="en-US" smtClean="0"/>
              <a:t>2026/4/22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3358556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A5F7C79-C666-466C-9500-8F73F5251D1E}" type="datetime1">
              <a:rPr lang="zh-CN" altLang="en-US" smtClean="0"/>
              <a:t>2026/4/22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176876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08AAC8-70C6-41EB-93F8-B44CAF4CEC20}" type="datetime1">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62621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8F21728-6179-44AF-B7F5-9D8203558C9B}" type="datetime1">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4277750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376DC2-9250-4BBA-8417-1CB1AA52BE4E}" type="datetime1">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540892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0EED62D-988D-4C0B-8E34-A0C5E597FDE6}" type="datetime1">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52490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4E846F1D-C658-460F-9849-8B0D38A186BE}" type="datetime1">
              <a:rPr lang="zh-CN" altLang="en-US" smtClean="0"/>
              <a:t>2026/4/22</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3A8815D7-9B1B-40A7-B662-1633FA5EF7F7}" type="slidenum">
              <a:rPr lang="zh-CN" altLang="en-US"/>
              <a:pPr/>
              <a:t>‹#›</a:t>
            </a:fld>
            <a:endParaRPr lang="zh-CN" altLang="en-US"/>
          </a:p>
        </p:txBody>
      </p:sp>
    </p:spTree>
    <p:extLst>
      <p:ext uri="{BB962C8B-B14F-4D97-AF65-F5344CB8AC3E}">
        <p14:creationId xmlns:p14="http://schemas.microsoft.com/office/powerpoint/2010/main" val="4212141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7113" y="152400"/>
            <a:ext cx="7793037" cy="776288"/>
          </a:xfrm>
        </p:spPr>
        <p:txBody>
          <a:bodyPr/>
          <a:lstStyle/>
          <a:p>
            <a:r>
              <a:rPr lang="en-US"/>
              <a:t>Click to edit Master title style</a:t>
            </a:r>
          </a:p>
        </p:txBody>
      </p:sp>
      <p:sp>
        <p:nvSpPr>
          <p:cNvPr id="3" name="Text Placeholder 2"/>
          <p:cNvSpPr>
            <a:spLocks noGrp="1"/>
          </p:cNvSpPr>
          <p:nvPr>
            <p:ph type="body" sz="half" idx="1"/>
          </p:nvPr>
        </p:nvSpPr>
        <p:spPr>
          <a:xfrm>
            <a:off x="914400" y="1066800"/>
            <a:ext cx="3810000" cy="5065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066800"/>
            <a:ext cx="3810000" cy="5065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142F41F5-8CED-4AD3-8F84-E2E7118A7AFD}" type="datetime1">
              <a:rPr lang="zh-CN" altLang="en-US" smtClean="0"/>
              <a:t>2026/4/22</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13"/>
          <p:cNvSpPr>
            <a:spLocks noGrp="1" noChangeArrowheads="1"/>
          </p:cNvSpPr>
          <p:nvPr>
            <p:ph type="sldNum" sz="quarter" idx="12"/>
          </p:nvPr>
        </p:nvSpPr>
        <p:spPr>
          <a:ln/>
        </p:spPr>
        <p:txBody>
          <a:bodyPr/>
          <a:lstStyle>
            <a:lvl1pPr>
              <a:defRPr/>
            </a:lvl1pPr>
          </a:lstStyle>
          <a:p>
            <a:pPr>
              <a:defRPr/>
            </a:pPr>
            <a:fld id="{BAA072B4-608F-4AF7-AD44-B5B6A1ABDE76}" type="slidenum">
              <a:rPr lang="en-US" altLang="zh-CN"/>
              <a:pPr>
                <a:defRPr/>
              </a:pPr>
              <a:t>‹#›</a:t>
            </a:fld>
            <a:r>
              <a:rPr lang="en-US" altLang="zh-CN"/>
              <a:t>/47 </a:t>
            </a:r>
          </a:p>
        </p:txBody>
      </p:sp>
    </p:spTree>
    <p:extLst>
      <p:ext uri="{BB962C8B-B14F-4D97-AF65-F5344CB8AC3E}">
        <p14:creationId xmlns:p14="http://schemas.microsoft.com/office/powerpoint/2010/main" val="1197731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027113" y="152400"/>
            <a:ext cx="7793037" cy="776288"/>
          </a:xfrm>
        </p:spPr>
        <p:txBody>
          <a:bodyPr/>
          <a:lstStyle/>
          <a:p>
            <a:r>
              <a:rPr lang="en-US"/>
              <a:t>Click to edit Master title style</a:t>
            </a:r>
          </a:p>
        </p:txBody>
      </p:sp>
      <p:sp>
        <p:nvSpPr>
          <p:cNvPr id="3" name="Text Placeholder 2"/>
          <p:cNvSpPr>
            <a:spLocks noGrp="1"/>
          </p:cNvSpPr>
          <p:nvPr>
            <p:ph type="body" sz="half" idx="1"/>
          </p:nvPr>
        </p:nvSpPr>
        <p:spPr>
          <a:xfrm>
            <a:off x="914400" y="1066800"/>
            <a:ext cx="7772400" cy="2455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14400" y="3675063"/>
            <a:ext cx="7772400" cy="2457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8A99460E-D11D-4B28-87AD-0D5CDE0926B3}" type="datetime1">
              <a:rPr lang="zh-CN" altLang="en-US" smtClean="0"/>
              <a:t>2026/4/22</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13"/>
          <p:cNvSpPr>
            <a:spLocks noGrp="1" noChangeArrowheads="1"/>
          </p:cNvSpPr>
          <p:nvPr>
            <p:ph type="sldNum" sz="quarter" idx="12"/>
          </p:nvPr>
        </p:nvSpPr>
        <p:spPr>
          <a:ln/>
        </p:spPr>
        <p:txBody>
          <a:bodyPr/>
          <a:lstStyle>
            <a:lvl1pPr>
              <a:defRPr/>
            </a:lvl1pPr>
          </a:lstStyle>
          <a:p>
            <a:pPr>
              <a:defRPr/>
            </a:pPr>
            <a:fld id="{C0541810-B9F3-4006-B9A7-CD6B20166980}" type="slidenum">
              <a:rPr lang="en-US" altLang="zh-CN"/>
              <a:pPr>
                <a:defRPr/>
              </a:pPr>
              <a:t>‹#›</a:t>
            </a:fld>
            <a:r>
              <a:rPr lang="en-US" altLang="zh-CN"/>
              <a:t>/47 </a:t>
            </a:r>
          </a:p>
        </p:txBody>
      </p:sp>
    </p:spTree>
    <p:extLst>
      <p:ext uri="{BB962C8B-B14F-4D97-AF65-F5344CB8AC3E}">
        <p14:creationId xmlns:p14="http://schemas.microsoft.com/office/powerpoint/2010/main" val="3217854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E6283-0A47-4E79-8C34-033C9CE9087F}" type="datetime1">
              <a:rPr lang="zh-CN" altLang="en-US" smtClean="0"/>
              <a:t>2026/4/22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094195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en.wikipedia.org/w/index.php?title=Astrotype&amp;action=edit&amp;redlink=1"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zh.wikipedia.org/wiki/%E6%AC%A7%E6%B4%B2" TargetMode="External"/><Relationship Id="rId3" Type="http://schemas.openxmlformats.org/officeDocument/2006/relationships/hyperlink" Target="http://zh.wikipedia.org/wiki/ASCII" TargetMode="External"/><Relationship Id="rId7" Type="http://schemas.openxmlformats.org/officeDocument/2006/relationships/hyperlink" Target="http://zh.wikipedia.org/wiki/%E6%8B%89%E4%B8%81%E5%AD%97%E6%AF%8D"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zh.wikipedia.org/wiki/%E9%99%84%E5%8A%A0%E7%AC%A6%E5%8F%B7" TargetMode="External"/><Relationship Id="rId5" Type="http://schemas.openxmlformats.org/officeDocument/2006/relationships/hyperlink" Target="http://zh.wikipedia.org/wiki/%E7%AC%A6%E5%8F%B7" TargetMode="External"/><Relationship Id="rId10" Type="http://schemas.openxmlformats.org/officeDocument/2006/relationships/image" Target="../media/image10.png"/><Relationship Id="rId4" Type="http://schemas.openxmlformats.org/officeDocument/2006/relationships/hyperlink" Target="http://zh.wikipedia.org/wiki/%E5%AD%97%E6%AF%8D" TargetMode="External"/><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hyperlink" Target="http://baike.baidu.com/view/18536.ht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hyperlink" Target="http://baike.baidu.com/view/49801.ht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8" Type="http://schemas.openxmlformats.org/officeDocument/2006/relationships/hyperlink" Target="http://zh.wikipedia.org/wiki/%E7%BB%BF%E8%89%B2" TargetMode="External"/><Relationship Id="rId3" Type="http://schemas.openxmlformats.org/officeDocument/2006/relationships/hyperlink" Target="http://zh.wikipedia.org/wiki/%E8%A7%86%E7%BD%91%E8%86%9C" TargetMode="External"/><Relationship Id="rId7" Type="http://schemas.openxmlformats.org/officeDocument/2006/relationships/hyperlink" Target="http://zh.wikipedia.org/w/index.php?title=%E9%BB%84%E7%BB%BF%E8%89%B2&amp;action=edit&amp;redlink=1" TargetMode="External"/><Relationship Id="rId2" Type="http://schemas.openxmlformats.org/officeDocument/2006/relationships/hyperlink" Target="http://zh.wikipedia.org/wiki/%E7%9C%BC%E7%90%83" TargetMode="Externa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hyperlink" Target="http://zh.wikipedia.org/wiki/%E7%A5%9E%E7%B6%93%E7%B4%B0%E8%83%9E" TargetMode="External"/><Relationship Id="rId4" Type="http://schemas.openxmlformats.org/officeDocument/2006/relationships/hyperlink" Target="http://zh.wikipedia.org/w/index.php?title=%E5%85%89%E8%BD%AC%E5%8C%96&amp;action=edit&amp;redlink=1" TargetMode="External"/><Relationship Id="rId9" Type="http://schemas.openxmlformats.org/officeDocument/2006/relationships/hyperlink" Target="http://zh.wikipedia.org/w/index.php?title=%E8%93%9D%E7%B4%AB%E8%89%B2&amp;action=edit&amp;redlink=1"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baike.baidu.com/view/157980.ht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gif"/></Relationships>
</file>

<file path=ppt/slides/_rels/slide2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 Target="slide5.xml"/><Relationship Id="rId1" Type="http://schemas.openxmlformats.org/officeDocument/2006/relationships/slideLayout" Target="../slideLayouts/slideLayout2.xml"/><Relationship Id="rId5" Type="http://schemas.openxmlformats.org/officeDocument/2006/relationships/audio" Target="../media/audio2.wav"/><Relationship Id="rId4" Type="http://schemas.openxmlformats.org/officeDocument/2006/relationships/slide" Target="slide6.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hyperlink" Target="http://zh.wikipedia.org/wiki/PCM" TargetMode="External"/><Relationship Id="rId13" Type="http://schemas.openxmlformats.org/officeDocument/2006/relationships/hyperlink" Target="http://zh.wikipedia.org/wiki/TAK" TargetMode="External"/><Relationship Id="rId18" Type="http://schemas.openxmlformats.org/officeDocument/2006/relationships/hyperlink" Target="http://zh.wikipedia.org/wiki/AAC" TargetMode="External"/><Relationship Id="rId3" Type="http://schemas.openxmlformats.org/officeDocument/2006/relationships/hyperlink" Target="http://zh.wikipedia.org/wiki/%E9%87%8F%E5%8C%96_(%E4%BF%A1%E5%8F%B7%E5%A4%84%E7%90%86)" TargetMode="External"/><Relationship Id="rId7" Type="http://schemas.openxmlformats.org/officeDocument/2006/relationships/hyperlink" Target="http://zh.wikipedia.org/wiki/WAV" TargetMode="External"/><Relationship Id="rId12" Type="http://schemas.openxmlformats.org/officeDocument/2006/relationships/hyperlink" Target="http://zh.wikipedia.org/wiki/APE" TargetMode="External"/><Relationship Id="rId17" Type="http://schemas.openxmlformats.org/officeDocument/2006/relationships/hyperlink" Target="http://zh.wikipedia.org/wiki/OGG" TargetMode="External"/><Relationship Id="rId2" Type="http://schemas.openxmlformats.org/officeDocument/2006/relationships/notesSlide" Target="../notesSlides/notesSlide35.xml"/><Relationship Id="rId16" Type="http://schemas.openxmlformats.org/officeDocument/2006/relationships/hyperlink" Target="http://zh.wikipedia.org/wiki/WMA" TargetMode="External"/><Relationship Id="rId1" Type="http://schemas.openxmlformats.org/officeDocument/2006/relationships/slideLayout" Target="../slideLayouts/slideLayout2.xml"/><Relationship Id="rId6" Type="http://schemas.openxmlformats.org/officeDocument/2006/relationships/hyperlink" Target="http://zh.wikipedia.org/wiki/%E5%A3%B0%E9%81%93" TargetMode="External"/><Relationship Id="rId11" Type="http://schemas.openxmlformats.org/officeDocument/2006/relationships/hyperlink" Target="http://zh.wikipedia.org/wiki/AU" TargetMode="External"/><Relationship Id="rId5" Type="http://schemas.openxmlformats.org/officeDocument/2006/relationships/hyperlink" Target="http://zh.wikipedia.org/wiki/%E5%88%86%E8%BE%A8%E7%8E%87" TargetMode="External"/><Relationship Id="rId15" Type="http://schemas.openxmlformats.org/officeDocument/2006/relationships/hyperlink" Target="http://zh.wikipedia.org/wiki/MP3" TargetMode="External"/><Relationship Id="rId10" Type="http://schemas.openxmlformats.org/officeDocument/2006/relationships/hyperlink" Target="http://zh.wikipedia.org/wiki/FLAC" TargetMode="External"/><Relationship Id="rId4" Type="http://schemas.openxmlformats.org/officeDocument/2006/relationships/hyperlink" Target="http://zh.wikipedia.org/wiki/%E9%87%87%E6%A0%B7%E7%8E%87" TargetMode="External"/><Relationship Id="rId9" Type="http://schemas.openxmlformats.org/officeDocument/2006/relationships/hyperlink" Target="http://zh.wikipedia.org/wiki/TTA" TargetMode="External"/><Relationship Id="rId14" Type="http://schemas.openxmlformats.org/officeDocument/2006/relationships/hyperlink" Target="http://zh.wikipedia.org/wiki/WavPack"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s://zh.wikipedia.org/wiki/Mp3"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539552" y="1653952"/>
            <a:ext cx="7772400" cy="1470025"/>
          </a:xfrm>
        </p:spPr>
        <p:txBody>
          <a:bodyPr>
            <a:normAutofit/>
          </a:bodyPr>
          <a:lstStyle/>
          <a:p>
            <a:pPr algn="ctr"/>
            <a:r>
              <a:rPr lang="zh-CN" altLang="en-US" sz="5500" b="1" dirty="0">
                <a:solidFill>
                  <a:srgbClr val="0000FF"/>
                </a:solidFill>
                <a:latin typeface="微软雅黑" panose="020B0503020204020204" pitchFamily="34" charset="-122"/>
                <a:ea typeface="微软雅黑" panose="020B0503020204020204" pitchFamily="34" charset="-122"/>
              </a:rPr>
              <a:t>多媒体信息处理基础</a:t>
            </a:r>
          </a:p>
        </p:txBody>
      </p:sp>
      <p:sp>
        <p:nvSpPr>
          <p:cNvPr id="3" name="副标题 2"/>
          <p:cNvSpPr>
            <a:spLocks noGrp="1"/>
          </p:cNvSpPr>
          <p:nvPr>
            <p:ph type="subTitle" idx="4294967295"/>
          </p:nvPr>
        </p:nvSpPr>
        <p:spPr>
          <a:xfrm>
            <a:off x="1331640" y="3789040"/>
            <a:ext cx="5885792" cy="1584176"/>
          </a:xfrm>
        </p:spPr>
        <p:txBody>
          <a:bodyPr>
            <a:normAutofit/>
          </a:bodyPr>
          <a:lstStyle/>
          <a:p>
            <a:pPr marL="0" indent="0" algn="ctr">
              <a:buNone/>
            </a:pPr>
            <a:r>
              <a:rPr lang="zh-CN" altLang="en-US" dirty="0">
                <a:latin typeface="微软雅黑" panose="020B0503020204020204" pitchFamily="34" charset="-122"/>
                <a:ea typeface="微软雅黑" panose="020B0503020204020204" pitchFamily="34" charset="-122"/>
              </a:rPr>
              <a:t>李佳</a:t>
            </a:r>
            <a:endParaRPr lang="en-US" altLang="zh-CN" dirty="0">
              <a:latin typeface="微软雅黑" panose="020B0503020204020204" pitchFamily="34" charset="-122"/>
              <a:ea typeface="微软雅黑" panose="020B0503020204020204" pitchFamily="34" charset="-122"/>
            </a:endParaRPr>
          </a:p>
          <a:p>
            <a:pPr marL="0" indent="0" algn="ctr">
              <a:buNone/>
            </a:pPr>
            <a:r>
              <a:rPr lang="zh-CN" altLang="en-US" sz="2400" dirty="0">
                <a:solidFill>
                  <a:schemeClr val="accent4">
                    <a:lumMod val="75000"/>
                  </a:schemeClr>
                </a:solidFill>
                <a:latin typeface="微软雅黑" panose="020B0503020204020204" pitchFamily="34" charset="-122"/>
                <a:ea typeface="微软雅黑" panose="020B0503020204020204" pitchFamily="34" charset="-122"/>
              </a:rPr>
              <a:t>媒体计算实验室</a:t>
            </a:r>
            <a:r>
              <a:rPr lang="en-US" altLang="zh-CN" sz="2400" dirty="0">
                <a:solidFill>
                  <a:schemeClr val="accent4">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4">
                    <a:lumMod val="75000"/>
                  </a:schemeClr>
                </a:solidFill>
                <a:latin typeface="微软雅黑" panose="020B0503020204020204" pitchFamily="34" charset="-122"/>
                <a:ea typeface="微软雅黑" panose="020B0503020204020204" pitchFamily="34" charset="-122"/>
              </a:rPr>
              <a:t>老人福祉科技实验室</a:t>
            </a:r>
            <a:endParaRPr lang="en-US" altLang="zh-CN" sz="2400" dirty="0">
              <a:solidFill>
                <a:schemeClr val="accent4">
                  <a:lumMod val="75000"/>
                </a:schemeClr>
              </a:solidFill>
              <a:latin typeface="微软雅黑" panose="020B0503020204020204" pitchFamily="34" charset="-122"/>
              <a:ea typeface="微软雅黑" panose="020B0503020204020204" pitchFamily="34" charset="-122"/>
            </a:endParaRPr>
          </a:p>
          <a:p>
            <a:pPr marL="0" indent="0" algn="ctr">
              <a:buNone/>
            </a:pPr>
            <a:r>
              <a:rPr lang="en-US" altLang="zh-CN" sz="2400" dirty="0" err="1">
                <a:solidFill>
                  <a:schemeClr val="accent4">
                    <a:lumMod val="75000"/>
                  </a:schemeClr>
                </a:solidFill>
                <a:latin typeface="微软雅黑" panose="020B0503020204020204" pitchFamily="34" charset="-122"/>
                <a:ea typeface="微软雅黑" panose="020B0503020204020204" pitchFamily="34" charset="-122"/>
              </a:rPr>
              <a:t>lijia@hfut.edu.cn</a:t>
            </a:r>
            <a:endParaRPr lang="zh-CN" altLang="en-US" sz="2400" dirty="0">
              <a:solidFill>
                <a:schemeClr val="accent4">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5170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51520" y="116632"/>
            <a:ext cx="5364088" cy="86409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dirty="0"/>
              <a:t>教学内容</a:t>
            </a:r>
          </a:p>
        </p:txBody>
      </p:sp>
      <p:sp>
        <p:nvSpPr>
          <p:cNvPr id="3" name="矩形 2"/>
          <p:cNvSpPr/>
          <p:nvPr/>
        </p:nvSpPr>
        <p:spPr>
          <a:xfrm>
            <a:off x="614378" y="1439198"/>
            <a:ext cx="7558022" cy="584775"/>
          </a:xfrm>
          <a:prstGeom prst="rect">
            <a:avLst/>
          </a:prstGeom>
        </p:spPr>
        <p:txBody>
          <a:bodyPr wrap="square">
            <a:spAutoFit/>
          </a:bodyPr>
          <a:lstStyle/>
          <a:p>
            <a:pPr marL="457200" indent="-457200">
              <a:buFont typeface="Arial" pitchFamily="34" charset="0"/>
              <a:buChar char="•"/>
            </a:pPr>
            <a:r>
              <a:rPr lang="zh-CN" altLang="zh-CN" sz="3200" dirty="0"/>
              <a:t>第一单元</a:t>
            </a:r>
            <a:r>
              <a:rPr lang="zh-CN" altLang="en-US" sz="3200" dirty="0"/>
              <a:t>：</a:t>
            </a:r>
            <a:r>
              <a:rPr lang="zh-CN" altLang="zh-CN" sz="3200" dirty="0"/>
              <a:t> 多媒体技术概述</a:t>
            </a:r>
            <a:endParaRPr lang="zh-CN" altLang="en-US" sz="3200" dirty="0"/>
          </a:p>
        </p:txBody>
      </p:sp>
      <p:sp>
        <p:nvSpPr>
          <p:cNvPr id="4" name="矩形 3"/>
          <p:cNvSpPr/>
          <p:nvPr/>
        </p:nvSpPr>
        <p:spPr>
          <a:xfrm>
            <a:off x="614377" y="2195282"/>
            <a:ext cx="7039999" cy="584775"/>
          </a:xfrm>
          <a:prstGeom prst="rect">
            <a:avLst/>
          </a:prstGeom>
        </p:spPr>
        <p:txBody>
          <a:bodyPr wrap="square">
            <a:spAutoFit/>
          </a:bodyPr>
          <a:lstStyle/>
          <a:p>
            <a:pPr marL="457200" indent="-457200">
              <a:buFont typeface="Arial" pitchFamily="34" charset="0"/>
              <a:buChar char="•"/>
            </a:pPr>
            <a:r>
              <a:rPr lang="zh-CN" altLang="zh-CN" sz="3200" b="1" dirty="0">
                <a:solidFill>
                  <a:srgbClr val="0000FF"/>
                </a:solidFill>
              </a:rPr>
              <a:t>第二单元：多媒体数据</a:t>
            </a:r>
            <a:r>
              <a:rPr lang="zh-CN" altLang="en-US" sz="3200" b="1" dirty="0">
                <a:solidFill>
                  <a:srgbClr val="0000FF"/>
                </a:solidFill>
              </a:rPr>
              <a:t>存储与压缩</a:t>
            </a:r>
          </a:p>
        </p:txBody>
      </p:sp>
      <p:sp>
        <p:nvSpPr>
          <p:cNvPr id="5" name="矩形 4"/>
          <p:cNvSpPr/>
          <p:nvPr/>
        </p:nvSpPr>
        <p:spPr>
          <a:xfrm>
            <a:off x="614378" y="2951366"/>
            <a:ext cx="6594429" cy="584775"/>
          </a:xfrm>
          <a:prstGeom prst="rect">
            <a:avLst/>
          </a:prstGeom>
        </p:spPr>
        <p:txBody>
          <a:bodyPr wrap="square">
            <a:spAutoFit/>
          </a:bodyPr>
          <a:lstStyle/>
          <a:p>
            <a:pPr marL="457200" indent="-457200">
              <a:buFont typeface="Arial" pitchFamily="34" charset="0"/>
              <a:buChar char="•"/>
            </a:pPr>
            <a:r>
              <a:rPr lang="zh-CN" altLang="zh-CN" sz="3200" dirty="0"/>
              <a:t>第三单元：多媒体通信与网络</a:t>
            </a:r>
            <a:endParaRPr lang="zh-CN" altLang="en-US" sz="3200" dirty="0"/>
          </a:p>
        </p:txBody>
      </p:sp>
      <p:sp>
        <p:nvSpPr>
          <p:cNvPr id="6" name="矩形 5"/>
          <p:cNvSpPr/>
          <p:nvPr/>
        </p:nvSpPr>
        <p:spPr>
          <a:xfrm>
            <a:off x="614378" y="3707450"/>
            <a:ext cx="6148861" cy="584775"/>
          </a:xfrm>
          <a:prstGeom prst="rect">
            <a:avLst/>
          </a:prstGeom>
        </p:spPr>
        <p:txBody>
          <a:bodyPr wrap="square">
            <a:spAutoFit/>
          </a:bodyPr>
          <a:lstStyle/>
          <a:p>
            <a:pPr marL="457200" indent="-457200">
              <a:buFont typeface="Arial" pitchFamily="34" charset="0"/>
              <a:buChar char="•"/>
            </a:pPr>
            <a:r>
              <a:rPr lang="zh-CN" altLang="zh-CN" sz="3200" dirty="0"/>
              <a:t>第四单元：多媒体数据检索</a:t>
            </a:r>
            <a:endParaRPr lang="zh-CN" altLang="en-US" sz="3200" dirty="0"/>
          </a:p>
        </p:txBody>
      </p:sp>
      <p:sp>
        <p:nvSpPr>
          <p:cNvPr id="7" name="矩形 6"/>
          <p:cNvSpPr/>
          <p:nvPr/>
        </p:nvSpPr>
        <p:spPr>
          <a:xfrm>
            <a:off x="614378" y="4463534"/>
            <a:ext cx="6594429" cy="584775"/>
          </a:xfrm>
          <a:prstGeom prst="rect">
            <a:avLst/>
          </a:prstGeom>
        </p:spPr>
        <p:txBody>
          <a:bodyPr wrap="square">
            <a:spAutoFit/>
          </a:bodyPr>
          <a:lstStyle/>
          <a:p>
            <a:pPr marL="457200" indent="-457200">
              <a:buFont typeface="Arial" pitchFamily="34" charset="0"/>
              <a:buChar char="•"/>
            </a:pPr>
            <a:r>
              <a:rPr lang="zh-CN" altLang="zh-CN" sz="3200" dirty="0"/>
              <a:t>第五单元：多媒体新技术展望</a:t>
            </a:r>
            <a:endParaRPr lang="zh-CN" altLang="en-US" sz="3200" dirty="0"/>
          </a:p>
        </p:txBody>
      </p:sp>
      <p:sp>
        <p:nvSpPr>
          <p:cNvPr id="9" name="灯片编号占位符 8"/>
          <p:cNvSpPr>
            <a:spLocks noGrp="1"/>
          </p:cNvSpPr>
          <p:nvPr>
            <p:ph type="sldNum" sz="quarter" idx="12"/>
          </p:nvPr>
        </p:nvSpPr>
        <p:spPr/>
        <p:txBody>
          <a:bodyPr/>
          <a:lstStyle/>
          <a:p>
            <a:fld id="{F64BA984-46A0-4F46-990E-EC790E6934B4}" type="slidenum">
              <a:rPr lang="zh-CN" altLang="en-US" smtClean="0"/>
              <a:t>2</a:t>
            </a:fld>
            <a:endParaRPr lang="zh-CN" altLang="en-US"/>
          </a:p>
        </p:txBody>
      </p:sp>
    </p:spTree>
    <p:extLst>
      <p:ext uri="{BB962C8B-B14F-4D97-AF65-F5344CB8AC3E}">
        <p14:creationId xmlns:p14="http://schemas.microsoft.com/office/powerpoint/2010/main" val="2886323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4968552"/>
          </a:xfrm>
        </p:spPr>
        <p:txBody>
          <a:bodyPr>
            <a:normAutofit/>
          </a:bodyPr>
          <a:lstStyle/>
          <a:p>
            <a:r>
              <a:rPr lang="en-US" altLang="zh-CN" sz="4000" dirty="0"/>
              <a:t>2.1 </a:t>
            </a:r>
            <a:r>
              <a:rPr lang="zh-CN" altLang="en-US" sz="4000" dirty="0"/>
              <a:t>基础知识</a:t>
            </a:r>
            <a:endParaRPr lang="en-US" altLang="zh-CN" sz="4000" dirty="0"/>
          </a:p>
          <a:p>
            <a:r>
              <a:rPr lang="en-US" altLang="zh-CN" sz="4000" dirty="0"/>
              <a:t>2.2 </a:t>
            </a:r>
            <a:r>
              <a:rPr lang="zh-CN" altLang="en-US" sz="4000" dirty="0"/>
              <a:t>数字</a:t>
            </a:r>
            <a:endParaRPr lang="en-US" altLang="zh-CN" sz="4000" dirty="0"/>
          </a:p>
          <a:p>
            <a:r>
              <a:rPr lang="en-US" altLang="zh-CN" sz="4000" dirty="0"/>
              <a:t>2.3 </a:t>
            </a:r>
            <a:r>
              <a:rPr lang="zh-CN" altLang="en-US" sz="4000" dirty="0"/>
              <a:t>文本</a:t>
            </a:r>
            <a:endParaRPr lang="en-US" altLang="zh-CN" sz="4000" dirty="0"/>
          </a:p>
          <a:p>
            <a:r>
              <a:rPr lang="en-US" altLang="zh-CN" sz="4000" dirty="0"/>
              <a:t>2.4 </a:t>
            </a:r>
            <a:r>
              <a:rPr lang="zh-CN" altLang="en-US" sz="4000" dirty="0"/>
              <a:t>图像</a:t>
            </a:r>
            <a:endParaRPr lang="en-US" altLang="zh-CN" sz="4000" dirty="0"/>
          </a:p>
          <a:p>
            <a:r>
              <a:rPr lang="en-US" altLang="zh-CN" sz="4000" dirty="0"/>
              <a:t>2.5 </a:t>
            </a:r>
            <a:r>
              <a:rPr lang="zh-CN" altLang="en-US" sz="4000" dirty="0"/>
              <a:t>视频</a:t>
            </a:r>
            <a:endParaRPr lang="en-US" altLang="zh-CN" sz="4000" dirty="0"/>
          </a:p>
          <a:p>
            <a:r>
              <a:rPr lang="en-US" altLang="zh-CN" sz="4000" dirty="0"/>
              <a:t>2.6 </a:t>
            </a:r>
            <a:r>
              <a:rPr lang="zh-CN" altLang="en-US" sz="4000" dirty="0"/>
              <a:t>音频</a:t>
            </a:r>
          </a:p>
        </p:txBody>
      </p:sp>
      <p:sp>
        <p:nvSpPr>
          <p:cNvPr id="3" name="标题 2"/>
          <p:cNvSpPr>
            <a:spLocks noGrp="1"/>
          </p:cNvSpPr>
          <p:nvPr>
            <p:ph type="title"/>
          </p:nvPr>
        </p:nvSpPr>
        <p:spPr/>
        <p:txBody>
          <a:bodyPr>
            <a:normAutofit fontScale="90000"/>
          </a:bodyPr>
          <a:lstStyle/>
          <a:p>
            <a:r>
              <a:rPr lang="zh-CN" altLang="en-US" dirty="0"/>
              <a:t>第</a:t>
            </a:r>
            <a:r>
              <a:rPr lang="en-US" altLang="zh-CN" dirty="0"/>
              <a:t>2</a:t>
            </a:r>
            <a:r>
              <a:rPr lang="zh-CN" altLang="en-US" dirty="0"/>
              <a:t>章 多媒体信息的采集和存储</a:t>
            </a:r>
          </a:p>
        </p:txBody>
      </p:sp>
      <p:sp>
        <p:nvSpPr>
          <p:cNvPr id="5" name="灯片编号占位符 4"/>
          <p:cNvSpPr>
            <a:spLocks noGrp="1"/>
          </p:cNvSpPr>
          <p:nvPr>
            <p:ph type="sldNum" sz="quarter" idx="12"/>
          </p:nvPr>
        </p:nvSpPr>
        <p:spPr/>
        <p:txBody>
          <a:bodyPr/>
          <a:lstStyle/>
          <a:p>
            <a:fld id="{F64BA984-46A0-4F46-990E-EC790E6934B4}" type="slidenum">
              <a:rPr lang="zh-CN" altLang="en-US" smtClean="0"/>
              <a:t>3</a:t>
            </a:fld>
            <a:endParaRPr lang="zh-CN" altLang="en-US"/>
          </a:p>
        </p:txBody>
      </p:sp>
    </p:spTree>
    <p:extLst>
      <p:ext uri="{BB962C8B-B14F-4D97-AF65-F5344CB8AC3E}">
        <p14:creationId xmlns:p14="http://schemas.microsoft.com/office/powerpoint/2010/main" val="2765138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2.1 </a:t>
            </a:r>
            <a:r>
              <a:rPr lang="zh-CN" altLang="en-US" dirty="0"/>
              <a:t>基础知识 什么是信息？</a:t>
            </a:r>
          </a:p>
        </p:txBody>
      </p:sp>
      <p:pic>
        <p:nvPicPr>
          <p:cNvPr id="55302" name="Picture 6" descr="http://csapp.cs.cmu.edu/public/public/images/csapp2ecover-fullsiz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48064" y="1484907"/>
            <a:ext cx="3672408" cy="45737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29344" y="1340768"/>
            <a:ext cx="4824536" cy="584775"/>
          </a:xfrm>
          <a:prstGeom prst="rect">
            <a:avLst/>
          </a:prstGeom>
          <a:noFill/>
        </p:spPr>
        <p:txBody>
          <a:bodyPr wrap="square" rtlCol="0">
            <a:spAutoFit/>
          </a:bodyPr>
          <a:lstStyle/>
          <a:p>
            <a:r>
              <a:rPr lang="en-US" altLang="zh-CN" sz="3200" dirty="0">
                <a:solidFill>
                  <a:srgbClr val="FF0000"/>
                </a:solidFill>
              </a:rPr>
              <a:t>Information</a:t>
            </a:r>
            <a:r>
              <a:rPr lang="en-US" altLang="zh-CN" sz="3200" dirty="0"/>
              <a:t> = </a:t>
            </a:r>
            <a:r>
              <a:rPr lang="en-US" altLang="zh-CN" sz="3200" dirty="0">
                <a:solidFill>
                  <a:srgbClr val="0000FF"/>
                </a:solidFill>
              </a:rPr>
              <a:t>Bits</a:t>
            </a:r>
            <a:r>
              <a:rPr lang="en-US" altLang="zh-CN" sz="3200" dirty="0"/>
              <a:t> + </a:t>
            </a:r>
            <a:r>
              <a:rPr lang="en-US" altLang="zh-CN" sz="3200" dirty="0">
                <a:solidFill>
                  <a:srgbClr val="00B050"/>
                </a:solidFill>
              </a:rPr>
              <a:t>Context</a:t>
            </a:r>
            <a:endParaRPr lang="zh-CN" altLang="en-US" sz="3200" dirty="0">
              <a:solidFill>
                <a:srgbClr val="00B050"/>
              </a:solidFill>
            </a:endParaRPr>
          </a:p>
        </p:txBody>
      </p:sp>
      <p:sp>
        <p:nvSpPr>
          <p:cNvPr id="7" name="TextBox 6"/>
          <p:cNvSpPr txBox="1"/>
          <p:nvPr/>
        </p:nvSpPr>
        <p:spPr>
          <a:xfrm>
            <a:off x="202141" y="2348880"/>
            <a:ext cx="4824536" cy="1569660"/>
          </a:xfrm>
          <a:prstGeom prst="rect">
            <a:avLst/>
          </a:prstGeom>
          <a:noFill/>
        </p:spPr>
        <p:txBody>
          <a:bodyPr wrap="square" rtlCol="0">
            <a:spAutoFit/>
          </a:bodyPr>
          <a:lstStyle/>
          <a:p>
            <a:r>
              <a:rPr lang="zh-CN" altLang="en-US" sz="3200" dirty="0">
                <a:solidFill>
                  <a:srgbClr val="0000FF"/>
                </a:solidFill>
              </a:rPr>
              <a:t>信息在计算机里面，都是以</a:t>
            </a:r>
            <a:r>
              <a:rPr lang="en-US" altLang="zh-CN" sz="3200" dirty="0">
                <a:solidFill>
                  <a:srgbClr val="0000FF"/>
                </a:solidFill>
              </a:rPr>
              <a:t>0-1</a:t>
            </a:r>
            <a:r>
              <a:rPr lang="zh-CN" altLang="en-US" sz="3200" dirty="0">
                <a:solidFill>
                  <a:srgbClr val="0000FF"/>
                </a:solidFill>
              </a:rPr>
              <a:t>串存储的，决定它们内容的，在于其上下文</a:t>
            </a:r>
          </a:p>
        </p:txBody>
      </p:sp>
      <p:sp>
        <p:nvSpPr>
          <p:cNvPr id="5" name="TextBox 4"/>
          <p:cNvSpPr txBox="1"/>
          <p:nvPr/>
        </p:nvSpPr>
        <p:spPr>
          <a:xfrm>
            <a:off x="1115616" y="4657489"/>
            <a:ext cx="1080120" cy="584775"/>
          </a:xfrm>
          <a:prstGeom prst="rect">
            <a:avLst/>
          </a:prstGeom>
          <a:noFill/>
        </p:spPr>
        <p:txBody>
          <a:bodyPr wrap="square" rtlCol="0">
            <a:spAutoFit/>
          </a:bodyPr>
          <a:lstStyle/>
          <a:p>
            <a:r>
              <a:rPr lang="en-US" altLang="zh-CN" sz="3200" dirty="0"/>
              <a:t>0x75</a:t>
            </a:r>
            <a:endParaRPr lang="zh-CN" altLang="en-US" sz="3200" dirty="0"/>
          </a:p>
        </p:txBody>
      </p:sp>
      <p:sp>
        <p:nvSpPr>
          <p:cNvPr id="6" name="TextBox 5"/>
          <p:cNvSpPr txBox="1"/>
          <p:nvPr/>
        </p:nvSpPr>
        <p:spPr>
          <a:xfrm>
            <a:off x="2267744" y="4657490"/>
            <a:ext cx="3024336" cy="584775"/>
          </a:xfrm>
          <a:prstGeom prst="rect">
            <a:avLst/>
          </a:prstGeom>
          <a:noFill/>
        </p:spPr>
        <p:txBody>
          <a:bodyPr wrap="square" rtlCol="0">
            <a:spAutoFit/>
          </a:bodyPr>
          <a:lstStyle/>
          <a:p>
            <a:r>
              <a:rPr lang="en-US" altLang="zh-CN" sz="3200" dirty="0"/>
              <a:t>0111 0101</a:t>
            </a:r>
            <a:endParaRPr lang="zh-CN" altLang="en-US" sz="3200" dirty="0"/>
          </a:p>
        </p:txBody>
      </p:sp>
      <p:sp>
        <p:nvSpPr>
          <p:cNvPr id="8" name="TextBox 7"/>
          <p:cNvSpPr txBox="1"/>
          <p:nvPr/>
        </p:nvSpPr>
        <p:spPr>
          <a:xfrm>
            <a:off x="539552" y="5256306"/>
            <a:ext cx="1463104" cy="1077218"/>
          </a:xfrm>
          <a:prstGeom prst="rect">
            <a:avLst/>
          </a:prstGeom>
          <a:noFill/>
        </p:spPr>
        <p:txBody>
          <a:bodyPr wrap="square" rtlCol="0">
            <a:spAutoFit/>
          </a:bodyPr>
          <a:lstStyle/>
          <a:p>
            <a:r>
              <a:rPr lang="zh-CN" altLang="en-US" sz="3200" dirty="0">
                <a:solidFill>
                  <a:srgbClr val="0000FF"/>
                </a:solidFill>
              </a:rPr>
              <a:t>字符</a:t>
            </a:r>
            <a:r>
              <a:rPr lang="en-US" altLang="zh-CN" sz="3200" dirty="0">
                <a:solidFill>
                  <a:srgbClr val="0000FF"/>
                </a:solidFill>
              </a:rPr>
              <a:t>: </a:t>
            </a:r>
          </a:p>
          <a:p>
            <a:r>
              <a:rPr lang="en-US" altLang="zh-CN" sz="3200" dirty="0">
                <a:solidFill>
                  <a:srgbClr val="0000FF"/>
                </a:solidFill>
              </a:rPr>
              <a:t>‘u’</a:t>
            </a:r>
          </a:p>
        </p:txBody>
      </p:sp>
      <p:sp>
        <p:nvSpPr>
          <p:cNvPr id="12" name="TextBox 11"/>
          <p:cNvSpPr txBox="1"/>
          <p:nvPr/>
        </p:nvSpPr>
        <p:spPr>
          <a:xfrm>
            <a:off x="2002656" y="5240770"/>
            <a:ext cx="1277912" cy="1077218"/>
          </a:xfrm>
          <a:prstGeom prst="rect">
            <a:avLst/>
          </a:prstGeom>
          <a:noFill/>
        </p:spPr>
        <p:txBody>
          <a:bodyPr wrap="square" rtlCol="0">
            <a:spAutoFit/>
          </a:bodyPr>
          <a:lstStyle/>
          <a:p>
            <a:r>
              <a:rPr lang="zh-CN" altLang="en-US" sz="3200" dirty="0">
                <a:solidFill>
                  <a:srgbClr val="0000FF"/>
                </a:solidFill>
              </a:rPr>
              <a:t>数字</a:t>
            </a:r>
            <a:r>
              <a:rPr lang="en-US" altLang="zh-CN" sz="3200" dirty="0">
                <a:solidFill>
                  <a:srgbClr val="0000FF"/>
                </a:solidFill>
              </a:rPr>
              <a:t>:  </a:t>
            </a:r>
          </a:p>
          <a:p>
            <a:r>
              <a:rPr lang="en-US" altLang="zh-CN" sz="3200" dirty="0">
                <a:solidFill>
                  <a:srgbClr val="0000FF"/>
                </a:solidFill>
              </a:rPr>
              <a:t>117</a:t>
            </a:r>
          </a:p>
        </p:txBody>
      </p:sp>
      <p:sp>
        <p:nvSpPr>
          <p:cNvPr id="13" name="TextBox 12"/>
          <p:cNvSpPr txBox="1"/>
          <p:nvPr/>
        </p:nvSpPr>
        <p:spPr>
          <a:xfrm>
            <a:off x="3563888" y="5242264"/>
            <a:ext cx="2126704" cy="1077218"/>
          </a:xfrm>
          <a:prstGeom prst="rect">
            <a:avLst/>
          </a:prstGeom>
          <a:noFill/>
        </p:spPr>
        <p:txBody>
          <a:bodyPr wrap="square" rtlCol="0">
            <a:spAutoFit/>
          </a:bodyPr>
          <a:lstStyle/>
          <a:p>
            <a:r>
              <a:rPr lang="zh-CN" altLang="en-US" sz="3200" dirty="0">
                <a:solidFill>
                  <a:srgbClr val="0000FF"/>
                </a:solidFill>
              </a:rPr>
              <a:t>指令</a:t>
            </a:r>
            <a:r>
              <a:rPr lang="en-US" altLang="zh-CN" sz="3200" dirty="0">
                <a:solidFill>
                  <a:srgbClr val="0000FF"/>
                </a:solidFill>
              </a:rPr>
              <a:t>: </a:t>
            </a:r>
          </a:p>
          <a:p>
            <a:r>
              <a:rPr lang="en-US" altLang="zh-CN" sz="3200" dirty="0">
                <a:solidFill>
                  <a:srgbClr val="0000FF"/>
                </a:solidFill>
              </a:rPr>
              <a:t>JNZ</a:t>
            </a:r>
            <a:endParaRPr lang="zh-CN" altLang="en-US" sz="3200" dirty="0">
              <a:solidFill>
                <a:srgbClr val="0000FF"/>
              </a:solidFill>
            </a:endParaRPr>
          </a:p>
        </p:txBody>
      </p:sp>
      <p:sp>
        <p:nvSpPr>
          <p:cNvPr id="14" name="TextBox 13"/>
          <p:cNvSpPr txBox="1"/>
          <p:nvPr/>
        </p:nvSpPr>
        <p:spPr>
          <a:xfrm>
            <a:off x="273336" y="4221088"/>
            <a:ext cx="1080120" cy="584775"/>
          </a:xfrm>
          <a:prstGeom prst="rect">
            <a:avLst/>
          </a:prstGeom>
          <a:noFill/>
        </p:spPr>
        <p:txBody>
          <a:bodyPr wrap="square" rtlCol="0">
            <a:spAutoFit/>
          </a:bodyPr>
          <a:lstStyle/>
          <a:p>
            <a:r>
              <a:rPr lang="zh-CN" altLang="en-US" sz="3200" dirty="0"/>
              <a:t>举例：</a:t>
            </a:r>
          </a:p>
        </p:txBody>
      </p:sp>
      <p:sp>
        <p:nvSpPr>
          <p:cNvPr id="9" name="灯片编号占位符 8"/>
          <p:cNvSpPr>
            <a:spLocks noGrp="1"/>
          </p:cNvSpPr>
          <p:nvPr>
            <p:ph type="sldNum" sz="quarter" idx="12"/>
          </p:nvPr>
        </p:nvSpPr>
        <p:spPr/>
        <p:txBody>
          <a:bodyPr/>
          <a:lstStyle/>
          <a:p>
            <a:fld id="{F64BA984-46A0-4F46-990E-EC790E6934B4}" type="slidenum">
              <a:rPr lang="zh-CN" altLang="en-US" smtClean="0"/>
              <a:t>4</a:t>
            </a:fld>
            <a:endParaRPr lang="zh-CN" altLang="en-US"/>
          </a:p>
        </p:txBody>
      </p:sp>
    </p:spTree>
    <p:extLst>
      <p:ext uri="{BB962C8B-B14F-4D97-AF65-F5344CB8AC3E}">
        <p14:creationId xmlns:p14="http://schemas.microsoft.com/office/powerpoint/2010/main" val="241891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302"/>
                                        </p:tgtEl>
                                        <p:attrNameLst>
                                          <p:attrName>style.visibility</p:attrName>
                                        </p:attrNameLst>
                                      </p:cBhvr>
                                      <p:to>
                                        <p:strVal val="visible"/>
                                      </p:to>
                                    </p:set>
                                    <p:anim calcmode="lin" valueType="num">
                                      <p:cBhvr additive="base">
                                        <p:cTn id="7" dur="500" fill="hold"/>
                                        <p:tgtEl>
                                          <p:spTgt spid="55302"/>
                                        </p:tgtEl>
                                        <p:attrNameLst>
                                          <p:attrName>ppt_x</p:attrName>
                                        </p:attrNameLst>
                                      </p:cBhvr>
                                      <p:tavLst>
                                        <p:tav tm="0">
                                          <p:val>
                                            <p:strVal val="0-#ppt_w/2"/>
                                          </p:val>
                                        </p:tav>
                                        <p:tav tm="100000">
                                          <p:val>
                                            <p:strVal val="#ppt_x"/>
                                          </p:val>
                                        </p:tav>
                                      </p:tavLst>
                                    </p:anim>
                                    <p:anim calcmode="lin" valueType="num">
                                      <p:cBhvr additive="base">
                                        <p:cTn id="8" dur="500" fill="hold"/>
                                        <p:tgtEl>
                                          <p:spTgt spid="553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5" grpId="0"/>
      <p:bldP spid="6" grpId="0"/>
      <p:bldP spid="8" grpId="0"/>
      <p:bldP spid="12" grpId="0"/>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2.1 </a:t>
            </a:r>
            <a:r>
              <a:rPr lang="zh-CN" altLang="en-US" dirty="0"/>
              <a:t>基础知识 多媒体信息存储</a:t>
            </a:r>
          </a:p>
        </p:txBody>
      </p:sp>
      <p:sp>
        <p:nvSpPr>
          <p:cNvPr id="5" name="內容版面配置區 2"/>
          <p:cNvSpPr txBox="1">
            <a:spLocks/>
          </p:cNvSpPr>
          <p:nvPr/>
        </p:nvSpPr>
        <p:spPr>
          <a:xfrm>
            <a:off x="296483" y="1124744"/>
            <a:ext cx="8229600" cy="50405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计算机处理的是数字信号</a:t>
            </a:r>
            <a:endParaRPr lang="en-US" altLang="zh-CN" dirty="0"/>
          </a:p>
          <a:p>
            <a:pPr lvl="1"/>
            <a:r>
              <a:rPr lang="zh-CN" altLang="en-US" dirty="0"/>
              <a:t>从</a:t>
            </a:r>
            <a:r>
              <a:rPr lang="en-US" altLang="zh-CN" dirty="0"/>
              <a:t>1946</a:t>
            </a:r>
            <a:r>
              <a:rPr lang="zh-CN" altLang="en-US" dirty="0"/>
              <a:t>年的</a:t>
            </a:r>
            <a:r>
              <a:rPr lang="en-US" altLang="zh-CN" dirty="0">
                <a:ea typeface="宋体" charset="-122"/>
              </a:rPr>
              <a:t>ENIAC </a:t>
            </a:r>
            <a:r>
              <a:rPr lang="zh-CN" altLang="en-US" dirty="0">
                <a:ea typeface="宋体" charset="-122"/>
              </a:rPr>
              <a:t>到现在计算机</a:t>
            </a:r>
            <a:endParaRPr lang="en-US" altLang="zh-CN" dirty="0">
              <a:ea typeface="宋体" charset="-122"/>
            </a:endParaRPr>
          </a:p>
          <a:p>
            <a:pPr marL="342900" lvl="1" indent="-342900">
              <a:buFont typeface="Arial" pitchFamily="34" charset="0"/>
              <a:buChar char="•"/>
            </a:pPr>
            <a:r>
              <a:rPr lang="zh-CN" altLang="en-US" sz="3200" b="1" dirty="0">
                <a:solidFill>
                  <a:srgbClr val="0000FF"/>
                </a:solidFill>
              </a:rPr>
              <a:t>所有的数字是以二进制的形式保存的</a:t>
            </a:r>
            <a:endParaRPr lang="en-US" altLang="zh-CN" sz="3200" b="1" dirty="0">
              <a:solidFill>
                <a:srgbClr val="0000FF"/>
              </a:solidFill>
            </a:endParaRPr>
          </a:p>
          <a:p>
            <a:pPr marL="685800" lvl="2" indent="0">
              <a:buNone/>
            </a:pPr>
            <a:r>
              <a:rPr lang="en-US" altLang="zh-CN" sz="2800" dirty="0"/>
              <a:t> 8         1000</a:t>
            </a:r>
          </a:p>
          <a:p>
            <a:pPr marL="685800" lvl="2" indent="0">
              <a:buNone/>
            </a:pPr>
            <a:r>
              <a:rPr lang="en-US" altLang="zh-CN" sz="2800" dirty="0"/>
              <a:t> 2422  100101110110</a:t>
            </a:r>
            <a:endParaRPr lang="en-US" altLang="zh-CN" dirty="0">
              <a:solidFill>
                <a:srgbClr val="0000FF"/>
              </a:solidFill>
            </a:endParaRPr>
          </a:p>
          <a:p>
            <a:pPr marL="342900" lvl="1" indent="-342900">
              <a:buFont typeface="Arial" pitchFamily="34" charset="0"/>
              <a:buChar char="•"/>
            </a:pPr>
            <a:r>
              <a:rPr lang="zh-CN" altLang="en-US" sz="3200" b="1" dirty="0">
                <a:solidFill>
                  <a:srgbClr val="0000FF"/>
                </a:solidFill>
              </a:rPr>
              <a:t>所有的其他信息也是以二进制形式保存的</a:t>
            </a:r>
            <a:endParaRPr lang="en-US" altLang="zh-CN" sz="3200" b="1" dirty="0">
              <a:solidFill>
                <a:srgbClr val="0000FF"/>
              </a:solidFill>
            </a:endParaRPr>
          </a:p>
          <a:p>
            <a:pPr marL="685800" lvl="2" indent="0">
              <a:buNone/>
            </a:pPr>
            <a:r>
              <a:rPr lang="zh-CN" altLang="en-US" dirty="0"/>
              <a:t>包括文本，图像，音频，视频</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F64BA984-46A0-4F46-990E-EC790E6934B4}" type="slidenum">
              <a:rPr lang="zh-CN" altLang="en-US" smtClean="0"/>
              <a:t>5</a:t>
            </a:fld>
            <a:endParaRPr lang="zh-CN" altLang="en-US"/>
          </a:p>
        </p:txBody>
      </p:sp>
    </p:spTree>
    <p:extLst>
      <p:ext uri="{BB962C8B-B14F-4D97-AF65-F5344CB8AC3E}">
        <p14:creationId xmlns:p14="http://schemas.microsoft.com/office/powerpoint/2010/main" val="250637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7"/>
          <p:cNvSpPr>
            <a:spLocks noGrp="1" noChangeArrowheads="1"/>
          </p:cNvSpPr>
          <p:nvPr>
            <p:ph idx="1"/>
          </p:nvPr>
        </p:nvSpPr>
        <p:spPr>
          <a:xfrm>
            <a:off x="395536" y="1268760"/>
            <a:ext cx="8493449" cy="4968552"/>
          </a:xfrm>
        </p:spPr>
        <p:txBody>
          <a:bodyPr>
            <a:normAutofit/>
          </a:bodyPr>
          <a:lstStyle/>
          <a:p>
            <a:pPr eaLnBrk="1" hangingPunct="1">
              <a:lnSpc>
                <a:spcPct val="90000"/>
              </a:lnSpc>
            </a:pPr>
            <a:r>
              <a:rPr lang="zh-CN" altLang="en-US" dirty="0">
                <a:ea typeface="宋体" charset="-122"/>
              </a:rPr>
              <a:t>二进制位： </a:t>
            </a:r>
            <a:r>
              <a:rPr lang="en-US" altLang="zh-CN" dirty="0">
                <a:ea typeface="宋体" charset="-122"/>
              </a:rPr>
              <a:t>0 </a:t>
            </a:r>
            <a:r>
              <a:rPr lang="zh-CN" altLang="en-US" dirty="0">
                <a:ea typeface="宋体" charset="-122"/>
              </a:rPr>
              <a:t>或者</a:t>
            </a:r>
            <a:r>
              <a:rPr lang="en-US" altLang="zh-CN" dirty="0">
                <a:ea typeface="宋体" charset="-122"/>
              </a:rPr>
              <a:t> 1</a:t>
            </a:r>
          </a:p>
          <a:p>
            <a:pPr lvl="1" eaLnBrk="1" hangingPunct="1">
              <a:lnSpc>
                <a:spcPct val="90000"/>
              </a:lnSpc>
            </a:pPr>
            <a:r>
              <a:rPr lang="en-US" altLang="zh-CN" dirty="0">
                <a:ea typeface="宋体" charset="-122"/>
              </a:rPr>
              <a:t>binary digit (bit)</a:t>
            </a:r>
          </a:p>
          <a:p>
            <a:pPr eaLnBrk="1" hangingPunct="1">
              <a:lnSpc>
                <a:spcPct val="90000"/>
              </a:lnSpc>
            </a:pPr>
            <a:r>
              <a:rPr lang="en-US" altLang="zh-CN" dirty="0">
                <a:ea typeface="宋体" charset="-122"/>
              </a:rPr>
              <a:t>8 </a:t>
            </a:r>
            <a:r>
              <a:rPr lang="zh-CN" altLang="en-US" dirty="0">
                <a:ea typeface="宋体" charset="-122"/>
              </a:rPr>
              <a:t>位</a:t>
            </a:r>
            <a:r>
              <a:rPr lang="en-US" altLang="zh-CN" dirty="0">
                <a:ea typeface="宋体" charset="-122"/>
              </a:rPr>
              <a:t> = 1 Byte (1 octet)</a:t>
            </a:r>
          </a:p>
          <a:p>
            <a:pPr>
              <a:lnSpc>
                <a:spcPct val="90000"/>
              </a:lnSpc>
            </a:pPr>
            <a:r>
              <a:rPr lang="zh-CN" altLang="en-US" dirty="0">
                <a:ea typeface="宋体" charset="-122"/>
              </a:rPr>
              <a:t>数字以</a:t>
            </a:r>
            <a:r>
              <a:rPr lang="en-US" altLang="zh-CN" dirty="0">
                <a:ea typeface="宋体" charset="-122"/>
              </a:rPr>
              <a:t>2</a:t>
            </a:r>
            <a:r>
              <a:rPr lang="en-US" altLang="zh-CN" baseline="30000" dirty="0">
                <a:ea typeface="宋体" charset="-122"/>
              </a:rPr>
              <a:t>10</a:t>
            </a:r>
            <a:r>
              <a:rPr lang="en-US" altLang="zh-CN" dirty="0">
                <a:ea typeface="宋体" charset="-122"/>
              </a:rPr>
              <a:t> </a:t>
            </a:r>
            <a:r>
              <a:rPr lang="zh-CN" altLang="en-US" dirty="0">
                <a:ea typeface="宋体" charset="-122"/>
              </a:rPr>
              <a:t>进行计数</a:t>
            </a:r>
            <a:endParaRPr lang="en-US" altLang="zh-CN" dirty="0">
              <a:ea typeface="宋体" charset="-122"/>
            </a:endParaRPr>
          </a:p>
          <a:p>
            <a:pPr lvl="1">
              <a:lnSpc>
                <a:spcPct val="90000"/>
              </a:lnSpc>
            </a:pPr>
            <a:r>
              <a:rPr lang="en-US" altLang="zh-CN" dirty="0">
                <a:ea typeface="宋体" charset="-122"/>
              </a:rPr>
              <a:t>Kilo-Byte, Mega-Byte, Giga-Byte, </a:t>
            </a:r>
            <a:r>
              <a:rPr lang="en-US" altLang="zh-CN" dirty="0" err="1">
                <a:ea typeface="宋体" charset="-122"/>
              </a:rPr>
              <a:t>Tera</a:t>
            </a:r>
            <a:r>
              <a:rPr lang="en-US" altLang="zh-CN" dirty="0">
                <a:ea typeface="宋体" charset="-122"/>
              </a:rPr>
              <a:t>-Byte, </a:t>
            </a:r>
            <a:r>
              <a:rPr lang="en-US" altLang="zh-CN" dirty="0" err="1">
                <a:ea typeface="宋体" charset="-122"/>
              </a:rPr>
              <a:t>Peta</a:t>
            </a:r>
            <a:r>
              <a:rPr lang="en-US" altLang="zh-CN" dirty="0">
                <a:ea typeface="宋体" charset="-122"/>
              </a:rPr>
              <a:t>-Byte</a:t>
            </a:r>
          </a:p>
          <a:p>
            <a:pPr marL="342900" lvl="1" indent="-342900">
              <a:lnSpc>
                <a:spcPct val="90000"/>
              </a:lnSpc>
              <a:buFont typeface="Arial" pitchFamily="34" charset="0"/>
              <a:buChar char="•"/>
            </a:pPr>
            <a:r>
              <a:rPr lang="zh-CN" altLang="en-US" sz="3200" b="1" dirty="0">
                <a:solidFill>
                  <a:srgbClr val="0000FF"/>
                </a:solidFill>
                <a:ea typeface="宋体" charset="-122"/>
              </a:rPr>
              <a:t>对</a:t>
            </a:r>
            <a:r>
              <a:rPr lang="en-US" altLang="zh-CN" sz="3200" b="1" dirty="0">
                <a:solidFill>
                  <a:srgbClr val="0000FF"/>
                </a:solidFill>
                <a:ea typeface="宋体" charset="-122"/>
              </a:rPr>
              <a:t>N</a:t>
            </a:r>
            <a:r>
              <a:rPr lang="zh-CN" altLang="en-US" sz="3200" b="1" dirty="0">
                <a:solidFill>
                  <a:srgbClr val="0000FF"/>
                </a:solidFill>
                <a:ea typeface="宋体" charset="-122"/>
              </a:rPr>
              <a:t>位的操作系统（</a:t>
            </a:r>
            <a:r>
              <a:rPr lang="en-US" altLang="zh-CN" sz="3200" b="1" dirty="0">
                <a:solidFill>
                  <a:srgbClr val="0000FF"/>
                </a:solidFill>
                <a:ea typeface="宋体" charset="-122"/>
              </a:rPr>
              <a:t>N = 32, 64)</a:t>
            </a:r>
          </a:p>
          <a:p>
            <a:pPr lvl="1">
              <a:lnSpc>
                <a:spcPct val="90000"/>
              </a:lnSpc>
            </a:pPr>
            <a:r>
              <a:rPr lang="zh-CN" altLang="en-US" dirty="0">
                <a:ea typeface="宋体" charset="-122"/>
              </a:rPr>
              <a:t>寻址空间为</a:t>
            </a:r>
            <a:r>
              <a:rPr lang="en-US" altLang="zh-CN" dirty="0">
                <a:ea typeface="宋体" charset="-122"/>
              </a:rPr>
              <a:t>2</a:t>
            </a:r>
            <a:r>
              <a:rPr lang="en-US" altLang="zh-CN" baseline="30000" dirty="0">
                <a:ea typeface="宋体" charset="-122"/>
              </a:rPr>
              <a:t>N</a:t>
            </a:r>
          </a:p>
          <a:p>
            <a:pPr lvl="1"/>
            <a:r>
              <a:rPr lang="en-US" altLang="zh-CN" dirty="0">
                <a:ea typeface="宋体" charset="-122"/>
              </a:rPr>
              <a:t>char:1</a:t>
            </a:r>
            <a:r>
              <a:rPr lang="zh-CN" altLang="en-US" dirty="0">
                <a:ea typeface="宋体" charset="-122"/>
              </a:rPr>
              <a:t>字节；</a:t>
            </a:r>
            <a:r>
              <a:rPr lang="en-US" altLang="zh-CN" dirty="0">
                <a:ea typeface="宋体" charset="-122"/>
              </a:rPr>
              <a:t>int:4</a:t>
            </a:r>
            <a:r>
              <a:rPr lang="zh-CN" altLang="en-US" dirty="0">
                <a:ea typeface="宋体" charset="-122"/>
              </a:rPr>
              <a:t>字节</a:t>
            </a:r>
            <a:r>
              <a:rPr lang="en-US" altLang="zh-CN" dirty="0">
                <a:ea typeface="宋体" charset="-122"/>
              </a:rPr>
              <a:t>;</a:t>
            </a:r>
          </a:p>
          <a:p>
            <a:pPr lvl="1"/>
            <a:r>
              <a:rPr lang="en-US" altLang="zh-CN" dirty="0">
                <a:ea typeface="宋体" charset="-122"/>
              </a:rPr>
              <a:t>float:4</a:t>
            </a:r>
            <a:r>
              <a:rPr lang="zh-CN" altLang="en-US" dirty="0">
                <a:ea typeface="宋体" charset="-122"/>
              </a:rPr>
              <a:t>字节；</a:t>
            </a:r>
            <a:r>
              <a:rPr lang="en-US" altLang="zh-CN" dirty="0">
                <a:ea typeface="宋体" charset="-122"/>
              </a:rPr>
              <a:t>double:8</a:t>
            </a:r>
            <a:r>
              <a:rPr lang="zh-CN" altLang="en-US" dirty="0">
                <a:ea typeface="宋体" charset="-122"/>
              </a:rPr>
              <a:t>字节；</a:t>
            </a:r>
          </a:p>
          <a:p>
            <a:pPr lvl="1">
              <a:lnSpc>
                <a:spcPct val="90000"/>
              </a:lnSpc>
            </a:pPr>
            <a:endParaRPr lang="en-US" altLang="zh-CN" baseline="30000" dirty="0">
              <a:ea typeface="宋体" charset="-122"/>
            </a:endParaRPr>
          </a:p>
        </p:txBody>
      </p:sp>
      <p:sp>
        <p:nvSpPr>
          <p:cNvPr id="193542" name="Rectangle 6"/>
          <p:cNvSpPr>
            <a:spLocks noGrp="1" noChangeArrowheads="1"/>
          </p:cNvSpPr>
          <p:nvPr>
            <p:ph type="title"/>
          </p:nvPr>
        </p:nvSpPr>
        <p:spPr/>
        <p:txBody>
          <a:bodyPr>
            <a:normAutofit fontScale="90000"/>
          </a:bodyPr>
          <a:lstStyle/>
          <a:p>
            <a:pPr eaLnBrk="1" hangingPunct="1"/>
            <a:r>
              <a:rPr lang="en-US" altLang="zh-CN" dirty="0"/>
              <a:t>2.2 </a:t>
            </a:r>
            <a:r>
              <a:rPr lang="zh-CN" altLang="en-US" dirty="0"/>
              <a:t>数字</a:t>
            </a:r>
            <a:endParaRPr lang="fr-FR" dirty="0"/>
          </a:p>
        </p:txBody>
      </p:sp>
      <p:sp>
        <p:nvSpPr>
          <p:cNvPr id="4" name="灯片编号占位符 3"/>
          <p:cNvSpPr>
            <a:spLocks noGrp="1"/>
          </p:cNvSpPr>
          <p:nvPr>
            <p:ph type="sldNum" sz="quarter" idx="12"/>
          </p:nvPr>
        </p:nvSpPr>
        <p:spPr/>
        <p:txBody>
          <a:bodyPr/>
          <a:lstStyle/>
          <a:p>
            <a:fld id="{F64BA984-46A0-4F46-990E-EC790E6934B4}" type="slidenum">
              <a:rPr lang="zh-CN" altLang="en-US" smtClean="0"/>
              <a:t>6</a:t>
            </a:fld>
            <a:endParaRPr lang="zh-CN" altLang="en-US"/>
          </a:p>
        </p:txBody>
      </p:sp>
    </p:spTree>
    <p:extLst>
      <p:ext uri="{BB962C8B-B14F-4D97-AF65-F5344CB8AC3E}">
        <p14:creationId xmlns:p14="http://schemas.microsoft.com/office/powerpoint/2010/main" val="28430952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fade">
                                      <p:cBhvr>
                                        <p:cTn id="7" dur="500"/>
                                        <p:tgtEl>
                                          <p:spTgt spid="1946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461">
                                            <p:txEl>
                                              <p:pRg st="1" end="1"/>
                                            </p:txEl>
                                          </p:spTgt>
                                        </p:tgtEl>
                                        <p:attrNameLst>
                                          <p:attrName>style.visibility</p:attrName>
                                        </p:attrNameLst>
                                      </p:cBhvr>
                                      <p:to>
                                        <p:strVal val="visible"/>
                                      </p:to>
                                    </p:set>
                                    <p:animEffect transition="in" filter="fade">
                                      <p:cBhvr>
                                        <p:cTn id="10" dur="500"/>
                                        <p:tgtEl>
                                          <p:spTgt spid="1946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461">
                                            <p:txEl>
                                              <p:pRg st="2" end="2"/>
                                            </p:txEl>
                                          </p:spTgt>
                                        </p:tgtEl>
                                        <p:attrNameLst>
                                          <p:attrName>style.visibility</p:attrName>
                                        </p:attrNameLst>
                                      </p:cBhvr>
                                      <p:to>
                                        <p:strVal val="visible"/>
                                      </p:to>
                                    </p:set>
                                    <p:animEffect transition="in" filter="fade">
                                      <p:cBhvr>
                                        <p:cTn id="15" dur="500"/>
                                        <p:tgtEl>
                                          <p:spTgt spid="1946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461">
                                            <p:txEl>
                                              <p:pRg st="3" end="3"/>
                                            </p:txEl>
                                          </p:spTgt>
                                        </p:tgtEl>
                                        <p:attrNameLst>
                                          <p:attrName>style.visibility</p:attrName>
                                        </p:attrNameLst>
                                      </p:cBhvr>
                                      <p:to>
                                        <p:strVal val="visible"/>
                                      </p:to>
                                    </p:set>
                                    <p:animEffect transition="in" filter="fade">
                                      <p:cBhvr>
                                        <p:cTn id="20" dur="500"/>
                                        <p:tgtEl>
                                          <p:spTgt spid="19461">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461">
                                            <p:txEl>
                                              <p:pRg st="4" end="4"/>
                                            </p:txEl>
                                          </p:spTgt>
                                        </p:tgtEl>
                                        <p:attrNameLst>
                                          <p:attrName>style.visibility</p:attrName>
                                        </p:attrNameLst>
                                      </p:cBhvr>
                                      <p:to>
                                        <p:strVal val="visible"/>
                                      </p:to>
                                    </p:set>
                                    <p:animEffect transition="in" filter="fade">
                                      <p:cBhvr>
                                        <p:cTn id="23" dur="500"/>
                                        <p:tgtEl>
                                          <p:spTgt spid="1946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461">
                                            <p:txEl>
                                              <p:pRg st="5" end="5"/>
                                            </p:txEl>
                                          </p:spTgt>
                                        </p:tgtEl>
                                        <p:attrNameLst>
                                          <p:attrName>style.visibility</p:attrName>
                                        </p:attrNameLst>
                                      </p:cBhvr>
                                      <p:to>
                                        <p:strVal val="visible"/>
                                      </p:to>
                                    </p:set>
                                    <p:animEffect transition="in" filter="fade">
                                      <p:cBhvr>
                                        <p:cTn id="28" dur="500"/>
                                        <p:tgtEl>
                                          <p:spTgt spid="19461">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461">
                                            <p:txEl>
                                              <p:pRg st="6" end="6"/>
                                            </p:txEl>
                                          </p:spTgt>
                                        </p:tgtEl>
                                        <p:attrNameLst>
                                          <p:attrName>style.visibility</p:attrName>
                                        </p:attrNameLst>
                                      </p:cBhvr>
                                      <p:to>
                                        <p:strVal val="visible"/>
                                      </p:to>
                                    </p:set>
                                    <p:animEffect transition="in" filter="fade">
                                      <p:cBhvr>
                                        <p:cTn id="31" dur="500"/>
                                        <p:tgtEl>
                                          <p:spTgt spid="19461">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461">
                                            <p:txEl>
                                              <p:pRg st="7" end="7"/>
                                            </p:txEl>
                                          </p:spTgt>
                                        </p:tgtEl>
                                        <p:attrNameLst>
                                          <p:attrName>style.visibility</p:attrName>
                                        </p:attrNameLst>
                                      </p:cBhvr>
                                      <p:to>
                                        <p:strVal val="visible"/>
                                      </p:to>
                                    </p:set>
                                    <p:animEffect transition="in" filter="fade">
                                      <p:cBhvr>
                                        <p:cTn id="34" dur="500"/>
                                        <p:tgtEl>
                                          <p:spTgt spid="19461">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461">
                                            <p:txEl>
                                              <p:pRg st="8" end="8"/>
                                            </p:txEl>
                                          </p:spTgt>
                                        </p:tgtEl>
                                        <p:attrNameLst>
                                          <p:attrName>style.visibility</p:attrName>
                                        </p:attrNameLst>
                                      </p:cBhvr>
                                      <p:to>
                                        <p:strVal val="visible"/>
                                      </p:to>
                                    </p:set>
                                    <p:animEffect transition="in" filter="fade">
                                      <p:cBhvr>
                                        <p:cTn id="37" dur="500"/>
                                        <p:tgtEl>
                                          <p:spTgt spid="1946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rrowheads="1"/>
          </p:cNvSpPr>
          <p:nvPr>
            <p:ph type="title"/>
          </p:nvPr>
        </p:nvSpPr>
        <p:spPr/>
        <p:txBody>
          <a:bodyPr>
            <a:normAutofit fontScale="90000"/>
          </a:bodyPr>
          <a:lstStyle/>
          <a:p>
            <a:r>
              <a:rPr lang="en-US" altLang="zh-TW" dirty="0">
                <a:latin typeface="宋体" pitchFamily="2" charset="-122"/>
                <a:ea typeface="宋体" pitchFamily="2" charset="-122"/>
              </a:rPr>
              <a:t>2.3 </a:t>
            </a:r>
            <a:r>
              <a:rPr lang="zh-CN" altLang="en-US" dirty="0">
                <a:latin typeface="宋体" pitchFamily="2" charset="-122"/>
                <a:ea typeface="宋体" pitchFamily="2" charset="-122"/>
              </a:rPr>
              <a:t>文本 简介</a:t>
            </a:r>
            <a:endParaRPr lang="zh-TW" altLang="en-US" dirty="0">
              <a:latin typeface="宋体" pitchFamily="2" charset="-122"/>
              <a:ea typeface="宋体" pitchFamily="2" charset="-122"/>
            </a:endParaRPr>
          </a:p>
        </p:txBody>
      </p:sp>
      <p:sp>
        <p:nvSpPr>
          <p:cNvPr id="23555" name="Rectangle 3"/>
          <p:cNvSpPr>
            <a:spLocks noGrp="1" noChangeArrowheads="1"/>
          </p:cNvSpPr>
          <p:nvPr>
            <p:ph idx="4294967295"/>
          </p:nvPr>
        </p:nvSpPr>
        <p:spPr>
          <a:xfrm>
            <a:off x="323528" y="1196753"/>
            <a:ext cx="7906072" cy="2592288"/>
          </a:xfrm>
        </p:spPr>
        <p:txBody>
          <a:bodyPr>
            <a:normAutofit/>
          </a:bodyPr>
          <a:lstStyle/>
          <a:p>
            <a:r>
              <a:rPr lang="zh-CN" altLang="en-US" sz="2800" dirty="0">
                <a:effectLst/>
              </a:rPr>
              <a:t>人机交互早期出现的媒体</a:t>
            </a:r>
            <a:endParaRPr lang="zh-TW" altLang="en-US" sz="2800" dirty="0">
              <a:effectLst/>
            </a:endParaRPr>
          </a:p>
          <a:p>
            <a:r>
              <a:rPr lang="zh-CN" altLang="en-US" sz="2800" dirty="0">
                <a:effectLst/>
              </a:rPr>
              <a:t>存储空间小，易与处理，可呈现的内容精确等特点</a:t>
            </a:r>
            <a:endParaRPr lang="zh-TW" altLang="en-US" sz="2800" dirty="0"/>
          </a:p>
          <a:p>
            <a:r>
              <a:rPr lang="zh-CN" altLang="en-US" sz="2800" dirty="0"/>
              <a:t>吸引力比较小，单纯的文字很难吸引人的注意力</a:t>
            </a:r>
            <a:endParaRPr lang="en-US" altLang="zh-CN" sz="2800" dirty="0"/>
          </a:p>
          <a:p>
            <a:endParaRPr lang="en-US" altLang="zh-TW" sz="2800" dirty="0"/>
          </a:p>
          <a:p>
            <a:endParaRPr lang="zh-TW" altLang="en-US" sz="2800" dirty="0"/>
          </a:p>
        </p:txBody>
      </p:sp>
      <p:grpSp>
        <p:nvGrpSpPr>
          <p:cNvPr id="3" name="组合 2"/>
          <p:cNvGrpSpPr/>
          <p:nvPr/>
        </p:nvGrpSpPr>
        <p:grpSpPr>
          <a:xfrm>
            <a:off x="539552" y="3815109"/>
            <a:ext cx="4032448" cy="2448294"/>
            <a:chOff x="539552" y="3815109"/>
            <a:chExt cx="4032448" cy="2448294"/>
          </a:xfrm>
        </p:grpSpPr>
        <p:pic>
          <p:nvPicPr>
            <p:cNvPr id="9218" name="Picture 2" descr="http://upload.wikimedia.org/wikipedia/commons/thumb/7/78/Astrotype.jpg/640px-Astrotyp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162" y="3815109"/>
              <a:ext cx="3048000" cy="20621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39552" y="5894071"/>
              <a:ext cx="4032448" cy="369332"/>
            </a:xfrm>
            <a:prstGeom prst="rect">
              <a:avLst/>
            </a:prstGeom>
            <a:noFill/>
          </p:spPr>
          <p:txBody>
            <a:bodyPr wrap="square" rtlCol="0">
              <a:spAutoFit/>
            </a:bodyPr>
            <a:lstStyle/>
            <a:p>
              <a:r>
                <a:rPr lang="zh-CN" altLang="en-US" u="sng" dirty="0">
                  <a:hlinkClick r:id="rId4" tooltip="Astrotype (page does not exist)"/>
                </a:rPr>
                <a:t>文字处理器  </a:t>
              </a:r>
              <a:r>
                <a:rPr lang="en-US" altLang="zh-CN" u="sng" dirty="0" err="1">
                  <a:hlinkClick r:id="rId4" tooltip="Astrotype (page does not exist)"/>
                </a:rPr>
                <a:t>Astrotype</a:t>
              </a:r>
              <a:r>
                <a:rPr lang="en-US" altLang="zh-CN" u="sng" dirty="0"/>
                <a:t> </a:t>
              </a:r>
              <a:r>
                <a:rPr lang="en-US" altLang="zh-CN" dirty="0"/>
                <a:t>1960’</a:t>
              </a:r>
              <a:endParaRPr lang="zh-CN" altLang="en-US" dirty="0"/>
            </a:p>
          </p:txBody>
        </p:sp>
      </p:grpSp>
      <p:pic>
        <p:nvPicPr>
          <p:cNvPr id="9220" name="Picture 4" descr="File:Office Products output samples 1980-81.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4211960" y="3756810"/>
            <a:ext cx="4124325" cy="2305128"/>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4"/>
          <p:cNvSpPr>
            <a:spLocks noGrp="1"/>
          </p:cNvSpPr>
          <p:nvPr>
            <p:ph type="sldNum" sz="quarter" idx="12"/>
          </p:nvPr>
        </p:nvSpPr>
        <p:spPr/>
        <p:txBody>
          <a:bodyPr/>
          <a:lstStyle/>
          <a:p>
            <a:fld id="{F64BA984-46A0-4F46-990E-EC790E6934B4}" type="slidenum">
              <a:rPr lang="zh-CN" altLang="en-US" smtClean="0"/>
              <a:t>7</a:t>
            </a:fld>
            <a:endParaRPr lang="zh-CN" altLang="en-US"/>
          </a:p>
        </p:txBody>
      </p:sp>
    </p:spTree>
    <p:extLst>
      <p:ext uri="{BB962C8B-B14F-4D97-AF65-F5344CB8AC3E}">
        <p14:creationId xmlns:p14="http://schemas.microsoft.com/office/powerpoint/2010/main" val="70293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220"/>
                                        </p:tgtEl>
                                        <p:attrNameLst>
                                          <p:attrName>style.visibility</p:attrName>
                                        </p:attrNameLst>
                                      </p:cBhvr>
                                      <p:to>
                                        <p:strVal val="visible"/>
                                      </p:to>
                                    </p:set>
                                    <p:anim calcmode="lin" valueType="num">
                                      <p:cBhvr additive="base">
                                        <p:cTn id="25" dur="500" fill="hold"/>
                                        <p:tgtEl>
                                          <p:spTgt spid="9220"/>
                                        </p:tgtEl>
                                        <p:attrNameLst>
                                          <p:attrName>ppt_x</p:attrName>
                                        </p:attrNameLst>
                                      </p:cBhvr>
                                      <p:tavLst>
                                        <p:tav tm="0">
                                          <p:val>
                                            <p:strVal val="#ppt_x"/>
                                          </p:val>
                                        </p:tav>
                                        <p:tav tm="100000">
                                          <p:val>
                                            <p:strVal val="#ppt_x"/>
                                          </p:val>
                                        </p:tav>
                                      </p:tavLst>
                                    </p:anim>
                                    <p:anim calcmode="lin" valueType="num">
                                      <p:cBhvr additive="base">
                                        <p:cTn id="26"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rrowheads="1"/>
          </p:cNvSpPr>
          <p:nvPr>
            <p:ph type="title"/>
          </p:nvPr>
        </p:nvSpPr>
        <p:spPr/>
        <p:txBody>
          <a:bodyPr>
            <a:normAutofit fontScale="90000"/>
          </a:bodyPr>
          <a:lstStyle/>
          <a:p>
            <a:r>
              <a:rPr lang="en-US" altLang="zh-TW" dirty="0">
                <a:latin typeface="宋体" pitchFamily="2" charset="-122"/>
                <a:ea typeface="宋体" pitchFamily="2" charset="-122"/>
              </a:rPr>
              <a:t>2.3 </a:t>
            </a:r>
            <a:r>
              <a:rPr lang="zh-CN" altLang="en-US" dirty="0">
                <a:latin typeface="宋体" pitchFamily="2" charset="-122"/>
                <a:ea typeface="宋体" pitchFamily="2" charset="-122"/>
              </a:rPr>
              <a:t>文本 简介</a:t>
            </a:r>
            <a:endParaRPr lang="zh-TW" altLang="en-US" dirty="0">
              <a:latin typeface="宋体" pitchFamily="2" charset="-122"/>
              <a:ea typeface="宋体" pitchFamily="2" charset="-122"/>
            </a:endParaRPr>
          </a:p>
        </p:txBody>
      </p:sp>
      <p:sp>
        <p:nvSpPr>
          <p:cNvPr id="23555" name="Rectangle 3"/>
          <p:cNvSpPr>
            <a:spLocks noGrp="1" noChangeArrowheads="1"/>
          </p:cNvSpPr>
          <p:nvPr>
            <p:ph idx="4294967295"/>
          </p:nvPr>
        </p:nvSpPr>
        <p:spPr>
          <a:xfrm>
            <a:off x="323528" y="1196753"/>
            <a:ext cx="7906072" cy="2592288"/>
          </a:xfrm>
        </p:spPr>
        <p:txBody>
          <a:bodyPr>
            <a:normAutofit/>
          </a:bodyPr>
          <a:lstStyle/>
          <a:p>
            <a:r>
              <a:rPr lang="zh-CN" altLang="en-US" sz="2800" dirty="0">
                <a:effectLst/>
              </a:rPr>
              <a:t>人机交互早期出现的媒体</a:t>
            </a:r>
            <a:endParaRPr lang="zh-TW" altLang="en-US" sz="2800" dirty="0">
              <a:effectLst/>
            </a:endParaRPr>
          </a:p>
          <a:p>
            <a:r>
              <a:rPr lang="zh-CN" altLang="en-US" sz="2800" dirty="0">
                <a:effectLst/>
              </a:rPr>
              <a:t>存储空间小，易与处理，可呈现的内容精确等特点</a:t>
            </a:r>
            <a:endParaRPr lang="zh-TW" altLang="en-US" sz="2800" dirty="0"/>
          </a:p>
          <a:p>
            <a:r>
              <a:rPr lang="zh-CN" altLang="en-US" sz="2800" dirty="0"/>
              <a:t>吸引力比较小，单纯的文字很难吸引人的注意力</a:t>
            </a:r>
            <a:endParaRPr lang="en-US" altLang="zh-CN" sz="2800" dirty="0"/>
          </a:p>
          <a:p>
            <a:endParaRPr lang="en-US" altLang="zh-TW" sz="2800" dirty="0"/>
          </a:p>
          <a:p>
            <a:endParaRPr lang="zh-TW" altLang="en-US" sz="2800" dirty="0"/>
          </a:p>
        </p:txBody>
      </p:sp>
      <p:sp>
        <p:nvSpPr>
          <p:cNvPr id="5" name="灯片编号占位符 4"/>
          <p:cNvSpPr>
            <a:spLocks noGrp="1"/>
          </p:cNvSpPr>
          <p:nvPr>
            <p:ph type="sldNum" sz="quarter" idx="12"/>
          </p:nvPr>
        </p:nvSpPr>
        <p:spPr/>
        <p:txBody>
          <a:bodyPr/>
          <a:lstStyle/>
          <a:p>
            <a:fld id="{F64BA984-46A0-4F46-990E-EC790E6934B4}" type="slidenum">
              <a:rPr lang="zh-CN" altLang="en-US" smtClean="0"/>
              <a:t>8</a:t>
            </a:fld>
            <a:endParaRPr lang="zh-CN" altLang="en-US"/>
          </a:p>
        </p:txBody>
      </p:sp>
      <p:pic>
        <p:nvPicPr>
          <p:cNvPr id="6" name="图片 5">
            <a:extLst>
              <a:ext uri="{FF2B5EF4-FFF2-40B4-BE49-F238E27FC236}">
                <a16:creationId xmlns:a16="http://schemas.microsoft.com/office/drawing/2014/main" id="{D6CB22E2-DC93-425C-A776-CE059C00E222}"/>
              </a:ext>
            </a:extLst>
          </p:cNvPr>
          <p:cNvPicPr>
            <a:picLocks noChangeAspect="1"/>
          </p:cNvPicPr>
          <p:nvPr/>
        </p:nvPicPr>
        <p:blipFill>
          <a:blip r:embed="rId2"/>
          <a:stretch>
            <a:fillRect/>
          </a:stretch>
        </p:blipFill>
        <p:spPr>
          <a:xfrm>
            <a:off x="4135016" y="3964459"/>
            <a:ext cx="4572000" cy="2097434"/>
          </a:xfrm>
          <a:prstGeom prst="rect">
            <a:avLst/>
          </a:prstGeom>
        </p:spPr>
      </p:pic>
      <p:pic>
        <p:nvPicPr>
          <p:cNvPr id="7" name="图片 6">
            <a:extLst>
              <a:ext uri="{FF2B5EF4-FFF2-40B4-BE49-F238E27FC236}">
                <a16:creationId xmlns:a16="http://schemas.microsoft.com/office/drawing/2014/main" id="{967DC27F-C993-41C0-9A20-9AA6B17D2EBE}"/>
              </a:ext>
            </a:extLst>
          </p:cNvPr>
          <p:cNvPicPr>
            <a:picLocks noChangeAspect="1"/>
          </p:cNvPicPr>
          <p:nvPr/>
        </p:nvPicPr>
        <p:blipFill>
          <a:blip r:embed="rId3"/>
          <a:stretch>
            <a:fillRect/>
          </a:stretch>
        </p:blipFill>
        <p:spPr>
          <a:xfrm>
            <a:off x="323528" y="3933056"/>
            <a:ext cx="3560821" cy="2338222"/>
          </a:xfrm>
          <a:prstGeom prst="rect">
            <a:avLst/>
          </a:prstGeom>
        </p:spPr>
      </p:pic>
    </p:spTree>
    <p:extLst>
      <p:ext uri="{BB962C8B-B14F-4D97-AF65-F5344CB8AC3E}">
        <p14:creationId xmlns:p14="http://schemas.microsoft.com/office/powerpoint/2010/main" val="273159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2.3 </a:t>
            </a:r>
            <a:r>
              <a:rPr lang="zh-CN" altLang="en-US" dirty="0"/>
              <a:t>文本  编码</a:t>
            </a:r>
          </a:p>
        </p:txBody>
      </p:sp>
      <p:sp>
        <p:nvSpPr>
          <p:cNvPr id="4" name="Rectangle 3"/>
          <p:cNvSpPr txBox="1">
            <a:spLocks noChangeArrowheads="1"/>
          </p:cNvSpPr>
          <p:nvPr/>
        </p:nvSpPr>
        <p:spPr>
          <a:xfrm>
            <a:off x="323528" y="1196752"/>
            <a:ext cx="8352928" cy="14401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800" dirty="0"/>
              <a:t>ASCII</a:t>
            </a:r>
            <a:r>
              <a:rPr lang="zh-CN" altLang="en-US" sz="2800" dirty="0"/>
              <a:t>码</a:t>
            </a:r>
            <a:endParaRPr lang="en-US" altLang="zh-CN" sz="2800" dirty="0"/>
          </a:p>
          <a:p>
            <a:pPr lvl="1"/>
            <a:r>
              <a:rPr lang="zh-CN" altLang="en-US" sz="2400" b="0" dirty="0"/>
              <a:t>上个世纪</a:t>
            </a:r>
            <a:r>
              <a:rPr lang="en-US" altLang="zh-CN" sz="2400" b="0" dirty="0"/>
              <a:t>60</a:t>
            </a:r>
            <a:r>
              <a:rPr lang="zh-CN" altLang="en-US" sz="2400" b="0" dirty="0"/>
              <a:t>年代，美国制定了一套字符编码，对</a:t>
            </a:r>
            <a:r>
              <a:rPr lang="zh-CN" altLang="en-US" sz="2400" b="0" dirty="0">
                <a:solidFill>
                  <a:srgbClr val="0000FF"/>
                </a:solidFill>
              </a:rPr>
              <a:t>英语字符</a:t>
            </a:r>
            <a:r>
              <a:rPr lang="zh-CN" altLang="en-US" sz="2400" b="0" dirty="0"/>
              <a:t>与</a:t>
            </a:r>
            <a:r>
              <a:rPr lang="en-US" altLang="zh-CN" sz="2400" b="0" dirty="0">
                <a:solidFill>
                  <a:srgbClr val="0000FF"/>
                </a:solidFill>
              </a:rPr>
              <a:t>8</a:t>
            </a:r>
            <a:r>
              <a:rPr lang="zh-CN" altLang="en-US" sz="2400" b="0" dirty="0">
                <a:solidFill>
                  <a:srgbClr val="0000FF"/>
                </a:solidFill>
              </a:rPr>
              <a:t>位二进制位</a:t>
            </a:r>
            <a:r>
              <a:rPr lang="zh-CN" altLang="en-US" sz="2400" b="0" dirty="0"/>
              <a:t>之间的关系，做了统一规定。</a:t>
            </a:r>
            <a:endParaRPr lang="en-US" altLang="zh-CN" sz="2400" b="0" dirty="0"/>
          </a:p>
          <a:p>
            <a:endParaRPr lang="zh-TW" altLang="en-US" sz="2800" dirty="0"/>
          </a:p>
        </p:txBody>
      </p:sp>
      <p:pic>
        <p:nvPicPr>
          <p:cNvPr id="56322" name="Picture 2" descr="http://www.01happy.com/wp-content/uploads/2012/10/ascii%E7%A0%81%E8%A1%A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2636912"/>
            <a:ext cx="4896544" cy="3655640"/>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4"/>
          <p:cNvSpPr>
            <a:spLocks noGrp="1"/>
          </p:cNvSpPr>
          <p:nvPr>
            <p:ph type="sldNum" sz="quarter" idx="12"/>
          </p:nvPr>
        </p:nvSpPr>
        <p:spPr/>
        <p:txBody>
          <a:bodyPr/>
          <a:lstStyle/>
          <a:p>
            <a:fld id="{F64BA984-46A0-4F46-990E-EC790E6934B4}" type="slidenum">
              <a:rPr lang="zh-CN" altLang="en-US" smtClean="0"/>
              <a:t>9</a:t>
            </a:fld>
            <a:endParaRPr lang="zh-CN" altLang="en-US"/>
          </a:p>
        </p:txBody>
      </p:sp>
    </p:spTree>
    <p:extLst>
      <p:ext uri="{BB962C8B-B14F-4D97-AF65-F5344CB8AC3E}">
        <p14:creationId xmlns:p14="http://schemas.microsoft.com/office/powerpoint/2010/main" val="366354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322"/>
                                        </p:tgtEl>
                                        <p:attrNameLst>
                                          <p:attrName>style.visibility</p:attrName>
                                        </p:attrNameLst>
                                      </p:cBhvr>
                                      <p:to>
                                        <p:strVal val="visible"/>
                                      </p:to>
                                    </p:set>
                                    <p:animEffect transition="in" filter="fade">
                                      <p:cBhvr>
                                        <p:cTn id="12"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2.3 </a:t>
            </a:r>
            <a:r>
              <a:rPr lang="zh-CN" altLang="en-US" dirty="0"/>
              <a:t>文本编码</a:t>
            </a:r>
          </a:p>
        </p:txBody>
      </p:sp>
      <p:sp>
        <p:nvSpPr>
          <p:cNvPr id="4" name="Rectangle 3"/>
          <p:cNvSpPr txBox="1">
            <a:spLocks noChangeArrowheads="1"/>
          </p:cNvSpPr>
          <p:nvPr/>
        </p:nvSpPr>
        <p:spPr>
          <a:xfrm>
            <a:off x="323528" y="1196752"/>
            <a:ext cx="8352928" cy="14401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zh-CN" altLang="en-US" b="1" dirty="0">
                <a:solidFill>
                  <a:srgbClr val="0000FF"/>
                </a:solidFill>
              </a:rPr>
              <a:t>非</a:t>
            </a:r>
            <a:r>
              <a:rPr lang="en-US" altLang="zh-CN" b="1" dirty="0">
                <a:solidFill>
                  <a:srgbClr val="0000FF"/>
                </a:solidFill>
              </a:rPr>
              <a:t>ASCII</a:t>
            </a:r>
            <a:r>
              <a:rPr lang="zh-CN" altLang="en-US" b="1" dirty="0">
                <a:solidFill>
                  <a:srgbClr val="0000FF"/>
                </a:solidFill>
              </a:rPr>
              <a:t>编码</a:t>
            </a:r>
            <a:endParaRPr lang="en-US" altLang="zh-CN" b="1" dirty="0">
              <a:solidFill>
                <a:srgbClr val="0000FF"/>
              </a:solidFill>
            </a:endParaRPr>
          </a:p>
          <a:p>
            <a:pPr marL="0" lvl="1"/>
            <a:r>
              <a:rPr lang="en-US" altLang="zh-CN" sz="2400" dirty="0"/>
              <a:t>      </a:t>
            </a:r>
            <a:r>
              <a:rPr lang="zh-CN" altLang="en-US" sz="2400" dirty="0"/>
              <a:t>英语之外的语言，字母的数量远远大于</a:t>
            </a:r>
            <a:r>
              <a:rPr lang="en-US" altLang="zh-CN" sz="2400" dirty="0"/>
              <a:t>256</a:t>
            </a:r>
            <a:r>
              <a:rPr lang="zh-CN" altLang="en-US" sz="2400" dirty="0"/>
              <a:t>，因此存在其他的编码方式</a:t>
            </a:r>
            <a:endParaRPr lang="en-US" altLang="zh-CN" sz="2400" dirty="0"/>
          </a:p>
        </p:txBody>
      </p:sp>
      <p:sp>
        <p:nvSpPr>
          <p:cNvPr id="5" name="Rectangle 3"/>
          <p:cNvSpPr txBox="1">
            <a:spLocks noChangeArrowheads="1"/>
          </p:cNvSpPr>
          <p:nvPr/>
        </p:nvSpPr>
        <p:spPr>
          <a:xfrm>
            <a:off x="323528" y="2636913"/>
            <a:ext cx="8352928" cy="187220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altLang="zh-CN" b="1" dirty="0">
                <a:solidFill>
                  <a:srgbClr val="0000FF"/>
                </a:solidFill>
              </a:rPr>
              <a:t>latin-1</a:t>
            </a:r>
            <a:r>
              <a:rPr lang="zh-CN" altLang="en-US" b="1" dirty="0">
                <a:solidFill>
                  <a:srgbClr val="0000FF"/>
                </a:solidFill>
              </a:rPr>
              <a:t>编码</a:t>
            </a:r>
            <a:endParaRPr lang="en-US" altLang="zh-CN" b="1" dirty="0">
              <a:solidFill>
                <a:srgbClr val="0000FF"/>
              </a:solidFill>
            </a:endParaRPr>
          </a:p>
          <a:p>
            <a:pPr lvl="1"/>
            <a:r>
              <a:rPr lang="zh-CN" altLang="en-US" sz="2400" dirty="0"/>
              <a:t>又称</a:t>
            </a:r>
            <a:r>
              <a:rPr lang="en-US" altLang="zh-CN" sz="2400" dirty="0"/>
              <a:t> ISO 8859-1</a:t>
            </a:r>
            <a:r>
              <a:rPr lang="zh-CN" altLang="en-US" sz="2400" b="0" dirty="0"/>
              <a:t>。它以</a:t>
            </a:r>
            <a:r>
              <a:rPr lang="en-US" altLang="zh-CN" sz="2400" b="0" dirty="0">
                <a:hlinkClick r:id="rId3" tooltip="ASCII"/>
              </a:rPr>
              <a:t>ASCII</a:t>
            </a:r>
            <a:r>
              <a:rPr lang="zh-CN" altLang="en-US" sz="2400" b="0" dirty="0"/>
              <a:t>为基础，在空置的</a:t>
            </a:r>
            <a:r>
              <a:rPr lang="en-US" altLang="zh-CN" sz="2400" b="0" dirty="0"/>
              <a:t>0xA0-0xFF</a:t>
            </a:r>
            <a:r>
              <a:rPr lang="zh-CN" altLang="en-US" sz="2400" b="0" dirty="0"/>
              <a:t>的范围内，加入</a:t>
            </a:r>
            <a:r>
              <a:rPr lang="en-US" altLang="zh-CN" sz="2400" b="0" dirty="0"/>
              <a:t>96</a:t>
            </a:r>
            <a:r>
              <a:rPr lang="zh-CN" altLang="en-US" sz="2400" b="0" dirty="0"/>
              <a:t>个</a:t>
            </a:r>
            <a:r>
              <a:rPr lang="zh-CN" altLang="en-US" sz="2400" b="0" dirty="0">
                <a:hlinkClick r:id="rId4" tooltip="字母"/>
              </a:rPr>
              <a:t>字母</a:t>
            </a:r>
            <a:r>
              <a:rPr lang="zh-CN" altLang="en-US" sz="2400" b="0" dirty="0"/>
              <a:t>及</a:t>
            </a:r>
            <a:r>
              <a:rPr lang="zh-CN" altLang="en-US" sz="2400" b="0" dirty="0">
                <a:hlinkClick r:id="rId5" tooltip="符号"/>
              </a:rPr>
              <a:t>符号</a:t>
            </a:r>
            <a:r>
              <a:rPr lang="zh-CN" altLang="en-US" sz="2400" b="0" dirty="0"/>
              <a:t>，藉以供使用</a:t>
            </a:r>
            <a:r>
              <a:rPr lang="zh-CN" altLang="en-US" sz="2400" b="0" dirty="0">
                <a:hlinkClick r:id="rId6" tooltip="附加符号"/>
              </a:rPr>
              <a:t>附加符号</a:t>
            </a:r>
            <a:r>
              <a:rPr lang="zh-CN" altLang="en-US" sz="2400" b="0" dirty="0"/>
              <a:t>的</a:t>
            </a:r>
            <a:r>
              <a:rPr lang="zh-CN" altLang="en-US" sz="2400" b="0" dirty="0">
                <a:hlinkClick r:id="rId7" tooltip="拉丁字母"/>
              </a:rPr>
              <a:t>拉丁字母</a:t>
            </a:r>
            <a:r>
              <a:rPr lang="zh-CN" altLang="en-US" sz="2400" b="0" dirty="0"/>
              <a:t>语言使用。此字符集支持部分于</a:t>
            </a:r>
            <a:r>
              <a:rPr lang="zh-CN" altLang="en-US" sz="2400" b="0" dirty="0">
                <a:hlinkClick r:id="rId8" tooltip="欧洲"/>
              </a:rPr>
              <a:t>欧洲</a:t>
            </a:r>
            <a:r>
              <a:rPr lang="zh-CN" altLang="en-US" sz="2400" b="0" dirty="0"/>
              <a:t>使用的语言</a:t>
            </a:r>
            <a:r>
              <a:rPr lang="zh-CN" altLang="en-US" sz="2400" dirty="0"/>
              <a:t>。</a:t>
            </a:r>
            <a:endParaRPr lang="en-US" altLang="zh-CN" sz="2400" dirty="0"/>
          </a:p>
        </p:txBody>
      </p:sp>
      <p:grpSp>
        <p:nvGrpSpPr>
          <p:cNvPr id="6" name="组合 5"/>
          <p:cNvGrpSpPr/>
          <p:nvPr/>
        </p:nvGrpSpPr>
        <p:grpSpPr>
          <a:xfrm>
            <a:off x="1763688" y="4437112"/>
            <a:ext cx="4015358" cy="1872208"/>
            <a:chOff x="1763688" y="4509120"/>
            <a:chExt cx="4015358" cy="1872208"/>
          </a:xfrm>
        </p:grpSpPr>
        <p:pic>
          <p:nvPicPr>
            <p:cNvPr id="59394" name="Picture 2"/>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1835696" y="4779920"/>
              <a:ext cx="3943350" cy="1601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a:stretch/>
          </p:blipFill>
          <p:spPr bwMode="auto">
            <a:xfrm>
              <a:off x="1763688" y="4509120"/>
              <a:ext cx="3943350" cy="216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 name="灯片编号占位符 7"/>
          <p:cNvSpPr>
            <a:spLocks noGrp="1"/>
          </p:cNvSpPr>
          <p:nvPr>
            <p:ph type="sldNum" sz="quarter" idx="12"/>
          </p:nvPr>
        </p:nvSpPr>
        <p:spPr/>
        <p:txBody>
          <a:bodyPr/>
          <a:lstStyle/>
          <a:p>
            <a:fld id="{F64BA984-46A0-4F46-990E-EC790E6934B4}" type="slidenum">
              <a:rPr lang="zh-CN" altLang="en-US" smtClean="0"/>
              <a:t>10</a:t>
            </a:fld>
            <a:endParaRPr lang="zh-CN" altLang="en-US"/>
          </a:p>
        </p:txBody>
      </p:sp>
    </p:spTree>
    <p:extLst>
      <p:ext uri="{BB962C8B-B14F-4D97-AF65-F5344CB8AC3E}">
        <p14:creationId xmlns:p14="http://schemas.microsoft.com/office/powerpoint/2010/main" val="86044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2.3 </a:t>
            </a:r>
            <a:r>
              <a:rPr lang="zh-CN" altLang="en-US" dirty="0"/>
              <a:t>文本编码</a:t>
            </a:r>
          </a:p>
        </p:txBody>
      </p:sp>
      <p:sp>
        <p:nvSpPr>
          <p:cNvPr id="4" name="Rectangle 3"/>
          <p:cNvSpPr txBox="1">
            <a:spLocks noChangeArrowheads="1"/>
          </p:cNvSpPr>
          <p:nvPr/>
        </p:nvSpPr>
        <p:spPr>
          <a:xfrm>
            <a:off x="323528" y="1196752"/>
            <a:ext cx="8352928" cy="48245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altLang="zh-CN" b="1" dirty="0">
                <a:solidFill>
                  <a:srgbClr val="0000FF"/>
                </a:solidFill>
              </a:rPr>
              <a:t>Unicode</a:t>
            </a:r>
          </a:p>
          <a:p>
            <a:pPr marL="685800" lvl="2" indent="0">
              <a:buNone/>
            </a:pPr>
            <a:r>
              <a:rPr lang="zh-CN" altLang="en-US" dirty="0"/>
              <a:t>一种在计算机上使用的字符编码。它为每种语言中的每个字符设定了</a:t>
            </a:r>
            <a:r>
              <a:rPr lang="zh-CN" altLang="en-US" dirty="0">
                <a:solidFill>
                  <a:srgbClr val="FF0000"/>
                </a:solidFill>
              </a:rPr>
              <a:t>统一</a:t>
            </a:r>
            <a:r>
              <a:rPr lang="zh-CN" altLang="en-US" dirty="0"/>
              <a:t>并且唯一的</a:t>
            </a:r>
            <a:r>
              <a:rPr lang="zh-CN" altLang="en-US" dirty="0">
                <a:hlinkClick r:id="rId3"/>
              </a:rPr>
              <a:t>二进制</a:t>
            </a:r>
            <a:r>
              <a:rPr lang="zh-CN" altLang="en-US" dirty="0"/>
              <a:t>编码，以满足跨语言、跨平台进行文本转换、处理的要求。</a:t>
            </a:r>
            <a:endParaRPr lang="en-US" altLang="zh-CN" dirty="0"/>
          </a:p>
          <a:p>
            <a:pPr marL="685800" lvl="2" indent="0">
              <a:buNone/>
            </a:pPr>
            <a:r>
              <a:rPr lang="en-US" altLang="zh-CN" dirty="0"/>
              <a:t>1990</a:t>
            </a:r>
            <a:r>
              <a:rPr lang="zh-CN" altLang="en-US" dirty="0"/>
              <a:t>年开始研发，</a:t>
            </a:r>
            <a:r>
              <a:rPr lang="en-US" altLang="zh-CN" dirty="0"/>
              <a:t>1994</a:t>
            </a:r>
            <a:r>
              <a:rPr lang="zh-CN" altLang="en-US" dirty="0"/>
              <a:t>年正式公布。随着计算机工作能力的增强，</a:t>
            </a:r>
            <a:r>
              <a:rPr lang="en-US" altLang="zh-CN" dirty="0"/>
              <a:t>Unicode</a:t>
            </a:r>
            <a:r>
              <a:rPr lang="zh-CN" altLang="en-US" dirty="0"/>
              <a:t>也在面世以来的十多年里得到普及。</a:t>
            </a:r>
            <a:endParaRPr lang="en-US" altLang="zh-CN" dirty="0"/>
          </a:p>
          <a:p>
            <a:pPr lvl="1" indent="-457200">
              <a:buFont typeface="Arial" pitchFamily="34" charset="0"/>
              <a:buChar char="•"/>
            </a:pPr>
            <a:r>
              <a:rPr lang="zh-CN" altLang="en-US" b="1" dirty="0">
                <a:solidFill>
                  <a:srgbClr val="0000FF"/>
                </a:solidFill>
              </a:rPr>
              <a:t>实现：</a:t>
            </a:r>
            <a:r>
              <a:rPr lang="en-US" altLang="zh-CN" b="1" dirty="0">
                <a:solidFill>
                  <a:srgbClr val="0000FF"/>
                </a:solidFill>
              </a:rPr>
              <a:t>UTF-8</a:t>
            </a:r>
          </a:p>
          <a:p>
            <a:pPr marL="685800" lvl="2" indent="0">
              <a:buNone/>
            </a:pPr>
            <a:r>
              <a:rPr lang="en-US" altLang="zh-CN" dirty="0"/>
              <a:t>Unicode Transformation Format-8bit</a:t>
            </a:r>
            <a:r>
              <a:rPr lang="zh-CN" altLang="en-US" dirty="0"/>
              <a:t>，是用以解决国际上字符的一种</a:t>
            </a:r>
            <a:r>
              <a:rPr lang="zh-CN" altLang="en-US" dirty="0">
                <a:solidFill>
                  <a:srgbClr val="FF0000"/>
                </a:solidFill>
              </a:rPr>
              <a:t>多字节编码</a:t>
            </a:r>
            <a:r>
              <a:rPr lang="zh-CN" altLang="en-US" dirty="0"/>
              <a:t>，它对英文使用</a:t>
            </a:r>
            <a:r>
              <a:rPr lang="en-US" altLang="zh-CN" dirty="0"/>
              <a:t>8</a:t>
            </a:r>
            <a:r>
              <a:rPr lang="zh-CN" altLang="en-US" dirty="0"/>
              <a:t>位（即一个字节），中文使用</a:t>
            </a:r>
            <a:r>
              <a:rPr lang="en-US" altLang="zh-CN" dirty="0"/>
              <a:t>24</a:t>
            </a:r>
            <a:r>
              <a:rPr lang="zh-CN" altLang="en-US" dirty="0"/>
              <a:t>为（三个字节）来编码。</a:t>
            </a:r>
            <a:r>
              <a:rPr lang="en-US" altLang="zh-CN" dirty="0"/>
              <a:t>UTF-8</a:t>
            </a:r>
            <a:r>
              <a:rPr lang="zh-CN" altLang="en-US" dirty="0"/>
              <a:t>包含全世界所有国家需要用到的字符，是国际编码，通用性强。</a:t>
            </a:r>
            <a:endParaRPr lang="en-US" altLang="zh-CN" dirty="0"/>
          </a:p>
        </p:txBody>
      </p:sp>
      <p:sp>
        <p:nvSpPr>
          <p:cNvPr id="5" name="灯片编号占位符 4"/>
          <p:cNvSpPr>
            <a:spLocks noGrp="1"/>
          </p:cNvSpPr>
          <p:nvPr>
            <p:ph type="sldNum" sz="quarter" idx="12"/>
          </p:nvPr>
        </p:nvSpPr>
        <p:spPr/>
        <p:txBody>
          <a:bodyPr/>
          <a:lstStyle/>
          <a:p>
            <a:fld id="{F64BA984-46A0-4F46-990E-EC790E6934B4}" type="slidenum">
              <a:rPr lang="zh-CN" altLang="en-US" smtClean="0"/>
              <a:t>11</a:t>
            </a:fld>
            <a:endParaRPr lang="zh-CN" altLang="en-US"/>
          </a:p>
        </p:txBody>
      </p:sp>
    </p:spTree>
    <p:extLst>
      <p:ext uri="{BB962C8B-B14F-4D97-AF65-F5344CB8AC3E}">
        <p14:creationId xmlns:p14="http://schemas.microsoft.com/office/powerpoint/2010/main" val="356076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2.3 </a:t>
            </a:r>
            <a:r>
              <a:rPr lang="zh-CN" altLang="en-US" dirty="0"/>
              <a:t>文本编码</a:t>
            </a:r>
          </a:p>
        </p:txBody>
      </p:sp>
      <p:sp>
        <p:nvSpPr>
          <p:cNvPr id="4" name="Rectangle 3"/>
          <p:cNvSpPr txBox="1">
            <a:spLocks noChangeArrowheads="1"/>
          </p:cNvSpPr>
          <p:nvPr/>
        </p:nvSpPr>
        <p:spPr>
          <a:xfrm>
            <a:off x="323528" y="1196752"/>
            <a:ext cx="8352928" cy="7032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altLang="zh-CN" b="1" dirty="0">
                <a:solidFill>
                  <a:srgbClr val="0000FF"/>
                </a:solidFill>
              </a:rPr>
              <a:t>Unicode</a:t>
            </a:r>
          </a:p>
        </p:txBody>
      </p:sp>
      <p:sp>
        <p:nvSpPr>
          <p:cNvPr id="5" name="灯片编号占位符 4"/>
          <p:cNvSpPr>
            <a:spLocks noGrp="1"/>
          </p:cNvSpPr>
          <p:nvPr>
            <p:ph type="sldNum" sz="quarter" idx="12"/>
          </p:nvPr>
        </p:nvSpPr>
        <p:spPr/>
        <p:txBody>
          <a:bodyPr/>
          <a:lstStyle/>
          <a:p>
            <a:fld id="{F64BA984-46A0-4F46-990E-EC790E6934B4}" type="slidenum">
              <a:rPr lang="zh-CN" altLang="en-US" smtClean="0"/>
              <a:t>12</a:t>
            </a:fld>
            <a:endParaRPr lang="zh-CN" altLang="en-US"/>
          </a:p>
        </p:txBody>
      </p:sp>
      <p:pic>
        <p:nvPicPr>
          <p:cNvPr id="6" name="图片 5">
            <a:extLst>
              <a:ext uri="{FF2B5EF4-FFF2-40B4-BE49-F238E27FC236}">
                <a16:creationId xmlns:a16="http://schemas.microsoft.com/office/drawing/2014/main" id="{51251556-109C-4B0D-A0AB-201848B2E256}"/>
              </a:ext>
            </a:extLst>
          </p:cNvPr>
          <p:cNvPicPr>
            <a:picLocks noChangeAspect="1"/>
          </p:cNvPicPr>
          <p:nvPr/>
        </p:nvPicPr>
        <p:blipFill rotWithShape="1">
          <a:blip r:embed="rId3"/>
          <a:srcRect r="1059"/>
          <a:stretch/>
        </p:blipFill>
        <p:spPr>
          <a:xfrm>
            <a:off x="467544" y="1905835"/>
            <a:ext cx="8352928" cy="3903044"/>
          </a:xfrm>
          <a:prstGeom prst="rect">
            <a:avLst/>
          </a:prstGeom>
        </p:spPr>
      </p:pic>
    </p:spTree>
    <p:extLst>
      <p:ext uri="{BB962C8B-B14F-4D97-AF65-F5344CB8AC3E}">
        <p14:creationId xmlns:p14="http://schemas.microsoft.com/office/powerpoint/2010/main" val="29183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4968552"/>
          </a:xfrm>
        </p:spPr>
        <p:txBody>
          <a:bodyPr>
            <a:normAutofit/>
          </a:bodyPr>
          <a:lstStyle/>
          <a:p>
            <a:r>
              <a:rPr lang="en-US" altLang="zh-CN" b="0" dirty="0"/>
              <a:t>GB2312</a:t>
            </a:r>
          </a:p>
          <a:p>
            <a:pPr lvl="1"/>
            <a:r>
              <a:rPr lang="zh-CN" altLang="en-US" b="0" dirty="0"/>
              <a:t>是由中国国家标准总局</a:t>
            </a:r>
            <a:r>
              <a:rPr lang="en-US" altLang="zh-CN" b="0" dirty="0"/>
              <a:t>1980</a:t>
            </a:r>
            <a:r>
              <a:rPr lang="zh-CN" altLang="en-US" b="0" dirty="0"/>
              <a:t>年发布的一套国家标准，它适用于汉字处理、汉字通信等系统之间的信息交换。</a:t>
            </a:r>
            <a:endParaRPr lang="en-US" altLang="zh-CN" b="0" dirty="0"/>
          </a:p>
          <a:p>
            <a:r>
              <a:rPr lang="en-US" altLang="zh-CN" b="0" dirty="0"/>
              <a:t>GBK</a:t>
            </a:r>
          </a:p>
          <a:p>
            <a:pPr lvl="1"/>
            <a:r>
              <a:rPr lang="zh-CN" altLang="en-US" b="0" dirty="0"/>
              <a:t>是</a:t>
            </a:r>
            <a:r>
              <a:rPr lang="en-US" altLang="zh-CN" b="0" dirty="0"/>
              <a:t>GB2312</a:t>
            </a:r>
            <a:r>
              <a:rPr lang="zh-CN" altLang="en-US" b="0" dirty="0"/>
              <a:t>基础上扩容后的标准，支持中日韩三国的文字。</a:t>
            </a:r>
            <a:r>
              <a:rPr lang="en-US" altLang="zh-CN" b="0" dirty="0"/>
              <a:t>GBK</a:t>
            </a:r>
            <a:r>
              <a:rPr lang="zh-CN" altLang="en-US" b="0" dirty="0"/>
              <a:t>的文字编码是用双字节来表示的，即不论中、英文字符均使用双字节来表示，为了区分中文，将其最高位都设定成</a:t>
            </a:r>
            <a:r>
              <a:rPr lang="en-US" altLang="zh-CN" b="0" dirty="0"/>
              <a:t>1</a:t>
            </a:r>
            <a:r>
              <a:rPr lang="zh-CN" altLang="en-US" b="0" dirty="0"/>
              <a:t>。</a:t>
            </a:r>
            <a:endParaRPr lang="zh-CN" altLang="en-US" dirty="0"/>
          </a:p>
        </p:txBody>
      </p:sp>
      <p:sp>
        <p:nvSpPr>
          <p:cNvPr id="3" name="标题 2"/>
          <p:cNvSpPr>
            <a:spLocks noGrp="1"/>
          </p:cNvSpPr>
          <p:nvPr>
            <p:ph type="title"/>
          </p:nvPr>
        </p:nvSpPr>
        <p:spPr/>
        <p:txBody>
          <a:bodyPr>
            <a:normAutofit fontScale="90000"/>
          </a:bodyPr>
          <a:lstStyle/>
          <a:p>
            <a:r>
              <a:rPr lang="en-US" altLang="zh-CN" dirty="0"/>
              <a:t>2.3 </a:t>
            </a:r>
            <a:r>
              <a:rPr lang="zh-CN" altLang="en-US" dirty="0"/>
              <a:t>文本  汉字编码</a:t>
            </a:r>
          </a:p>
        </p:txBody>
      </p:sp>
      <p:sp>
        <p:nvSpPr>
          <p:cNvPr id="5" name="灯片编号占位符 4"/>
          <p:cNvSpPr>
            <a:spLocks noGrp="1"/>
          </p:cNvSpPr>
          <p:nvPr>
            <p:ph type="sldNum" sz="quarter" idx="12"/>
          </p:nvPr>
        </p:nvSpPr>
        <p:spPr/>
        <p:txBody>
          <a:bodyPr/>
          <a:lstStyle/>
          <a:p>
            <a:fld id="{F64BA984-46A0-4F46-990E-EC790E6934B4}" type="slidenum">
              <a:rPr lang="zh-CN" altLang="en-US" smtClean="0"/>
              <a:t>13</a:t>
            </a:fld>
            <a:endParaRPr lang="zh-CN" altLang="en-US"/>
          </a:p>
        </p:txBody>
      </p:sp>
    </p:spTree>
    <p:extLst>
      <p:ext uri="{BB962C8B-B14F-4D97-AF65-F5344CB8AC3E}">
        <p14:creationId xmlns:p14="http://schemas.microsoft.com/office/powerpoint/2010/main" val="756672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5184576"/>
          </a:xfrm>
        </p:spPr>
        <p:txBody>
          <a:bodyPr>
            <a:normAutofit/>
          </a:bodyPr>
          <a:lstStyle/>
          <a:p>
            <a:r>
              <a:rPr lang="zh-CN" altLang="en-US" b="0" dirty="0"/>
              <a:t>汉字是“中华文明最宝贵的财富之一”</a:t>
            </a:r>
            <a:endParaRPr lang="en-US" altLang="zh-CN" b="0" dirty="0"/>
          </a:p>
          <a:p>
            <a:endParaRPr lang="en-US" altLang="zh-CN" b="0" dirty="0"/>
          </a:p>
          <a:p>
            <a:endParaRPr lang="en-US" altLang="zh-CN" b="0" dirty="0"/>
          </a:p>
          <a:p>
            <a:endParaRPr lang="en-US" altLang="zh-CN" b="0" dirty="0"/>
          </a:p>
          <a:p>
            <a:endParaRPr lang="en-US" altLang="zh-CN" b="0" dirty="0"/>
          </a:p>
          <a:p>
            <a:endParaRPr lang="en-US" altLang="zh-CN" b="0" dirty="0"/>
          </a:p>
          <a:p>
            <a:r>
              <a:rPr lang="zh-CN" altLang="en-US" b="0" dirty="0"/>
              <a:t>越来越多的人使用键盘书写，用惯了电脑的人手写汉字的能力会下降</a:t>
            </a:r>
            <a:endParaRPr lang="en-US" altLang="zh-CN" b="0" dirty="0"/>
          </a:p>
          <a:p>
            <a:pPr marL="0" indent="0">
              <a:buNone/>
            </a:pPr>
            <a:endParaRPr lang="zh-CN" altLang="en-US" dirty="0"/>
          </a:p>
        </p:txBody>
      </p:sp>
      <p:sp>
        <p:nvSpPr>
          <p:cNvPr id="3" name="标题 2"/>
          <p:cNvSpPr>
            <a:spLocks noGrp="1"/>
          </p:cNvSpPr>
          <p:nvPr>
            <p:ph type="title"/>
          </p:nvPr>
        </p:nvSpPr>
        <p:spPr/>
        <p:txBody>
          <a:bodyPr>
            <a:normAutofit fontScale="90000"/>
          </a:bodyPr>
          <a:lstStyle/>
          <a:p>
            <a:r>
              <a:rPr lang="en-US" altLang="zh-CN" dirty="0"/>
              <a:t>2.3 </a:t>
            </a:r>
            <a:r>
              <a:rPr lang="zh-CN" altLang="en-US" dirty="0"/>
              <a:t>文本 汉字编码</a:t>
            </a:r>
          </a:p>
        </p:txBody>
      </p:sp>
      <p:pic>
        <p:nvPicPr>
          <p:cNvPr id="110594" name="Picture 2" descr="http://a.hiphotos.baidu.com/baike/pic/item/0824ab18972bd4076d156fab7b899e510eb3099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0666" y="1985004"/>
            <a:ext cx="3040067" cy="2280050"/>
          </a:xfrm>
          <a:prstGeom prst="rect">
            <a:avLst/>
          </a:prstGeom>
          <a:noFill/>
          <a:extLst>
            <a:ext uri="{909E8E84-426E-40DD-AFC4-6F175D3DCCD1}">
              <a14:hiddenFill xmlns:a14="http://schemas.microsoft.com/office/drawing/2010/main">
                <a:solidFill>
                  <a:srgbClr val="FFFFFF"/>
                </a:solidFill>
              </a14:hiddenFill>
            </a:ext>
          </a:extLst>
        </p:spPr>
      </p:pic>
      <p:pic>
        <p:nvPicPr>
          <p:cNvPr id="110596" name="Picture 4" descr="http://upload.wikimedia.org/wikipedia/commons/thumb/5/53/Cangjie2.jpg/220px-Cangjie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6658" y="1988840"/>
            <a:ext cx="2448966" cy="2304256"/>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4"/>
          <p:cNvSpPr>
            <a:spLocks noGrp="1"/>
          </p:cNvSpPr>
          <p:nvPr>
            <p:ph type="sldNum" sz="quarter" idx="12"/>
          </p:nvPr>
        </p:nvSpPr>
        <p:spPr/>
        <p:txBody>
          <a:bodyPr/>
          <a:lstStyle/>
          <a:p>
            <a:fld id="{F64BA984-46A0-4F46-990E-EC790E6934B4}" type="slidenum">
              <a:rPr lang="zh-CN" altLang="en-US" smtClean="0"/>
              <a:t>14</a:t>
            </a:fld>
            <a:endParaRPr lang="zh-CN" altLang="en-US"/>
          </a:p>
        </p:txBody>
      </p:sp>
    </p:spTree>
    <p:extLst>
      <p:ext uri="{BB962C8B-B14F-4D97-AF65-F5344CB8AC3E}">
        <p14:creationId xmlns:p14="http://schemas.microsoft.com/office/powerpoint/2010/main" val="244967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10596"/>
                                        </p:tgtEl>
                                        <p:attrNameLst>
                                          <p:attrName>style.visibility</p:attrName>
                                        </p:attrNameLst>
                                      </p:cBhvr>
                                      <p:to>
                                        <p:strVal val="visible"/>
                                      </p:to>
                                    </p:set>
                                    <p:anim calcmode="lin" valueType="num">
                                      <p:cBhvr additive="base">
                                        <p:cTn id="11" dur="500" fill="hold"/>
                                        <p:tgtEl>
                                          <p:spTgt spid="110596"/>
                                        </p:tgtEl>
                                        <p:attrNameLst>
                                          <p:attrName>ppt_x</p:attrName>
                                        </p:attrNameLst>
                                      </p:cBhvr>
                                      <p:tavLst>
                                        <p:tav tm="0">
                                          <p:val>
                                            <p:strVal val="#ppt_x"/>
                                          </p:val>
                                        </p:tav>
                                        <p:tav tm="100000">
                                          <p:val>
                                            <p:strVal val="#ppt_x"/>
                                          </p:val>
                                        </p:tav>
                                      </p:tavLst>
                                    </p:anim>
                                    <p:anim calcmode="lin" valueType="num">
                                      <p:cBhvr additive="base">
                                        <p:cTn id="12" dur="500" fill="hold"/>
                                        <p:tgtEl>
                                          <p:spTgt spid="11059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0594"/>
                                        </p:tgtEl>
                                        <p:attrNameLst>
                                          <p:attrName>style.visibility</p:attrName>
                                        </p:attrNameLst>
                                      </p:cBhvr>
                                      <p:to>
                                        <p:strVal val="visible"/>
                                      </p:to>
                                    </p:set>
                                    <p:anim calcmode="lin" valueType="num">
                                      <p:cBhvr additive="base">
                                        <p:cTn id="17" dur="500" fill="hold"/>
                                        <p:tgtEl>
                                          <p:spTgt spid="110594"/>
                                        </p:tgtEl>
                                        <p:attrNameLst>
                                          <p:attrName>ppt_x</p:attrName>
                                        </p:attrNameLst>
                                      </p:cBhvr>
                                      <p:tavLst>
                                        <p:tav tm="0">
                                          <p:val>
                                            <p:strVal val="#ppt_x"/>
                                          </p:val>
                                        </p:tav>
                                        <p:tav tm="100000">
                                          <p:val>
                                            <p:strVal val="#ppt_x"/>
                                          </p:val>
                                        </p:tav>
                                      </p:tavLst>
                                    </p:anim>
                                    <p:anim calcmode="lin" valueType="num">
                                      <p:cBhvr additive="base">
                                        <p:cTn id="18" dur="500" fill="hold"/>
                                        <p:tgtEl>
                                          <p:spTgt spid="11059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normAutofit fontScale="90000"/>
          </a:bodyPr>
          <a:lstStyle/>
          <a:p>
            <a:pPr eaLnBrk="1" hangingPunct="1">
              <a:defRPr/>
            </a:pPr>
            <a:r>
              <a:rPr lang="en-US" altLang="zh-CN" dirty="0"/>
              <a:t>2.4 </a:t>
            </a:r>
            <a:r>
              <a:rPr lang="zh-CN" altLang="en-US" dirty="0"/>
              <a:t>图像</a:t>
            </a:r>
            <a:r>
              <a:rPr lang="en-US" altLang="zh-CN" dirty="0"/>
              <a:t> </a:t>
            </a:r>
            <a:r>
              <a:rPr lang="zh-CN" altLang="en-US" dirty="0"/>
              <a:t>基础</a:t>
            </a:r>
            <a:endParaRPr lang="en-US" dirty="0"/>
          </a:p>
        </p:txBody>
      </p:sp>
      <p:sp>
        <p:nvSpPr>
          <p:cNvPr id="2" name="内容占位符 1"/>
          <p:cNvSpPr>
            <a:spLocks noGrp="1"/>
          </p:cNvSpPr>
          <p:nvPr>
            <p:ph idx="1"/>
          </p:nvPr>
        </p:nvSpPr>
        <p:spPr>
          <a:xfrm>
            <a:off x="395536" y="1824211"/>
            <a:ext cx="8229600" cy="1440160"/>
          </a:xfrm>
        </p:spPr>
        <p:txBody>
          <a:bodyPr>
            <a:normAutofit fontScale="92500" lnSpcReduction="10000"/>
          </a:bodyPr>
          <a:lstStyle/>
          <a:p>
            <a:r>
              <a:rPr lang="zh-CN" altLang="en-US" b="0" dirty="0"/>
              <a:t>在空间传播着的交变电磁场，即电磁波</a:t>
            </a:r>
            <a:endParaRPr lang="en-US" altLang="zh-CN" dirty="0"/>
          </a:p>
          <a:p>
            <a:r>
              <a:rPr lang="zh-CN" altLang="en-US" b="0" dirty="0"/>
              <a:t>可见光是</a:t>
            </a:r>
            <a:r>
              <a:rPr lang="zh-CN" altLang="en-US" b="0" dirty="0">
                <a:hlinkClick r:id="rId3"/>
              </a:rPr>
              <a:t>电磁波谱</a:t>
            </a:r>
            <a:r>
              <a:rPr lang="zh-CN" altLang="en-US" b="0" dirty="0"/>
              <a:t>中人眼可以感知的部分，波长为</a:t>
            </a:r>
            <a:r>
              <a:rPr lang="zh-CN" altLang="en-US" dirty="0"/>
              <a:t>到</a:t>
            </a:r>
            <a:r>
              <a:rPr lang="en-US" altLang="zh-CN" dirty="0">
                <a:solidFill>
                  <a:srgbClr val="C00000"/>
                </a:solidFill>
                <a:ea typeface="宋体" charset="-122"/>
              </a:rPr>
              <a:t>400 </a:t>
            </a:r>
            <a:r>
              <a:rPr lang="zh-CN" altLang="en-US" dirty="0">
                <a:solidFill>
                  <a:srgbClr val="C00000"/>
                </a:solidFill>
                <a:ea typeface="宋体" charset="-122"/>
              </a:rPr>
              <a:t>和</a:t>
            </a:r>
            <a:r>
              <a:rPr lang="en-US" altLang="zh-CN" dirty="0">
                <a:solidFill>
                  <a:srgbClr val="C00000"/>
                </a:solidFill>
                <a:ea typeface="宋体" charset="-122"/>
              </a:rPr>
              <a:t>700 nm </a:t>
            </a:r>
            <a:r>
              <a:rPr lang="zh-CN" altLang="en-US" dirty="0">
                <a:solidFill>
                  <a:srgbClr val="C00000"/>
                </a:solidFill>
                <a:ea typeface="宋体" charset="-122"/>
              </a:rPr>
              <a:t>之间</a:t>
            </a:r>
            <a:r>
              <a:rPr lang="zh-CN" altLang="en-US" dirty="0">
                <a:ea typeface="宋体" charset="-122"/>
              </a:rPr>
              <a:t>。</a:t>
            </a:r>
            <a:endParaRPr lang="zh-CN" altLang="en-US" dirty="0"/>
          </a:p>
        </p:txBody>
      </p:sp>
      <p:pic>
        <p:nvPicPr>
          <p:cNvPr id="952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429000"/>
            <a:ext cx="5248275"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F64BA984-46A0-4F46-990E-EC790E6934B4}" type="slidenum">
              <a:rPr lang="zh-CN" altLang="en-US" smtClean="0"/>
              <a:t>15</a:t>
            </a:fld>
            <a:endParaRPr lang="zh-CN" altLang="en-US"/>
          </a:p>
        </p:txBody>
      </p:sp>
      <p:sp>
        <p:nvSpPr>
          <p:cNvPr id="5" name="矩形 4"/>
          <p:cNvSpPr/>
          <p:nvPr/>
        </p:nvSpPr>
        <p:spPr>
          <a:xfrm>
            <a:off x="257720" y="1132135"/>
            <a:ext cx="2492990" cy="646331"/>
          </a:xfrm>
          <a:prstGeom prst="rect">
            <a:avLst/>
          </a:prstGeom>
        </p:spPr>
        <p:txBody>
          <a:bodyPr wrap="none">
            <a:spAutoFit/>
          </a:bodyPr>
          <a:lstStyle/>
          <a:p>
            <a:r>
              <a:rPr lang="zh-CN" altLang="en-US" sz="3600" dirty="0"/>
              <a:t>光和可见光</a:t>
            </a:r>
          </a:p>
        </p:txBody>
      </p:sp>
    </p:spTree>
    <p:extLst>
      <p:ext uri="{BB962C8B-B14F-4D97-AF65-F5344CB8AC3E}">
        <p14:creationId xmlns:p14="http://schemas.microsoft.com/office/powerpoint/2010/main" val="4064227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10"/>
          <p:cNvSpPr>
            <a:spLocks noGrp="1" noChangeArrowheads="1"/>
          </p:cNvSpPr>
          <p:nvPr>
            <p:ph idx="1"/>
          </p:nvPr>
        </p:nvSpPr>
        <p:spPr>
          <a:xfrm>
            <a:off x="212725" y="1844824"/>
            <a:ext cx="8229600" cy="1152127"/>
          </a:xfrm>
        </p:spPr>
        <p:txBody>
          <a:bodyPr>
            <a:normAutofit lnSpcReduction="10000"/>
          </a:bodyPr>
          <a:lstStyle/>
          <a:p>
            <a:pPr eaLnBrk="1" hangingPunct="1"/>
            <a:r>
              <a:rPr lang="zh-CN" altLang="en-US" dirty="0">
                <a:ea typeface="宋体" charset="-122"/>
              </a:rPr>
              <a:t>波长</a:t>
            </a:r>
            <a:r>
              <a:rPr lang="en-US" altLang="zh-CN" dirty="0">
                <a:ea typeface="宋体" charset="-122"/>
              </a:rPr>
              <a:t> </a:t>
            </a:r>
            <a:r>
              <a:rPr lang="en-US" altLang="zh-CN" dirty="0">
                <a:ea typeface="宋体" charset="-122"/>
                <a:sym typeface="Symbol" pitchFamily="18" charset="2"/>
              </a:rPr>
              <a:t> </a:t>
            </a:r>
            <a:r>
              <a:rPr lang="zh-CN" altLang="en-US" dirty="0">
                <a:ea typeface="宋体" charset="-122"/>
                <a:sym typeface="Symbol" pitchFamily="18" charset="2"/>
              </a:rPr>
              <a:t>颜色</a:t>
            </a:r>
            <a:endParaRPr lang="en-US" altLang="zh-CN" dirty="0">
              <a:ea typeface="宋体" charset="-122"/>
              <a:sym typeface="Symbol" pitchFamily="18" charset="2"/>
            </a:endParaRPr>
          </a:p>
          <a:p>
            <a:pPr eaLnBrk="1" hangingPunct="1"/>
            <a:r>
              <a:rPr lang="zh-CN" altLang="en-US" dirty="0">
                <a:ea typeface="宋体" charset="-122"/>
                <a:sym typeface="Symbol" pitchFamily="18" charset="2"/>
              </a:rPr>
              <a:t>光通量</a:t>
            </a:r>
            <a:r>
              <a:rPr lang="en-US" altLang="zh-CN" dirty="0">
                <a:ea typeface="宋体" charset="-122"/>
              </a:rPr>
              <a:t> </a:t>
            </a:r>
            <a:r>
              <a:rPr lang="en-US" altLang="zh-CN" dirty="0">
                <a:ea typeface="宋体" charset="-122"/>
                <a:sym typeface="Symbol" pitchFamily="18" charset="2"/>
              </a:rPr>
              <a:t> </a:t>
            </a:r>
            <a:r>
              <a:rPr lang="zh-CN" altLang="en-US" dirty="0">
                <a:ea typeface="宋体" charset="-122"/>
                <a:sym typeface="Symbol" pitchFamily="18" charset="2"/>
              </a:rPr>
              <a:t>亮度</a:t>
            </a:r>
          </a:p>
          <a:p>
            <a:pPr lvl="1" eaLnBrk="1" hangingPunct="1">
              <a:buFont typeface="Wingdings" pitchFamily="2" charset="2"/>
              <a:buNone/>
            </a:pPr>
            <a:endParaRPr lang="en-US" altLang="zh-CN" dirty="0">
              <a:ea typeface="宋体" charset="-122"/>
              <a:sym typeface="Symbol" pitchFamily="18" charset="2"/>
            </a:endParaRPr>
          </a:p>
        </p:txBody>
      </p:sp>
      <p:sp>
        <p:nvSpPr>
          <p:cNvPr id="187401" name="Rectangle 9"/>
          <p:cNvSpPr>
            <a:spLocks noGrp="1" noChangeArrowheads="1"/>
          </p:cNvSpPr>
          <p:nvPr>
            <p:ph type="title"/>
          </p:nvPr>
        </p:nvSpPr>
        <p:spPr/>
        <p:txBody>
          <a:bodyPr>
            <a:normAutofit fontScale="90000"/>
          </a:bodyPr>
          <a:lstStyle/>
          <a:p>
            <a:pPr>
              <a:defRPr/>
            </a:pPr>
            <a:r>
              <a:rPr lang="en-US" altLang="zh-CN" dirty="0"/>
              <a:t>2.4 </a:t>
            </a:r>
            <a:r>
              <a:rPr lang="zh-CN" altLang="en-US" dirty="0"/>
              <a:t>图像</a:t>
            </a:r>
            <a:r>
              <a:rPr lang="en-US" altLang="zh-CN" dirty="0"/>
              <a:t> </a:t>
            </a:r>
            <a:r>
              <a:rPr lang="zh-CN" altLang="en-US" dirty="0"/>
              <a:t>基础</a:t>
            </a:r>
            <a:endParaRPr lang="en-US" dirty="0"/>
          </a:p>
        </p:txBody>
      </p:sp>
      <p:pic>
        <p:nvPicPr>
          <p:cNvPr id="29702" name="Picture 11" descr="eye_response"/>
          <p:cNvPicPr>
            <a:picLocks noChangeAspect="1" noChangeArrowheads="1"/>
          </p:cNvPicPr>
          <p:nvPr/>
        </p:nvPicPr>
        <p:blipFill>
          <a:blip r:embed="rId3">
            <a:extLst>
              <a:ext uri="{28A0092B-C50C-407E-A947-70E740481C1C}">
                <a14:useLocalDpi xmlns:a14="http://schemas.microsoft.com/office/drawing/2010/main" val="0"/>
              </a:ext>
            </a:extLst>
          </a:blip>
          <a:srcRect r="1459"/>
          <a:stretch>
            <a:fillRect/>
          </a:stretch>
        </p:blipFill>
        <p:spPr bwMode="auto">
          <a:xfrm>
            <a:off x="4240936" y="2915273"/>
            <a:ext cx="48641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12" descr="eyesp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49" y="2920035"/>
            <a:ext cx="4300537" cy="287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16</a:t>
            </a:fld>
            <a:endParaRPr lang="zh-CN" altLang="en-US"/>
          </a:p>
        </p:txBody>
      </p:sp>
      <p:sp>
        <p:nvSpPr>
          <p:cNvPr id="8" name="矩形 7"/>
          <p:cNvSpPr/>
          <p:nvPr/>
        </p:nvSpPr>
        <p:spPr>
          <a:xfrm>
            <a:off x="211511" y="1147907"/>
            <a:ext cx="2492990" cy="646331"/>
          </a:xfrm>
          <a:prstGeom prst="rect">
            <a:avLst/>
          </a:prstGeom>
        </p:spPr>
        <p:txBody>
          <a:bodyPr wrap="none">
            <a:spAutoFit/>
          </a:bodyPr>
          <a:lstStyle/>
          <a:p>
            <a:r>
              <a:rPr lang="zh-CN" altLang="en-US" sz="3600" dirty="0"/>
              <a:t>光和可见光</a:t>
            </a:r>
          </a:p>
        </p:txBody>
      </p:sp>
      <p:sp>
        <p:nvSpPr>
          <p:cNvPr id="2" name="文本框 1">
            <a:extLst>
              <a:ext uri="{FF2B5EF4-FFF2-40B4-BE49-F238E27FC236}">
                <a16:creationId xmlns:a16="http://schemas.microsoft.com/office/drawing/2014/main" id="{42DEB7B9-D889-60D6-0040-840DA0887080}"/>
              </a:ext>
            </a:extLst>
          </p:cNvPr>
          <p:cNvSpPr txBox="1"/>
          <p:nvPr/>
        </p:nvSpPr>
        <p:spPr>
          <a:xfrm>
            <a:off x="22949" y="6474822"/>
            <a:ext cx="9229571" cy="338554"/>
          </a:xfrm>
          <a:prstGeom prst="rect">
            <a:avLst/>
          </a:prstGeom>
          <a:noFill/>
        </p:spPr>
        <p:txBody>
          <a:bodyPr wrap="square" rtlCol="0">
            <a:spAutoFit/>
          </a:bodyPr>
          <a:lstStyle/>
          <a:p>
            <a:r>
              <a:rPr kumimoji="1" lang="en-US" altLang="zh-CN" sz="1600" b="1" i="1" dirty="0"/>
              <a:t>Hint:</a:t>
            </a:r>
            <a:r>
              <a:rPr kumimoji="1" lang="zh-CN" altLang="en-US" sz="1600" b="1" i="1" dirty="0"/>
              <a:t>除真空外，光能通过的物质叫做（光）介质，光在介质中传播的速度小于在真空中传播的速度</a:t>
            </a:r>
          </a:p>
        </p:txBody>
      </p:sp>
      <p:sp>
        <p:nvSpPr>
          <p:cNvPr id="4" name="文本框 3">
            <a:extLst>
              <a:ext uri="{FF2B5EF4-FFF2-40B4-BE49-F238E27FC236}">
                <a16:creationId xmlns:a16="http://schemas.microsoft.com/office/drawing/2014/main" id="{B3F7AB5E-1563-9762-4F93-EADF67E15F7F}"/>
              </a:ext>
            </a:extLst>
          </p:cNvPr>
          <p:cNvSpPr txBox="1"/>
          <p:nvPr/>
        </p:nvSpPr>
        <p:spPr>
          <a:xfrm>
            <a:off x="4147757" y="1982024"/>
            <a:ext cx="4279607" cy="646331"/>
          </a:xfrm>
          <a:prstGeom prst="rect">
            <a:avLst/>
          </a:prstGeom>
          <a:noFill/>
        </p:spPr>
        <p:txBody>
          <a:bodyPr wrap="square" rtlCol="0">
            <a:spAutoFit/>
          </a:bodyPr>
          <a:lstStyle/>
          <a:p>
            <a:r>
              <a:rPr kumimoji="1" lang="zh-CN" altLang="en-US" dirty="0"/>
              <a:t>人眼对红、绿和蓝光的敏感程度是基于视锥细胞对不同波长光的响应</a:t>
            </a:r>
          </a:p>
        </p:txBody>
      </p:sp>
      <p:sp>
        <p:nvSpPr>
          <p:cNvPr id="5" name="文本框 4">
            <a:extLst>
              <a:ext uri="{FF2B5EF4-FFF2-40B4-BE49-F238E27FC236}">
                <a16:creationId xmlns:a16="http://schemas.microsoft.com/office/drawing/2014/main" id="{B7477B5F-6CB5-91B2-DD86-B3E6E366D9D4}"/>
              </a:ext>
            </a:extLst>
          </p:cNvPr>
          <p:cNvSpPr txBox="1"/>
          <p:nvPr/>
        </p:nvSpPr>
        <p:spPr>
          <a:xfrm>
            <a:off x="475759" y="5763512"/>
            <a:ext cx="3312368" cy="646331"/>
          </a:xfrm>
          <a:prstGeom prst="rect">
            <a:avLst/>
          </a:prstGeom>
          <a:noFill/>
        </p:spPr>
        <p:txBody>
          <a:bodyPr wrap="square" rtlCol="0">
            <a:spAutoFit/>
          </a:bodyPr>
          <a:lstStyle/>
          <a:p>
            <a:r>
              <a:rPr kumimoji="1" lang="zh-CN" altLang="en-US" dirty="0">
                <a:solidFill>
                  <a:srgbClr val="FF0000"/>
                </a:solidFill>
              </a:rPr>
              <a:t>三种视锥细胞（</a:t>
            </a:r>
            <a:r>
              <a:rPr kumimoji="1" lang="en-US" altLang="zh-CN" dirty="0">
                <a:solidFill>
                  <a:srgbClr val="FF0000"/>
                </a:solidFill>
              </a:rPr>
              <a:t>S/M/L</a:t>
            </a:r>
            <a:r>
              <a:rPr kumimoji="1" lang="zh-CN" altLang="en-US" dirty="0">
                <a:solidFill>
                  <a:srgbClr val="FF0000"/>
                </a:solidFill>
              </a:rPr>
              <a:t>锥体）的光谱响应曲线</a:t>
            </a:r>
          </a:p>
        </p:txBody>
      </p:sp>
      <p:sp>
        <p:nvSpPr>
          <p:cNvPr id="6" name="文本框 5">
            <a:extLst>
              <a:ext uri="{FF2B5EF4-FFF2-40B4-BE49-F238E27FC236}">
                <a16:creationId xmlns:a16="http://schemas.microsoft.com/office/drawing/2014/main" id="{1419EFDD-EA57-1492-450C-849DEEB37E98}"/>
              </a:ext>
            </a:extLst>
          </p:cNvPr>
          <p:cNvSpPr txBox="1"/>
          <p:nvPr/>
        </p:nvSpPr>
        <p:spPr>
          <a:xfrm>
            <a:off x="4710597" y="5755575"/>
            <a:ext cx="4032448" cy="646331"/>
          </a:xfrm>
          <a:prstGeom prst="rect">
            <a:avLst/>
          </a:prstGeom>
          <a:noFill/>
        </p:spPr>
        <p:txBody>
          <a:bodyPr wrap="square" rtlCol="0">
            <a:spAutoFit/>
          </a:bodyPr>
          <a:lstStyle/>
          <a:p>
            <a:r>
              <a:rPr kumimoji="1" lang="zh-CN" altLang="en-US" dirty="0">
                <a:solidFill>
                  <a:srgbClr val="FF0000"/>
                </a:solidFill>
              </a:rPr>
              <a:t>整体视觉敏感度图（不是分开看红绿蓝，而是总和响应）</a:t>
            </a:r>
          </a:p>
        </p:txBody>
      </p:sp>
    </p:spTree>
    <p:extLst>
      <p:ext uri="{BB962C8B-B14F-4D97-AF65-F5344CB8AC3E}">
        <p14:creationId xmlns:p14="http://schemas.microsoft.com/office/powerpoint/2010/main" val="2806174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47705" y="1677584"/>
            <a:ext cx="8229600" cy="3047560"/>
          </a:xfrm>
        </p:spPr>
        <p:txBody>
          <a:bodyPr>
            <a:normAutofit fontScale="85000" lnSpcReduction="10000"/>
          </a:bodyPr>
          <a:lstStyle/>
          <a:p>
            <a:r>
              <a:rPr lang="zh-CN" altLang="en-US" dirty="0"/>
              <a:t>视觉过程</a:t>
            </a:r>
            <a:endParaRPr lang="en-US" altLang="zh-CN" dirty="0"/>
          </a:p>
          <a:p>
            <a:pPr lvl="1">
              <a:lnSpc>
                <a:spcPct val="120000"/>
              </a:lnSpc>
            </a:pPr>
            <a:r>
              <a:rPr lang="zh-CN" altLang="en-US" dirty="0"/>
              <a:t>从光源发光开始，光的模式通过场景中的物体反射进入眼睛并同时作用在视网膜上引起视感觉，通过视觉通道传到大脑皮层进行处理并最终引起视知觉</a:t>
            </a:r>
            <a:endParaRPr lang="en-US" altLang="zh-CN" dirty="0"/>
          </a:p>
          <a:p>
            <a:r>
              <a:rPr lang="zh-CN" altLang="en-US" dirty="0"/>
              <a:t>感光细胞</a:t>
            </a:r>
            <a:r>
              <a:rPr lang="zh-CN" altLang="en-US" b="0" dirty="0"/>
              <a:t>，</a:t>
            </a:r>
            <a:endParaRPr lang="en-US" altLang="zh-CN" b="0" dirty="0"/>
          </a:p>
          <a:p>
            <a:pPr lvl="1">
              <a:lnSpc>
                <a:spcPct val="120000"/>
              </a:lnSpc>
            </a:pPr>
            <a:r>
              <a:rPr lang="zh-CN" altLang="en-US" b="0" dirty="0"/>
              <a:t>是在</a:t>
            </a:r>
            <a:r>
              <a:rPr lang="zh-CN" altLang="en-US" b="0" dirty="0">
                <a:hlinkClick r:id="rId2" tooltip="眼球"/>
              </a:rPr>
              <a:t>眼球</a:t>
            </a:r>
            <a:r>
              <a:rPr lang="zh-CN" altLang="en-US" b="0" dirty="0"/>
              <a:t>的</a:t>
            </a:r>
            <a:r>
              <a:rPr lang="zh-CN" altLang="en-US" b="0" dirty="0">
                <a:hlinkClick r:id="rId3" tooltip="视网膜"/>
              </a:rPr>
              <a:t>视网膜</a:t>
            </a:r>
            <a:r>
              <a:rPr lang="zh-CN" altLang="en-US" b="0" dirty="0"/>
              <a:t>中发现的，具有</a:t>
            </a:r>
            <a:r>
              <a:rPr lang="zh-CN" altLang="en-US" b="0" dirty="0">
                <a:hlinkClick r:id="rId4" tooltip="光转化（页面不存在）"/>
              </a:rPr>
              <a:t>光转化</a:t>
            </a:r>
            <a:r>
              <a:rPr lang="zh-CN" altLang="en-US" b="0" dirty="0"/>
              <a:t>能力的一类特殊</a:t>
            </a:r>
            <a:r>
              <a:rPr lang="zh-CN" altLang="en-US" b="0" dirty="0">
                <a:hlinkClick r:id="rId5" tooltip="神经细胞"/>
              </a:rPr>
              <a:t>神经细胞</a:t>
            </a:r>
            <a:r>
              <a:rPr lang="zh-CN" altLang="en-US" b="0" dirty="0"/>
              <a:t>。</a:t>
            </a:r>
            <a:endParaRPr lang="zh-CN" altLang="en-US" dirty="0"/>
          </a:p>
        </p:txBody>
      </p:sp>
      <p:sp>
        <p:nvSpPr>
          <p:cNvPr id="3" name="标题 2"/>
          <p:cNvSpPr>
            <a:spLocks noGrp="1"/>
          </p:cNvSpPr>
          <p:nvPr>
            <p:ph type="title"/>
          </p:nvPr>
        </p:nvSpPr>
        <p:spPr/>
        <p:txBody>
          <a:bodyPr>
            <a:normAutofit fontScale="90000"/>
          </a:bodyPr>
          <a:lstStyle/>
          <a:p>
            <a:r>
              <a:rPr lang="en-US" altLang="zh-CN" dirty="0"/>
              <a:t>2.4 </a:t>
            </a:r>
            <a:r>
              <a:rPr lang="zh-CN" altLang="en-US" dirty="0"/>
              <a:t>图像 基础</a:t>
            </a:r>
          </a:p>
        </p:txBody>
      </p:sp>
      <p:pic>
        <p:nvPicPr>
          <p:cNvPr id="100354" name="Picture 2" descr="http://siee.cumt.edu.cn/Signalgroup/Imaging/images/221_eye.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2120" y="36929"/>
            <a:ext cx="3100941" cy="216147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539551" y="4725144"/>
            <a:ext cx="7937753" cy="830997"/>
          </a:xfrm>
          <a:prstGeom prst="rect">
            <a:avLst/>
          </a:prstGeom>
        </p:spPr>
        <p:txBody>
          <a:bodyPr wrap="square">
            <a:spAutoFit/>
          </a:bodyPr>
          <a:lstStyle/>
          <a:p>
            <a:r>
              <a:rPr lang="zh-CN" altLang="en-US" sz="2400" dirty="0"/>
              <a:t>人的眼睛内有几种辨别颜色的锥形感光细胞，分别对</a:t>
            </a:r>
            <a:r>
              <a:rPr lang="zh-CN" altLang="en-US" sz="2400" dirty="0">
                <a:hlinkClick r:id="rId7" tooltip="黄绿色（页面不存在）"/>
              </a:rPr>
              <a:t>黄绿色</a:t>
            </a:r>
            <a:r>
              <a:rPr lang="zh-CN" altLang="en-US" sz="2400" dirty="0"/>
              <a:t>、</a:t>
            </a:r>
            <a:r>
              <a:rPr lang="zh-CN" altLang="en-US" sz="2400" dirty="0">
                <a:hlinkClick r:id="rId8" tooltip="绿色"/>
              </a:rPr>
              <a:t>绿色</a:t>
            </a:r>
            <a:r>
              <a:rPr lang="zh-CN" altLang="en-US" sz="2400" dirty="0"/>
              <a:t>和</a:t>
            </a:r>
            <a:r>
              <a:rPr lang="zh-CN" altLang="en-US" sz="2400" dirty="0">
                <a:hlinkClick r:id="rId9" tooltip="蓝紫色（页面不存在）"/>
              </a:rPr>
              <a:t>蓝紫色</a:t>
            </a:r>
            <a:r>
              <a:rPr lang="zh-CN" altLang="en-US" sz="2400" dirty="0"/>
              <a:t>的光最敏感</a:t>
            </a:r>
          </a:p>
        </p:txBody>
      </p:sp>
      <p:sp>
        <p:nvSpPr>
          <p:cNvPr id="6" name="灯片编号占位符 5"/>
          <p:cNvSpPr>
            <a:spLocks noGrp="1"/>
          </p:cNvSpPr>
          <p:nvPr>
            <p:ph type="sldNum" sz="quarter" idx="12"/>
          </p:nvPr>
        </p:nvSpPr>
        <p:spPr/>
        <p:txBody>
          <a:bodyPr/>
          <a:lstStyle/>
          <a:p>
            <a:fld id="{F64BA984-46A0-4F46-990E-EC790E6934B4}" type="slidenum">
              <a:rPr lang="zh-CN" altLang="en-US" smtClean="0"/>
              <a:t>17</a:t>
            </a:fld>
            <a:endParaRPr lang="zh-CN" altLang="en-US"/>
          </a:p>
        </p:txBody>
      </p:sp>
      <p:sp>
        <p:nvSpPr>
          <p:cNvPr id="7" name="矩形 6"/>
          <p:cNvSpPr/>
          <p:nvPr/>
        </p:nvSpPr>
        <p:spPr>
          <a:xfrm>
            <a:off x="52992" y="1169845"/>
            <a:ext cx="2236510" cy="584775"/>
          </a:xfrm>
          <a:prstGeom prst="rect">
            <a:avLst/>
          </a:prstGeom>
        </p:spPr>
        <p:txBody>
          <a:bodyPr wrap="none">
            <a:spAutoFit/>
          </a:bodyPr>
          <a:lstStyle/>
          <a:p>
            <a:r>
              <a:rPr lang="zh-CN" altLang="en-US" sz="3200" dirty="0"/>
              <a:t>人眼的构造</a:t>
            </a:r>
          </a:p>
        </p:txBody>
      </p:sp>
    </p:spTree>
    <p:extLst>
      <p:ext uri="{BB962C8B-B14F-4D97-AF65-F5344CB8AC3E}">
        <p14:creationId xmlns:p14="http://schemas.microsoft.com/office/powerpoint/2010/main" val="2570703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10"/>
          <p:cNvSpPr>
            <a:spLocks noGrp="1" noChangeArrowheads="1"/>
          </p:cNvSpPr>
          <p:nvPr>
            <p:ph idx="1"/>
          </p:nvPr>
        </p:nvSpPr>
        <p:spPr>
          <a:xfrm>
            <a:off x="250824" y="1700808"/>
            <a:ext cx="8229600" cy="3528391"/>
          </a:xfrm>
        </p:spPr>
        <p:txBody>
          <a:bodyPr>
            <a:normAutofit/>
          </a:bodyPr>
          <a:lstStyle/>
          <a:p>
            <a:r>
              <a:rPr lang="zh-CN" altLang="en-US" b="0" dirty="0"/>
              <a:t>由于人类肉眼有</a:t>
            </a:r>
            <a:r>
              <a:rPr lang="zh-CN" altLang="en-US" b="0" dirty="0">
                <a:solidFill>
                  <a:srgbClr val="FF0000"/>
                </a:solidFill>
              </a:rPr>
              <a:t>三种</a:t>
            </a:r>
            <a:r>
              <a:rPr lang="zh-CN" altLang="en-US" b="0" dirty="0"/>
              <a:t>不同颜色的</a:t>
            </a:r>
            <a:r>
              <a:rPr lang="zh-CN" altLang="en-US" b="0" dirty="0">
                <a:solidFill>
                  <a:srgbClr val="FF0000"/>
                </a:solidFill>
              </a:rPr>
              <a:t>感光体</a:t>
            </a:r>
            <a:r>
              <a:rPr lang="zh-CN" altLang="en-US" b="0" dirty="0"/>
              <a:t>，因此所见的色彩空间通常可以由三种基本色所表达，这三种颜色被称为“</a:t>
            </a:r>
            <a:r>
              <a:rPr lang="zh-CN" altLang="en-US" dirty="0"/>
              <a:t>三原色</a:t>
            </a:r>
            <a:r>
              <a:rPr lang="zh-CN" altLang="en-US" b="0" dirty="0"/>
              <a:t>”。</a:t>
            </a:r>
            <a:endParaRPr lang="en-US" altLang="zh-CN" b="0" dirty="0"/>
          </a:p>
          <a:p>
            <a:r>
              <a:rPr lang="zh-CN" altLang="en-US" b="0" dirty="0"/>
              <a:t>只是目前普遍认定“光的三原色”为红绿蓝，以不同比例将原色混合，可以产生出其他的新颜色。</a:t>
            </a:r>
            <a:endParaRPr lang="en-US" altLang="zh-CN" b="0" dirty="0"/>
          </a:p>
        </p:txBody>
      </p:sp>
      <p:sp>
        <p:nvSpPr>
          <p:cNvPr id="187401" name="Rectangle 9"/>
          <p:cNvSpPr>
            <a:spLocks noGrp="1" noChangeArrowheads="1"/>
          </p:cNvSpPr>
          <p:nvPr>
            <p:ph type="title"/>
          </p:nvPr>
        </p:nvSpPr>
        <p:spPr>
          <a:xfrm>
            <a:off x="107504" y="1124744"/>
            <a:ext cx="8229600" cy="703263"/>
          </a:xfrm>
        </p:spPr>
        <p:txBody>
          <a:bodyPr>
            <a:normAutofit fontScale="90000"/>
          </a:bodyPr>
          <a:lstStyle/>
          <a:p>
            <a:pPr eaLnBrk="1" hangingPunct="1">
              <a:defRPr/>
            </a:pPr>
            <a:r>
              <a:rPr lang="zh-CN" altLang="en-US" dirty="0"/>
              <a:t>三原色</a:t>
            </a:r>
            <a:endParaRPr lang="en-US" dirty="0"/>
          </a:p>
        </p:txBody>
      </p:sp>
      <p:pic>
        <p:nvPicPr>
          <p:cNvPr id="99330" name="Picture 2" descr="File:AdditiveColorMixiing.svg"/>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47864" y="4288755"/>
            <a:ext cx="2646294" cy="2520280"/>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18</a:t>
            </a:fld>
            <a:endParaRPr lang="zh-CN" altLang="en-US"/>
          </a:p>
        </p:txBody>
      </p:sp>
      <p:sp>
        <p:nvSpPr>
          <p:cNvPr id="7"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采集</a:t>
            </a:r>
          </a:p>
        </p:txBody>
      </p:sp>
    </p:spTree>
    <p:extLst>
      <p:ext uri="{BB962C8B-B14F-4D97-AF65-F5344CB8AC3E}">
        <p14:creationId xmlns:p14="http://schemas.microsoft.com/office/powerpoint/2010/main" val="1149129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10"/>
          <p:cNvSpPr>
            <a:spLocks noGrp="1" noChangeArrowheads="1"/>
          </p:cNvSpPr>
          <p:nvPr>
            <p:ph idx="1"/>
          </p:nvPr>
        </p:nvSpPr>
        <p:spPr>
          <a:xfrm>
            <a:off x="250824" y="2016166"/>
            <a:ext cx="8229600" cy="1656183"/>
          </a:xfrm>
        </p:spPr>
        <p:txBody>
          <a:bodyPr>
            <a:normAutofit/>
          </a:bodyPr>
          <a:lstStyle/>
          <a:p>
            <a:r>
              <a:rPr lang="zh-CN" altLang="en-US" b="0" dirty="0"/>
              <a:t>工业界的一种颜色标准，是通过对红</a:t>
            </a:r>
            <a:r>
              <a:rPr lang="en-US" altLang="zh-CN" b="0" dirty="0"/>
              <a:t>(R)</a:t>
            </a:r>
            <a:r>
              <a:rPr lang="zh-CN" altLang="en-US" b="0" dirty="0"/>
              <a:t>、绿</a:t>
            </a:r>
            <a:r>
              <a:rPr lang="en-US" altLang="zh-CN" b="0" dirty="0"/>
              <a:t>(G)</a:t>
            </a:r>
            <a:r>
              <a:rPr lang="zh-CN" altLang="en-US" b="0" dirty="0"/>
              <a:t>、蓝</a:t>
            </a:r>
            <a:r>
              <a:rPr lang="en-US" altLang="zh-CN" b="0" dirty="0"/>
              <a:t>(B)</a:t>
            </a:r>
            <a:r>
              <a:rPr lang="zh-CN" altLang="en-US" b="0" dirty="0"/>
              <a:t>三个颜色</a:t>
            </a:r>
            <a:r>
              <a:rPr lang="zh-CN" altLang="en-US" b="0" dirty="0">
                <a:hlinkClick r:id="rId3"/>
              </a:rPr>
              <a:t>通道</a:t>
            </a:r>
            <a:r>
              <a:rPr lang="zh-CN" altLang="en-US" b="0" dirty="0"/>
              <a:t>的变化（</a:t>
            </a:r>
            <a:r>
              <a:rPr lang="en-US" altLang="zh-CN" b="0" dirty="0"/>
              <a:t>0~255</a:t>
            </a:r>
            <a:r>
              <a:rPr lang="zh-CN" altLang="en-US" b="0" dirty="0"/>
              <a:t>）以及它们相互之间的叠加来表示不同颜色</a:t>
            </a:r>
            <a:endParaRPr lang="en-US" altLang="zh-CN" b="0" dirty="0"/>
          </a:p>
        </p:txBody>
      </p:sp>
      <p:sp>
        <p:nvSpPr>
          <p:cNvPr id="187401" name="Rectangle 9"/>
          <p:cNvSpPr>
            <a:spLocks noGrp="1" noChangeArrowheads="1"/>
          </p:cNvSpPr>
          <p:nvPr>
            <p:ph type="title"/>
          </p:nvPr>
        </p:nvSpPr>
        <p:spPr>
          <a:xfrm>
            <a:off x="107504" y="1196181"/>
            <a:ext cx="8229600" cy="703263"/>
          </a:xfrm>
        </p:spPr>
        <p:txBody>
          <a:bodyPr>
            <a:normAutofit fontScale="90000"/>
          </a:bodyPr>
          <a:lstStyle/>
          <a:p>
            <a:pPr>
              <a:defRPr/>
            </a:pPr>
            <a:r>
              <a:rPr lang="en-US" altLang="zh-CN" dirty="0"/>
              <a:t>RGB</a:t>
            </a:r>
            <a:r>
              <a:rPr lang="zh-CN" altLang="en-US" dirty="0"/>
              <a:t>色彩模型</a:t>
            </a:r>
            <a:endParaRPr lang="en-US" dirty="0"/>
          </a:p>
        </p:txBody>
      </p:sp>
      <p:pic>
        <p:nvPicPr>
          <p:cNvPr id="102402" name="Picture 2" descr="http://h.hiphotos.baidu.com/baike/c%3DbaikeA2%2C10%2C95/sign=55180203b912c8fca0f3a19c9568f704/5882b2b7d0a20cf4163e8efc76094b36adaf2edda3cca15a.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77520" y="3501008"/>
            <a:ext cx="3707904" cy="2781700"/>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19</a:t>
            </a:fld>
            <a:endParaRPr lang="zh-CN" altLang="en-US"/>
          </a:p>
        </p:txBody>
      </p:sp>
      <p:sp>
        <p:nvSpPr>
          <p:cNvPr id="4" name="矩形 3"/>
          <p:cNvSpPr/>
          <p:nvPr/>
        </p:nvSpPr>
        <p:spPr>
          <a:xfrm>
            <a:off x="250824" y="3780796"/>
            <a:ext cx="5103392" cy="2062103"/>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zh-CN" altLang="en-US" sz="3200" dirty="0">
                <a:solidFill>
                  <a:srgbClr val="0000FF"/>
                </a:solidFill>
              </a:rPr>
              <a:t>计算机硬件中，每一象素常用</a:t>
            </a:r>
            <a:r>
              <a:rPr lang="en-US" altLang="zh-CN" sz="3200" dirty="0">
                <a:solidFill>
                  <a:srgbClr val="0000FF"/>
                </a:solidFill>
              </a:rPr>
              <a:t>24</a:t>
            </a:r>
            <a:r>
              <a:rPr lang="zh-CN" altLang="en-US" sz="3200" dirty="0">
                <a:solidFill>
                  <a:srgbClr val="0000FF"/>
                </a:solidFill>
              </a:rPr>
              <a:t>比特表示的方法，所以三种原色光各分到</a:t>
            </a:r>
            <a:r>
              <a:rPr lang="en-US" altLang="zh-CN" sz="3200" dirty="0">
                <a:solidFill>
                  <a:srgbClr val="0000FF"/>
                </a:solidFill>
              </a:rPr>
              <a:t>8</a:t>
            </a:r>
            <a:r>
              <a:rPr lang="zh-CN" altLang="en-US" sz="3200" dirty="0">
                <a:solidFill>
                  <a:srgbClr val="0000FF"/>
                </a:solidFill>
              </a:rPr>
              <a:t>比特</a:t>
            </a:r>
            <a:endParaRPr lang="en-US" altLang="zh-CN" sz="3200" dirty="0">
              <a:solidFill>
                <a:srgbClr val="0000FF"/>
              </a:solidFill>
              <a:sym typeface="Symbol" pitchFamily="18" charset="2"/>
            </a:endParaRPr>
          </a:p>
        </p:txBody>
      </p:sp>
      <p:sp>
        <p:nvSpPr>
          <p:cNvPr id="8"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采集</a:t>
            </a:r>
          </a:p>
        </p:txBody>
      </p:sp>
    </p:spTree>
    <p:extLst>
      <p:ext uri="{BB962C8B-B14F-4D97-AF65-F5344CB8AC3E}">
        <p14:creationId xmlns:p14="http://schemas.microsoft.com/office/powerpoint/2010/main" val="45509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5013" y="1147770"/>
            <a:ext cx="8229600" cy="703263"/>
          </a:xfrm>
        </p:spPr>
        <p:txBody>
          <a:bodyPr>
            <a:normAutofit fontScale="90000"/>
          </a:bodyPr>
          <a:lstStyle/>
          <a:p>
            <a:r>
              <a:rPr lang="zh-CN" altLang="en-US" dirty="0"/>
              <a:t>数码相机工作原理</a:t>
            </a:r>
          </a:p>
        </p:txBody>
      </p:sp>
      <p:sp>
        <p:nvSpPr>
          <p:cNvPr id="36" name="TextBox 35"/>
          <p:cNvSpPr txBox="1"/>
          <p:nvPr/>
        </p:nvSpPr>
        <p:spPr>
          <a:xfrm>
            <a:off x="5292080" y="3066538"/>
            <a:ext cx="566688" cy="2246769"/>
          </a:xfrm>
          <a:prstGeom prst="rect">
            <a:avLst/>
          </a:prstGeom>
          <a:noFill/>
          <a:ln w="19050">
            <a:solidFill>
              <a:schemeClr val="tx1"/>
            </a:solidFill>
          </a:ln>
        </p:spPr>
        <p:txBody>
          <a:bodyPr wrap="square" rtlCol="0">
            <a:spAutoFit/>
          </a:bodyPr>
          <a:lstStyle/>
          <a:p>
            <a:pPr algn="ctr"/>
            <a:r>
              <a:rPr lang="zh-CN" altLang="en-US" sz="2800" dirty="0"/>
              <a:t>模数转换</a:t>
            </a:r>
            <a:endParaRPr lang="en-US" altLang="zh-CN" sz="2800" dirty="0"/>
          </a:p>
          <a:p>
            <a:pPr algn="ctr"/>
            <a:r>
              <a:rPr lang="zh-CN" altLang="en-US" sz="2800" dirty="0"/>
              <a:t>器</a:t>
            </a:r>
          </a:p>
        </p:txBody>
      </p:sp>
      <p:sp>
        <p:nvSpPr>
          <p:cNvPr id="54" name="TextBox 53"/>
          <p:cNvSpPr txBox="1"/>
          <p:nvPr/>
        </p:nvSpPr>
        <p:spPr>
          <a:xfrm>
            <a:off x="6516216" y="3072191"/>
            <a:ext cx="566688" cy="2246769"/>
          </a:xfrm>
          <a:prstGeom prst="rect">
            <a:avLst/>
          </a:prstGeom>
          <a:noFill/>
          <a:ln w="19050">
            <a:solidFill>
              <a:schemeClr val="tx1"/>
            </a:solidFill>
          </a:ln>
        </p:spPr>
        <p:txBody>
          <a:bodyPr wrap="square" rtlCol="0">
            <a:spAutoFit/>
          </a:bodyPr>
          <a:lstStyle/>
          <a:p>
            <a:pPr algn="ctr"/>
            <a:r>
              <a:rPr lang="zh-CN" altLang="en-US" sz="2800" dirty="0"/>
              <a:t>图像处理器</a:t>
            </a:r>
          </a:p>
        </p:txBody>
      </p:sp>
      <p:sp>
        <p:nvSpPr>
          <p:cNvPr id="55" name="TextBox 54"/>
          <p:cNvSpPr txBox="1"/>
          <p:nvPr/>
        </p:nvSpPr>
        <p:spPr>
          <a:xfrm>
            <a:off x="7668344" y="3094645"/>
            <a:ext cx="566688" cy="2246769"/>
          </a:xfrm>
          <a:prstGeom prst="rect">
            <a:avLst/>
          </a:prstGeom>
          <a:noFill/>
          <a:ln w="19050">
            <a:solidFill>
              <a:schemeClr val="tx1"/>
            </a:solidFill>
          </a:ln>
        </p:spPr>
        <p:txBody>
          <a:bodyPr wrap="square" rtlCol="0">
            <a:spAutoFit/>
          </a:bodyPr>
          <a:lstStyle/>
          <a:p>
            <a:pPr algn="ctr"/>
            <a:endParaRPr lang="en-US" altLang="zh-CN" sz="2800" dirty="0"/>
          </a:p>
          <a:p>
            <a:pPr algn="ctr"/>
            <a:r>
              <a:rPr lang="zh-CN" altLang="en-US" sz="2800" dirty="0"/>
              <a:t>存储器</a:t>
            </a:r>
            <a:endParaRPr lang="en-US" altLang="zh-CN" sz="2800" dirty="0"/>
          </a:p>
          <a:p>
            <a:pPr algn="ctr"/>
            <a:endParaRPr lang="zh-CN" altLang="en-US" sz="2800" dirty="0"/>
          </a:p>
        </p:txBody>
      </p:sp>
      <p:cxnSp>
        <p:nvCxnSpPr>
          <p:cNvPr id="57" name="直接箭头连接符 56"/>
          <p:cNvCxnSpPr/>
          <p:nvPr/>
        </p:nvCxnSpPr>
        <p:spPr>
          <a:xfrm flipH="1">
            <a:off x="5858768" y="4146658"/>
            <a:ext cx="657448"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H="1">
            <a:off x="7087592" y="4146658"/>
            <a:ext cx="580752" cy="3866"/>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grpSp>
        <p:nvGrpSpPr>
          <p:cNvPr id="111617" name="组合 111616"/>
          <p:cNvGrpSpPr/>
          <p:nvPr/>
        </p:nvGrpSpPr>
        <p:grpSpPr>
          <a:xfrm>
            <a:off x="3515733" y="2492215"/>
            <a:ext cx="2658457" cy="3222719"/>
            <a:chOff x="3525109" y="1988840"/>
            <a:chExt cx="2658457" cy="3222719"/>
          </a:xfrm>
        </p:grpSpPr>
        <p:sp>
          <p:nvSpPr>
            <p:cNvPr id="35" name="流程图: 数据 34"/>
            <p:cNvSpPr/>
            <p:nvPr/>
          </p:nvSpPr>
          <p:spPr>
            <a:xfrm rot="16200000" flipV="1">
              <a:off x="2853185" y="3283243"/>
              <a:ext cx="2808311" cy="792088"/>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p:nvPr/>
          </p:nvGrpSpPr>
          <p:grpSpPr>
            <a:xfrm>
              <a:off x="4263067" y="3139227"/>
              <a:ext cx="1002720" cy="0"/>
              <a:chOff x="3259538" y="4274099"/>
              <a:chExt cx="1002720" cy="0"/>
            </a:xfrm>
          </p:grpSpPr>
          <p:cxnSp>
            <p:nvCxnSpPr>
              <p:cNvPr id="45" name="直接箭头连接符 44"/>
              <p:cNvCxnSpPr/>
              <p:nvPr/>
            </p:nvCxnSpPr>
            <p:spPr>
              <a:xfrm flipH="1">
                <a:off x="3259538" y="4274099"/>
                <a:ext cx="607370"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H="1">
                <a:off x="3743908" y="4274099"/>
                <a:ext cx="518350" cy="0"/>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4287130" y="3692201"/>
              <a:ext cx="1002720" cy="0"/>
              <a:chOff x="3259538" y="4274099"/>
              <a:chExt cx="1002720" cy="0"/>
            </a:xfrm>
          </p:grpSpPr>
          <p:cxnSp>
            <p:nvCxnSpPr>
              <p:cNvPr id="48" name="直接箭头连接符 47"/>
              <p:cNvCxnSpPr/>
              <p:nvPr/>
            </p:nvCxnSpPr>
            <p:spPr>
              <a:xfrm flipH="1">
                <a:off x="3259538" y="4274099"/>
                <a:ext cx="607370"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a:off x="3743908" y="4274099"/>
                <a:ext cx="518350" cy="0"/>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p:nvGrpSpPr>
          <p:grpSpPr>
            <a:xfrm>
              <a:off x="4298736" y="4232406"/>
              <a:ext cx="1002720" cy="0"/>
              <a:chOff x="3259538" y="4274099"/>
              <a:chExt cx="1002720" cy="0"/>
            </a:xfrm>
          </p:grpSpPr>
          <p:cxnSp>
            <p:nvCxnSpPr>
              <p:cNvPr id="51" name="直接箭头连接符 50"/>
              <p:cNvCxnSpPr/>
              <p:nvPr/>
            </p:nvCxnSpPr>
            <p:spPr>
              <a:xfrm flipH="1">
                <a:off x="3259538" y="4274099"/>
                <a:ext cx="607370"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H="1">
                <a:off x="3743908" y="4274099"/>
                <a:ext cx="518350" cy="0"/>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1" name="TextBox 60"/>
            <p:cNvSpPr txBox="1"/>
            <p:nvPr/>
          </p:nvSpPr>
          <p:spPr>
            <a:xfrm>
              <a:off x="4614158" y="4565228"/>
              <a:ext cx="1569408" cy="646331"/>
            </a:xfrm>
            <a:prstGeom prst="rect">
              <a:avLst/>
            </a:prstGeom>
            <a:noFill/>
          </p:spPr>
          <p:txBody>
            <a:bodyPr wrap="square" rtlCol="0">
              <a:spAutoFit/>
            </a:bodyPr>
            <a:lstStyle/>
            <a:p>
              <a:r>
                <a:rPr lang="zh-CN" altLang="en-US" dirty="0"/>
                <a:t>模拟</a:t>
              </a:r>
              <a:endParaRPr lang="en-US" altLang="zh-CN" dirty="0"/>
            </a:p>
            <a:p>
              <a:r>
                <a:rPr lang="zh-CN" altLang="en-US" dirty="0"/>
                <a:t>信号</a:t>
              </a:r>
            </a:p>
          </p:txBody>
        </p:sp>
        <p:sp>
          <p:nvSpPr>
            <p:cNvPr id="64" name="TextBox 63"/>
            <p:cNvSpPr txBox="1"/>
            <p:nvPr/>
          </p:nvSpPr>
          <p:spPr>
            <a:xfrm>
              <a:off x="3525109" y="1988840"/>
              <a:ext cx="1569408" cy="646331"/>
            </a:xfrm>
            <a:prstGeom prst="rect">
              <a:avLst/>
            </a:prstGeom>
            <a:noFill/>
          </p:spPr>
          <p:txBody>
            <a:bodyPr wrap="square" rtlCol="0">
              <a:spAutoFit/>
            </a:bodyPr>
            <a:lstStyle/>
            <a:p>
              <a:r>
                <a:rPr lang="zh-CN" altLang="en-US" b="1" dirty="0"/>
                <a:t>感光传感器（</a:t>
              </a:r>
              <a:r>
                <a:rPr lang="en-US" altLang="zh-CN" b="1" dirty="0"/>
                <a:t>CCD</a:t>
              </a:r>
              <a:r>
                <a:rPr lang="zh-CN" altLang="en-US" b="1" dirty="0"/>
                <a:t>）</a:t>
              </a:r>
            </a:p>
          </p:txBody>
        </p:sp>
      </p:grpSp>
      <p:grpSp>
        <p:nvGrpSpPr>
          <p:cNvPr id="63" name="组合 62"/>
          <p:cNvGrpSpPr/>
          <p:nvPr/>
        </p:nvGrpSpPr>
        <p:grpSpPr>
          <a:xfrm>
            <a:off x="2277120" y="2593840"/>
            <a:ext cx="1569408" cy="3136994"/>
            <a:chOff x="2286496" y="2090465"/>
            <a:chExt cx="1569408" cy="3136994"/>
          </a:xfrm>
        </p:grpSpPr>
        <p:sp>
          <p:nvSpPr>
            <p:cNvPr id="12" name="椭圆 11"/>
            <p:cNvSpPr/>
            <p:nvPr/>
          </p:nvSpPr>
          <p:spPr>
            <a:xfrm>
              <a:off x="2637160" y="2312005"/>
              <a:ext cx="468052" cy="2915454"/>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TextBox 64"/>
            <p:cNvSpPr txBox="1"/>
            <p:nvPr/>
          </p:nvSpPr>
          <p:spPr>
            <a:xfrm>
              <a:off x="2286496" y="2090465"/>
              <a:ext cx="1569408" cy="369332"/>
            </a:xfrm>
            <a:prstGeom prst="rect">
              <a:avLst/>
            </a:prstGeom>
            <a:noFill/>
          </p:spPr>
          <p:txBody>
            <a:bodyPr wrap="square" rtlCol="0">
              <a:spAutoFit/>
            </a:bodyPr>
            <a:lstStyle/>
            <a:p>
              <a:r>
                <a:rPr lang="zh-CN" altLang="en-US" b="1" dirty="0"/>
                <a:t>镜头</a:t>
              </a:r>
            </a:p>
          </p:txBody>
        </p:sp>
      </p:grpSp>
      <p:grpSp>
        <p:nvGrpSpPr>
          <p:cNvPr id="62" name="组合 61"/>
          <p:cNvGrpSpPr/>
          <p:nvPr/>
        </p:nvGrpSpPr>
        <p:grpSpPr>
          <a:xfrm>
            <a:off x="604966" y="2982046"/>
            <a:ext cx="2062193" cy="2191133"/>
            <a:chOff x="614342" y="2478671"/>
            <a:chExt cx="2062193" cy="2191133"/>
          </a:xfrm>
        </p:grpSpPr>
        <p:cxnSp>
          <p:nvCxnSpPr>
            <p:cNvPr id="5" name="直接箭头连接符 4"/>
            <p:cNvCxnSpPr/>
            <p:nvPr/>
          </p:nvCxnSpPr>
          <p:spPr>
            <a:xfrm flipH="1" flipV="1">
              <a:off x="1189268" y="2847373"/>
              <a:ext cx="419557" cy="416873"/>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flipV="1">
              <a:off x="1189268" y="2847373"/>
              <a:ext cx="1487267" cy="1477753"/>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1124455" y="4272178"/>
              <a:ext cx="437839" cy="397626"/>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1124455" y="3260278"/>
              <a:ext cx="1552079" cy="1409526"/>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1124455" y="3764209"/>
              <a:ext cx="607370"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1608825" y="3764209"/>
              <a:ext cx="1036700" cy="0"/>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614342" y="2478671"/>
              <a:ext cx="1569408" cy="369332"/>
            </a:xfrm>
            <a:prstGeom prst="rect">
              <a:avLst/>
            </a:prstGeom>
            <a:noFill/>
          </p:spPr>
          <p:txBody>
            <a:bodyPr wrap="square" rtlCol="0">
              <a:spAutoFit/>
            </a:bodyPr>
            <a:lstStyle/>
            <a:p>
              <a:r>
                <a:rPr lang="zh-CN" altLang="en-US" b="1" dirty="0"/>
                <a:t>光源</a:t>
              </a:r>
            </a:p>
          </p:txBody>
        </p:sp>
      </p:grpSp>
      <p:sp>
        <p:nvSpPr>
          <p:cNvPr id="67" name="TextBox 66"/>
          <p:cNvSpPr txBox="1"/>
          <p:nvPr/>
        </p:nvSpPr>
        <p:spPr>
          <a:xfrm>
            <a:off x="5858768" y="4650852"/>
            <a:ext cx="1569408" cy="646331"/>
          </a:xfrm>
          <a:prstGeom prst="rect">
            <a:avLst/>
          </a:prstGeom>
          <a:noFill/>
        </p:spPr>
        <p:txBody>
          <a:bodyPr wrap="square" rtlCol="0">
            <a:spAutoFit/>
          </a:bodyPr>
          <a:lstStyle/>
          <a:p>
            <a:r>
              <a:rPr lang="zh-CN" altLang="en-US" dirty="0"/>
              <a:t>数字</a:t>
            </a:r>
            <a:endParaRPr lang="en-US" altLang="zh-CN" dirty="0"/>
          </a:p>
          <a:p>
            <a:r>
              <a:rPr lang="zh-CN" altLang="en-US" dirty="0"/>
              <a:t>信号</a:t>
            </a:r>
          </a:p>
        </p:txBody>
      </p:sp>
      <p:grpSp>
        <p:nvGrpSpPr>
          <p:cNvPr id="111616" name="组合 111615"/>
          <p:cNvGrpSpPr/>
          <p:nvPr/>
        </p:nvGrpSpPr>
        <p:grpSpPr>
          <a:xfrm>
            <a:off x="2843808" y="3714610"/>
            <a:ext cx="1827590" cy="2028059"/>
            <a:chOff x="2853184" y="3211235"/>
            <a:chExt cx="1827590" cy="2028059"/>
          </a:xfrm>
        </p:grpSpPr>
        <p:grpSp>
          <p:nvGrpSpPr>
            <p:cNvPr id="32" name="组合 31"/>
            <p:cNvGrpSpPr/>
            <p:nvPr/>
          </p:nvGrpSpPr>
          <p:grpSpPr>
            <a:xfrm>
              <a:off x="2853184" y="3211235"/>
              <a:ext cx="1002720" cy="0"/>
              <a:chOff x="3259538" y="4274099"/>
              <a:chExt cx="1002720" cy="0"/>
            </a:xfrm>
          </p:grpSpPr>
          <p:cxnSp>
            <p:nvCxnSpPr>
              <p:cNvPr id="33" name="直接箭头连接符 32"/>
              <p:cNvCxnSpPr/>
              <p:nvPr/>
            </p:nvCxnSpPr>
            <p:spPr>
              <a:xfrm flipH="1">
                <a:off x="3259538" y="4274099"/>
                <a:ext cx="607370"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H="1">
                <a:off x="3743908" y="4274099"/>
                <a:ext cx="518350" cy="0"/>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2877247" y="3764209"/>
              <a:ext cx="1002720" cy="0"/>
              <a:chOff x="3259538" y="4274099"/>
              <a:chExt cx="1002720" cy="0"/>
            </a:xfrm>
          </p:grpSpPr>
          <p:cxnSp>
            <p:nvCxnSpPr>
              <p:cNvPr id="38" name="直接箭头连接符 37"/>
              <p:cNvCxnSpPr/>
              <p:nvPr/>
            </p:nvCxnSpPr>
            <p:spPr>
              <a:xfrm flipH="1">
                <a:off x="3259538" y="4274099"/>
                <a:ext cx="607370"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H="1">
                <a:off x="3743908" y="4274099"/>
                <a:ext cx="518350" cy="0"/>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2888853" y="4304414"/>
              <a:ext cx="1002720" cy="0"/>
              <a:chOff x="3259538" y="4274099"/>
              <a:chExt cx="1002720" cy="0"/>
            </a:xfrm>
          </p:grpSpPr>
          <p:cxnSp>
            <p:nvCxnSpPr>
              <p:cNvPr id="41" name="直接箭头连接符 40"/>
              <p:cNvCxnSpPr/>
              <p:nvPr/>
            </p:nvCxnSpPr>
            <p:spPr>
              <a:xfrm flipH="1">
                <a:off x="3259538" y="4274099"/>
                <a:ext cx="607370" cy="0"/>
              </a:xfrm>
              <a:prstGeom prst="straightConnector1">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H="1">
                <a:off x="3743908" y="4274099"/>
                <a:ext cx="518350" cy="0"/>
              </a:xfrm>
              <a:prstGeom prst="straightConnector1">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3111366" y="4592963"/>
              <a:ext cx="1569408" cy="646331"/>
            </a:xfrm>
            <a:prstGeom prst="rect">
              <a:avLst/>
            </a:prstGeom>
            <a:noFill/>
          </p:spPr>
          <p:txBody>
            <a:bodyPr wrap="square" rtlCol="0">
              <a:spAutoFit/>
            </a:bodyPr>
            <a:lstStyle/>
            <a:p>
              <a:r>
                <a:rPr lang="zh-CN" altLang="en-US" dirty="0"/>
                <a:t>光</a:t>
              </a:r>
              <a:endParaRPr lang="en-US" altLang="zh-CN" dirty="0"/>
            </a:p>
            <a:p>
              <a:r>
                <a:rPr lang="zh-CN" altLang="en-US" dirty="0"/>
                <a:t>信号</a:t>
              </a:r>
            </a:p>
          </p:txBody>
        </p:sp>
      </p:grpSp>
      <p:sp>
        <p:nvSpPr>
          <p:cNvPr id="4" name="灯片编号占位符 3"/>
          <p:cNvSpPr>
            <a:spLocks noGrp="1"/>
          </p:cNvSpPr>
          <p:nvPr>
            <p:ph type="sldNum" sz="quarter" idx="12"/>
          </p:nvPr>
        </p:nvSpPr>
        <p:spPr/>
        <p:txBody>
          <a:bodyPr/>
          <a:lstStyle/>
          <a:p>
            <a:fld id="{F64BA984-46A0-4F46-990E-EC790E6934B4}" type="slidenum">
              <a:rPr lang="zh-CN" altLang="en-US" smtClean="0"/>
              <a:t>20</a:t>
            </a:fld>
            <a:endParaRPr lang="zh-CN" altLang="en-US"/>
          </a:p>
        </p:txBody>
      </p:sp>
      <p:sp>
        <p:nvSpPr>
          <p:cNvPr id="5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采集</a:t>
            </a:r>
          </a:p>
        </p:txBody>
      </p:sp>
    </p:spTree>
    <p:extLst>
      <p:ext uri="{BB962C8B-B14F-4D97-AF65-F5344CB8AC3E}">
        <p14:creationId xmlns:p14="http://schemas.microsoft.com/office/powerpoint/2010/main" val="1018906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73932" y="1027277"/>
            <a:ext cx="8229600" cy="703263"/>
          </a:xfrm>
        </p:spPr>
        <p:txBody>
          <a:bodyPr>
            <a:normAutofit fontScale="90000"/>
          </a:bodyPr>
          <a:lstStyle/>
          <a:p>
            <a:r>
              <a:rPr lang="en-US" altLang="zh-CN" dirty="0"/>
              <a:t>CCD</a:t>
            </a:r>
            <a:r>
              <a:rPr lang="zh-CN" altLang="en-US" dirty="0"/>
              <a:t>成像原理</a:t>
            </a:r>
          </a:p>
        </p:txBody>
      </p:sp>
      <p:grpSp>
        <p:nvGrpSpPr>
          <p:cNvPr id="4" name="Group 4"/>
          <p:cNvGrpSpPr>
            <a:grpSpLocks/>
          </p:cNvGrpSpPr>
          <p:nvPr/>
        </p:nvGrpSpPr>
        <p:grpSpPr bwMode="auto">
          <a:xfrm>
            <a:off x="1672633" y="5554687"/>
            <a:ext cx="5400675" cy="682625"/>
            <a:chOff x="516" y="1448"/>
            <a:chExt cx="4007" cy="615"/>
          </a:xfrm>
        </p:grpSpPr>
        <p:sp>
          <p:nvSpPr>
            <p:cNvPr id="5" name="Rectangle 5"/>
            <p:cNvSpPr>
              <a:spLocks noChangeArrowheads="1"/>
            </p:cNvSpPr>
            <p:nvPr/>
          </p:nvSpPr>
          <p:spPr bwMode="auto">
            <a:xfrm>
              <a:off x="929" y="1567"/>
              <a:ext cx="742" cy="44"/>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2700000" scaled="1"/>
            </a:gradFill>
            <a:ln w="12700" cap="sq">
              <a:solidFill>
                <a:schemeClr val="tx1"/>
              </a:solidFill>
              <a:miter lim="800000"/>
              <a:headEnd type="none" w="sm" len="sm"/>
              <a:tailEnd type="none" w="sm" len="sm"/>
            </a:ln>
          </p:spPr>
          <p:txBody>
            <a:bodyPr wrap="none" anchor="ctr"/>
            <a:lstStyle/>
            <a:p>
              <a:endParaRPr lang="zh-CN" altLang="zh-CN"/>
            </a:p>
          </p:txBody>
        </p:sp>
        <p:sp>
          <p:nvSpPr>
            <p:cNvPr id="6" name="Rectangle 6"/>
            <p:cNvSpPr>
              <a:spLocks noChangeArrowheads="1"/>
            </p:cNvSpPr>
            <p:nvPr/>
          </p:nvSpPr>
          <p:spPr bwMode="auto">
            <a:xfrm>
              <a:off x="1715" y="1569"/>
              <a:ext cx="742" cy="44"/>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2700000" scaled="1"/>
            </a:gradFill>
            <a:ln w="12700" cap="sq">
              <a:solidFill>
                <a:schemeClr val="tx1"/>
              </a:solidFill>
              <a:miter lim="800000"/>
              <a:headEnd type="none" w="sm" len="sm"/>
              <a:tailEnd type="none" w="sm" len="sm"/>
            </a:ln>
          </p:spPr>
          <p:txBody>
            <a:bodyPr wrap="none" anchor="ctr"/>
            <a:lstStyle/>
            <a:p>
              <a:endParaRPr lang="zh-CN" altLang="zh-CN"/>
            </a:p>
          </p:txBody>
        </p:sp>
        <p:sp>
          <p:nvSpPr>
            <p:cNvPr id="7" name="Rectangle 7"/>
            <p:cNvSpPr>
              <a:spLocks noChangeArrowheads="1"/>
            </p:cNvSpPr>
            <p:nvPr/>
          </p:nvSpPr>
          <p:spPr bwMode="auto">
            <a:xfrm>
              <a:off x="2511" y="1561"/>
              <a:ext cx="384" cy="49"/>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2700000" scaled="1"/>
            </a:gradFill>
            <a:ln w="12700" cap="sq">
              <a:solidFill>
                <a:schemeClr val="tx1"/>
              </a:solidFill>
              <a:miter lim="800000"/>
              <a:headEnd type="none" w="sm" len="sm"/>
              <a:tailEnd type="none" w="sm" len="sm"/>
            </a:ln>
          </p:spPr>
          <p:txBody>
            <a:bodyPr wrap="none" anchor="ctr"/>
            <a:lstStyle/>
            <a:p>
              <a:endParaRPr lang="zh-CN" altLang="zh-CN"/>
            </a:p>
          </p:txBody>
        </p:sp>
        <p:sp>
          <p:nvSpPr>
            <p:cNvPr id="8" name="Rectangle 8"/>
            <p:cNvSpPr>
              <a:spLocks noChangeArrowheads="1"/>
            </p:cNvSpPr>
            <p:nvPr/>
          </p:nvSpPr>
          <p:spPr bwMode="auto">
            <a:xfrm>
              <a:off x="546" y="1568"/>
              <a:ext cx="352" cy="43"/>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2700000" scaled="1"/>
            </a:gradFill>
            <a:ln w="12700" cap="sq">
              <a:solidFill>
                <a:schemeClr val="tx1"/>
              </a:solidFill>
              <a:miter lim="800000"/>
              <a:headEnd type="none" w="sm" len="sm"/>
              <a:tailEnd type="none" w="sm" len="sm"/>
            </a:ln>
          </p:spPr>
          <p:txBody>
            <a:bodyPr wrap="none" anchor="ctr"/>
            <a:lstStyle/>
            <a:p>
              <a:endParaRPr lang="zh-CN" altLang="zh-CN"/>
            </a:p>
          </p:txBody>
        </p:sp>
        <p:sp>
          <p:nvSpPr>
            <p:cNvPr id="9" name="Rectangle 9"/>
            <p:cNvSpPr>
              <a:spLocks noChangeArrowheads="1"/>
            </p:cNvSpPr>
            <p:nvPr/>
          </p:nvSpPr>
          <p:spPr bwMode="auto">
            <a:xfrm>
              <a:off x="548" y="1664"/>
              <a:ext cx="3939" cy="380"/>
            </a:xfrm>
            <a:prstGeom prst="rect">
              <a:avLst/>
            </a:prstGeom>
            <a:gradFill rotWithShape="0">
              <a:gsLst>
                <a:gs pos="0">
                  <a:schemeClr val="accent2"/>
                </a:gs>
                <a:gs pos="50000">
                  <a:srgbClr val="99FFCC"/>
                </a:gs>
                <a:gs pos="100000">
                  <a:schemeClr val="accent2"/>
                </a:gs>
              </a:gsLst>
              <a:lin ang="2700000" scaled="1"/>
            </a:gradFill>
            <a:ln w="12700" cap="sq">
              <a:solidFill>
                <a:schemeClr val="bg2"/>
              </a:solidFill>
              <a:miter lim="800000"/>
              <a:headEnd type="none" w="sm" len="sm"/>
              <a:tailEnd type="none" w="sm" len="sm"/>
            </a:ln>
            <a:effectLst/>
          </p:spPr>
          <p:txBody>
            <a:bodyPr wrap="none" anchor="ctr"/>
            <a:lstStyle/>
            <a:p>
              <a:pPr eaLnBrk="0" hangingPunct="0"/>
              <a:endParaRPr lang="en-US" altLang="en-US" sz="2400">
                <a:latin typeface="Times New Roman" pitchFamily="18" charset="0"/>
              </a:endParaRPr>
            </a:p>
          </p:txBody>
        </p:sp>
        <p:sp>
          <p:nvSpPr>
            <p:cNvPr id="10" name="Rectangle 10"/>
            <p:cNvSpPr>
              <a:spLocks noChangeArrowheads="1"/>
            </p:cNvSpPr>
            <p:nvPr/>
          </p:nvSpPr>
          <p:spPr bwMode="auto">
            <a:xfrm>
              <a:off x="922" y="1671"/>
              <a:ext cx="748" cy="256"/>
            </a:xfrm>
            <a:prstGeom prst="rect">
              <a:avLst/>
            </a:prstGeom>
            <a:solidFill>
              <a:schemeClr val="tx2">
                <a:alpha val="50195"/>
              </a:schemeClr>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p>
              <a:endParaRPr lang="zh-CN" altLang="zh-CN"/>
            </a:p>
          </p:txBody>
        </p:sp>
        <p:sp useBgFill="1">
          <p:nvSpPr>
            <p:cNvPr id="11" name="Freeform 11"/>
            <p:cNvSpPr>
              <a:spLocks/>
            </p:cNvSpPr>
            <p:nvPr/>
          </p:nvSpPr>
          <p:spPr bwMode="auto">
            <a:xfrm flipH="1">
              <a:off x="516" y="1480"/>
              <a:ext cx="127" cy="583"/>
            </a:xfrm>
            <a:custGeom>
              <a:avLst/>
              <a:gdLst>
                <a:gd name="T0" fmla="*/ 1 w 246"/>
                <a:gd name="T1" fmla="*/ 0 h 1210"/>
                <a:gd name="T2" fmla="*/ 0 w 246"/>
                <a:gd name="T3" fmla="*/ 0 h 1210"/>
                <a:gd name="T4" fmla="*/ 1 w 246"/>
                <a:gd name="T5" fmla="*/ 0 h 1210"/>
                <a:gd name="T6" fmla="*/ 0 w 246"/>
                <a:gd name="T7" fmla="*/ 0 h 1210"/>
                <a:gd name="T8" fmla="*/ 1 w 246"/>
                <a:gd name="T9" fmla="*/ 0 h 1210"/>
                <a:gd name="T10" fmla="*/ 0 w 246"/>
                <a:gd name="T11" fmla="*/ 0 h 1210"/>
                <a:gd name="T12" fmla="*/ 1 w 246"/>
                <a:gd name="T13" fmla="*/ 0 h 1210"/>
                <a:gd name="T14" fmla="*/ 1 w 246"/>
                <a:gd name="T15" fmla="*/ 0 h 1210"/>
                <a:gd name="T16" fmla="*/ 1 w 246"/>
                <a:gd name="T17" fmla="*/ 0 h 1210"/>
                <a:gd name="T18" fmla="*/ 1 w 246"/>
                <a:gd name="T19" fmla="*/ 0 h 1210"/>
                <a:gd name="T20" fmla="*/ 1 w 246"/>
                <a:gd name="T21" fmla="*/ 0 h 12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6"/>
                <a:gd name="T34" fmla="*/ 0 h 1210"/>
                <a:gd name="T35" fmla="*/ 246 w 246"/>
                <a:gd name="T36" fmla="*/ 1210 h 12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6" h="1210">
                  <a:moveTo>
                    <a:pt x="154" y="10"/>
                  </a:moveTo>
                  <a:lnTo>
                    <a:pt x="0" y="328"/>
                  </a:lnTo>
                  <a:lnTo>
                    <a:pt x="93" y="492"/>
                  </a:lnTo>
                  <a:lnTo>
                    <a:pt x="0" y="728"/>
                  </a:lnTo>
                  <a:lnTo>
                    <a:pt x="134" y="851"/>
                  </a:lnTo>
                  <a:lnTo>
                    <a:pt x="0" y="974"/>
                  </a:lnTo>
                  <a:lnTo>
                    <a:pt x="123" y="1087"/>
                  </a:lnTo>
                  <a:lnTo>
                    <a:pt x="41" y="1210"/>
                  </a:lnTo>
                  <a:lnTo>
                    <a:pt x="236" y="1200"/>
                  </a:lnTo>
                  <a:lnTo>
                    <a:pt x="246" y="0"/>
                  </a:lnTo>
                  <a:lnTo>
                    <a:pt x="154" y="10"/>
                  </a:lnTo>
                  <a:close/>
                </a:path>
              </a:pathLst>
            </a:custGeom>
            <a:ln>
              <a:noFill/>
            </a:ln>
            <a:extLst>
              <a:ext uri="{91240B29-F687-4F45-9708-019B960494DF}">
                <a14:hiddenLine xmlns:a14="http://schemas.microsoft.com/office/drawing/2010/main" w="12700" cap="sq">
                  <a:solidFill>
                    <a:srgbClr val="000000"/>
                  </a:solidFill>
                  <a:round/>
                  <a:headEnd type="none" w="sm" len="sm"/>
                  <a:tailEnd type="none" w="sm" len="sm"/>
                </a14:hiddenLine>
              </a:ext>
            </a:extLst>
          </p:spPr>
          <p:txBody>
            <a:bodyPr wrap="none" anchor="ctr"/>
            <a:lstStyle/>
            <a:p>
              <a:endParaRPr lang="zh-CN" altLang="en-US"/>
            </a:p>
          </p:txBody>
        </p:sp>
        <p:sp>
          <p:nvSpPr>
            <p:cNvPr id="12" name="Rectangle 12"/>
            <p:cNvSpPr>
              <a:spLocks noChangeArrowheads="1"/>
            </p:cNvSpPr>
            <p:nvPr/>
          </p:nvSpPr>
          <p:spPr bwMode="auto">
            <a:xfrm>
              <a:off x="2513" y="1570"/>
              <a:ext cx="742" cy="44"/>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2700000" scaled="1"/>
            </a:gradFill>
            <a:ln w="12700" cap="sq">
              <a:solidFill>
                <a:schemeClr val="tx1"/>
              </a:solidFill>
              <a:miter lim="800000"/>
              <a:headEnd type="none" w="sm" len="sm"/>
              <a:tailEnd type="none" w="sm" len="sm"/>
            </a:ln>
          </p:spPr>
          <p:txBody>
            <a:bodyPr wrap="none" anchor="ctr"/>
            <a:lstStyle/>
            <a:p>
              <a:endParaRPr lang="zh-CN" altLang="zh-CN"/>
            </a:p>
          </p:txBody>
        </p:sp>
        <p:sp>
          <p:nvSpPr>
            <p:cNvPr id="13" name="Rectangle 13"/>
            <p:cNvSpPr>
              <a:spLocks noChangeArrowheads="1"/>
            </p:cNvSpPr>
            <p:nvPr/>
          </p:nvSpPr>
          <p:spPr bwMode="auto">
            <a:xfrm>
              <a:off x="3299" y="1572"/>
              <a:ext cx="742" cy="44"/>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2700000" scaled="1"/>
            </a:gradFill>
            <a:ln w="12700" cap="sq">
              <a:solidFill>
                <a:schemeClr val="tx1"/>
              </a:solidFill>
              <a:miter lim="800000"/>
              <a:headEnd type="none" w="sm" len="sm"/>
              <a:tailEnd type="none" w="sm" len="sm"/>
            </a:ln>
          </p:spPr>
          <p:txBody>
            <a:bodyPr wrap="none" anchor="ctr"/>
            <a:lstStyle/>
            <a:p>
              <a:endParaRPr lang="zh-CN" altLang="zh-CN"/>
            </a:p>
          </p:txBody>
        </p:sp>
        <p:sp>
          <p:nvSpPr>
            <p:cNvPr id="14" name="Rectangle 14"/>
            <p:cNvSpPr>
              <a:spLocks noChangeArrowheads="1"/>
            </p:cNvSpPr>
            <p:nvPr/>
          </p:nvSpPr>
          <p:spPr bwMode="auto">
            <a:xfrm>
              <a:off x="4095" y="1569"/>
              <a:ext cx="384" cy="49"/>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2700000" scaled="1"/>
            </a:gradFill>
            <a:ln w="12700" cap="sq">
              <a:solidFill>
                <a:schemeClr val="tx1"/>
              </a:solidFill>
              <a:miter lim="800000"/>
              <a:headEnd type="none" w="sm" len="sm"/>
              <a:tailEnd type="none" w="sm" len="sm"/>
            </a:ln>
          </p:spPr>
          <p:txBody>
            <a:bodyPr wrap="none" anchor="ctr"/>
            <a:lstStyle/>
            <a:p>
              <a:endParaRPr lang="zh-CN" altLang="zh-CN"/>
            </a:p>
          </p:txBody>
        </p:sp>
        <p:sp>
          <p:nvSpPr>
            <p:cNvPr id="15" name="Rectangle 15"/>
            <p:cNvSpPr>
              <a:spLocks noChangeArrowheads="1"/>
            </p:cNvSpPr>
            <p:nvPr/>
          </p:nvSpPr>
          <p:spPr bwMode="auto">
            <a:xfrm>
              <a:off x="4090" y="1666"/>
              <a:ext cx="400" cy="257"/>
            </a:xfrm>
            <a:prstGeom prst="rect">
              <a:avLst/>
            </a:prstGeom>
            <a:solidFill>
              <a:schemeClr val="tx2">
                <a:alpha val="50195"/>
              </a:schemeClr>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p>
              <a:endParaRPr lang="zh-CN" altLang="zh-CN"/>
            </a:p>
          </p:txBody>
        </p:sp>
        <p:sp>
          <p:nvSpPr>
            <p:cNvPr id="16" name="Rectangle 16"/>
            <p:cNvSpPr>
              <a:spLocks noChangeArrowheads="1"/>
            </p:cNvSpPr>
            <p:nvPr/>
          </p:nvSpPr>
          <p:spPr bwMode="auto">
            <a:xfrm>
              <a:off x="2506" y="1664"/>
              <a:ext cx="748" cy="256"/>
            </a:xfrm>
            <a:prstGeom prst="rect">
              <a:avLst/>
            </a:prstGeom>
            <a:solidFill>
              <a:schemeClr val="tx2">
                <a:alpha val="50195"/>
              </a:schemeClr>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p>
              <a:endParaRPr lang="zh-CN" altLang="zh-CN"/>
            </a:p>
          </p:txBody>
        </p:sp>
        <p:sp>
          <p:nvSpPr>
            <p:cNvPr id="17" name="Rectangle 17"/>
            <p:cNvSpPr>
              <a:spLocks noChangeArrowheads="1"/>
            </p:cNvSpPr>
            <p:nvPr/>
          </p:nvSpPr>
          <p:spPr bwMode="auto">
            <a:xfrm>
              <a:off x="541" y="1621"/>
              <a:ext cx="3955" cy="47"/>
            </a:xfrm>
            <a:prstGeom prst="rect">
              <a:avLst/>
            </a:prstGeom>
            <a:solidFill>
              <a:srgbClr val="996600"/>
            </a:solidFill>
            <a:ln w="12700" cap="sq">
              <a:solidFill>
                <a:srgbClr val="663300"/>
              </a:solidFill>
              <a:miter lim="800000"/>
              <a:headEnd type="none" w="sm" len="sm"/>
              <a:tailEnd type="none" w="sm" len="sm"/>
            </a:ln>
          </p:spPr>
          <p:txBody>
            <a:bodyPr wrap="none" anchor="ctr"/>
            <a:lstStyle/>
            <a:p>
              <a:pPr eaLnBrk="0" hangingPunct="0"/>
              <a:endParaRPr lang="en-US" altLang="en-US" sz="2400">
                <a:latin typeface="Times New Roman" pitchFamily="18" charset="0"/>
              </a:endParaRPr>
            </a:p>
          </p:txBody>
        </p:sp>
        <p:sp useBgFill="1">
          <p:nvSpPr>
            <p:cNvPr id="18" name="Freeform 18"/>
            <p:cNvSpPr>
              <a:spLocks/>
            </p:cNvSpPr>
            <p:nvPr/>
          </p:nvSpPr>
          <p:spPr bwMode="auto">
            <a:xfrm>
              <a:off x="4396" y="1448"/>
              <a:ext cx="127" cy="583"/>
            </a:xfrm>
            <a:custGeom>
              <a:avLst/>
              <a:gdLst>
                <a:gd name="T0" fmla="*/ 1 w 246"/>
                <a:gd name="T1" fmla="*/ 0 h 1210"/>
                <a:gd name="T2" fmla="*/ 0 w 246"/>
                <a:gd name="T3" fmla="*/ 0 h 1210"/>
                <a:gd name="T4" fmla="*/ 1 w 246"/>
                <a:gd name="T5" fmla="*/ 0 h 1210"/>
                <a:gd name="T6" fmla="*/ 0 w 246"/>
                <a:gd name="T7" fmla="*/ 0 h 1210"/>
                <a:gd name="T8" fmla="*/ 1 w 246"/>
                <a:gd name="T9" fmla="*/ 0 h 1210"/>
                <a:gd name="T10" fmla="*/ 0 w 246"/>
                <a:gd name="T11" fmla="*/ 0 h 1210"/>
                <a:gd name="T12" fmla="*/ 1 w 246"/>
                <a:gd name="T13" fmla="*/ 0 h 1210"/>
                <a:gd name="T14" fmla="*/ 1 w 246"/>
                <a:gd name="T15" fmla="*/ 0 h 1210"/>
                <a:gd name="T16" fmla="*/ 1 w 246"/>
                <a:gd name="T17" fmla="*/ 0 h 1210"/>
                <a:gd name="T18" fmla="*/ 1 w 246"/>
                <a:gd name="T19" fmla="*/ 0 h 1210"/>
                <a:gd name="T20" fmla="*/ 1 w 246"/>
                <a:gd name="T21" fmla="*/ 0 h 12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6"/>
                <a:gd name="T34" fmla="*/ 0 h 1210"/>
                <a:gd name="T35" fmla="*/ 246 w 246"/>
                <a:gd name="T36" fmla="*/ 1210 h 12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6" h="1210">
                  <a:moveTo>
                    <a:pt x="154" y="10"/>
                  </a:moveTo>
                  <a:lnTo>
                    <a:pt x="0" y="328"/>
                  </a:lnTo>
                  <a:lnTo>
                    <a:pt x="93" y="492"/>
                  </a:lnTo>
                  <a:lnTo>
                    <a:pt x="0" y="728"/>
                  </a:lnTo>
                  <a:lnTo>
                    <a:pt x="134" y="851"/>
                  </a:lnTo>
                  <a:lnTo>
                    <a:pt x="0" y="974"/>
                  </a:lnTo>
                  <a:lnTo>
                    <a:pt x="123" y="1087"/>
                  </a:lnTo>
                  <a:lnTo>
                    <a:pt x="41" y="1210"/>
                  </a:lnTo>
                  <a:lnTo>
                    <a:pt x="236" y="1200"/>
                  </a:lnTo>
                  <a:lnTo>
                    <a:pt x="246" y="0"/>
                  </a:lnTo>
                  <a:lnTo>
                    <a:pt x="154" y="10"/>
                  </a:lnTo>
                  <a:close/>
                </a:path>
              </a:pathLst>
            </a:custGeom>
            <a:ln>
              <a:noFill/>
            </a:ln>
            <a:extLst>
              <a:ext uri="{91240B29-F687-4F45-9708-019B960494DF}">
                <a14:hiddenLine xmlns:a14="http://schemas.microsoft.com/office/drawing/2010/main" w="12700" cap="sq">
                  <a:solidFill>
                    <a:srgbClr val="000000"/>
                  </a:solidFill>
                  <a:round/>
                  <a:headEnd type="none" w="sm" len="sm"/>
                  <a:tailEnd type="none" w="sm" len="sm"/>
                </a14:hiddenLine>
              </a:ext>
            </a:extLst>
          </p:spPr>
          <p:txBody>
            <a:bodyPr wrap="none" anchor="ctr"/>
            <a:lstStyle/>
            <a:p>
              <a:endParaRPr lang="zh-CN" altLang="en-US"/>
            </a:p>
          </p:txBody>
        </p:sp>
      </p:grpSp>
      <p:sp>
        <p:nvSpPr>
          <p:cNvPr id="19" name="Line 19"/>
          <p:cNvSpPr>
            <a:spLocks noChangeShapeType="1"/>
          </p:cNvSpPr>
          <p:nvPr/>
        </p:nvSpPr>
        <p:spPr bwMode="auto">
          <a:xfrm flipH="1">
            <a:off x="2286995" y="3890987"/>
            <a:ext cx="504825"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0"/>
          <p:cNvSpPr>
            <a:spLocks noChangeShapeType="1"/>
          </p:cNvSpPr>
          <p:nvPr/>
        </p:nvSpPr>
        <p:spPr bwMode="auto">
          <a:xfrm flipH="1">
            <a:off x="2487020" y="3890987"/>
            <a:ext cx="504825"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1"/>
          <p:cNvSpPr>
            <a:spLocks noChangeShapeType="1"/>
          </p:cNvSpPr>
          <p:nvPr/>
        </p:nvSpPr>
        <p:spPr bwMode="auto">
          <a:xfrm flipH="1">
            <a:off x="2656883" y="3890987"/>
            <a:ext cx="504825"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2"/>
          <p:cNvSpPr>
            <a:spLocks noChangeShapeType="1"/>
          </p:cNvSpPr>
          <p:nvPr/>
        </p:nvSpPr>
        <p:spPr bwMode="auto">
          <a:xfrm flipH="1">
            <a:off x="2856908" y="3890987"/>
            <a:ext cx="506412"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3"/>
          <p:cNvSpPr>
            <a:spLocks noChangeShapeType="1"/>
          </p:cNvSpPr>
          <p:nvPr/>
        </p:nvSpPr>
        <p:spPr bwMode="auto">
          <a:xfrm flipH="1">
            <a:off x="3044233" y="3890987"/>
            <a:ext cx="503237"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4"/>
          <p:cNvSpPr>
            <a:spLocks noChangeShapeType="1"/>
          </p:cNvSpPr>
          <p:nvPr/>
        </p:nvSpPr>
        <p:spPr bwMode="auto">
          <a:xfrm flipH="1">
            <a:off x="4774608" y="3890987"/>
            <a:ext cx="503237"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flipH="1">
            <a:off x="4927008" y="3890987"/>
            <a:ext cx="504825"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6"/>
          <p:cNvSpPr>
            <a:spLocks noChangeShapeType="1"/>
          </p:cNvSpPr>
          <p:nvPr/>
        </p:nvSpPr>
        <p:spPr bwMode="auto">
          <a:xfrm flipH="1">
            <a:off x="4199933" y="3890987"/>
            <a:ext cx="506412"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7"/>
          <p:cNvSpPr>
            <a:spLocks noChangeShapeType="1"/>
          </p:cNvSpPr>
          <p:nvPr/>
        </p:nvSpPr>
        <p:spPr bwMode="auto">
          <a:xfrm flipH="1">
            <a:off x="2364783" y="3890987"/>
            <a:ext cx="506412"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8"/>
          <p:cNvSpPr>
            <a:spLocks noChangeShapeType="1"/>
          </p:cNvSpPr>
          <p:nvPr/>
        </p:nvSpPr>
        <p:spPr bwMode="auto">
          <a:xfrm flipH="1">
            <a:off x="3233145" y="3890987"/>
            <a:ext cx="506413" cy="1514475"/>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Text Box 29"/>
          <p:cNvSpPr txBox="1">
            <a:spLocks noChangeArrowheads="1"/>
          </p:cNvSpPr>
          <p:nvPr/>
        </p:nvSpPr>
        <p:spPr bwMode="auto">
          <a:xfrm>
            <a:off x="2228258" y="5700737"/>
            <a:ext cx="3349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0" name="Text Box 30"/>
          <p:cNvSpPr txBox="1">
            <a:spLocks noChangeArrowheads="1"/>
          </p:cNvSpPr>
          <p:nvPr/>
        </p:nvSpPr>
        <p:spPr bwMode="auto">
          <a:xfrm>
            <a:off x="2380658" y="5853137"/>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1" name="Text Box 31"/>
          <p:cNvSpPr txBox="1">
            <a:spLocks noChangeArrowheads="1"/>
          </p:cNvSpPr>
          <p:nvPr/>
        </p:nvSpPr>
        <p:spPr bwMode="auto">
          <a:xfrm>
            <a:off x="2501308" y="5729312"/>
            <a:ext cx="3349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2" name="Text Box 32"/>
          <p:cNvSpPr txBox="1">
            <a:spLocks noChangeArrowheads="1"/>
          </p:cNvSpPr>
          <p:nvPr/>
        </p:nvSpPr>
        <p:spPr bwMode="auto">
          <a:xfrm>
            <a:off x="2699745" y="5734075"/>
            <a:ext cx="3381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3" name="Text Box 33"/>
          <p:cNvSpPr txBox="1">
            <a:spLocks noChangeArrowheads="1"/>
          </p:cNvSpPr>
          <p:nvPr/>
        </p:nvSpPr>
        <p:spPr bwMode="auto">
          <a:xfrm>
            <a:off x="2821983" y="5821387"/>
            <a:ext cx="338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4" name="Text Box 34"/>
          <p:cNvSpPr txBox="1">
            <a:spLocks noChangeArrowheads="1"/>
          </p:cNvSpPr>
          <p:nvPr/>
        </p:nvSpPr>
        <p:spPr bwMode="auto">
          <a:xfrm>
            <a:off x="4406308" y="5745187"/>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5" name="Text Box 35"/>
          <p:cNvSpPr txBox="1">
            <a:spLocks noChangeArrowheads="1"/>
          </p:cNvSpPr>
          <p:nvPr/>
        </p:nvSpPr>
        <p:spPr bwMode="auto">
          <a:xfrm>
            <a:off x="2996608" y="5783287"/>
            <a:ext cx="3349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6" name="Text Box 36"/>
          <p:cNvSpPr txBox="1">
            <a:spLocks noChangeArrowheads="1"/>
          </p:cNvSpPr>
          <p:nvPr/>
        </p:nvSpPr>
        <p:spPr bwMode="auto">
          <a:xfrm>
            <a:off x="2364783" y="5724550"/>
            <a:ext cx="338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7" name="Text Box 37"/>
          <p:cNvSpPr txBox="1">
            <a:spLocks noChangeArrowheads="1"/>
          </p:cNvSpPr>
          <p:nvPr/>
        </p:nvSpPr>
        <p:spPr bwMode="auto">
          <a:xfrm>
            <a:off x="2798170" y="5664225"/>
            <a:ext cx="33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8" name="Text Box 38"/>
          <p:cNvSpPr txBox="1">
            <a:spLocks noChangeArrowheads="1"/>
          </p:cNvSpPr>
          <p:nvPr/>
        </p:nvSpPr>
        <p:spPr bwMode="auto">
          <a:xfrm>
            <a:off x="4625383" y="5735662"/>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39" name="Text Box 39"/>
          <p:cNvSpPr txBox="1">
            <a:spLocks noChangeArrowheads="1"/>
          </p:cNvSpPr>
          <p:nvPr/>
        </p:nvSpPr>
        <p:spPr bwMode="auto">
          <a:xfrm>
            <a:off x="4874620" y="5724550"/>
            <a:ext cx="33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b="1">
                <a:solidFill>
                  <a:srgbClr val="000000"/>
                </a:solidFill>
                <a:latin typeface="Times New Roman" pitchFamily="18" charset="0"/>
              </a:rPr>
              <a:t>e</a:t>
            </a:r>
            <a:r>
              <a:rPr lang="en-US" altLang="en-US" b="1" baseline="30000">
                <a:solidFill>
                  <a:srgbClr val="000000"/>
                </a:solidFill>
                <a:latin typeface="Times New Roman" pitchFamily="18" charset="0"/>
              </a:rPr>
              <a:t>-</a:t>
            </a:r>
            <a:endParaRPr lang="en-US" altLang="en-US" b="1">
              <a:solidFill>
                <a:srgbClr val="000000"/>
              </a:solidFill>
              <a:latin typeface="Times New Roman" pitchFamily="18" charset="0"/>
            </a:endParaRPr>
          </a:p>
        </p:txBody>
      </p:sp>
      <p:sp>
        <p:nvSpPr>
          <p:cNvPr id="40" name="Text Box 40"/>
          <p:cNvSpPr txBox="1">
            <a:spLocks noChangeArrowheads="1"/>
          </p:cNvSpPr>
          <p:nvPr/>
        </p:nvSpPr>
        <p:spPr bwMode="auto">
          <a:xfrm>
            <a:off x="1852020" y="3979912"/>
            <a:ext cx="84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r>
              <a:rPr lang="en-US" altLang="en-US" sz="2400"/>
              <a:t>Light</a:t>
            </a:r>
          </a:p>
        </p:txBody>
      </p:sp>
      <p:sp>
        <p:nvSpPr>
          <p:cNvPr id="41" name="矩形 40"/>
          <p:cNvSpPr/>
          <p:nvPr/>
        </p:nvSpPr>
        <p:spPr>
          <a:xfrm>
            <a:off x="743626" y="1775003"/>
            <a:ext cx="7932830" cy="954107"/>
          </a:xfrm>
          <a:prstGeom prst="rect">
            <a:avLst/>
          </a:prstGeom>
        </p:spPr>
        <p:txBody>
          <a:bodyPr wrap="square">
            <a:spAutoFit/>
          </a:bodyPr>
          <a:lstStyle/>
          <a:p>
            <a:r>
              <a:rPr lang="zh-CN" altLang="en-US" sz="2800" dirty="0">
                <a:solidFill>
                  <a:srgbClr val="0000FF"/>
                </a:solidFill>
              </a:rPr>
              <a:t>当</a:t>
            </a:r>
            <a:r>
              <a:rPr lang="en-US" altLang="zh-CN" sz="2800" dirty="0">
                <a:solidFill>
                  <a:srgbClr val="0000FF"/>
                </a:solidFill>
              </a:rPr>
              <a:t>CCD</a:t>
            </a:r>
            <a:r>
              <a:rPr lang="zh-CN" altLang="en-US" sz="2800" dirty="0">
                <a:solidFill>
                  <a:srgbClr val="0000FF"/>
                </a:solidFill>
              </a:rPr>
              <a:t>曝光后，光电二极管受到光线的激发释放出电荷，感光元件的电信号便由此产生。</a:t>
            </a:r>
          </a:p>
        </p:txBody>
      </p:sp>
      <p:sp>
        <p:nvSpPr>
          <p:cNvPr id="42" name="矩形 41"/>
          <p:cNvSpPr/>
          <p:nvPr/>
        </p:nvSpPr>
        <p:spPr>
          <a:xfrm>
            <a:off x="790936" y="2783115"/>
            <a:ext cx="7741503" cy="1384995"/>
          </a:xfrm>
          <a:prstGeom prst="rect">
            <a:avLst/>
          </a:prstGeom>
        </p:spPr>
        <p:txBody>
          <a:bodyPr wrap="square">
            <a:spAutoFit/>
          </a:bodyPr>
          <a:lstStyle/>
          <a:p>
            <a:r>
              <a:rPr lang="en-US" altLang="zh-CN" sz="2800" dirty="0">
                <a:solidFill>
                  <a:srgbClr val="0000FF"/>
                </a:solidFill>
              </a:rPr>
              <a:t>CCD</a:t>
            </a:r>
            <a:r>
              <a:rPr lang="zh-CN" altLang="en-US" sz="2800" dirty="0">
                <a:solidFill>
                  <a:srgbClr val="0000FF"/>
                </a:solidFill>
              </a:rPr>
              <a:t>控制芯片利用感光元件中的</a:t>
            </a:r>
            <a:r>
              <a:rPr lang="zh-CN" altLang="en-US" sz="2800" dirty="0">
                <a:solidFill>
                  <a:srgbClr val="FF0000"/>
                </a:solidFill>
              </a:rPr>
              <a:t>控制信号</a:t>
            </a:r>
            <a:r>
              <a:rPr lang="zh-CN" altLang="en-US" sz="2800" dirty="0">
                <a:solidFill>
                  <a:srgbClr val="0000FF"/>
                </a:solidFill>
              </a:rPr>
              <a:t>线路对光电二极管产生的电流进行控制，由电流传输电路输出</a:t>
            </a:r>
          </a:p>
        </p:txBody>
      </p:sp>
      <p:sp>
        <p:nvSpPr>
          <p:cNvPr id="43" name="灯片编号占位符 42"/>
          <p:cNvSpPr>
            <a:spLocks noGrp="1"/>
          </p:cNvSpPr>
          <p:nvPr>
            <p:ph type="sldNum" sz="quarter" idx="12"/>
          </p:nvPr>
        </p:nvSpPr>
        <p:spPr/>
        <p:txBody>
          <a:bodyPr/>
          <a:lstStyle/>
          <a:p>
            <a:fld id="{F64BA984-46A0-4F46-990E-EC790E6934B4}" type="slidenum">
              <a:rPr lang="zh-CN" altLang="en-US" smtClean="0"/>
              <a:t>21</a:t>
            </a:fld>
            <a:endParaRPr lang="zh-CN" altLang="en-US"/>
          </a:p>
        </p:txBody>
      </p:sp>
      <p:sp>
        <p:nvSpPr>
          <p:cNvPr id="44"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采集</a:t>
            </a:r>
          </a:p>
        </p:txBody>
      </p:sp>
    </p:spTree>
    <p:extLst>
      <p:ext uri="{BB962C8B-B14F-4D97-AF65-F5344CB8AC3E}">
        <p14:creationId xmlns:p14="http://schemas.microsoft.com/office/powerpoint/2010/main" val="72174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200"/>
                                  </p:stCondLst>
                                  <p:childTnLst>
                                    <p:set>
                                      <p:cBhvr>
                                        <p:cTn id="6" dur="1" fill="hold">
                                          <p:stCondLst>
                                            <p:cond delay="499"/>
                                          </p:stCondLst>
                                        </p:cTn>
                                        <p:tgtEl>
                                          <p:spTgt spid="29"/>
                                        </p:tgtEl>
                                        <p:attrNameLst>
                                          <p:attrName>style.visibility</p:attrName>
                                        </p:attrNameLst>
                                      </p:cBhvr>
                                      <p:to>
                                        <p:strVal val="visible"/>
                                      </p:to>
                                    </p:set>
                                  </p:childTnLst>
                                </p:cTn>
                              </p:par>
                            </p:childTnLst>
                          </p:cTn>
                        </p:par>
                        <p:par>
                          <p:cTn id="7" fill="hold">
                            <p:stCondLst>
                              <p:cond delay="700"/>
                            </p:stCondLst>
                            <p:childTnLst>
                              <p:par>
                                <p:cTn id="8" presetID="1" presetClass="entr" presetSubtype="0" fill="hold" grpId="0" nodeType="afterEffect">
                                  <p:stCondLst>
                                    <p:cond delay="200"/>
                                  </p:stCondLst>
                                  <p:childTnLst>
                                    <p:set>
                                      <p:cBhvr>
                                        <p:cTn id="9" dur="1" fill="hold">
                                          <p:stCondLst>
                                            <p:cond delay="499"/>
                                          </p:stCondLst>
                                        </p:cTn>
                                        <p:tgtEl>
                                          <p:spTgt spid="30"/>
                                        </p:tgtEl>
                                        <p:attrNameLst>
                                          <p:attrName>style.visibility</p:attrName>
                                        </p:attrNameLst>
                                      </p:cBhvr>
                                      <p:to>
                                        <p:strVal val="visible"/>
                                      </p:to>
                                    </p:set>
                                  </p:childTnLst>
                                </p:cTn>
                              </p:par>
                            </p:childTnLst>
                          </p:cTn>
                        </p:par>
                        <p:par>
                          <p:cTn id="10" fill="hold">
                            <p:stCondLst>
                              <p:cond delay="1400"/>
                            </p:stCondLst>
                            <p:childTnLst>
                              <p:par>
                                <p:cTn id="11" presetID="1" presetClass="entr" presetSubtype="0" fill="hold" grpId="0" nodeType="afterEffect">
                                  <p:stCondLst>
                                    <p:cond delay="200"/>
                                  </p:stCondLst>
                                  <p:childTnLst>
                                    <p:set>
                                      <p:cBhvr>
                                        <p:cTn id="12" dur="1" fill="hold">
                                          <p:stCondLst>
                                            <p:cond delay="499"/>
                                          </p:stCondLst>
                                        </p:cTn>
                                        <p:tgtEl>
                                          <p:spTgt spid="31"/>
                                        </p:tgtEl>
                                        <p:attrNameLst>
                                          <p:attrName>style.visibility</p:attrName>
                                        </p:attrNameLst>
                                      </p:cBhvr>
                                      <p:to>
                                        <p:strVal val="visible"/>
                                      </p:to>
                                    </p:set>
                                  </p:childTnLst>
                                </p:cTn>
                              </p:par>
                            </p:childTnLst>
                          </p:cTn>
                        </p:par>
                        <p:par>
                          <p:cTn id="13" fill="hold">
                            <p:stCondLst>
                              <p:cond delay="2100"/>
                            </p:stCondLst>
                            <p:childTnLst>
                              <p:par>
                                <p:cTn id="14" presetID="1" presetClass="entr" presetSubtype="0" fill="hold" grpId="0" nodeType="afterEffect">
                                  <p:stCondLst>
                                    <p:cond delay="200"/>
                                  </p:stCondLst>
                                  <p:childTnLst>
                                    <p:set>
                                      <p:cBhvr>
                                        <p:cTn id="15" dur="1" fill="hold">
                                          <p:stCondLst>
                                            <p:cond delay="499"/>
                                          </p:stCondLst>
                                        </p:cTn>
                                        <p:tgtEl>
                                          <p:spTgt spid="32"/>
                                        </p:tgtEl>
                                        <p:attrNameLst>
                                          <p:attrName>style.visibility</p:attrName>
                                        </p:attrNameLst>
                                      </p:cBhvr>
                                      <p:to>
                                        <p:strVal val="visible"/>
                                      </p:to>
                                    </p:set>
                                  </p:childTnLst>
                                </p:cTn>
                              </p:par>
                            </p:childTnLst>
                          </p:cTn>
                        </p:par>
                        <p:par>
                          <p:cTn id="16" fill="hold">
                            <p:stCondLst>
                              <p:cond delay="2800"/>
                            </p:stCondLst>
                            <p:childTnLst>
                              <p:par>
                                <p:cTn id="17" presetID="1" presetClass="entr" presetSubtype="0" fill="hold" grpId="0" nodeType="afterEffect">
                                  <p:stCondLst>
                                    <p:cond delay="200"/>
                                  </p:stCondLst>
                                  <p:childTnLst>
                                    <p:set>
                                      <p:cBhvr>
                                        <p:cTn id="18" dur="1" fill="hold">
                                          <p:stCondLst>
                                            <p:cond delay="499"/>
                                          </p:stCondLst>
                                        </p:cTn>
                                        <p:tgtEl>
                                          <p:spTgt spid="33"/>
                                        </p:tgtEl>
                                        <p:attrNameLst>
                                          <p:attrName>style.visibility</p:attrName>
                                        </p:attrNameLst>
                                      </p:cBhvr>
                                      <p:to>
                                        <p:strVal val="visible"/>
                                      </p:to>
                                    </p:set>
                                  </p:childTnLst>
                                </p:cTn>
                              </p:par>
                            </p:childTnLst>
                          </p:cTn>
                        </p:par>
                        <p:par>
                          <p:cTn id="19" fill="hold">
                            <p:stCondLst>
                              <p:cond delay="3500"/>
                            </p:stCondLst>
                            <p:childTnLst>
                              <p:par>
                                <p:cTn id="20" presetID="1" presetClass="entr" presetSubtype="0" fill="hold" grpId="0" nodeType="afterEffect">
                                  <p:stCondLst>
                                    <p:cond delay="200"/>
                                  </p:stCondLst>
                                  <p:childTnLst>
                                    <p:set>
                                      <p:cBhvr>
                                        <p:cTn id="21" dur="1" fill="hold">
                                          <p:stCondLst>
                                            <p:cond delay="499"/>
                                          </p:stCondLst>
                                        </p:cTn>
                                        <p:tgtEl>
                                          <p:spTgt spid="34"/>
                                        </p:tgtEl>
                                        <p:attrNameLst>
                                          <p:attrName>style.visibility</p:attrName>
                                        </p:attrNameLst>
                                      </p:cBhvr>
                                      <p:to>
                                        <p:strVal val="visible"/>
                                      </p:to>
                                    </p:set>
                                  </p:childTnLst>
                                </p:cTn>
                              </p:par>
                            </p:childTnLst>
                          </p:cTn>
                        </p:par>
                        <p:par>
                          <p:cTn id="22" fill="hold">
                            <p:stCondLst>
                              <p:cond delay="4200"/>
                            </p:stCondLst>
                            <p:childTnLst>
                              <p:par>
                                <p:cTn id="23" presetID="1" presetClass="entr" presetSubtype="0" fill="hold" grpId="0" nodeType="afterEffect">
                                  <p:stCondLst>
                                    <p:cond delay="200"/>
                                  </p:stCondLst>
                                  <p:childTnLst>
                                    <p:set>
                                      <p:cBhvr>
                                        <p:cTn id="24" dur="1" fill="hold">
                                          <p:stCondLst>
                                            <p:cond delay="499"/>
                                          </p:stCondLst>
                                        </p:cTn>
                                        <p:tgtEl>
                                          <p:spTgt spid="35"/>
                                        </p:tgtEl>
                                        <p:attrNameLst>
                                          <p:attrName>style.visibility</p:attrName>
                                        </p:attrNameLst>
                                      </p:cBhvr>
                                      <p:to>
                                        <p:strVal val="visible"/>
                                      </p:to>
                                    </p:set>
                                  </p:childTnLst>
                                </p:cTn>
                              </p:par>
                            </p:childTnLst>
                          </p:cTn>
                        </p:par>
                        <p:par>
                          <p:cTn id="25" fill="hold">
                            <p:stCondLst>
                              <p:cond delay="4900"/>
                            </p:stCondLst>
                            <p:childTnLst>
                              <p:par>
                                <p:cTn id="26" presetID="1" presetClass="entr" presetSubtype="0" fill="hold" grpId="0" nodeType="afterEffect">
                                  <p:stCondLst>
                                    <p:cond delay="200"/>
                                  </p:stCondLst>
                                  <p:childTnLst>
                                    <p:set>
                                      <p:cBhvr>
                                        <p:cTn id="27" dur="1" fill="hold">
                                          <p:stCondLst>
                                            <p:cond delay="499"/>
                                          </p:stCondLst>
                                        </p:cTn>
                                        <p:tgtEl>
                                          <p:spTgt spid="36"/>
                                        </p:tgtEl>
                                        <p:attrNameLst>
                                          <p:attrName>style.visibility</p:attrName>
                                        </p:attrNameLst>
                                      </p:cBhvr>
                                      <p:to>
                                        <p:strVal val="visible"/>
                                      </p:to>
                                    </p:set>
                                  </p:childTnLst>
                                </p:cTn>
                              </p:par>
                            </p:childTnLst>
                          </p:cTn>
                        </p:par>
                        <p:par>
                          <p:cTn id="28" fill="hold">
                            <p:stCondLst>
                              <p:cond delay="5600"/>
                            </p:stCondLst>
                            <p:childTnLst>
                              <p:par>
                                <p:cTn id="29" presetID="1" presetClass="entr" presetSubtype="0" fill="hold" grpId="0" nodeType="afterEffect">
                                  <p:stCondLst>
                                    <p:cond delay="200"/>
                                  </p:stCondLst>
                                  <p:childTnLst>
                                    <p:set>
                                      <p:cBhvr>
                                        <p:cTn id="30" dur="1" fill="hold">
                                          <p:stCondLst>
                                            <p:cond delay="499"/>
                                          </p:stCondLst>
                                        </p:cTn>
                                        <p:tgtEl>
                                          <p:spTgt spid="37"/>
                                        </p:tgtEl>
                                        <p:attrNameLst>
                                          <p:attrName>style.visibility</p:attrName>
                                        </p:attrNameLst>
                                      </p:cBhvr>
                                      <p:to>
                                        <p:strVal val="visible"/>
                                      </p:to>
                                    </p:set>
                                  </p:childTnLst>
                                </p:cTn>
                              </p:par>
                            </p:childTnLst>
                          </p:cTn>
                        </p:par>
                        <p:par>
                          <p:cTn id="31" fill="hold">
                            <p:stCondLst>
                              <p:cond delay="6300"/>
                            </p:stCondLst>
                            <p:childTnLst>
                              <p:par>
                                <p:cTn id="32" presetID="1" presetClass="entr" presetSubtype="0" fill="hold" grpId="0" nodeType="afterEffect">
                                  <p:stCondLst>
                                    <p:cond delay="200"/>
                                  </p:stCondLst>
                                  <p:childTnLst>
                                    <p:set>
                                      <p:cBhvr>
                                        <p:cTn id="33" dur="1" fill="hold">
                                          <p:stCondLst>
                                            <p:cond delay="499"/>
                                          </p:stCondLst>
                                        </p:cTn>
                                        <p:tgtEl>
                                          <p:spTgt spid="38"/>
                                        </p:tgtEl>
                                        <p:attrNameLst>
                                          <p:attrName>style.visibility</p:attrName>
                                        </p:attrNameLst>
                                      </p:cBhvr>
                                      <p:to>
                                        <p:strVal val="visible"/>
                                      </p:to>
                                    </p:set>
                                  </p:childTnLst>
                                </p:cTn>
                              </p:par>
                            </p:childTnLst>
                          </p:cTn>
                        </p:par>
                        <p:par>
                          <p:cTn id="34" fill="hold">
                            <p:stCondLst>
                              <p:cond delay="7000"/>
                            </p:stCondLst>
                            <p:childTnLst>
                              <p:par>
                                <p:cTn id="35" presetID="1" presetClass="entr" presetSubtype="0" fill="hold" grpId="0" nodeType="afterEffect">
                                  <p:stCondLst>
                                    <p:cond delay="200"/>
                                  </p:stCondLst>
                                  <p:childTnLst>
                                    <p:set>
                                      <p:cBhvr>
                                        <p:cTn id="36" dur="1" fill="hold">
                                          <p:stCondLst>
                                            <p:cond delay="49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utoUpdateAnimBg="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utoUpdateAnimBg="0"/>
      <p:bldP spid="38" grpId="0" autoUpdateAnimBg="0"/>
      <p:bldP spid="3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302839" y="1268760"/>
            <a:ext cx="8373617" cy="1938992"/>
          </a:xfrm>
          <a:prstGeom prst="rect">
            <a:avLst/>
          </a:prstGeom>
        </p:spPr>
        <p:txBody>
          <a:bodyPr wrap="square">
            <a:spAutoFit/>
          </a:bodyPr>
          <a:lstStyle/>
          <a:p>
            <a:r>
              <a:rPr lang="en-US" altLang="zh-CN" sz="2000" b="0" i="0" kern="1200" dirty="0">
                <a:solidFill>
                  <a:schemeClr val="tx1"/>
                </a:solidFill>
                <a:effectLst/>
                <a:latin typeface="+mn-lt"/>
                <a:ea typeface="+mn-ea"/>
                <a:cs typeface="+mn-cs"/>
              </a:rPr>
              <a:t>CCD</a:t>
            </a:r>
            <a:r>
              <a:rPr lang="zh-CN" altLang="en-US" sz="2000" b="0" i="0" kern="1200" dirty="0">
                <a:solidFill>
                  <a:schemeClr val="tx1"/>
                </a:solidFill>
                <a:effectLst/>
                <a:latin typeface="+mn-lt"/>
                <a:ea typeface="+mn-ea"/>
                <a:cs typeface="+mn-cs"/>
              </a:rPr>
              <a:t>（</a:t>
            </a:r>
            <a:r>
              <a:rPr lang="en-US" altLang="zh-CN" sz="2000" b="0" i="0" kern="1200" dirty="0" err="1">
                <a:solidFill>
                  <a:schemeClr val="tx1"/>
                </a:solidFill>
                <a:effectLst/>
                <a:latin typeface="+mn-lt"/>
                <a:ea typeface="+mn-ea"/>
                <a:cs typeface="+mn-cs"/>
              </a:rPr>
              <a:t>Chagre</a:t>
            </a:r>
            <a:r>
              <a:rPr lang="en-US" altLang="zh-CN" sz="2000" b="0" i="0" kern="1200" dirty="0">
                <a:solidFill>
                  <a:schemeClr val="tx1"/>
                </a:solidFill>
                <a:effectLst/>
                <a:latin typeface="+mn-lt"/>
                <a:ea typeface="+mn-ea"/>
                <a:cs typeface="+mn-cs"/>
              </a:rPr>
              <a:t> </a:t>
            </a:r>
            <a:r>
              <a:rPr lang="en-US" altLang="zh-CN" sz="2000" b="0" i="0" kern="1200" dirty="0" err="1">
                <a:solidFill>
                  <a:schemeClr val="tx1"/>
                </a:solidFill>
                <a:effectLst/>
                <a:latin typeface="+mn-lt"/>
                <a:ea typeface="+mn-ea"/>
                <a:cs typeface="+mn-cs"/>
              </a:rPr>
              <a:t>Couled</a:t>
            </a:r>
            <a:r>
              <a:rPr lang="en-US" altLang="zh-CN" sz="2000" b="0" i="0" kern="1200" dirty="0">
                <a:solidFill>
                  <a:schemeClr val="tx1"/>
                </a:solidFill>
                <a:effectLst/>
                <a:latin typeface="+mn-lt"/>
                <a:ea typeface="+mn-ea"/>
                <a:cs typeface="+mn-cs"/>
              </a:rPr>
              <a:t> Device</a:t>
            </a:r>
            <a:r>
              <a:rPr lang="zh-CN" altLang="en-US" sz="2000" b="0" i="0" kern="1200" dirty="0">
                <a:solidFill>
                  <a:schemeClr val="tx1"/>
                </a:solidFill>
                <a:effectLst/>
                <a:latin typeface="+mn-lt"/>
                <a:ea typeface="+mn-ea"/>
                <a:cs typeface="+mn-cs"/>
              </a:rPr>
              <a:t>），即电荷耦合器，是一种特殊的半导体材料。它是</a:t>
            </a:r>
            <a:r>
              <a:rPr lang="zh-CN" altLang="en-US" sz="2000" b="1" i="0" kern="1200" dirty="0">
                <a:solidFill>
                  <a:schemeClr val="tx1"/>
                </a:solidFill>
                <a:effectLst/>
                <a:latin typeface="+mn-lt"/>
                <a:ea typeface="+mn-ea"/>
                <a:cs typeface="+mn-cs"/>
              </a:rPr>
              <a:t>由大量独立的光敏元件组成</a:t>
            </a:r>
            <a:r>
              <a:rPr lang="zh-CN" altLang="en-US" sz="2000" b="0" i="0" kern="1200" dirty="0">
                <a:solidFill>
                  <a:schemeClr val="tx1"/>
                </a:solidFill>
                <a:effectLst/>
                <a:latin typeface="+mn-lt"/>
                <a:ea typeface="+mn-ea"/>
                <a:cs typeface="+mn-cs"/>
              </a:rPr>
              <a:t>，这些光敏元件通常是</a:t>
            </a:r>
            <a:r>
              <a:rPr lang="zh-CN" altLang="en-US" sz="2000" b="1" i="0" kern="1200" dirty="0">
                <a:solidFill>
                  <a:schemeClr val="tx1"/>
                </a:solidFill>
                <a:effectLst/>
                <a:latin typeface="+mn-lt"/>
                <a:ea typeface="+mn-ea"/>
                <a:cs typeface="+mn-cs"/>
              </a:rPr>
              <a:t>按矩阵排列</a:t>
            </a:r>
            <a:r>
              <a:rPr lang="zh-CN" altLang="en-US" sz="2000" b="0" i="0" kern="1200" dirty="0">
                <a:solidFill>
                  <a:schemeClr val="tx1"/>
                </a:solidFill>
                <a:effectLst/>
                <a:latin typeface="+mn-lt"/>
                <a:ea typeface="+mn-ea"/>
                <a:cs typeface="+mn-cs"/>
              </a:rPr>
              <a:t>的，通常以百万像素（</a:t>
            </a:r>
            <a:r>
              <a:rPr lang="en-US" altLang="zh-CN" sz="2000" b="0" i="0" kern="1200" dirty="0">
                <a:solidFill>
                  <a:schemeClr val="tx1"/>
                </a:solidFill>
                <a:effectLst/>
                <a:latin typeface="+mn-lt"/>
                <a:ea typeface="+mn-ea"/>
                <a:cs typeface="+mn-cs"/>
              </a:rPr>
              <a:t>megapixel</a:t>
            </a:r>
            <a:r>
              <a:rPr lang="zh-CN" altLang="en-US" sz="2000" b="0" i="0" kern="1200" dirty="0">
                <a:solidFill>
                  <a:schemeClr val="tx1"/>
                </a:solidFill>
                <a:effectLst/>
                <a:latin typeface="+mn-lt"/>
                <a:ea typeface="+mn-ea"/>
                <a:cs typeface="+mn-cs"/>
              </a:rPr>
              <a:t>）为单位。相机规格中的多少百万像素，指的就是</a:t>
            </a:r>
            <a:r>
              <a:rPr lang="en-US" altLang="zh-CN" sz="2000" b="0" i="0" kern="1200" dirty="0">
                <a:solidFill>
                  <a:schemeClr val="tx1"/>
                </a:solidFill>
                <a:effectLst/>
                <a:latin typeface="+mn-lt"/>
                <a:ea typeface="+mn-ea"/>
                <a:cs typeface="+mn-cs"/>
              </a:rPr>
              <a:t>CCD</a:t>
            </a:r>
            <a:r>
              <a:rPr lang="zh-CN" altLang="en-US" sz="2000" b="0" i="0" kern="1200" dirty="0">
                <a:solidFill>
                  <a:schemeClr val="tx1"/>
                </a:solidFill>
                <a:effectLst/>
                <a:latin typeface="+mn-lt"/>
                <a:ea typeface="+mn-ea"/>
                <a:cs typeface="+mn-cs"/>
              </a:rPr>
              <a:t>的分辨率，也就是指这台相机的</a:t>
            </a:r>
            <a:r>
              <a:rPr lang="en-US" altLang="zh-CN" sz="2000" b="0" i="0" kern="1200" dirty="0">
                <a:solidFill>
                  <a:schemeClr val="tx1"/>
                </a:solidFill>
                <a:effectLst/>
                <a:latin typeface="+mn-lt"/>
                <a:ea typeface="+mn-ea"/>
                <a:cs typeface="+mn-cs"/>
              </a:rPr>
              <a:t>CCD</a:t>
            </a:r>
            <a:r>
              <a:rPr lang="zh-CN" altLang="en-US" sz="2000" b="0" i="0" kern="1200" dirty="0">
                <a:solidFill>
                  <a:schemeClr val="tx1"/>
                </a:solidFill>
                <a:effectLst/>
                <a:latin typeface="+mn-lt"/>
                <a:ea typeface="+mn-ea"/>
                <a:cs typeface="+mn-cs"/>
              </a:rPr>
              <a:t>上有多少感光组件。光线透过镜头照射到</a:t>
            </a:r>
            <a:r>
              <a:rPr lang="en-US" altLang="zh-CN" sz="2000" b="0" i="0" kern="1200" dirty="0">
                <a:solidFill>
                  <a:schemeClr val="tx1"/>
                </a:solidFill>
                <a:effectLst/>
                <a:latin typeface="+mn-lt"/>
                <a:ea typeface="+mn-ea"/>
                <a:cs typeface="+mn-cs"/>
              </a:rPr>
              <a:t>CCD</a:t>
            </a:r>
            <a:r>
              <a:rPr lang="zh-CN" altLang="en-US" sz="2000" b="0" i="0" kern="1200" dirty="0">
                <a:solidFill>
                  <a:schemeClr val="tx1"/>
                </a:solidFill>
                <a:effectLst/>
                <a:latin typeface="+mn-lt"/>
                <a:ea typeface="+mn-ea"/>
                <a:cs typeface="+mn-cs"/>
              </a:rPr>
              <a:t>上，并被转换成电荷，每个元件上的电荷量取决于它所受到的光照强度。</a:t>
            </a:r>
            <a:endParaRPr lang="zh-CN" altLang="en-US" sz="1400" dirty="0"/>
          </a:p>
        </p:txBody>
      </p:sp>
      <p:pic>
        <p:nvPicPr>
          <p:cNvPr id="112642" name="Picture 2" descr="http://tucsen.net/Html/upImgFile/20131416193658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718" y="3861048"/>
            <a:ext cx="3048000" cy="228600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9892" y="3661867"/>
            <a:ext cx="3810000"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a:spLocks noGrp="1"/>
          </p:cNvSpPr>
          <p:nvPr>
            <p:ph type="sldNum" sz="quarter" idx="12"/>
          </p:nvPr>
        </p:nvSpPr>
        <p:spPr/>
        <p:txBody>
          <a:bodyPr/>
          <a:lstStyle/>
          <a:p>
            <a:fld id="{F64BA984-46A0-4F46-990E-EC790E6934B4}" type="slidenum">
              <a:rPr lang="zh-CN" altLang="en-US" smtClean="0"/>
              <a:t>22</a:t>
            </a:fld>
            <a:endParaRPr lang="zh-CN" altLang="en-US"/>
          </a:p>
        </p:txBody>
      </p:sp>
      <p:sp>
        <p:nvSpPr>
          <p:cNvPr id="10"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采集</a:t>
            </a:r>
          </a:p>
        </p:txBody>
      </p:sp>
    </p:spTree>
    <p:extLst>
      <p:ext uri="{BB962C8B-B14F-4D97-AF65-F5344CB8AC3E}">
        <p14:creationId xmlns:p14="http://schemas.microsoft.com/office/powerpoint/2010/main" val="3289710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251520" y="1052736"/>
            <a:ext cx="8784976" cy="2592288"/>
          </a:xfrm>
        </p:spPr>
        <p:txBody>
          <a:bodyPr>
            <a:noAutofit/>
          </a:bodyPr>
          <a:lstStyle/>
          <a:p>
            <a:pPr marL="0" indent="0">
              <a:buNone/>
            </a:pPr>
            <a:r>
              <a:rPr lang="zh-CN" sz="2800" dirty="0"/>
              <a:t>液晶显示器</a:t>
            </a:r>
            <a:r>
              <a:rPr lang="zh-CN" altLang="en" sz="2800" dirty="0"/>
              <a:t>（</a:t>
            </a:r>
            <a:r>
              <a:rPr lang="en" altLang="zh-CN" sz="2800" dirty="0"/>
              <a:t>LCD</a:t>
            </a:r>
            <a:r>
              <a:rPr lang="zh-CN" altLang="en" sz="2800" dirty="0"/>
              <a:t>）</a:t>
            </a:r>
            <a:r>
              <a:rPr lang="zh-CN" sz="2800" dirty="0"/>
              <a:t>是一种采用液晶为材料的显示器。</a:t>
            </a:r>
            <a:endParaRPr lang="en-US" altLang="zh-CN" sz="2800" dirty="0"/>
          </a:p>
          <a:p>
            <a:pPr marL="0" indent="0">
              <a:buNone/>
            </a:pPr>
            <a:r>
              <a:rPr lang="zh-CN" sz="2800" dirty="0"/>
              <a:t>液晶是介于固态和液态间的  宽屏液晶显示器有机化合物。</a:t>
            </a:r>
            <a:r>
              <a:rPr lang="zh-CN" sz="2800" dirty="0">
                <a:solidFill>
                  <a:srgbClr val="FF0000"/>
                </a:solidFill>
              </a:rPr>
              <a:t>将其加热会变成透明液态，冷却后会变成结晶的混浊固态。</a:t>
            </a:r>
            <a:r>
              <a:rPr lang="zh-CN" altLang="en-US" b="0" dirty="0"/>
              <a:t>方向可经由电场或磁场来控制</a:t>
            </a:r>
            <a:endParaRPr lang="en-US" altLang="zh-CN" sz="2800" dirty="0">
              <a:solidFill>
                <a:srgbClr val="FF0000"/>
              </a:solidFill>
            </a:endParaRPr>
          </a:p>
          <a:p>
            <a:pPr marL="0" indent="0">
              <a:buNone/>
            </a:pPr>
            <a:r>
              <a:rPr lang="zh-CN" sz="2800" dirty="0"/>
              <a:t>在电场作用下，</a:t>
            </a:r>
            <a:r>
              <a:rPr lang="zh-CN" altLang="en-US" sz="2800" dirty="0"/>
              <a:t>液晶偏振化方向会发生变化。 </a:t>
            </a:r>
            <a:endParaRPr lang="en-US" altLang="zh-CN" sz="2800" dirty="0"/>
          </a:p>
          <a:p>
            <a:pPr marL="0" indent="0">
              <a:buNone/>
            </a:pPr>
            <a:r>
              <a:rPr lang="zh-CN" sz="2800" dirty="0"/>
              <a:t>　 </a:t>
            </a:r>
          </a:p>
        </p:txBody>
      </p:sp>
      <p:pic>
        <p:nvPicPr>
          <p:cNvPr id="1026" name="Picture 2" descr="http://jpkj.tjee.cn/jpkc2007/physics/wup/course/Reading/R_yejin/Images/yejin12.gif"/>
          <p:cNvPicPr>
            <a:picLocks noChangeAspect="1" noChangeArrowheads="1"/>
          </p:cNvPicPr>
          <p:nvPr/>
        </p:nvPicPr>
        <p:blipFill rotWithShape="1">
          <a:blip r:embed="rId3">
            <a:extLst>
              <a:ext uri="{28A0092B-C50C-407E-A947-70E740481C1C}">
                <a14:useLocalDpi xmlns:a14="http://schemas.microsoft.com/office/drawing/2010/main" val="0"/>
              </a:ext>
            </a:extLst>
          </a:blip>
          <a:srcRect b="9842"/>
          <a:stretch/>
        </p:blipFill>
        <p:spPr bwMode="auto">
          <a:xfrm>
            <a:off x="3841334" y="3645024"/>
            <a:ext cx="5051146" cy="2736304"/>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23</a:t>
            </a:fld>
            <a:endParaRPr lang="zh-CN" altLang="en-US"/>
          </a:p>
        </p:txBody>
      </p:sp>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b="13411"/>
          <a:stretch/>
        </p:blipFill>
        <p:spPr>
          <a:xfrm>
            <a:off x="471488" y="4077073"/>
            <a:ext cx="2762250" cy="1872208"/>
          </a:xfrm>
          <a:prstGeom prst="rect">
            <a:avLst/>
          </a:prstGeom>
        </p:spPr>
      </p:pic>
      <p:sp>
        <p:nvSpPr>
          <p:cNvPr id="10"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a:t>
            </a:r>
            <a:r>
              <a:rPr lang="en-US" altLang="zh-CN" dirty="0"/>
              <a:t> </a:t>
            </a:r>
            <a:r>
              <a:rPr lang="zh-CN" altLang="en-US" dirty="0"/>
              <a:t>显示</a:t>
            </a:r>
          </a:p>
        </p:txBody>
      </p:sp>
      <p:sp>
        <p:nvSpPr>
          <p:cNvPr id="2" name="文本框 1">
            <a:extLst>
              <a:ext uri="{FF2B5EF4-FFF2-40B4-BE49-F238E27FC236}">
                <a16:creationId xmlns:a16="http://schemas.microsoft.com/office/drawing/2014/main" id="{75764F86-17A0-BA6D-17D7-CD0C72BD0A0E}"/>
              </a:ext>
            </a:extLst>
          </p:cNvPr>
          <p:cNvSpPr txBox="1"/>
          <p:nvPr/>
        </p:nvSpPr>
        <p:spPr>
          <a:xfrm>
            <a:off x="3707904" y="4725144"/>
            <a:ext cx="646331" cy="369332"/>
          </a:xfrm>
          <a:prstGeom prst="rect">
            <a:avLst/>
          </a:prstGeom>
          <a:noFill/>
        </p:spPr>
        <p:txBody>
          <a:bodyPr wrap="none" rtlCol="0">
            <a:spAutoFit/>
          </a:bodyPr>
          <a:lstStyle/>
          <a:p>
            <a:r>
              <a:rPr kumimoji="1" lang="zh-CN" altLang="en-US" dirty="0"/>
              <a:t>光源</a:t>
            </a:r>
          </a:p>
        </p:txBody>
      </p:sp>
      <p:sp>
        <p:nvSpPr>
          <p:cNvPr id="12" name="文本框 11">
            <a:extLst>
              <a:ext uri="{FF2B5EF4-FFF2-40B4-BE49-F238E27FC236}">
                <a16:creationId xmlns:a16="http://schemas.microsoft.com/office/drawing/2014/main" id="{581E52B6-1B50-0E31-9608-C2434421B566}"/>
              </a:ext>
            </a:extLst>
          </p:cNvPr>
          <p:cNvSpPr txBox="1"/>
          <p:nvPr/>
        </p:nvSpPr>
        <p:spPr>
          <a:xfrm>
            <a:off x="6554628" y="3428351"/>
            <a:ext cx="2505814" cy="369332"/>
          </a:xfrm>
          <a:prstGeom prst="rect">
            <a:avLst/>
          </a:prstGeom>
          <a:noFill/>
        </p:spPr>
        <p:txBody>
          <a:bodyPr wrap="none" rtlCol="0">
            <a:spAutoFit/>
          </a:bodyPr>
          <a:lstStyle/>
          <a:p>
            <a:r>
              <a:rPr kumimoji="1" lang="zh-CN" altLang="en-US" dirty="0">
                <a:solidFill>
                  <a:srgbClr val="FF0000"/>
                </a:solidFill>
              </a:rPr>
              <a:t>不加电，旋转偏振方向</a:t>
            </a:r>
          </a:p>
        </p:txBody>
      </p:sp>
      <p:cxnSp>
        <p:nvCxnSpPr>
          <p:cNvPr id="13" name="直线箭头连接符 12">
            <a:extLst>
              <a:ext uri="{FF2B5EF4-FFF2-40B4-BE49-F238E27FC236}">
                <a16:creationId xmlns:a16="http://schemas.microsoft.com/office/drawing/2014/main" id="{24D4CA47-5679-E194-D6DD-AE02741F4A1A}"/>
              </a:ext>
            </a:extLst>
          </p:cNvPr>
          <p:cNvCxnSpPr>
            <a:cxnSpLocks/>
            <a:endCxn id="12" idx="1"/>
          </p:cNvCxnSpPr>
          <p:nvPr/>
        </p:nvCxnSpPr>
        <p:spPr>
          <a:xfrm flipV="1">
            <a:off x="6046350" y="3613017"/>
            <a:ext cx="508278" cy="24578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94702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251520" y="1052736"/>
            <a:ext cx="8496944" cy="3024336"/>
          </a:xfrm>
        </p:spPr>
        <p:txBody>
          <a:bodyPr>
            <a:normAutofit/>
          </a:bodyPr>
          <a:lstStyle/>
          <a:p>
            <a:pPr marL="0" indent="0">
              <a:buNone/>
            </a:pPr>
            <a:r>
              <a:rPr lang="zh-CN" altLang="en-US" sz="2800" dirty="0">
                <a:solidFill>
                  <a:srgbClr val="FF0000"/>
                </a:solidFill>
              </a:rPr>
              <a:t>因为液态晶的折射率随液晶的方向而改变，</a:t>
            </a:r>
            <a:r>
              <a:rPr lang="zh-CN" altLang="en-US" sz="2800" u="sng" dirty="0">
                <a:solidFill>
                  <a:srgbClr val="FF0000"/>
                </a:solidFill>
              </a:rPr>
              <a:t>其结果是光经过液晶盒以后其偏振性会发生变化</a:t>
            </a:r>
            <a:r>
              <a:rPr lang="zh-CN" altLang="en-US" sz="2800" dirty="0">
                <a:solidFill>
                  <a:srgbClr val="FF0000"/>
                </a:solidFill>
              </a:rPr>
              <a:t>。</a:t>
            </a:r>
            <a:endParaRPr lang="en-US" altLang="zh-CN" sz="2800" dirty="0">
              <a:solidFill>
                <a:srgbClr val="FF0000"/>
              </a:solidFill>
            </a:endParaRPr>
          </a:p>
          <a:p>
            <a:pPr marL="0" indent="0">
              <a:buNone/>
            </a:pPr>
            <a:r>
              <a:rPr lang="zh-CN" sz="2800" dirty="0"/>
              <a:t>这种光线的变化通过偏光片的作用可以表现为明暗的变化。就这样，人们通过对电场的控制最终控制了光线的明暗变化，从而达到显示图像的目的。　 </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24</a:t>
            </a:fld>
            <a:endParaRPr lang="zh-CN" altLang="en-US"/>
          </a:p>
        </p:txBody>
      </p:sp>
      <p:pic>
        <p:nvPicPr>
          <p:cNvPr id="7" name="Picture 2" descr="http://jpkj.tjee.cn/jpkc2007/physics/wup/course/Reading/R_yejin/Images/yejin12.gif"/>
          <p:cNvPicPr>
            <a:picLocks noChangeAspect="1" noChangeArrowheads="1"/>
          </p:cNvPicPr>
          <p:nvPr/>
        </p:nvPicPr>
        <p:blipFill rotWithShape="1">
          <a:blip r:embed="rId3">
            <a:extLst>
              <a:ext uri="{28A0092B-C50C-407E-A947-70E740481C1C}">
                <a14:useLocalDpi xmlns:a14="http://schemas.microsoft.com/office/drawing/2010/main" val="0"/>
              </a:ext>
            </a:extLst>
          </a:blip>
          <a:srcRect b="9842"/>
          <a:stretch/>
        </p:blipFill>
        <p:spPr bwMode="auto">
          <a:xfrm>
            <a:off x="1835696" y="3501008"/>
            <a:ext cx="5051146" cy="2736304"/>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显示</a:t>
            </a:r>
          </a:p>
        </p:txBody>
      </p:sp>
      <p:sp>
        <p:nvSpPr>
          <p:cNvPr id="2" name="文本框 1">
            <a:extLst>
              <a:ext uri="{FF2B5EF4-FFF2-40B4-BE49-F238E27FC236}">
                <a16:creationId xmlns:a16="http://schemas.microsoft.com/office/drawing/2014/main" id="{7BF582F2-0B17-DDDC-3020-0FE13A504755}"/>
              </a:ext>
            </a:extLst>
          </p:cNvPr>
          <p:cNvSpPr txBox="1"/>
          <p:nvPr/>
        </p:nvSpPr>
        <p:spPr>
          <a:xfrm>
            <a:off x="4644008" y="3356992"/>
            <a:ext cx="2505814" cy="369332"/>
          </a:xfrm>
          <a:prstGeom prst="rect">
            <a:avLst/>
          </a:prstGeom>
          <a:noFill/>
        </p:spPr>
        <p:txBody>
          <a:bodyPr wrap="none" rtlCol="0">
            <a:spAutoFit/>
          </a:bodyPr>
          <a:lstStyle/>
          <a:p>
            <a:r>
              <a:rPr kumimoji="1" lang="zh-CN" altLang="en-US" dirty="0">
                <a:solidFill>
                  <a:srgbClr val="FF0000"/>
                </a:solidFill>
              </a:rPr>
              <a:t>不加电，旋转偏振方向</a:t>
            </a:r>
          </a:p>
        </p:txBody>
      </p:sp>
      <p:cxnSp>
        <p:nvCxnSpPr>
          <p:cNvPr id="4" name="直线箭头连接符 3">
            <a:extLst>
              <a:ext uri="{FF2B5EF4-FFF2-40B4-BE49-F238E27FC236}">
                <a16:creationId xmlns:a16="http://schemas.microsoft.com/office/drawing/2014/main" id="{BFD49546-3F96-97D3-44E9-ED9260C46E6D}"/>
              </a:ext>
            </a:extLst>
          </p:cNvPr>
          <p:cNvCxnSpPr>
            <a:cxnSpLocks/>
            <a:endCxn id="2" idx="1"/>
          </p:cNvCxnSpPr>
          <p:nvPr/>
        </p:nvCxnSpPr>
        <p:spPr>
          <a:xfrm flipV="1">
            <a:off x="4139952" y="3541658"/>
            <a:ext cx="504056" cy="23714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35250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p:cNvSpPr txBox="1">
            <a:spLocks noChangeArrowheads="1"/>
          </p:cNvSpPr>
          <p:nvPr/>
        </p:nvSpPr>
        <p:spPr bwMode="auto">
          <a:xfrm>
            <a:off x="389602" y="1628800"/>
            <a:ext cx="8150225" cy="3539430"/>
          </a:xfrm>
          <a:prstGeom prst="rect">
            <a:avLst/>
          </a:prstGeom>
          <a:noFill/>
          <a:ln w="9525">
            <a:noFill/>
            <a:miter lim="800000"/>
            <a:headEnd/>
            <a:tailEnd/>
          </a:ln>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marL="514350" indent="-514350" algn="l" eaLnBrk="1" hangingPunct="1">
              <a:buFont typeface="Arial" pitchFamily="34" charset="0"/>
              <a:buChar char="•"/>
            </a:pPr>
            <a:r>
              <a:rPr lang="zh-CN" altLang="en-US" sz="3200" dirty="0">
                <a:latin typeface="+mn-ea"/>
                <a:ea typeface="+mn-ea"/>
              </a:rPr>
              <a:t>图像（</a:t>
            </a:r>
            <a:r>
              <a:rPr lang="en-US" altLang="zh-CN" sz="3200" dirty="0">
                <a:latin typeface="+mn-ea"/>
                <a:ea typeface="+mn-ea"/>
              </a:rPr>
              <a:t>Image</a:t>
            </a:r>
            <a:r>
              <a:rPr lang="zh-CN" altLang="en-US" sz="3200" dirty="0">
                <a:latin typeface="+mn-ea"/>
                <a:ea typeface="+mn-ea"/>
              </a:rPr>
              <a:t>）是指由输入设备捕捉的实际场景画面，或以数字化形式存储的任意画面。</a:t>
            </a:r>
            <a:endParaRPr lang="en-US" altLang="zh-CN" sz="3200" dirty="0">
              <a:latin typeface="+mn-ea"/>
              <a:ea typeface="+mn-ea"/>
            </a:endParaRPr>
          </a:p>
          <a:p>
            <a:pPr marL="514350" indent="-514350" algn="l" eaLnBrk="1" hangingPunct="1">
              <a:buFont typeface="Arial" pitchFamily="34" charset="0"/>
              <a:buChar char="•"/>
            </a:pPr>
            <a:r>
              <a:rPr lang="zh-CN" altLang="en-US" sz="3200" dirty="0">
                <a:latin typeface="+mn-ea"/>
                <a:ea typeface="+mn-ea"/>
              </a:rPr>
              <a:t>静止的图像是一个矩阵，阵列中的各项数字用来描述构成图像的各个点（称为像素点 </a:t>
            </a:r>
            <a:r>
              <a:rPr lang="en-US" altLang="zh-CN" sz="3200" dirty="0">
                <a:latin typeface="+mn-ea"/>
                <a:ea typeface="+mn-ea"/>
              </a:rPr>
              <a:t>pixel </a:t>
            </a:r>
            <a:r>
              <a:rPr lang="zh-CN" altLang="en-US" sz="3200" dirty="0">
                <a:latin typeface="+mn-ea"/>
                <a:ea typeface="+mn-ea"/>
              </a:rPr>
              <a:t>）的强度与颜色等信息。这种图像也称为</a:t>
            </a:r>
            <a:r>
              <a:rPr lang="zh-CN" altLang="en-US" sz="3200" dirty="0">
                <a:solidFill>
                  <a:srgbClr val="FF3300"/>
                </a:solidFill>
                <a:latin typeface="+mn-ea"/>
                <a:ea typeface="+mn-ea"/>
              </a:rPr>
              <a:t>位图</a:t>
            </a:r>
            <a:r>
              <a:rPr lang="zh-CN" altLang="en-US" sz="3200" dirty="0">
                <a:latin typeface="+mn-ea"/>
                <a:ea typeface="+mn-ea"/>
              </a:rPr>
              <a:t>（ </a:t>
            </a:r>
            <a:r>
              <a:rPr lang="en-US" altLang="zh-CN" sz="3200" dirty="0">
                <a:latin typeface="+mn-ea"/>
                <a:ea typeface="+mn-ea"/>
              </a:rPr>
              <a:t>BITMAP</a:t>
            </a:r>
            <a:r>
              <a:rPr lang="zh-CN" altLang="en-US" sz="3200" dirty="0">
                <a:latin typeface="+mn-ea"/>
                <a:ea typeface="+mn-ea"/>
              </a:rPr>
              <a:t>）。</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25</a:t>
            </a:fld>
            <a:endParaRPr lang="zh-CN" altLang="en-US"/>
          </a:p>
        </p:txBody>
      </p:sp>
      <p:sp>
        <p:nvSpPr>
          <p:cNvPr id="6"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2924673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91" name="Group 19"/>
          <p:cNvGrpSpPr>
            <a:grpSpLocks/>
          </p:cNvGrpSpPr>
          <p:nvPr/>
        </p:nvGrpSpPr>
        <p:grpSpPr bwMode="auto">
          <a:xfrm>
            <a:off x="2939835" y="2600199"/>
            <a:ext cx="2955607" cy="2475012"/>
            <a:chOff x="2246" y="2765"/>
            <a:chExt cx="1368" cy="809"/>
          </a:xfrm>
        </p:grpSpPr>
        <p:grpSp>
          <p:nvGrpSpPr>
            <p:cNvPr id="16396" name="Group 18"/>
            <p:cNvGrpSpPr>
              <a:grpSpLocks/>
            </p:cNvGrpSpPr>
            <p:nvPr/>
          </p:nvGrpSpPr>
          <p:grpSpPr bwMode="auto">
            <a:xfrm>
              <a:off x="2381" y="3363"/>
              <a:ext cx="636" cy="211"/>
              <a:chOff x="2381" y="3363"/>
              <a:chExt cx="636" cy="211"/>
            </a:xfrm>
          </p:grpSpPr>
          <p:sp>
            <p:nvSpPr>
              <p:cNvPr id="29713" name="Rectangle 17"/>
              <p:cNvSpPr>
                <a:spLocks noChangeArrowheads="1"/>
              </p:cNvSpPr>
              <p:nvPr/>
            </p:nvSpPr>
            <p:spPr bwMode="auto">
              <a:xfrm>
                <a:off x="2381" y="3363"/>
                <a:ext cx="137" cy="211"/>
              </a:xfrm>
              <a:prstGeom prst="rect">
                <a:avLst/>
              </a:prstGeom>
              <a:gradFill rotWithShape="1">
                <a:gsLst>
                  <a:gs pos="0">
                    <a:schemeClr val="bg2"/>
                  </a:gs>
                  <a:gs pos="50000">
                    <a:schemeClr val="bg1"/>
                  </a:gs>
                  <a:gs pos="100000">
                    <a:schemeClr val="bg2"/>
                  </a:gs>
                </a:gsLst>
                <a:lin ang="0" scaled="1"/>
              </a:gradFill>
              <a:ln w="9525" algn="ctr">
                <a:solidFill>
                  <a:schemeClr val="bg2"/>
                </a:solidFill>
                <a:miter lim="800000"/>
                <a:headEnd/>
                <a:tailEnd/>
              </a:ln>
              <a:effectLst/>
            </p:spPr>
            <p:txBody>
              <a:bodyPr anchor="ctr">
                <a:spAutoFit/>
              </a:bodyPr>
              <a:lstStyle/>
              <a:p>
                <a:pPr algn="ctr">
                  <a:defRPr/>
                </a:pPr>
                <a:endParaRPr lang="en-US" sz="3600"/>
              </a:p>
            </p:txBody>
          </p:sp>
          <p:sp>
            <p:nvSpPr>
              <p:cNvPr id="29712" name="Rectangle 16"/>
              <p:cNvSpPr>
                <a:spLocks noChangeArrowheads="1"/>
              </p:cNvSpPr>
              <p:nvPr/>
            </p:nvSpPr>
            <p:spPr bwMode="auto">
              <a:xfrm>
                <a:off x="2880" y="3363"/>
                <a:ext cx="137" cy="211"/>
              </a:xfrm>
              <a:prstGeom prst="rect">
                <a:avLst/>
              </a:prstGeom>
              <a:gradFill rotWithShape="1">
                <a:gsLst>
                  <a:gs pos="0">
                    <a:schemeClr val="bg2"/>
                  </a:gs>
                  <a:gs pos="50000">
                    <a:schemeClr val="bg1"/>
                  </a:gs>
                  <a:gs pos="100000">
                    <a:schemeClr val="bg2"/>
                  </a:gs>
                </a:gsLst>
                <a:lin ang="0" scaled="1"/>
              </a:gradFill>
              <a:ln w="9525" algn="ctr">
                <a:solidFill>
                  <a:schemeClr val="bg2"/>
                </a:solidFill>
                <a:miter lim="800000"/>
                <a:headEnd/>
                <a:tailEnd/>
              </a:ln>
              <a:effectLst/>
            </p:spPr>
            <p:txBody>
              <a:bodyPr anchor="ctr">
                <a:spAutoFit/>
              </a:bodyPr>
              <a:lstStyle/>
              <a:p>
                <a:pPr algn="ctr">
                  <a:defRPr/>
                </a:pPr>
                <a:endParaRPr lang="en-US" sz="3600"/>
              </a:p>
            </p:txBody>
          </p:sp>
          <p:sp>
            <p:nvSpPr>
              <p:cNvPr id="29710" name="Rectangle 14"/>
              <p:cNvSpPr>
                <a:spLocks noChangeArrowheads="1"/>
              </p:cNvSpPr>
              <p:nvPr/>
            </p:nvSpPr>
            <p:spPr bwMode="auto">
              <a:xfrm>
                <a:off x="2629" y="3363"/>
                <a:ext cx="137" cy="211"/>
              </a:xfrm>
              <a:prstGeom prst="rect">
                <a:avLst/>
              </a:prstGeom>
              <a:gradFill rotWithShape="1">
                <a:gsLst>
                  <a:gs pos="0">
                    <a:schemeClr val="bg2"/>
                  </a:gs>
                  <a:gs pos="50000">
                    <a:schemeClr val="bg1"/>
                  </a:gs>
                  <a:gs pos="100000">
                    <a:schemeClr val="bg2"/>
                  </a:gs>
                </a:gsLst>
                <a:lin ang="0" scaled="1"/>
              </a:gradFill>
              <a:ln w="9525" algn="ctr">
                <a:solidFill>
                  <a:schemeClr val="bg2"/>
                </a:solidFill>
                <a:miter lim="800000"/>
                <a:headEnd/>
                <a:tailEnd/>
              </a:ln>
              <a:effectLst/>
            </p:spPr>
            <p:txBody>
              <a:bodyPr anchor="ctr">
                <a:spAutoFit/>
              </a:bodyPr>
              <a:lstStyle/>
              <a:p>
                <a:pPr algn="ctr">
                  <a:defRPr/>
                </a:pPr>
                <a:endParaRPr lang="en-US" sz="3600"/>
              </a:p>
            </p:txBody>
          </p:sp>
        </p:grpSp>
        <p:grpSp>
          <p:nvGrpSpPr>
            <p:cNvPr id="16397" name="Group 12"/>
            <p:cNvGrpSpPr>
              <a:grpSpLocks/>
            </p:cNvGrpSpPr>
            <p:nvPr/>
          </p:nvGrpSpPr>
          <p:grpSpPr bwMode="auto">
            <a:xfrm>
              <a:off x="2246" y="2765"/>
              <a:ext cx="1368" cy="767"/>
              <a:chOff x="2246" y="2765"/>
              <a:chExt cx="1368" cy="767"/>
            </a:xfrm>
          </p:grpSpPr>
          <p:sp>
            <p:nvSpPr>
              <p:cNvPr id="29705" name="Text Box 9">
                <a:hlinkClick r:id="rId2" action="ppaction://hlinksldjump"/>
                <a:hlinkHover r:id="" action="ppaction://noaction">
                  <a:snd r:embed="rId3" name="Thud3.WAV"/>
                </a:hlinkHover>
              </p:cNvPr>
              <p:cNvSpPr txBox="1">
                <a:spLocks noChangeArrowheads="1"/>
              </p:cNvSpPr>
              <p:nvPr/>
            </p:nvSpPr>
            <p:spPr bwMode="auto">
              <a:xfrm>
                <a:off x="2381" y="2765"/>
                <a:ext cx="1047" cy="302"/>
              </a:xfrm>
              <a:prstGeom prst="rect">
                <a:avLst/>
              </a:prstGeom>
              <a:gradFill rotWithShape="1">
                <a:gsLst>
                  <a:gs pos="0">
                    <a:srgbClr val="B2B2B2"/>
                  </a:gs>
                  <a:gs pos="50000">
                    <a:schemeClr val="bg1"/>
                  </a:gs>
                  <a:gs pos="100000">
                    <a:srgbClr val="B2B2B2"/>
                  </a:gs>
                </a:gsLst>
                <a:lin ang="0" scaled="1"/>
              </a:gradFill>
              <a:ln w="9525" algn="ctr">
                <a:noFill/>
                <a:miter lim="800000"/>
                <a:headEnd/>
                <a:tailEnd/>
              </a:ln>
              <a:effectLst>
                <a:outerShdw dist="35921" dir="2700000" algn="ctr" rotWithShape="0">
                  <a:srgbClr val="808080"/>
                </a:outerShdw>
              </a:effectLst>
            </p:spPr>
            <p:txBody>
              <a:bodyPr wrap="none" anchor="ctr">
                <a:spAutoFit/>
              </a:bodyPr>
              <a:lstStyle/>
              <a:p>
                <a:pPr marL="342900" indent="-342900" algn="ctr">
                  <a:buFont typeface="Wingdings" pitchFamily="2" charset="2"/>
                  <a:buNone/>
                  <a:defRPr/>
                </a:pPr>
                <a:r>
                  <a:rPr lang="zh-CN" altLang="en-US" sz="5400">
                    <a:solidFill>
                      <a:srgbClr val="006600"/>
                    </a:solidFill>
                    <a:latin typeface="隶书" pitchFamily="49" charset="-122"/>
                    <a:ea typeface="隶书" pitchFamily="49" charset="-122"/>
                  </a:rPr>
                  <a:t>分辨率</a:t>
                </a:r>
              </a:p>
            </p:txBody>
          </p:sp>
          <p:sp>
            <p:nvSpPr>
              <p:cNvPr id="29706" name="Text Box 10">
                <a:hlinkClick r:id="rId4" action="ppaction://hlinksldjump"/>
                <a:hlinkHover r:id="" action="ppaction://noaction">
                  <a:snd r:embed="rId5" name="Thud7.WAV"/>
                </a:hlinkHover>
              </p:cNvPr>
              <p:cNvSpPr txBox="1">
                <a:spLocks noChangeArrowheads="1"/>
              </p:cNvSpPr>
              <p:nvPr/>
            </p:nvSpPr>
            <p:spPr bwMode="auto">
              <a:xfrm>
                <a:off x="2246" y="3230"/>
                <a:ext cx="1368" cy="302"/>
              </a:xfrm>
              <a:prstGeom prst="rect">
                <a:avLst/>
              </a:prstGeom>
              <a:gradFill rotWithShape="1">
                <a:gsLst>
                  <a:gs pos="0">
                    <a:srgbClr val="B2B2B2"/>
                  </a:gs>
                  <a:gs pos="50000">
                    <a:schemeClr val="bg1"/>
                  </a:gs>
                  <a:gs pos="100000">
                    <a:srgbClr val="B2B2B2"/>
                  </a:gs>
                </a:gsLst>
                <a:lin ang="0" scaled="1"/>
              </a:gradFill>
              <a:ln w="9525" algn="ctr">
                <a:noFill/>
                <a:miter lim="800000"/>
                <a:headEnd/>
                <a:tailEnd/>
              </a:ln>
              <a:effectLst>
                <a:outerShdw dist="35921" dir="2700000" algn="ctr" rotWithShape="0">
                  <a:srgbClr val="808080"/>
                </a:outerShdw>
              </a:effectLst>
            </p:spPr>
            <p:txBody>
              <a:bodyPr wrap="none" anchor="ctr">
                <a:spAutoFit/>
              </a:bodyPr>
              <a:lstStyle/>
              <a:p>
                <a:pPr marL="342900" indent="-342900" algn="ctr">
                  <a:buFont typeface="Wingdings" pitchFamily="2" charset="2"/>
                  <a:buNone/>
                  <a:defRPr/>
                </a:pPr>
                <a:r>
                  <a:rPr lang="zh-CN" altLang="en-US" sz="5400" dirty="0">
                    <a:solidFill>
                      <a:srgbClr val="006600"/>
                    </a:solidFill>
                    <a:latin typeface="隶书" pitchFamily="49" charset="-122"/>
                    <a:ea typeface="隶书" pitchFamily="49" charset="-122"/>
                  </a:rPr>
                  <a:t>图像深度</a:t>
                </a:r>
              </a:p>
            </p:txBody>
          </p:sp>
        </p:grpSp>
      </p:grpSp>
      <p:sp>
        <p:nvSpPr>
          <p:cNvPr id="2" name="标题 1"/>
          <p:cNvSpPr>
            <a:spLocks noGrp="1"/>
          </p:cNvSpPr>
          <p:nvPr>
            <p:ph type="title"/>
          </p:nvPr>
        </p:nvSpPr>
        <p:spPr>
          <a:xfrm>
            <a:off x="107504" y="1150233"/>
            <a:ext cx="8229600" cy="703263"/>
          </a:xfrm>
        </p:spPr>
        <p:txBody>
          <a:bodyPr>
            <a:normAutofit fontScale="90000"/>
          </a:bodyPr>
          <a:lstStyle/>
          <a:p>
            <a:r>
              <a:rPr lang="zh-CN" altLang="en-US" dirty="0"/>
              <a:t>影响图像视觉效果的要素</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26</a:t>
            </a:fld>
            <a:endParaRPr lang="zh-CN" altLang="en-US"/>
          </a:p>
        </p:txBody>
      </p:sp>
      <p:sp>
        <p:nvSpPr>
          <p:cNvPr id="14"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2399247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p:cNvSpPr txBox="1">
            <a:spLocks noChangeArrowheads="1"/>
          </p:cNvSpPr>
          <p:nvPr/>
        </p:nvSpPr>
        <p:spPr bwMode="auto">
          <a:xfrm>
            <a:off x="1908175" y="25654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endParaRPr lang="en-US"/>
          </a:p>
        </p:txBody>
      </p:sp>
      <p:sp>
        <p:nvSpPr>
          <p:cNvPr id="17412" name="Text Box 10"/>
          <p:cNvSpPr txBox="1">
            <a:spLocks noChangeArrowheads="1"/>
          </p:cNvSpPr>
          <p:nvPr/>
        </p:nvSpPr>
        <p:spPr bwMode="auto">
          <a:xfrm>
            <a:off x="369180" y="2097668"/>
            <a:ext cx="7992888" cy="1077218"/>
          </a:xfrm>
          <a:prstGeom prst="rect">
            <a:avLst/>
          </a:prstGeom>
          <a:noFill/>
          <a:ln>
            <a:noFill/>
          </a:ln>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dirty="0">
                <a:solidFill>
                  <a:srgbClr val="0000FF"/>
                </a:solidFill>
                <a:latin typeface="+mn-ea"/>
                <a:ea typeface="+mn-ea"/>
              </a:rPr>
              <a:t>   </a:t>
            </a:r>
            <a:r>
              <a:rPr lang="zh-CN" altLang="en-US" sz="3200" dirty="0">
                <a:solidFill>
                  <a:srgbClr val="0000FF"/>
                </a:solidFill>
                <a:latin typeface="+mn-ea"/>
                <a:ea typeface="+mn-ea"/>
              </a:rPr>
              <a:t>数字化图像的大小，即该图像的水平与垂直方向的像素个数。</a:t>
            </a:r>
          </a:p>
        </p:txBody>
      </p:sp>
      <p:sp>
        <p:nvSpPr>
          <p:cNvPr id="2" name="标题 1"/>
          <p:cNvSpPr>
            <a:spLocks noGrp="1"/>
          </p:cNvSpPr>
          <p:nvPr>
            <p:ph type="title"/>
          </p:nvPr>
        </p:nvSpPr>
        <p:spPr>
          <a:xfrm>
            <a:off x="303620" y="1320063"/>
            <a:ext cx="8229600" cy="703263"/>
          </a:xfrm>
        </p:spPr>
        <p:txBody>
          <a:bodyPr>
            <a:normAutofit fontScale="90000"/>
          </a:bodyPr>
          <a:lstStyle/>
          <a:p>
            <a:r>
              <a:rPr lang="zh-CN" altLang="en-US" dirty="0">
                <a:latin typeface="+mn-ea"/>
                <a:ea typeface="+mn-ea"/>
              </a:rPr>
              <a:t>分辨率</a:t>
            </a:r>
          </a:p>
        </p:txBody>
      </p:sp>
      <p:pic>
        <p:nvPicPr>
          <p:cNvPr id="111618" name="Picture 2" descr="http://it.people.com.cn/mediafile/200811/06/P20081106091619211614929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180" y="3417658"/>
            <a:ext cx="4257675" cy="2657476"/>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F64BA984-46A0-4F46-990E-EC790E6934B4}" type="slidenum">
              <a:rPr lang="zh-CN" altLang="en-US" smtClean="0"/>
              <a:t>27</a:t>
            </a:fld>
            <a:endParaRPr lang="zh-CN" altLang="en-US"/>
          </a:p>
        </p:txBody>
      </p:sp>
      <p:pic>
        <p:nvPicPr>
          <p:cNvPr id="8" name="Picture 2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056" y="3555771"/>
            <a:ext cx="3810000"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pic>
        <p:nvPicPr>
          <p:cNvPr id="3" name="图片 2">
            <a:extLst>
              <a:ext uri="{FF2B5EF4-FFF2-40B4-BE49-F238E27FC236}">
                <a16:creationId xmlns:a16="http://schemas.microsoft.com/office/drawing/2014/main" id="{CF79DAE8-59B8-133E-09F3-08340245D065}"/>
              </a:ext>
            </a:extLst>
          </p:cNvPr>
          <p:cNvPicPr>
            <a:picLocks noChangeAspect="1"/>
          </p:cNvPicPr>
          <p:nvPr/>
        </p:nvPicPr>
        <p:blipFill>
          <a:blip r:embed="rId5"/>
          <a:stretch>
            <a:fillRect/>
          </a:stretch>
        </p:blipFill>
        <p:spPr>
          <a:xfrm>
            <a:off x="6160680" y="1047793"/>
            <a:ext cx="2679700" cy="1054100"/>
          </a:xfrm>
          <a:prstGeom prst="rect">
            <a:avLst/>
          </a:prstGeom>
        </p:spPr>
      </p:pic>
    </p:spTree>
    <p:extLst>
      <p:ext uri="{BB962C8B-B14F-4D97-AF65-F5344CB8AC3E}">
        <p14:creationId xmlns:p14="http://schemas.microsoft.com/office/powerpoint/2010/main" val="3011815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3400425" y="19939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endParaRPr lang="en-US"/>
          </a:p>
        </p:txBody>
      </p:sp>
      <p:sp>
        <p:nvSpPr>
          <p:cNvPr id="18435" name="Text Box 3"/>
          <p:cNvSpPr txBox="1">
            <a:spLocks noChangeArrowheads="1"/>
          </p:cNvSpPr>
          <p:nvPr/>
        </p:nvSpPr>
        <p:spPr bwMode="auto">
          <a:xfrm>
            <a:off x="3111500" y="13462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endParaRPr lang="en-US"/>
          </a:p>
        </p:txBody>
      </p:sp>
      <p:sp>
        <p:nvSpPr>
          <p:cNvPr id="18437" name="Text Box 5"/>
          <p:cNvSpPr txBox="1">
            <a:spLocks noChangeArrowheads="1"/>
          </p:cNvSpPr>
          <p:nvPr/>
        </p:nvSpPr>
        <p:spPr bwMode="auto">
          <a:xfrm>
            <a:off x="539552" y="2360613"/>
            <a:ext cx="8208714" cy="2785378"/>
          </a:xfrm>
          <a:prstGeom prst="rect">
            <a:avLst/>
          </a:prstGeom>
          <a:noFill/>
          <a:ln>
            <a:noFill/>
          </a:ln>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marL="514350" indent="-514350" algn="l" eaLnBrk="1" hangingPunct="1">
              <a:spcAft>
                <a:spcPts val="1800"/>
              </a:spcAft>
              <a:buAutoNum type="arabicPeriod"/>
            </a:pPr>
            <a:r>
              <a:rPr lang="zh-CN" altLang="en-US" sz="3200" dirty="0">
                <a:solidFill>
                  <a:srgbClr val="FF3300"/>
                </a:solidFill>
                <a:latin typeface="+mn-ea"/>
                <a:ea typeface="+mn-ea"/>
              </a:rPr>
              <a:t>图像深度</a:t>
            </a:r>
            <a:r>
              <a:rPr lang="zh-CN" altLang="en-US" sz="3200" dirty="0">
                <a:latin typeface="+mn-ea"/>
                <a:ea typeface="+mn-ea"/>
              </a:rPr>
              <a:t>（也称图像灰度、颜色深度）表示数字位图图像中每个像素上用于表示颜色的二进制数字位数。</a:t>
            </a:r>
            <a:endParaRPr lang="en-US" altLang="zh-CN" sz="3200" dirty="0">
              <a:latin typeface="+mn-ea"/>
              <a:ea typeface="+mn-ea"/>
            </a:endParaRPr>
          </a:p>
          <a:p>
            <a:pPr marL="514350" indent="-514350" algn="l" eaLnBrk="1" hangingPunct="1">
              <a:spcAft>
                <a:spcPts val="1800"/>
              </a:spcAft>
              <a:buAutoNum type="arabicPeriod"/>
            </a:pPr>
            <a:r>
              <a:rPr lang="zh-CN" altLang="en-US" sz="3200" dirty="0">
                <a:latin typeface="+mn-ea"/>
                <a:ea typeface="+mn-ea"/>
              </a:rPr>
              <a:t>图像深度值越大，图像质量越好，但是存储空间也越大。</a:t>
            </a:r>
          </a:p>
        </p:txBody>
      </p:sp>
      <p:sp>
        <p:nvSpPr>
          <p:cNvPr id="2" name="标题 1"/>
          <p:cNvSpPr>
            <a:spLocks noGrp="1"/>
          </p:cNvSpPr>
          <p:nvPr>
            <p:ph type="title"/>
          </p:nvPr>
        </p:nvSpPr>
        <p:spPr>
          <a:xfrm>
            <a:off x="251520" y="1333500"/>
            <a:ext cx="8229600" cy="703263"/>
          </a:xfrm>
        </p:spPr>
        <p:txBody>
          <a:bodyPr>
            <a:normAutofit fontScale="90000"/>
          </a:bodyPr>
          <a:lstStyle/>
          <a:p>
            <a:r>
              <a:rPr lang="zh-CN" altLang="en-US" dirty="0">
                <a:latin typeface="+mn-ea"/>
                <a:ea typeface="+mn-ea"/>
              </a:rPr>
              <a:t>图像深度</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28</a:t>
            </a:fld>
            <a:endParaRPr lang="zh-CN" altLang="en-US"/>
          </a:p>
        </p:txBody>
      </p:sp>
      <p:sp>
        <p:nvSpPr>
          <p:cNvPr id="8"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382895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807" name="Group 39"/>
          <p:cNvGraphicFramePr>
            <a:graphicFrameLocks noGrp="1"/>
          </p:cNvGraphicFramePr>
          <p:nvPr>
            <p:extLst>
              <p:ext uri="{D42A27DB-BD31-4B8C-83A1-F6EECF244321}">
                <p14:modId xmlns:p14="http://schemas.microsoft.com/office/powerpoint/2010/main" val="4239274552"/>
              </p:ext>
            </p:extLst>
          </p:nvPr>
        </p:nvGraphicFramePr>
        <p:xfrm>
          <a:off x="502543" y="2564904"/>
          <a:ext cx="7991475" cy="3438526"/>
        </p:xfrm>
        <a:graphic>
          <a:graphicData uri="http://schemas.openxmlformats.org/drawingml/2006/table">
            <a:tbl>
              <a:tblPr/>
              <a:tblGrid>
                <a:gridCol w="1941512">
                  <a:extLst>
                    <a:ext uri="{9D8B030D-6E8A-4147-A177-3AD203B41FA5}">
                      <a16:colId xmlns:a16="http://schemas.microsoft.com/office/drawing/2014/main" val="20000"/>
                    </a:ext>
                  </a:extLst>
                </a:gridCol>
                <a:gridCol w="2014538">
                  <a:extLst>
                    <a:ext uri="{9D8B030D-6E8A-4147-A177-3AD203B41FA5}">
                      <a16:colId xmlns:a16="http://schemas.microsoft.com/office/drawing/2014/main" val="20001"/>
                    </a:ext>
                  </a:extLst>
                </a:gridCol>
                <a:gridCol w="4035425">
                  <a:extLst>
                    <a:ext uri="{9D8B030D-6E8A-4147-A177-3AD203B41FA5}">
                      <a16:colId xmlns:a16="http://schemas.microsoft.com/office/drawing/2014/main" val="20002"/>
                    </a:ext>
                  </a:extLst>
                </a:gridCol>
              </a:tblGrid>
              <a:tr h="693738">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3200" b="0" i="0" u="none" strike="noStrike" cap="none" normalizeH="0" baseline="0" dirty="0">
                          <a:ln>
                            <a:noFill/>
                          </a:ln>
                          <a:solidFill>
                            <a:schemeClr val="tx1"/>
                          </a:solidFill>
                          <a:effectLst/>
                          <a:latin typeface="Arial" pitchFamily="34" charset="0"/>
                          <a:ea typeface="隶书" pitchFamily="49" charset="-122"/>
                        </a:rPr>
                        <a:t>颜色深度</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3200" b="0" i="0" u="none" strike="noStrike" cap="none" normalizeH="0" baseline="0">
                          <a:ln>
                            <a:noFill/>
                          </a:ln>
                          <a:solidFill>
                            <a:schemeClr val="tx1"/>
                          </a:solidFill>
                          <a:effectLst/>
                          <a:latin typeface="Arial" pitchFamily="34" charset="0"/>
                          <a:ea typeface="隶书" pitchFamily="49" charset="-122"/>
                        </a:rPr>
                        <a:t>颜色总数</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3200" b="0" i="0" u="none" strike="noStrike" cap="none" normalizeH="0" baseline="0">
                          <a:ln>
                            <a:noFill/>
                          </a:ln>
                          <a:solidFill>
                            <a:schemeClr val="tx1"/>
                          </a:solidFill>
                          <a:effectLst/>
                          <a:latin typeface="Arial" pitchFamily="34" charset="0"/>
                          <a:ea typeface="隶书" pitchFamily="49" charset="-122"/>
                        </a:rPr>
                        <a:t>图像名称</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extLst>
                  <a:ext uri="{0D108BD9-81ED-4DB2-BD59-A6C34878D82A}">
                    <a16:rowId xmlns:a16="http://schemas.microsoft.com/office/drawing/2014/main" val="10000"/>
                  </a:ext>
                </a:extLst>
              </a:tr>
              <a:tr h="6953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a:ln>
                            <a:noFill/>
                          </a:ln>
                          <a:solidFill>
                            <a:schemeClr val="tx1"/>
                          </a:solidFill>
                          <a:effectLst/>
                          <a:latin typeface="Arial" pitchFamily="34" charset="0"/>
                          <a:ea typeface="隶书" pitchFamily="49" charset="-122"/>
                        </a:rPr>
                        <a:t>1</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a:ln>
                            <a:noFill/>
                          </a:ln>
                          <a:solidFill>
                            <a:schemeClr val="tx1"/>
                          </a:solidFill>
                          <a:effectLst/>
                          <a:latin typeface="Arial" pitchFamily="34" charset="0"/>
                          <a:ea typeface="隶书" pitchFamily="49" charset="-122"/>
                        </a:rPr>
                        <a:t>2</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3200" b="0" i="0" u="none" strike="noStrike" cap="none" normalizeH="0" baseline="0" dirty="0">
                          <a:ln>
                            <a:noFill/>
                          </a:ln>
                          <a:solidFill>
                            <a:schemeClr val="tx1"/>
                          </a:solidFill>
                          <a:effectLst/>
                          <a:latin typeface="Arial" pitchFamily="34" charset="0"/>
                          <a:ea typeface="隶书" pitchFamily="49" charset="-122"/>
                        </a:rPr>
                        <a:t>单色图像</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extLst>
                  <a:ext uri="{0D108BD9-81ED-4DB2-BD59-A6C34878D82A}">
                    <a16:rowId xmlns:a16="http://schemas.microsoft.com/office/drawing/2014/main" val="10001"/>
                  </a:ext>
                </a:extLst>
              </a:tr>
              <a:tr h="6953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a:ln>
                            <a:noFill/>
                          </a:ln>
                          <a:solidFill>
                            <a:schemeClr val="tx1"/>
                          </a:solidFill>
                          <a:effectLst/>
                          <a:latin typeface="Arial" pitchFamily="34" charset="0"/>
                          <a:ea typeface="隶书" pitchFamily="49" charset="-122"/>
                        </a:rPr>
                        <a:t>4</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a:ln>
                            <a:noFill/>
                          </a:ln>
                          <a:solidFill>
                            <a:schemeClr val="tx1"/>
                          </a:solidFill>
                          <a:effectLst/>
                          <a:latin typeface="Arial" pitchFamily="34" charset="0"/>
                          <a:ea typeface="隶书" pitchFamily="49" charset="-122"/>
                        </a:rPr>
                        <a:t>16</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3200" b="0" i="0" u="none" strike="noStrike" cap="none" normalizeH="0" baseline="0">
                          <a:ln>
                            <a:noFill/>
                          </a:ln>
                          <a:solidFill>
                            <a:schemeClr val="tx1"/>
                          </a:solidFill>
                          <a:effectLst/>
                          <a:latin typeface="Arial" pitchFamily="34" charset="0"/>
                          <a:ea typeface="隶书" pitchFamily="49" charset="-122"/>
                        </a:rPr>
                        <a:t>索引</a:t>
                      </a:r>
                      <a:r>
                        <a:rPr kumimoji="0" lang="en-US" altLang="zh-CN" sz="3200" b="0" i="0" u="none" strike="noStrike" cap="none" normalizeH="0" baseline="0">
                          <a:ln>
                            <a:noFill/>
                          </a:ln>
                          <a:solidFill>
                            <a:schemeClr val="tx1"/>
                          </a:solidFill>
                          <a:effectLst/>
                          <a:latin typeface="Arial" pitchFamily="34" charset="0"/>
                          <a:ea typeface="隶书" pitchFamily="49" charset="-122"/>
                        </a:rPr>
                        <a:t>16 </a:t>
                      </a:r>
                      <a:r>
                        <a:rPr kumimoji="0" lang="zh-CN" altLang="en-US" sz="3200" b="0" i="0" u="none" strike="noStrike" cap="none" normalizeH="0" baseline="0">
                          <a:ln>
                            <a:noFill/>
                          </a:ln>
                          <a:solidFill>
                            <a:schemeClr val="tx1"/>
                          </a:solidFill>
                          <a:effectLst/>
                          <a:latin typeface="Arial" pitchFamily="34" charset="0"/>
                          <a:ea typeface="隶书" pitchFamily="49" charset="-122"/>
                        </a:rPr>
                        <a:t>色图像</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extLst>
                  <a:ext uri="{0D108BD9-81ED-4DB2-BD59-A6C34878D82A}">
                    <a16:rowId xmlns:a16="http://schemas.microsoft.com/office/drawing/2014/main" val="10002"/>
                  </a:ext>
                </a:extLst>
              </a:tr>
              <a:tr h="6953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a:ln>
                            <a:noFill/>
                          </a:ln>
                          <a:solidFill>
                            <a:schemeClr val="tx1"/>
                          </a:solidFill>
                          <a:effectLst/>
                          <a:latin typeface="Arial" pitchFamily="34" charset="0"/>
                          <a:ea typeface="隶书" pitchFamily="49" charset="-122"/>
                        </a:rPr>
                        <a:t>8</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a:ln>
                            <a:noFill/>
                          </a:ln>
                          <a:solidFill>
                            <a:schemeClr val="tx1"/>
                          </a:solidFill>
                          <a:effectLst/>
                          <a:latin typeface="Arial" pitchFamily="34" charset="0"/>
                          <a:ea typeface="隶书" pitchFamily="49" charset="-122"/>
                        </a:rPr>
                        <a:t>256</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3200" b="0" i="0" u="none" strike="noStrike" cap="none" normalizeH="0" baseline="0">
                          <a:ln>
                            <a:noFill/>
                          </a:ln>
                          <a:solidFill>
                            <a:schemeClr val="tx1"/>
                          </a:solidFill>
                          <a:effectLst/>
                          <a:latin typeface="Arial" pitchFamily="34" charset="0"/>
                          <a:ea typeface="隶书" pitchFamily="49" charset="-122"/>
                        </a:rPr>
                        <a:t>索引</a:t>
                      </a:r>
                      <a:r>
                        <a:rPr kumimoji="0" lang="en-US" altLang="zh-CN" sz="3200" b="0" i="0" u="none" strike="noStrike" cap="none" normalizeH="0" baseline="0">
                          <a:ln>
                            <a:noFill/>
                          </a:ln>
                          <a:solidFill>
                            <a:schemeClr val="tx1"/>
                          </a:solidFill>
                          <a:effectLst/>
                          <a:latin typeface="Arial" pitchFamily="34" charset="0"/>
                          <a:ea typeface="隶书" pitchFamily="49" charset="-122"/>
                        </a:rPr>
                        <a:t>256 </a:t>
                      </a:r>
                      <a:r>
                        <a:rPr kumimoji="0" lang="zh-CN" altLang="en-US" sz="3200" b="0" i="0" u="none" strike="noStrike" cap="none" normalizeH="0" baseline="0">
                          <a:ln>
                            <a:noFill/>
                          </a:ln>
                          <a:solidFill>
                            <a:schemeClr val="tx1"/>
                          </a:solidFill>
                          <a:effectLst/>
                          <a:latin typeface="Arial" pitchFamily="34" charset="0"/>
                          <a:ea typeface="隶书" pitchFamily="49" charset="-122"/>
                        </a:rPr>
                        <a:t>色图像</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extLst>
                  <a:ext uri="{0D108BD9-81ED-4DB2-BD59-A6C34878D82A}">
                    <a16:rowId xmlns:a16="http://schemas.microsoft.com/office/drawing/2014/main" val="10003"/>
                  </a:ext>
                </a:extLst>
              </a:tr>
              <a:tr h="65881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dirty="0">
                          <a:ln>
                            <a:noFill/>
                          </a:ln>
                          <a:solidFill>
                            <a:schemeClr val="tx1"/>
                          </a:solidFill>
                          <a:effectLst/>
                          <a:latin typeface="Arial" pitchFamily="34" charset="0"/>
                          <a:ea typeface="隶书" pitchFamily="49" charset="-122"/>
                        </a:rPr>
                        <a:t>24</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3200" b="0" i="0" u="none" strike="noStrike" cap="none" normalizeH="0" baseline="0" dirty="0">
                          <a:ln>
                            <a:noFill/>
                          </a:ln>
                          <a:solidFill>
                            <a:schemeClr val="tx1"/>
                          </a:solidFill>
                          <a:effectLst/>
                          <a:latin typeface="Arial" pitchFamily="34" charset="0"/>
                          <a:ea typeface="隶书" pitchFamily="49" charset="-122"/>
                        </a:rPr>
                        <a:t>16672216</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3200" b="0" i="0" u="none" strike="noStrike" kern="1200" cap="none" normalizeH="0" baseline="0" dirty="0">
                          <a:ln>
                            <a:noFill/>
                          </a:ln>
                          <a:solidFill>
                            <a:srgbClr val="FF0000"/>
                          </a:solidFill>
                          <a:effectLst/>
                          <a:latin typeface="Arial" pitchFamily="34" charset="0"/>
                          <a:ea typeface="隶书" pitchFamily="49" charset="-122"/>
                          <a:cs typeface="+mn-cs"/>
                        </a:rPr>
                        <a:t>真彩图像</a:t>
                      </a:r>
                    </a:p>
                  </a:txBody>
                  <a:tcPr marL="90000" marR="90000" marT="46800" marB="46800" anchor="ctr" anchorCtr="1"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gradFill rotWithShape="0">
                      <a:gsLst>
                        <a:gs pos="0">
                          <a:srgbClr val="CCECFF"/>
                        </a:gs>
                        <a:gs pos="50000">
                          <a:schemeClr val="bg1"/>
                        </a:gs>
                        <a:gs pos="100000">
                          <a:srgbClr val="CCECFF"/>
                        </a:gs>
                      </a:gsLst>
                      <a:lin ang="5400000" scaled="1"/>
                    </a:gradFill>
                  </a:tcPr>
                </a:tc>
                <a:extLst>
                  <a:ext uri="{0D108BD9-81ED-4DB2-BD59-A6C34878D82A}">
                    <a16:rowId xmlns:a16="http://schemas.microsoft.com/office/drawing/2014/main" val="10004"/>
                  </a:ext>
                </a:extLst>
              </a:tr>
            </a:tbl>
          </a:graphicData>
        </a:graphic>
      </p:graphicFrame>
      <p:sp>
        <p:nvSpPr>
          <p:cNvPr id="2" name="标题 1"/>
          <p:cNvSpPr>
            <a:spLocks noGrp="1"/>
          </p:cNvSpPr>
          <p:nvPr>
            <p:ph type="title"/>
          </p:nvPr>
        </p:nvSpPr>
        <p:spPr>
          <a:xfrm>
            <a:off x="125859" y="1412776"/>
            <a:ext cx="8229600" cy="703263"/>
          </a:xfrm>
        </p:spPr>
        <p:txBody>
          <a:bodyPr>
            <a:normAutofit fontScale="90000"/>
          </a:bodyPr>
          <a:lstStyle/>
          <a:p>
            <a:r>
              <a:rPr lang="zh-CN" altLang="en-US" dirty="0">
                <a:latin typeface="+mn-ea"/>
                <a:ea typeface="+mn-ea"/>
              </a:rPr>
              <a:t>颜色深度与显示的颜色数目</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29</a:t>
            </a:fld>
            <a:endParaRPr lang="zh-CN" altLang="en-US"/>
          </a:p>
        </p:txBody>
      </p:sp>
      <p:sp>
        <p:nvSpPr>
          <p:cNvPr id="6"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2096791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241269" y="2279472"/>
            <a:ext cx="8007350" cy="1066800"/>
          </a:xfrm>
          <a:prstGeom prst="rect">
            <a:avLst/>
          </a:prstGeom>
          <a:noFill/>
          <a:ln>
            <a:noFill/>
          </a:ln>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lang="en-US" altLang="zh-CN" sz="3200" dirty="0">
                <a:latin typeface="隶书" pitchFamily="49" charset="-122"/>
                <a:ea typeface="隶书" pitchFamily="49" charset="-122"/>
              </a:rPr>
              <a:t>	</a:t>
            </a:r>
            <a:r>
              <a:rPr lang="zh-CN" altLang="en-US" sz="3200" dirty="0">
                <a:latin typeface="+mn-ea"/>
                <a:ea typeface="+mn-ea"/>
              </a:rPr>
              <a:t>用字节表示图像文件大小时，一幅未经</a:t>
            </a:r>
          </a:p>
          <a:p>
            <a:pPr algn="l" eaLnBrk="1" hangingPunct="1"/>
            <a:r>
              <a:rPr lang="zh-CN" altLang="en-US" sz="3200" dirty="0">
                <a:latin typeface="+mn-ea"/>
                <a:ea typeface="+mn-ea"/>
              </a:rPr>
              <a:t>压缩的数字图像的数据量大小计算如下：</a:t>
            </a:r>
          </a:p>
        </p:txBody>
      </p:sp>
      <p:sp>
        <p:nvSpPr>
          <p:cNvPr id="33796" name="Text Box 4"/>
          <p:cNvSpPr txBox="1">
            <a:spLocks noChangeArrowheads="1"/>
          </p:cNvSpPr>
          <p:nvPr/>
        </p:nvSpPr>
        <p:spPr bwMode="auto">
          <a:xfrm>
            <a:off x="476250" y="3430589"/>
            <a:ext cx="7905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lang="zh-CN" altLang="en-US" sz="3200" dirty="0">
                <a:solidFill>
                  <a:srgbClr val="FF3300"/>
                </a:solidFill>
                <a:latin typeface="+mn-ea"/>
                <a:ea typeface="+mn-ea"/>
              </a:rPr>
              <a:t>图像数据量大小 </a:t>
            </a:r>
            <a:r>
              <a:rPr lang="en-US" altLang="zh-CN" sz="3200" dirty="0">
                <a:solidFill>
                  <a:srgbClr val="FF3300"/>
                </a:solidFill>
                <a:latin typeface="+mn-ea"/>
                <a:ea typeface="+mn-ea"/>
              </a:rPr>
              <a:t>= </a:t>
            </a:r>
            <a:r>
              <a:rPr lang="zh-CN" altLang="en-US" sz="3200" dirty="0">
                <a:solidFill>
                  <a:srgbClr val="FF3300"/>
                </a:solidFill>
                <a:latin typeface="+mn-ea"/>
                <a:ea typeface="+mn-ea"/>
              </a:rPr>
              <a:t>像素总数</a:t>
            </a:r>
            <a:r>
              <a:rPr lang="en-US" altLang="zh-CN" sz="3200" dirty="0">
                <a:solidFill>
                  <a:srgbClr val="FF3300"/>
                </a:solidFill>
                <a:latin typeface="+mn-ea"/>
                <a:ea typeface="+mn-ea"/>
              </a:rPr>
              <a:t>×</a:t>
            </a:r>
            <a:r>
              <a:rPr lang="zh-CN" altLang="en-US" sz="3200" dirty="0">
                <a:solidFill>
                  <a:srgbClr val="FF3300"/>
                </a:solidFill>
                <a:latin typeface="+mn-ea"/>
                <a:ea typeface="+mn-ea"/>
              </a:rPr>
              <a:t>图像深度</a:t>
            </a:r>
            <a:r>
              <a:rPr lang="en-US" altLang="zh-CN" sz="3200" dirty="0">
                <a:solidFill>
                  <a:srgbClr val="FF3300"/>
                </a:solidFill>
                <a:latin typeface="+mn-ea"/>
                <a:ea typeface="+mn-ea"/>
              </a:rPr>
              <a:t>÷8</a:t>
            </a:r>
          </a:p>
        </p:txBody>
      </p:sp>
      <p:sp>
        <p:nvSpPr>
          <p:cNvPr id="33798" name="Text Box 6"/>
          <p:cNvSpPr txBox="1">
            <a:spLocks noChangeArrowheads="1"/>
          </p:cNvSpPr>
          <p:nvPr/>
        </p:nvSpPr>
        <p:spPr bwMode="auto">
          <a:xfrm>
            <a:off x="781050" y="4602514"/>
            <a:ext cx="7296150" cy="1066800"/>
          </a:xfrm>
          <a:prstGeom prst="rect">
            <a:avLst/>
          </a:prstGeom>
          <a:noFill/>
          <a:ln w="9525">
            <a:solidFill>
              <a:srgbClr val="000000"/>
            </a:solidFill>
            <a:miter lim="800000"/>
            <a:headEnd/>
            <a:tailEnd/>
          </a:ln>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lang="zh-CN" altLang="en-US" sz="3200" dirty="0">
                <a:solidFill>
                  <a:srgbClr val="336600"/>
                </a:solidFill>
                <a:latin typeface="+mn-ea"/>
                <a:ea typeface="+mn-ea"/>
              </a:rPr>
              <a:t>例如</a:t>
            </a:r>
            <a:r>
              <a:rPr lang="zh-CN" altLang="en-US" sz="3200" dirty="0">
                <a:latin typeface="+mn-ea"/>
                <a:ea typeface="+mn-ea"/>
              </a:rPr>
              <a:t>：一幅 </a:t>
            </a:r>
            <a:r>
              <a:rPr lang="en-US" altLang="zh-CN" sz="3200" dirty="0">
                <a:latin typeface="+mn-ea"/>
                <a:ea typeface="+mn-ea"/>
              </a:rPr>
              <a:t>640×480 </a:t>
            </a:r>
            <a:r>
              <a:rPr lang="zh-CN" altLang="en-US" sz="3200" dirty="0">
                <a:latin typeface="+mn-ea"/>
                <a:ea typeface="+mn-ea"/>
              </a:rPr>
              <a:t>的 </a:t>
            </a:r>
            <a:r>
              <a:rPr lang="en-US" altLang="zh-CN" sz="3200" dirty="0">
                <a:latin typeface="+mn-ea"/>
                <a:ea typeface="+mn-ea"/>
              </a:rPr>
              <a:t>256 </a:t>
            </a:r>
            <a:r>
              <a:rPr lang="zh-CN" altLang="en-US" sz="3200" dirty="0">
                <a:latin typeface="+mn-ea"/>
                <a:ea typeface="+mn-ea"/>
              </a:rPr>
              <a:t>色图像为</a:t>
            </a:r>
          </a:p>
          <a:p>
            <a:pPr algn="l" eaLnBrk="1" hangingPunct="1"/>
            <a:r>
              <a:rPr lang="zh-CN" altLang="en-US" sz="3200" dirty="0">
                <a:latin typeface="+mn-ea"/>
                <a:ea typeface="+mn-ea"/>
              </a:rPr>
              <a:t>	</a:t>
            </a:r>
            <a:r>
              <a:rPr lang="en-US" altLang="zh-CN" sz="3200" dirty="0">
                <a:latin typeface="+mn-ea"/>
                <a:ea typeface="+mn-ea"/>
              </a:rPr>
              <a:t>640×480×8</a:t>
            </a:r>
            <a:r>
              <a:rPr lang="zh-CN" altLang="en-US" sz="3200" dirty="0">
                <a:latin typeface="+mn-ea"/>
                <a:ea typeface="+mn-ea"/>
              </a:rPr>
              <a:t>／</a:t>
            </a:r>
            <a:r>
              <a:rPr lang="en-US" altLang="zh-CN" sz="3200" dirty="0">
                <a:latin typeface="+mn-ea"/>
                <a:ea typeface="+mn-ea"/>
              </a:rPr>
              <a:t>8 = 307200 </a:t>
            </a:r>
            <a:r>
              <a:rPr lang="zh-CN" altLang="en-US" sz="3200" dirty="0">
                <a:latin typeface="+mn-ea"/>
                <a:ea typeface="+mn-ea"/>
              </a:rPr>
              <a:t>字节</a:t>
            </a:r>
          </a:p>
        </p:txBody>
      </p:sp>
      <p:sp>
        <p:nvSpPr>
          <p:cNvPr id="2" name="标题 1"/>
          <p:cNvSpPr>
            <a:spLocks noGrp="1"/>
          </p:cNvSpPr>
          <p:nvPr>
            <p:ph type="title"/>
          </p:nvPr>
        </p:nvSpPr>
        <p:spPr>
          <a:xfrm>
            <a:off x="234571" y="1279965"/>
            <a:ext cx="8229600" cy="703263"/>
          </a:xfrm>
        </p:spPr>
        <p:txBody>
          <a:bodyPr>
            <a:normAutofit fontScale="90000"/>
          </a:bodyPr>
          <a:lstStyle/>
          <a:p>
            <a:r>
              <a:rPr lang="zh-CN" altLang="en-US" dirty="0">
                <a:latin typeface="+mn-ea"/>
                <a:ea typeface="+mn-ea"/>
              </a:rPr>
              <a:t>图像文件大小</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30</a:t>
            </a:fld>
            <a:endParaRPr lang="zh-CN" altLang="en-US"/>
          </a:p>
        </p:txBody>
      </p:sp>
      <p:sp>
        <p:nvSpPr>
          <p:cNvPr id="8"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23835907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slide(fromRight)">
                                      <p:cBhvr>
                                        <p:cTn id="7" dur="500"/>
                                        <p:tgtEl>
                                          <p:spTgt spid="337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3798"/>
                                        </p:tgtEl>
                                        <p:attrNameLst>
                                          <p:attrName>style.visibility</p:attrName>
                                        </p:attrNameLst>
                                      </p:cBhvr>
                                      <p:to>
                                        <p:strVal val="visible"/>
                                      </p:to>
                                    </p:set>
                                    <p:animEffect transition="in" filter="slide(fromBottom)">
                                      <p:cBhvr>
                                        <p:cTn id="12" dur="500"/>
                                        <p:tgtEl>
                                          <p:spTgt spid="3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P spid="3379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p:txBody>
          <a:bodyPr/>
          <a:lstStyle/>
          <a:p>
            <a:pPr marL="0" indent="0" eaLnBrk="1" hangingPunct="1">
              <a:buNone/>
            </a:pPr>
            <a:r>
              <a:rPr lang="zh-CN" altLang="en-US" sz="4000" b="0" dirty="0">
                <a:solidFill>
                  <a:schemeClr val="tx1"/>
                </a:solidFill>
                <a:latin typeface="+mn-ea"/>
              </a:rPr>
              <a:t>单色图像</a:t>
            </a:r>
            <a:endParaRPr lang="en-US" altLang="zh-CN" sz="4000" b="0" dirty="0">
              <a:solidFill>
                <a:schemeClr val="tx1"/>
              </a:solidFill>
              <a:latin typeface="+mn-ea"/>
            </a:endParaRPr>
          </a:p>
          <a:p>
            <a:pPr marL="0" indent="0" eaLnBrk="1" hangingPunct="1">
              <a:buNone/>
            </a:pPr>
            <a:r>
              <a:rPr lang="zh-CN" altLang="en-US" dirty="0"/>
              <a:t>每个像素点仅占一位，其值只有</a:t>
            </a:r>
            <a:r>
              <a:rPr lang="en-US" altLang="zh-CN" dirty="0"/>
              <a:t>0</a:t>
            </a:r>
            <a:r>
              <a:rPr lang="zh-CN" altLang="en-US" dirty="0"/>
              <a:t>或</a:t>
            </a:r>
            <a:r>
              <a:rPr lang="en-US" altLang="zh-CN" dirty="0"/>
              <a:t>1</a:t>
            </a:r>
            <a:r>
              <a:rPr lang="zh-CN" altLang="en-US" dirty="0"/>
              <a:t>，</a:t>
            </a:r>
            <a:r>
              <a:rPr lang="en-US" altLang="zh-CN" dirty="0"/>
              <a:t>0</a:t>
            </a:r>
            <a:r>
              <a:rPr lang="zh-CN" altLang="en-US" dirty="0"/>
              <a:t>代表黑，</a:t>
            </a:r>
            <a:r>
              <a:rPr lang="en-US" altLang="zh-CN" dirty="0"/>
              <a:t>1</a:t>
            </a:r>
            <a:r>
              <a:rPr lang="zh-CN" altLang="en-US" dirty="0"/>
              <a:t>代表白或相反。</a:t>
            </a:r>
          </a:p>
        </p:txBody>
      </p:sp>
      <p:pic>
        <p:nvPicPr>
          <p:cNvPr id="15364" name="Picture 4" descr="RavMon单色"/>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845" y="3024210"/>
            <a:ext cx="4573588"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31</a:t>
            </a:fld>
            <a:endParaRPr lang="zh-CN" altLang="en-US"/>
          </a:p>
        </p:txBody>
      </p:sp>
      <p:sp>
        <p:nvSpPr>
          <p:cNvPr id="8"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3304138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21788" y="1172854"/>
            <a:ext cx="8229600" cy="703263"/>
          </a:xfrm>
        </p:spPr>
        <p:txBody>
          <a:bodyPr>
            <a:normAutofit fontScale="90000"/>
          </a:bodyPr>
          <a:lstStyle/>
          <a:p>
            <a:pPr eaLnBrk="1" hangingPunct="1">
              <a:defRPr/>
            </a:pPr>
            <a:r>
              <a:rPr lang="zh-CN" altLang="en-US" dirty="0">
                <a:latin typeface="+mn-ea"/>
                <a:ea typeface="+mn-ea"/>
              </a:rPr>
              <a:t>灰度图像 </a:t>
            </a:r>
          </a:p>
        </p:txBody>
      </p:sp>
      <p:sp>
        <p:nvSpPr>
          <p:cNvPr id="16387" name="Rectangle 3"/>
          <p:cNvSpPr>
            <a:spLocks noGrp="1" noChangeArrowheads="1"/>
          </p:cNvSpPr>
          <p:nvPr>
            <p:ph type="body" idx="1"/>
          </p:nvPr>
        </p:nvSpPr>
        <p:spPr>
          <a:xfrm>
            <a:off x="273710" y="2125974"/>
            <a:ext cx="8515350" cy="1049288"/>
          </a:xfrm>
        </p:spPr>
        <p:txBody>
          <a:bodyPr/>
          <a:lstStyle/>
          <a:p>
            <a:pPr marL="533400" indent="-533400" eaLnBrk="1" hangingPunct="1">
              <a:buFont typeface="Wingdings" pitchFamily="2" charset="2"/>
              <a:buNone/>
            </a:pPr>
            <a:r>
              <a:rPr lang="en-US" altLang="zh-CN" sz="2800" dirty="0"/>
              <a:t>(1) </a:t>
            </a:r>
            <a:r>
              <a:rPr lang="zh-CN" altLang="en-US" sz="2800" dirty="0"/>
              <a:t>文件带有图像颜色表，共有</a:t>
            </a:r>
            <a:r>
              <a:rPr lang="en-US" altLang="zh-CN" sz="2800" dirty="0"/>
              <a:t>256</a:t>
            </a:r>
            <a:r>
              <a:rPr lang="zh-CN" altLang="en-US" sz="2800" dirty="0"/>
              <a:t>项，每一表项由值相同的红、绿、蓝三色分量组成。</a:t>
            </a:r>
          </a:p>
        </p:txBody>
      </p:sp>
      <p:pic>
        <p:nvPicPr>
          <p:cNvPr id="16389" name="Picture 5" descr="RavMon灰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2736" y="3429000"/>
            <a:ext cx="4176464" cy="275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32</a:t>
            </a:fld>
            <a:endParaRPr lang="zh-CN" altLang="en-US"/>
          </a:p>
        </p:txBody>
      </p:sp>
      <p:sp>
        <p:nvSpPr>
          <p:cNvPr id="7" name="Rectangle 3"/>
          <p:cNvSpPr txBox="1">
            <a:spLocks noChangeArrowheads="1"/>
          </p:cNvSpPr>
          <p:nvPr/>
        </p:nvSpPr>
        <p:spPr>
          <a:xfrm>
            <a:off x="254141" y="3429000"/>
            <a:ext cx="4360079" cy="24177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indent="-533400">
              <a:buFont typeface="Wingdings" pitchFamily="2" charset="2"/>
              <a:buNone/>
            </a:pPr>
            <a:r>
              <a:rPr lang="en-US" altLang="zh-CN" sz="2800" dirty="0"/>
              <a:t>(2) </a:t>
            </a:r>
            <a:r>
              <a:rPr lang="zh-CN" altLang="en-US" sz="2800" dirty="0"/>
              <a:t>每个像素由</a:t>
            </a:r>
            <a:r>
              <a:rPr lang="en-US" altLang="zh-CN" sz="2800" dirty="0"/>
              <a:t>8</a:t>
            </a:r>
            <a:r>
              <a:rPr lang="zh-CN" altLang="en-US" sz="2800" dirty="0"/>
              <a:t>位组成，其值范围从</a:t>
            </a:r>
            <a:r>
              <a:rPr lang="en-US" altLang="zh-CN" sz="2800" dirty="0"/>
              <a:t>0~255</a:t>
            </a:r>
            <a:r>
              <a:rPr lang="zh-CN" altLang="en-US" sz="2800" dirty="0"/>
              <a:t>，像素值</a:t>
            </a:r>
            <a:r>
              <a:rPr lang="en-US" altLang="zh-CN" sz="2800" dirty="0"/>
              <a:t>f(x</a:t>
            </a:r>
            <a:r>
              <a:rPr lang="zh-CN" altLang="en-US" sz="2800" dirty="0"/>
              <a:t>，</a:t>
            </a:r>
            <a:r>
              <a:rPr lang="en-US" altLang="zh-CN" sz="2800" dirty="0"/>
              <a:t>y)</a:t>
            </a:r>
            <a:r>
              <a:rPr lang="zh-CN" altLang="en-US" sz="2800" dirty="0"/>
              <a:t>是图像颜色表的表项入口地址。</a:t>
            </a:r>
          </a:p>
        </p:txBody>
      </p:sp>
      <p:sp>
        <p:nvSpPr>
          <p:cNvPr id="8"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729288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39913" y="1198702"/>
            <a:ext cx="8229600" cy="703263"/>
          </a:xfrm>
        </p:spPr>
        <p:txBody>
          <a:bodyPr>
            <a:normAutofit fontScale="90000"/>
          </a:bodyPr>
          <a:lstStyle/>
          <a:p>
            <a:pPr eaLnBrk="1" hangingPunct="1">
              <a:defRPr/>
            </a:pPr>
            <a:r>
              <a:rPr lang="zh-CN" altLang="en-US" dirty="0">
                <a:solidFill>
                  <a:srgbClr val="C00000"/>
                </a:solidFill>
                <a:latin typeface="+mn-ea"/>
                <a:ea typeface="+mn-ea"/>
              </a:rPr>
              <a:t>伪</a:t>
            </a:r>
            <a:r>
              <a:rPr lang="zh-CN" altLang="en-US" dirty="0">
                <a:latin typeface="+mn-ea"/>
                <a:ea typeface="+mn-ea"/>
              </a:rPr>
              <a:t>彩色图像 </a:t>
            </a:r>
          </a:p>
        </p:txBody>
      </p:sp>
      <p:sp>
        <p:nvSpPr>
          <p:cNvPr id="17411" name="Rectangle 3"/>
          <p:cNvSpPr>
            <a:spLocks noGrp="1" noChangeArrowheads="1"/>
          </p:cNvSpPr>
          <p:nvPr>
            <p:ph type="body" idx="1"/>
          </p:nvPr>
        </p:nvSpPr>
        <p:spPr>
          <a:xfrm>
            <a:off x="457200" y="2018487"/>
            <a:ext cx="8382000" cy="2849563"/>
          </a:xfrm>
        </p:spPr>
        <p:txBody>
          <a:bodyPr/>
          <a:lstStyle/>
          <a:p>
            <a:pPr eaLnBrk="1" hangingPunct="1">
              <a:buFont typeface="Wingdings" pitchFamily="2" charset="2"/>
              <a:buNone/>
            </a:pPr>
            <a:r>
              <a:rPr lang="en-US" altLang="zh-CN" dirty="0"/>
              <a:t>(1) </a:t>
            </a:r>
            <a:r>
              <a:rPr lang="zh-CN" altLang="en-US" dirty="0"/>
              <a:t>图像颜色表中的红、绿、蓝颜色分量值不全相等。 </a:t>
            </a:r>
          </a:p>
          <a:p>
            <a:pPr eaLnBrk="1" hangingPunct="1">
              <a:buFont typeface="Wingdings" pitchFamily="2" charset="2"/>
              <a:buNone/>
            </a:pPr>
            <a:r>
              <a:rPr lang="en-US" altLang="zh-CN" dirty="0"/>
              <a:t>(2) </a:t>
            </a:r>
            <a:r>
              <a:rPr lang="zh-CN" altLang="en-US" dirty="0"/>
              <a:t>图像有</a:t>
            </a:r>
            <a:r>
              <a:rPr lang="en-US" altLang="zh-CN" dirty="0"/>
              <a:t>256</a:t>
            </a:r>
            <a:r>
              <a:rPr lang="zh-CN" altLang="en-US" dirty="0"/>
              <a:t>种颜色，</a:t>
            </a:r>
            <a:r>
              <a:rPr lang="zh-CN" altLang="en-US" dirty="0">
                <a:solidFill>
                  <a:srgbClr val="C00000"/>
                </a:solidFill>
              </a:rPr>
              <a:t>像素值是图像颜色表的索引地址</a:t>
            </a:r>
            <a:r>
              <a:rPr lang="zh-CN" altLang="en-US" dirty="0"/>
              <a:t>。</a:t>
            </a:r>
          </a:p>
        </p:txBody>
      </p:sp>
      <p:pic>
        <p:nvPicPr>
          <p:cNvPr id="17412" name="Picture 4" descr="RavMon2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717032"/>
            <a:ext cx="3888432"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33</a:t>
            </a:fld>
            <a:endParaRPr lang="zh-CN" altLang="en-US"/>
          </a:p>
        </p:txBody>
      </p:sp>
      <p:sp>
        <p:nvSpPr>
          <p:cNvPr id="7"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1551797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79388" y="908720"/>
            <a:ext cx="4941888" cy="852487"/>
          </a:xfrm>
        </p:spPr>
        <p:txBody>
          <a:bodyPr/>
          <a:lstStyle/>
          <a:p>
            <a:pPr eaLnBrk="1" hangingPunct="1">
              <a:defRPr/>
            </a:pPr>
            <a:r>
              <a:rPr lang="en-US" altLang="zh-CN" dirty="0">
                <a:latin typeface="+mn-ea"/>
                <a:ea typeface="+mn-ea"/>
              </a:rPr>
              <a:t>24</a:t>
            </a:r>
            <a:r>
              <a:rPr lang="zh-CN" altLang="en-US" dirty="0">
                <a:latin typeface="+mn-ea"/>
                <a:ea typeface="+mn-ea"/>
              </a:rPr>
              <a:t>位真彩色图像 </a:t>
            </a:r>
          </a:p>
        </p:txBody>
      </p:sp>
      <p:sp>
        <p:nvSpPr>
          <p:cNvPr id="18435" name="Rectangle 3"/>
          <p:cNvSpPr>
            <a:spLocks noGrp="1" noChangeArrowheads="1"/>
          </p:cNvSpPr>
          <p:nvPr>
            <p:ph type="body" idx="1"/>
          </p:nvPr>
        </p:nvSpPr>
        <p:spPr>
          <a:xfrm>
            <a:off x="256214" y="1779801"/>
            <a:ext cx="8569076" cy="1697037"/>
          </a:xfrm>
        </p:spPr>
        <p:txBody>
          <a:bodyPr>
            <a:normAutofit lnSpcReduction="10000"/>
          </a:bodyPr>
          <a:lstStyle/>
          <a:p>
            <a:pPr eaLnBrk="1" hangingPunct="1">
              <a:spcAft>
                <a:spcPts val="600"/>
              </a:spcAft>
              <a:buFont typeface="Wingdings" pitchFamily="2" charset="2"/>
              <a:buNone/>
            </a:pPr>
            <a:r>
              <a:rPr lang="en-US" altLang="zh-CN" dirty="0"/>
              <a:t>(1)</a:t>
            </a:r>
            <a:r>
              <a:rPr lang="zh-CN" altLang="en-US" dirty="0"/>
              <a:t>无颜色表，每一像素由</a:t>
            </a:r>
            <a:r>
              <a:rPr lang="en-US" altLang="zh-CN" dirty="0"/>
              <a:t>RGB</a:t>
            </a:r>
            <a:r>
              <a:rPr lang="zh-CN" altLang="en-US" dirty="0"/>
              <a:t>三个分量组成。</a:t>
            </a:r>
          </a:p>
          <a:p>
            <a:pPr eaLnBrk="1" hangingPunct="1">
              <a:spcAft>
                <a:spcPts val="600"/>
              </a:spcAft>
              <a:buFont typeface="Wingdings" pitchFamily="2" charset="2"/>
              <a:buNone/>
            </a:pPr>
            <a:r>
              <a:rPr lang="en-US" altLang="zh-CN" dirty="0"/>
              <a:t>(2)</a:t>
            </a:r>
            <a:r>
              <a:rPr lang="zh-CN" altLang="en-US" dirty="0"/>
              <a:t>每个分量各占</a:t>
            </a:r>
            <a:r>
              <a:rPr lang="en-US" altLang="zh-CN" dirty="0"/>
              <a:t>8</a:t>
            </a:r>
            <a:r>
              <a:rPr lang="zh-CN" altLang="en-US" dirty="0"/>
              <a:t>位，取值范围为</a:t>
            </a:r>
            <a:r>
              <a:rPr lang="en-US" altLang="zh-CN" dirty="0"/>
              <a:t>0~255</a:t>
            </a:r>
            <a:r>
              <a:rPr lang="zh-CN" altLang="en-US" dirty="0"/>
              <a:t>，每个像素</a:t>
            </a:r>
            <a:r>
              <a:rPr lang="en-US" altLang="zh-CN" dirty="0"/>
              <a:t>24</a:t>
            </a:r>
            <a:r>
              <a:rPr lang="zh-CN" altLang="en-US" dirty="0"/>
              <a:t>位。</a:t>
            </a:r>
          </a:p>
        </p:txBody>
      </p:sp>
      <p:pic>
        <p:nvPicPr>
          <p:cNvPr id="18437" name="Picture 5" descr="RavM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778" y="3429000"/>
            <a:ext cx="4096444" cy="2873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fld id="{F64BA984-46A0-4F46-990E-EC790E6934B4}" type="slidenum">
              <a:rPr lang="zh-CN" altLang="en-US" smtClean="0"/>
              <a:t>34</a:t>
            </a:fld>
            <a:endParaRPr lang="zh-CN" altLang="en-US"/>
          </a:p>
        </p:txBody>
      </p:sp>
      <p:sp>
        <p:nvSpPr>
          <p:cNvPr id="7" name="标题 2"/>
          <p:cNvSpPr txBox="1">
            <a:spLocks/>
          </p:cNvSpPr>
          <p:nvPr/>
        </p:nvSpPr>
        <p:spPr>
          <a:xfrm>
            <a:off x="302839" y="18686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存储</a:t>
            </a:r>
          </a:p>
        </p:txBody>
      </p:sp>
    </p:spTree>
    <p:extLst>
      <p:ext uri="{BB962C8B-B14F-4D97-AF65-F5344CB8AC3E}">
        <p14:creationId xmlns:p14="http://schemas.microsoft.com/office/powerpoint/2010/main" val="2816931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0" name="Rectangle 3"/>
          <p:cNvSpPr>
            <a:spLocks noGrp="1" noChangeArrowheads="1"/>
          </p:cNvSpPr>
          <p:nvPr>
            <p:ph idx="1"/>
          </p:nvPr>
        </p:nvSpPr>
        <p:spPr>
          <a:xfrm>
            <a:off x="-36512" y="1196752"/>
            <a:ext cx="8229600" cy="4525963"/>
          </a:xfrm>
        </p:spPr>
        <p:txBody>
          <a:bodyPr>
            <a:normAutofit/>
          </a:bodyPr>
          <a:lstStyle/>
          <a:p>
            <a:pPr marL="914400" lvl="1" indent="-457200" eaLnBrk="1" hangingPunct="1">
              <a:lnSpc>
                <a:spcPct val="150000"/>
              </a:lnSpc>
              <a:buFont typeface="Arial" pitchFamily="34" charset="0"/>
              <a:buChar char="•"/>
            </a:pPr>
            <a:r>
              <a:rPr lang="en-US" altLang="zh-CN" b="1" dirty="0">
                <a:solidFill>
                  <a:srgbClr val="0000FF"/>
                </a:solidFill>
              </a:rPr>
              <a:t>bitmap</a:t>
            </a:r>
            <a:r>
              <a:rPr lang="zh-CN" altLang="en-US" b="1" dirty="0">
                <a:solidFill>
                  <a:srgbClr val="0000FF"/>
                </a:solidFill>
              </a:rPr>
              <a:t>的简写 </a:t>
            </a:r>
          </a:p>
          <a:p>
            <a:pPr marL="914400" lvl="1" indent="-457200">
              <a:lnSpc>
                <a:spcPct val="150000"/>
              </a:lnSpc>
              <a:buFont typeface="Arial" pitchFamily="34" charset="0"/>
              <a:buChar char="•"/>
            </a:pPr>
            <a:r>
              <a:rPr lang="zh-CN" altLang="en-US" b="1" dirty="0">
                <a:solidFill>
                  <a:srgbClr val="0000FF"/>
                </a:solidFill>
              </a:rPr>
              <a:t>微软公司开发的在</a:t>
            </a:r>
            <a:r>
              <a:rPr lang="en-US" altLang="zh-CN" b="1" dirty="0">
                <a:solidFill>
                  <a:srgbClr val="0000FF"/>
                </a:solidFill>
              </a:rPr>
              <a:t>Windows</a:t>
            </a:r>
            <a:r>
              <a:rPr lang="zh-CN" altLang="en-US" b="1" dirty="0">
                <a:solidFill>
                  <a:srgbClr val="0000FF"/>
                </a:solidFill>
              </a:rPr>
              <a:t>环境下的标准位图文件格式 与设备无关的位图</a:t>
            </a:r>
            <a:r>
              <a:rPr lang="en-US" altLang="zh-CN" b="1" dirty="0">
                <a:solidFill>
                  <a:srgbClr val="0000FF"/>
                </a:solidFill>
              </a:rPr>
              <a:t>(DIB)</a:t>
            </a:r>
            <a:r>
              <a:rPr lang="zh-CN" altLang="en-US" b="1" dirty="0">
                <a:solidFill>
                  <a:srgbClr val="0000FF"/>
                </a:solidFill>
              </a:rPr>
              <a:t>文件格式</a:t>
            </a:r>
          </a:p>
          <a:p>
            <a:pPr marL="800100" lvl="1" indent="-342900">
              <a:lnSpc>
                <a:spcPct val="150000"/>
              </a:lnSpc>
              <a:buFont typeface="Arial" pitchFamily="34" charset="0"/>
              <a:buChar char="•"/>
            </a:pPr>
            <a:r>
              <a:rPr lang="en-US" altLang="zh-CN" b="1" dirty="0">
                <a:solidFill>
                  <a:srgbClr val="0000FF"/>
                </a:solidFill>
              </a:rPr>
              <a:t>BMP</a:t>
            </a:r>
            <a:r>
              <a:rPr lang="zh-CN" altLang="en-US" b="1" dirty="0">
                <a:solidFill>
                  <a:srgbClr val="0000FF"/>
                </a:solidFill>
              </a:rPr>
              <a:t>格式的缺点是，要占用较大的存储空间，文件尺寸太大</a:t>
            </a:r>
            <a:endParaRPr lang="en-US" altLang="zh-CN" b="1" dirty="0">
              <a:solidFill>
                <a:srgbClr val="0000FF"/>
              </a:solidFill>
            </a:endParaRPr>
          </a:p>
        </p:txBody>
      </p:sp>
      <p:sp>
        <p:nvSpPr>
          <p:cNvPr id="82949" name="Rectangle 2"/>
          <p:cNvSpPr>
            <a:spLocks noGrp="1" noChangeArrowheads="1"/>
          </p:cNvSpPr>
          <p:nvPr>
            <p:ph type="title"/>
          </p:nvPr>
        </p:nvSpPr>
        <p:spPr/>
        <p:txBody>
          <a:bodyPr>
            <a:normAutofit fontScale="90000"/>
          </a:bodyPr>
          <a:lstStyle/>
          <a:p>
            <a:pPr eaLnBrk="1" hangingPunct="1"/>
            <a:r>
              <a:rPr lang="en-US" altLang="zh-CN" dirty="0"/>
              <a:t>2.4 </a:t>
            </a:r>
            <a:r>
              <a:rPr lang="zh-CN" altLang="en-US" dirty="0"/>
              <a:t>图像 </a:t>
            </a:r>
            <a:r>
              <a:rPr lang="en" altLang="zh-CN" dirty="0"/>
              <a:t>BMP</a:t>
            </a:r>
            <a:endParaRPr lang="zh-CN" altLang="en-US" dirty="0"/>
          </a:p>
        </p:txBody>
      </p:sp>
      <p:sp>
        <p:nvSpPr>
          <p:cNvPr id="3" name="灯片编号占位符 2"/>
          <p:cNvSpPr>
            <a:spLocks noGrp="1"/>
          </p:cNvSpPr>
          <p:nvPr>
            <p:ph type="sldNum" sz="quarter" idx="12"/>
          </p:nvPr>
        </p:nvSpPr>
        <p:spPr/>
        <p:txBody>
          <a:bodyPr/>
          <a:lstStyle/>
          <a:p>
            <a:fld id="{F64BA984-46A0-4F46-990E-EC790E6934B4}" type="slidenum">
              <a:rPr lang="zh-CN" altLang="en-US" smtClean="0"/>
              <a:t>35</a:t>
            </a:fld>
            <a:endParaRPr lang="zh-CN" altLang="en-US"/>
          </a:p>
        </p:txBody>
      </p:sp>
    </p:spTree>
    <p:extLst>
      <p:ext uri="{BB962C8B-B14F-4D97-AF65-F5344CB8AC3E}">
        <p14:creationId xmlns:p14="http://schemas.microsoft.com/office/powerpoint/2010/main" val="2689729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4" name="Rectangle 3"/>
          <p:cNvSpPr>
            <a:spLocks noGrp="1" noChangeArrowheads="1"/>
          </p:cNvSpPr>
          <p:nvPr>
            <p:ph type="body" sz="half" idx="4294967295"/>
          </p:nvPr>
        </p:nvSpPr>
        <p:spPr>
          <a:xfrm>
            <a:off x="395536" y="1083808"/>
            <a:ext cx="7772400" cy="5009488"/>
          </a:xfrm>
        </p:spPr>
        <p:txBody>
          <a:bodyPr>
            <a:normAutofit/>
          </a:bodyPr>
          <a:lstStyle/>
          <a:p>
            <a:pPr>
              <a:lnSpc>
                <a:spcPct val="90000"/>
              </a:lnSpc>
            </a:pPr>
            <a:r>
              <a:rPr lang="en-US" altLang="zh-CN" dirty="0"/>
              <a:t>BMP</a:t>
            </a:r>
            <a:r>
              <a:rPr lang="zh-CN" altLang="en-US" dirty="0"/>
              <a:t>位图文件可看成由</a:t>
            </a:r>
            <a:r>
              <a:rPr lang="en-US" altLang="zh-CN" dirty="0"/>
              <a:t>4</a:t>
            </a:r>
            <a:r>
              <a:rPr lang="zh-CN" altLang="en-US" dirty="0"/>
              <a:t>个部分组成</a:t>
            </a:r>
          </a:p>
          <a:p>
            <a:pPr lvl="1">
              <a:lnSpc>
                <a:spcPct val="90000"/>
              </a:lnSpc>
            </a:pPr>
            <a:r>
              <a:rPr lang="en-US" altLang="zh-CN" sz="2600" dirty="0">
                <a:solidFill>
                  <a:srgbClr val="0000FF"/>
                </a:solidFill>
              </a:rPr>
              <a:t>1. </a:t>
            </a:r>
            <a:r>
              <a:rPr lang="zh-CN" altLang="en-US" sz="2600" dirty="0">
                <a:solidFill>
                  <a:srgbClr val="0000FF"/>
                </a:solidFill>
              </a:rPr>
              <a:t>位图文件头</a:t>
            </a:r>
            <a:endParaRPr lang="en-US" altLang="zh-CN" sz="2600" dirty="0">
              <a:solidFill>
                <a:srgbClr val="0000FF"/>
              </a:solidFill>
            </a:endParaRPr>
          </a:p>
          <a:p>
            <a:pPr lvl="1">
              <a:lnSpc>
                <a:spcPct val="90000"/>
              </a:lnSpc>
            </a:pPr>
            <a:r>
              <a:rPr lang="en-US" altLang="zh-CN" sz="2600" dirty="0"/>
              <a:t>	14</a:t>
            </a:r>
            <a:r>
              <a:rPr lang="zh-CN" altLang="en-US" sz="2600" dirty="0"/>
              <a:t>字节，定义了</a:t>
            </a:r>
            <a:r>
              <a:rPr lang="en-US" altLang="zh-CN" sz="2600" dirty="0"/>
              <a:t>BMP</a:t>
            </a:r>
            <a:r>
              <a:rPr lang="zh-CN" altLang="en-US" sz="2600" dirty="0"/>
              <a:t>文件标示，大小和图像字节的位置</a:t>
            </a:r>
            <a:endParaRPr lang="en-US" altLang="zh-CN" sz="2600" dirty="0"/>
          </a:p>
          <a:p>
            <a:pPr lvl="1">
              <a:lnSpc>
                <a:spcPct val="90000"/>
              </a:lnSpc>
            </a:pPr>
            <a:r>
              <a:rPr lang="en-US" altLang="zh-CN" sz="2600" dirty="0">
                <a:solidFill>
                  <a:srgbClr val="0000FF"/>
                </a:solidFill>
              </a:rPr>
              <a:t>2. </a:t>
            </a:r>
            <a:r>
              <a:rPr lang="zh-CN" altLang="en-US" sz="2600" dirty="0">
                <a:solidFill>
                  <a:srgbClr val="0000FF"/>
                </a:solidFill>
              </a:rPr>
              <a:t>位图信息头</a:t>
            </a:r>
            <a:endParaRPr lang="en-US" altLang="zh-CN" sz="2600" dirty="0">
              <a:solidFill>
                <a:srgbClr val="0000FF"/>
              </a:solidFill>
            </a:endParaRPr>
          </a:p>
          <a:p>
            <a:pPr lvl="1">
              <a:lnSpc>
                <a:spcPct val="90000"/>
              </a:lnSpc>
            </a:pPr>
            <a:r>
              <a:rPr lang="en-US" altLang="zh-CN" sz="2600" dirty="0"/>
              <a:t> 	40</a:t>
            </a:r>
            <a:r>
              <a:rPr lang="zh-CN" altLang="en-US" sz="2600" dirty="0"/>
              <a:t>字节，</a:t>
            </a:r>
            <a:r>
              <a:rPr lang="zh-CN" altLang="en-US" sz="2400" dirty="0"/>
              <a:t>提供图像数据的尺寸、位平面数、压缩方式、颜色索引等信息</a:t>
            </a:r>
            <a:endParaRPr lang="en-US" altLang="zh-CN" sz="2600" dirty="0"/>
          </a:p>
          <a:p>
            <a:pPr lvl="1">
              <a:lnSpc>
                <a:spcPct val="90000"/>
              </a:lnSpc>
            </a:pPr>
            <a:r>
              <a:rPr lang="en-US" altLang="zh-CN" sz="2600" dirty="0">
                <a:solidFill>
                  <a:srgbClr val="0000FF"/>
                </a:solidFill>
              </a:rPr>
              <a:t>3. </a:t>
            </a:r>
            <a:r>
              <a:rPr lang="zh-CN" altLang="en-US" sz="2600" dirty="0">
                <a:solidFill>
                  <a:srgbClr val="0000FF"/>
                </a:solidFill>
              </a:rPr>
              <a:t>调色板</a:t>
            </a:r>
            <a:endParaRPr lang="en-US" altLang="zh-CN" sz="2600" dirty="0">
              <a:solidFill>
                <a:srgbClr val="0000FF"/>
              </a:solidFill>
            </a:endParaRPr>
          </a:p>
          <a:p>
            <a:pPr lvl="1">
              <a:lnSpc>
                <a:spcPct val="90000"/>
              </a:lnSpc>
            </a:pPr>
            <a:r>
              <a:rPr lang="en-US" altLang="zh-CN" sz="2600" dirty="0"/>
              <a:t>	</a:t>
            </a:r>
            <a:r>
              <a:rPr lang="zh-CN" altLang="en-US" sz="2400" dirty="0"/>
              <a:t>调色板就是索引与其对应的颜色的映射表</a:t>
            </a:r>
            <a:endParaRPr lang="en-US" altLang="zh-CN" sz="2600" dirty="0"/>
          </a:p>
          <a:p>
            <a:pPr lvl="1">
              <a:lnSpc>
                <a:spcPct val="90000"/>
              </a:lnSpc>
            </a:pPr>
            <a:r>
              <a:rPr lang="en-US" altLang="zh-CN" sz="2600" dirty="0">
                <a:solidFill>
                  <a:srgbClr val="0000FF"/>
                </a:solidFill>
              </a:rPr>
              <a:t>4. </a:t>
            </a:r>
            <a:r>
              <a:rPr lang="zh-CN" altLang="en-US" sz="2600" dirty="0">
                <a:solidFill>
                  <a:srgbClr val="0000FF"/>
                </a:solidFill>
              </a:rPr>
              <a:t>位图的字节</a:t>
            </a:r>
            <a:r>
              <a:rPr lang="en-US" altLang="zh-CN" sz="2600" dirty="0">
                <a:solidFill>
                  <a:srgbClr val="0000FF"/>
                </a:solidFill>
              </a:rPr>
              <a:t>(byte)</a:t>
            </a:r>
            <a:r>
              <a:rPr lang="zh-CN" altLang="en-US" sz="2600" dirty="0">
                <a:solidFill>
                  <a:srgbClr val="0000FF"/>
                </a:solidFill>
              </a:rPr>
              <a:t>阵列</a:t>
            </a:r>
            <a:endParaRPr lang="en-US" altLang="zh-CN" sz="2600" dirty="0">
              <a:solidFill>
                <a:srgbClr val="0000FF"/>
              </a:solidFill>
            </a:endParaRPr>
          </a:p>
          <a:p>
            <a:pPr lvl="1">
              <a:lnSpc>
                <a:spcPct val="90000"/>
              </a:lnSpc>
            </a:pPr>
            <a:r>
              <a:rPr lang="en-US" altLang="zh-CN" sz="2600" dirty="0"/>
              <a:t>     </a:t>
            </a:r>
            <a:r>
              <a:rPr lang="zh-CN" altLang="en-US" sz="2600" dirty="0"/>
              <a:t>图像数据</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36</a:t>
            </a:fld>
            <a:endParaRPr lang="zh-CN" altLang="en-US"/>
          </a:p>
        </p:txBody>
      </p:sp>
      <p:sp>
        <p:nvSpPr>
          <p:cNvPr id="7" name="Rectangle 2"/>
          <p:cNvSpPr>
            <a:spLocks noGrp="1" noChangeArrowheads="1"/>
          </p:cNvSpPr>
          <p:nvPr>
            <p:ph type="title"/>
          </p:nvPr>
        </p:nvSpPr>
        <p:spPr>
          <a:xfrm>
            <a:off x="250824" y="204785"/>
            <a:ext cx="8229600" cy="703263"/>
          </a:xfrm>
        </p:spPr>
        <p:txBody>
          <a:bodyPr>
            <a:normAutofit fontScale="90000"/>
          </a:bodyPr>
          <a:lstStyle/>
          <a:p>
            <a:pPr eaLnBrk="1" hangingPunct="1"/>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2175235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0763" name="Group 123"/>
          <p:cNvGraphicFramePr>
            <a:graphicFrameLocks noGrp="1"/>
          </p:cNvGraphicFramePr>
          <p:nvPr>
            <p:ph idx="1"/>
            <p:extLst>
              <p:ext uri="{D42A27DB-BD31-4B8C-83A1-F6EECF244321}">
                <p14:modId xmlns:p14="http://schemas.microsoft.com/office/powerpoint/2010/main" val="1743576354"/>
              </p:ext>
            </p:extLst>
          </p:nvPr>
        </p:nvGraphicFramePr>
        <p:xfrm>
          <a:off x="395536" y="3516661"/>
          <a:ext cx="8229600" cy="2360611"/>
        </p:xfrm>
        <a:graphic>
          <a:graphicData uri="http://schemas.openxmlformats.org/drawingml/2006/table">
            <a:tbl>
              <a:tblPr/>
              <a:tblGrid>
                <a:gridCol w="4840941">
                  <a:extLst>
                    <a:ext uri="{9D8B030D-6E8A-4147-A177-3AD203B41FA5}">
                      <a16:colId xmlns:a16="http://schemas.microsoft.com/office/drawing/2014/main" val="20000"/>
                    </a:ext>
                  </a:extLst>
                </a:gridCol>
                <a:gridCol w="3388659">
                  <a:extLst>
                    <a:ext uri="{9D8B030D-6E8A-4147-A177-3AD203B41FA5}">
                      <a16:colId xmlns:a16="http://schemas.microsoft.com/office/drawing/2014/main" val="20001"/>
                    </a:ext>
                  </a:extLst>
                </a:gridCol>
              </a:tblGrid>
              <a:tr h="4922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组成部分的名称</a:t>
                      </a:r>
                      <a:endParaRPr kumimoji="0" lang="zh-CN" altLang="en-US" sz="2000" b="0" i="0" u="none" strike="noStrike" cap="none" normalizeH="0" baseline="0" dirty="0">
                        <a:ln>
                          <a:noFill/>
                        </a:ln>
                        <a:solidFill>
                          <a:schemeClr val="tx1"/>
                        </a:solidFill>
                        <a:effectLst/>
                        <a:latin typeface="Arial" pitchFamily="34" charset="0"/>
                        <a:ea typeface="宋体" panose="02010600030101010101"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数据结构的名称</a:t>
                      </a:r>
                      <a:endParaRPr kumimoji="0" lang="zh-CN" altLang="en-US" sz="2000" b="0" i="0" u="none" strike="noStrike" cap="none" normalizeH="0" baseline="0" dirty="0">
                        <a:ln>
                          <a:noFill/>
                        </a:ln>
                        <a:solidFill>
                          <a:schemeClr val="tx1"/>
                        </a:solidFill>
                        <a:effectLst/>
                        <a:latin typeface="Arial" pitchFamily="34" charset="0"/>
                        <a:ea typeface="宋体" panose="02010600030101010101"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067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位图文件头</a:t>
                      </a:r>
                      <a:r>
                        <a:rPr kumimoji="0" lang="en-US" altLang="zh-CN"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(bitmap-file header)</a:t>
                      </a:r>
                      <a:endParaRPr kumimoji="0" lang="en-US" altLang="zh-CN" sz="2000" b="0" i="0" u="none" strike="noStrike" cap="none" normalizeH="0" baseline="0" dirty="0">
                        <a:ln>
                          <a:noFill/>
                        </a:ln>
                        <a:solidFill>
                          <a:schemeClr val="tx1"/>
                        </a:solidFill>
                        <a:effectLst/>
                        <a:latin typeface="Arial" pitchFamily="34" charset="0"/>
                        <a:ea typeface="宋体" panose="02010600030101010101"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BITMAPFILEHEADER</a:t>
                      </a:r>
                      <a:endParaRPr kumimoji="0" lang="en-US" altLang="zh-CN" sz="2000" b="0"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25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位图信息头</a:t>
                      </a:r>
                      <a:r>
                        <a:rPr kumimoji="0" lang="en-US" altLang="zh-CN"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(bitmap-information header)</a:t>
                      </a:r>
                      <a:endParaRPr kumimoji="0" lang="en-US" altLang="zh-CN" sz="2000" b="0" i="0" u="none" strike="noStrike" cap="none" normalizeH="0" baseline="0" dirty="0">
                        <a:ln>
                          <a:noFill/>
                        </a:ln>
                        <a:solidFill>
                          <a:schemeClr val="tx1"/>
                        </a:solidFill>
                        <a:effectLst/>
                        <a:latin typeface="Arial" pitchFamily="34" charset="0"/>
                        <a:ea typeface="宋体" panose="02010600030101010101"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BITMAPINFOHEADER</a:t>
                      </a:r>
                      <a:endParaRPr kumimoji="0" lang="en-US" altLang="zh-CN" sz="2000" b="0"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90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彩色表</a:t>
                      </a:r>
                      <a:r>
                        <a:rPr kumimoji="0" lang="en-US" altLang="zh-CN"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(color table)</a:t>
                      </a:r>
                      <a:endParaRPr kumimoji="0" lang="en-US" altLang="zh-CN" sz="2000" b="0" i="0" u="none" strike="noStrike" cap="none" normalizeH="0" baseline="0" dirty="0">
                        <a:ln>
                          <a:noFill/>
                        </a:ln>
                        <a:solidFill>
                          <a:schemeClr val="tx1"/>
                        </a:solidFill>
                        <a:effectLst/>
                        <a:latin typeface="Arial" pitchFamily="34" charset="0"/>
                        <a:ea typeface="宋体" panose="02010600030101010101"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RGBQUAD</a:t>
                      </a:r>
                      <a:endParaRPr kumimoji="0" lang="en-US" altLang="zh-CN" sz="2000" b="0"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4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图像数据阵列字节</a:t>
                      </a:r>
                      <a:r>
                        <a:rPr kumimoji="0" lang="en-US" altLang="zh-CN" sz="2000" b="0" i="0" u="none" strike="noStrike" cap="none" normalizeH="0" baseline="0" dirty="0">
                          <a:ln>
                            <a:noFill/>
                          </a:ln>
                          <a:solidFill>
                            <a:schemeClr val="tx1"/>
                          </a:solidFill>
                          <a:effectLst/>
                          <a:latin typeface="Times New Roman" pitchFamily="18" charset="0"/>
                          <a:ea typeface="宋体" panose="02010600030101010101" pitchFamily="2" charset="-122"/>
                          <a:cs typeface="Times New Roman" pitchFamily="18" charset="0"/>
                        </a:rPr>
                        <a:t>(byte)</a:t>
                      </a:r>
                      <a:endParaRPr kumimoji="0" lang="en-US" altLang="zh-CN" sz="2000" b="0" i="0" u="none" strike="noStrike" cap="none" normalizeH="0" baseline="0" dirty="0">
                        <a:ln>
                          <a:noFill/>
                        </a:ln>
                        <a:solidFill>
                          <a:schemeClr val="tx1"/>
                        </a:solidFill>
                        <a:effectLst/>
                        <a:latin typeface="Arial" pitchFamily="34" charset="0"/>
                        <a:ea typeface="宋体" panose="02010600030101010101"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BYTE</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6819" marR="9681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3974" name="Rectangle 3"/>
          <p:cNvSpPr>
            <a:spLocks noGrp="1" noChangeArrowheads="1"/>
          </p:cNvSpPr>
          <p:nvPr>
            <p:ph type="body" sz="half" idx="4294967295"/>
          </p:nvPr>
        </p:nvSpPr>
        <p:spPr>
          <a:xfrm>
            <a:off x="395536" y="1083808"/>
            <a:ext cx="7772400" cy="2455863"/>
          </a:xfrm>
        </p:spPr>
        <p:txBody>
          <a:bodyPr/>
          <a:lstStyle/>
          <a:p>
            <a:pPr>
              <a:lnSpc>
                <a:spcPct val="90000"/>
              </a:lnSpc>
            </a:pPr>
            <a:r>
              <a:rPr lang="en-US" altLang="zh-CN" dirty="0"/>
              <a:t>BMP</a:t>
            </a:r>
            <a:r>
              <a:rPr lang="zh-CN" altLang="en-US" dirty="0"/>
              <a:t>位图文件可看成由</a:t>
            </a:r>
            <a:r>
              <a:rPr lang="en-US" altLang="zh-CN" dirty="0"/>
              <a:t>4</a:t>
            </a:r>
            <a:r>
              <a:rPr lang="zh-CN" altLang="en-US" dirty="0"/>
              <a:t>个部分组成</a:t>
            </a:r>
          </a:p>
          <a:p>
            <a:pPr lvl="1">
              <a:lnSpc>
                <a:spcPct val="90000"/>
              </a:lnSpc>
            </a:pPr>
            <a:r>
              <a:rPr lang="zh-CN" altLang="en-US" sz="2600" dirty="0"/>
              <a:t>位图文件头</a:t>
            </a:r>
            <a:r>
              <a:rPr lang="en-US" altLang="zh-CN" sz="2600" dirty="0"/>
              <a:t>(bitmap-file header)</a:t>
            </a:r>
          </a:p>
          <a:p>
            <a:pPr lvl="1">
              <a:lnSpc>
                <a:spcPct val="90000"/>
              </a:lnSpc>
            </a:pPr>
            <a:r>
              <a:rPr lang="zh-CN" altLang="en-US" sz="2600" dirty="0"/>
              <a:t>位图信息头</a:t>
            </a:r>
            <a:r>
              <a:rPr lang="en-US" altLang="zh-CN" sz="2600" dirty="0"/>
              <a:t>(bitmap-information header)</a:t>
            </a:r>
          </a:p>
          <a:p>
            <a:pPr lvl="1">
              <a:lnSpc>
                <a:spcPct val="90000"/>
              </a:lnSpc>
            </a:pPr>
            <a:r>
              <a:rPr lang="zh-CN" altLang="en-US" sz="2600" dirty="0"/>
              <a:t>彩色表</a:t>
            </a:r>
            <a:r>
              <a:rPr lang="en-US" altLang="zh-CN" sz="2600" dirty="0"/>
              <a:t>(color table) </a:t>
            </a:r>
          </a:p>
          <a:p>
            <a:pPr lvl="1">
              <a:lnSpc>
                <a:spcPct val="90000"/>
              </a:lnSpc>
            </a:pPr>
            <a:r>
              <a:rPr lang="zh-CN" altLang="en-US" sz="2600" dirty="0"/>
              <a:t>位图的字节</a:t>
            </a:r>
            <a:r>
              <a:rPr lang="en-US" altLang="zh-CN" sz="2600" dirty="0"/>
              <a:t>(byte)</a:t>
            </a:r>
            <a:r>
              <a:rPr lang="zh-CN" altLang="en-US" sz="2600" dirty="0"/>
              <a:t>阵列</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37</a:t>
            </a:fld>
            <a:endParaRPr lang="zh-CN" altLang="en-US"/>
          </a:p>
        </p:txBody>
      </p:sp>
      <p:sp>
        <p:nvSpPr>
          <p:cNvPr id="8" name="Rectangle 2"/>
          <p:cNvSpPr>
            <a:spLocks noGrp="1" noChangeArrowheads="1"/>
          </p:cNvSpPr>
          <p:nvPr>
            <p:ph type="title"/>
          </p:nvPr>
        </p:nvSpPr>
        <p:spPr>
          <a:xfrm>
            <a:off x="250824" y="204785"/>
            <a:ext cx="8229600" cy="703263"/>
          </a:xfrm>
        </p:spPr>
        <p:txBody>
          <a:bodyPr>
            <a:normAutofit fontScale="90000"/>
          </a:bodyPr>
          <a:lstStyle/>
          <a:p>
            <a:pPr eaLnBrk="1" hangingPunct="1"/>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2029521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51520" y="1340768"/>
            <a:ext cx="8229600" cy="703263"/>
          </a:xfrm>
        </p:spPr>
        <p:txBody>
          <a:bodyPr>
            <a:normAutofit fontScale="90000"/>
          </a:bodyPr>
          <a:lstStyle/>
          <a:p>
            <a:pPr eaLnBrk="1" hangingPunct="1"/>
            <a:r>
              <a:rPr lang="en-US" altLang="zh-CN" dirty="0">
                <a:latin typeface="宋体" pitchFamily="2" charset="-122"/>
                <a:ea typeface="宋体" panose="02010600030101010101" pitchFamily="2" charset="-122"/>
                <a:sym typeface="Wingdings 2" pitchFamily="18" charset="2"/>
              </a:rPr>
              <a:t>BMP</a:t>
            </a:r>
            <a:r>
              <a:rPr lang="zh-CN" altLang="en-US" dirty="0">
                <a:latin typeface="宋体" pitchFamily="2" charset="-122"/>
                <a:ea typeface="宋体" panose="02010600030101010101" pitchFamily="2" charset="-122"/>
                <a:sym typeface="Wingdings 2" pitchFamily="18" charset="2"/>
              </a:rPr>
              <a:t>文件头</a:t>
            </a:r>
          </a:p>
        </p:txBody>
      </p:sp>
      <p:graphicFrame>
        <p:nvGraphicFramePr>
          <p:cNvPr id="20497" name="Group 17"/>
          <p:cNvGraphicFramePr>
            <a:graphicFrameLocks noGrp="1"/>
          </p:cNvGraphicFramePr>
          <p:nvPr>
            <p:extLst>
              <p:ext uri="{D42A27DB-BD31-4B8C-83A1-F6EECF244321}">
                <p14:modId xmlns:p14="http://schemas.microsoft.com/office/powerpoint/2010/main" val="1131131603"/>
              </p:ext>
            </p:extLst>
          </p:nvPr>
        </p:nvGraphicFramePr>
        <p:xfrm>
          <a:off x="755576" y="2274140"/>
          <a:ext cx="8135937" cy="4525962"/>
        </p:xfrm>
        <a:graphic>
          <a:graphicData uri="http://schemas.openxmlformats.org/drawingml/2006/table">
            <a:tbl>
              <a:tblPr/>
              <a:tblGrid>
                <a:gridCol w="8135937">
                  <a:extLst>
                    <a:ext uri="{9D8B030D-6E8A-4147-A177-3AD203B41FA5}">
                      <a16:colId xmlns:a16="http://schemas.microsoft.com/office/drawing/2014/main" val="20000"/>
                    </a:ext>
                  </a:extLst>
                </a:gridCol>
              </a:tblGrid>
              <a:tr h="4525962">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typedef</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struct</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tagBITMAPFILEHEADE</a:t>
                      </a:r>
                      <a:endParaRPr kumimoji="0" lang="en-US" altLang="zh-CN" sz="2400" b="0" i="0" u="none" strike="noStrike" cap="none" normalizeH="0" baseline="0" dirty="0">
                        <a:ln>
                          <a:noFill/>
                        </a:ln>
                        <a:solidFill>
                          <a:srgbClr val="000000"/>
                        </a:solidFill>
                        <a:effectLst/>
                        <a:latin typeface="宋体" pitchFamily="2" charset="-122"/>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a:t>
                      </a:r>
                      <a:br>
                        <a:rPr kumimoji="0" lang="en-US" altLang="zh-CN" sz="2400" b="0" i="0" u="none" strike="noStrike" cap="none" normalizeH="0" baseline="0" dirty="0">
                          <a:ln>
                            <a:noFill/>
                          </a:ln>
                          <a:solidFill>
                            <a:srgbClr val="000000"/>
                          </a:solidFill>
                          <a:effectLst/>
                          <a:latin typeface="宋体" pitchFamily="2" charset="-122"/>
                          <a:ea typeface="宋体" pitchFamily="2" charset="-122"/>
                        </a:rPr>
                      </a:br>
                      <a:r>
                        <a:rPr kumimoji="0" lang="en-US" altLang="zh-CN" sz="2400" b="0" i="0" u="none" strike="noStrike" cap="none" normalizeH="0" baseline="0" dirty="0">
                          <a:ln>
                            <a:noFill/>
                          </a:ln>
                          <a:solidFill>
                            <a:srgbClr val="000000"/>
                          </a:solidFill>
                          <a:effectLst/>
                          <a:latin typeface="宋体" pitchFamily="2" charset="-122"/>
                          <a:ea typeface="宋体" pitchFamily="2" charset="-122"/>
                        </a:rPr>
                        <a:t>  WORD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bfType</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 BM</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  DWORD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bfSize</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a:t>
                      </a:r>
                      <a:r>
                        <a:rPr kumimoji="0" lang="zh-CN" altLang="en-US" sz="2400" b="0" i="0" u="none" strike="noStrike" cap="none" normalizeH="0" baseline="0" dirty="0">
                          <a:ln>
                            <a:noFill/>
                          </a:ln>
                          <a:solidFill>
                            <a:srgbClr val="000000"/>
                          </a:solidFill>
                          <a:effectLst/>
                          <a:latin typeface="宋体" pitchFamily="2" charset="-122"/>
                          <a:ea typeface="宋体" pitchFamily="2" charset="-122"/>
                        </a:rPr>
                        <a:t>文件大小</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WORD bfReserved1;// 0</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  WORD bfReserved2;// 0</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  DWORD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bfOffBits</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 </a:t>
                      </a:r>
                      <a:r>
                        <a:rPr kumimoji="0" lang="zh-CN" altLang="en-US" sz="2400" b="0" i="0" u="none" strike="noStrike" cap="none" normalizeH="0" baseline="0" dirty="0">
                          <a:ln>
                            <a:noFill/>
                          </a:ln>
                          <a:solidFill>
                            <a:srgbClr val="000000"/>
                          </a:solidFill>
                          <a:effectLst/>
                          <a:latin typeface="宋体" pitchFamily="2" charset="-122"/>
                          <a:ea typeface="宋体" pitchFamily="2" charset="-122"/>
                        </a:rPr>
                        <a:t>位图数据的起始位置，</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}TMAPFILEHEADER;</a:t>
                      </a:r>
                      <a:endParaRPr kumimoji="0" lang="en-US" altLang="zh-CN" sz="2400" b="0" i="0" u="none" strike="noStrike" cap="none" normalizeH="0" baseline="0" dirty="0">
                        <a:ln>
                          <a:noFill/>
                        </a:ln>
                        <a:solidFill>
                          <a:srgbClr val="000099"/>
                        </a:solidFill>
                        <a:effectLst/>
                        <a:latin typeface="Tahoma" pitchFamily="34" charset="0"/>
                        <a:ea typeface="宋体" panose="02010600030101010101" pitchFamily="2" charset="-122"/>
                      </a:endParaRPr>
                    </a:p>
                  </a:txBody>
                  <a:tcPr horzOverflow="overflow">
                    <a:lnL w="28575" cap="flat" cmpd="sng" algn="ctr">
                      <a:noFill/>
                      <a:prstDash val="solid"/>
                      <a:miter lim="800000"/>
                      <a:headEnd type="none" w="med" len="med"/>
                      <a:tailEnd type="none" w="med" len="med"/>
                    </a:lnL>
                    <a:lnR w="28575" cap="flat" cmpd="sng" algn="ctr">
                      <a:noFill/>
                      <a:prstDash val="solid"/>
                      <a:miter lim="800000"/>
                      <a:headEnd type="none" w="med" len="med"/>
                      <a:tailEnd type="none" w="med" len="med"/>
                    </a:lnR>
                    <a:lnT w="28575" cap="flat" cmpd="sng" algn="ctr">
                      <a:noFill/>
                      <a:prstDash val="solid"/>
                      <a:miter lim="800000"/>
                      <a:headEnd type="none" w="med" len="med"/>
                      <a:tailEnd type="none" w="med" len="med"/>
                    </a:lnT>
                    <a:lnB w="28575" cap="flat" cmpd="sng" algn="ctr">
                      <a:no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 name="灯片编号占位符 2"/>
          <p:cNvSpPr>
            <a:spLocks noGrp="1"/>
          </p:cNvSpPr>
          <p:nvPr>
            <p:ph type="sldNum" sz="quarter" idx="12"/>
          </p:nvPr>
        </p:nvSpPr>
        <p:spPr/>
        <p:txBody>
          <a:bodyPr/>
          <a:lstStyle/>
          <a:p>
            <a:fld id="{F64BA984-46A0-4F46-990E-EC790E6934B4}" type="slidenum">
              <a:rPr lang="zh-CN" altLang="en-US" smtClean="0"/>
              <a:t>38</a:t>
            </a:fld>
            <a:endParaRPr lang="zh-CN" altLang="en-US"/>
          </a:p>
        </p:txBody>
      </p:sp>
      <p:sp>
        <p:nvSpPr>
          <p:cNvPr id="6"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2119309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20497"/>
                                        </p:tgtEl>
                                        <p:attrNameLst>
                                          <p:attrName>style.visibility</p:attrName>
                                        </p:attrNameLst>
                                      </p:cBhvr>
                                      <p:to>
                                        <p:strVal val="visible"/>
                                      </p:to>
                                    </p:set>
                                    <p:animEffect transition="in" filter="barn(inHorizontal)">
                                      <p:cBhvr>
                                        <p:cTn id="7" dur="500"/>
                                        <p:tgtEl>
                                          <p:spTgt spid="20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7504" y="1844824"/>
            <a:ext cx="8229600" cy="703263"/>
          </a:xfrm>
        </p:spPr>
        <p:txBody>
          <a:bodyPr>
            <a:normAutofit fontScale="90000"/>
          </a:bodyPr>
          <a:lstStyle/>
          <a:p>
            <a:pPr eaLnBrk="1" hangingPunct="1"/>
            <a:r>
              <a:rPr lang="zh-CN" altLang="en-US" dirty="0">
                <a:latin typeface="宋体" pitchFamily="2" charset="-122"/>
                <a:ea typeface="宋体" panose="02010600030101010101" pitchFamily="2" charset="-122"/>
                <a:sym typeface="Wingdings 2" pitchFamily="18" charset="2"/>
              </a:rPr>
              <a:t>位图信息头 </a:t>
            </a:r>
          </a:p>
        </p:txBody>
      </p:sp>
      <p:graphicFrame>
        <p:nvGraphicFramePr>
          <p:cNvPr id="21537" name="Group 33"/>
          <p:cNvGraphicFramePr>
            <a:graphicFrameLocks noGrp="1"/>
          </p:cNvGraphicFramePr>
          <p:nvPr>
            <p:extLst>
              <p:ext uri="{D42A27DB-BD31-4B8C-83A1-F6EECF244321}">
                <p14:modId xmlns:p14="http://schemas.microsoft.com/office/powerpoint/2010/main" val="1115761442"/>
              </p:ext>
            </p:extLst>
          </p:nvPr>
        </p:nvGraphicFramePr>
        <p:xfrm>
          <a:off x="2555776" y="1052513"/>
          <a:ext cx="6048474" cy="5516874"/>
        </p:xfrm>
        <a:graphic>
          <a:graphicData uri="http://schemas.openxmlformats.org/drawingml/2006/table">
            <a:tbl>
              <a:tblPr/>
              <a:tblGrid>
                <a:gridCol w="6048474">
                  <a:extLst>
                    <a:ext uri="{9D8B030D-6E8A-4147-A177-3AD203B41FA5}">
                      <a16:colId xmlns:a16="http://schemas.microsoft.com/office/drawing/2014/main" val="20000"/>
                    </a:ext>
                  </a:extLst>
                </a:gridCol>
              </a:tblGrid>
              <a:tr h="5516562">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typedef</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struct</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tagBITMAPINFOHEADER</a:t>
                      </a:r>
                      <a:endParaRPr kumimoji="0" lang="en-US" altLang="zh-CN" sz="2000" b="0" i="0" u="none" strike="noStrike" cap="none" normalizeH="0" baseline="0" dirty="0">
                        <a:ln>
                          <a:noFill/>
                        </a:ln>
                        <a:solidFill>
                          <a:srgbClr val="000000"/>
                        </a:solidFill>
                        <a:effectLst/>
                        <a:latin typeface="宋体" pitchFamily="2" charset="-122"/>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biSize</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a:ln>
                            <a:noFill/>
                          </a:ln>
                          <a:solidFill>
                            <a:srgbClr val="000000"/>
                          </a:solidFill>
                          <a:effectLst/>
                          <a:latin typeface="宋体" pitchFamily="2" charset="-122"/>
                          <a:ea typeface="+mn-ea"/>
                        </a:rPr>
                        <a:t>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biWidth</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a:ln>
                            <a:noFill/>
                          </a:ln>
                          <a:solidFill>
                            <a:srgbClr val="000000"/>
                          </a:solidFill>
                          <a:effectLst/>
                          <a:latin typeface="宋体" pitchFamily="2" charset="-122"/>
                          <a:ea typeface="+mn-ea"/>
                        </a:rPr>
                        <a:t>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biHeight</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biPlanes</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biBitCount</a:t>
                      </a:r>
                      <a:r>
                        <a:rPr kumimoji="0" lang="zh-CN" altLang="en-US"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r>
                        <a:rPr kumimoji="0" lang="zh-CN" altLang="en-US" sz="2000" b="0" i="0" u="none" strike="noStrike" cap="none" normalizeH="0" baseline="0" dirty="0">
                          <a:ln>
                            <a:noFill/>
                          </a:ln>
                          <a:solidFill>
                            <a:srgbClr val="000000"/>
                          </a:solidFill>
                          <a:effectLst/>
                          <a:latin typeface="宋体" pitchFamily="2" charset="-122"/>
                          <a:ea typeface="宋体" pitchFamily="2" charset="-122"/>
                        </a:rPr>
                        <a:t>每个像素所需的位数</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biCompression</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 </a:t>
                      </a:r>
                      <a:r>
                        <a:rPr kumimoji="0" lang="zh-CN" altLang="en-US" sz="2000" b="0" i="0" u="none" strike="noStrike" cap="none" normalizeH="0" baseline="0" dirty="0">
                          <a:ln>
                            <a:noFill/>
                          </a:ln>
                          <a:solidFill>
                            <a:srgbClr val="000000"/>
                          </a:solidFill>
                          <a:effectLst/>
                          <a:latin typeface="宋体" pitchFamily="2" charset="-122"/>
                          <a:ea typeface="宋体" pitchFamily="2" charset="-122"/>
                        </a:rPr>
                        <a:t>位图压缩类型，</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biSizeImage</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 </a:t>
                      </a:r>
                      <a:r>
                        <a:rPr kumimoji="0" lang="zh-CN" altLang="en-US" sz="2000" b="0" i="0" u="none" strike="noStrike" cap="none" normalizeH="0" baseline="0" dirty="0">
                          <a:ln>
                            <a:noFill/>
                          </a:ln>
                          <a:solidFill>
                            <a:srgbClr val="000000"/>
                          </a:solidFill>
                          <a:effectLst/>
                          <a:latin typeface="宋体" pitchFamily="2" charset="-122"/>
                          <a:ea typeface="宋体" pitchFamily="2" charset="-122"/>
                        </a:rPr>
                        <a:t>位图的大小，</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a:ln>
                            <a:noFill/>
                          </a:ln>
                          <a:solidFill>
                            <a:srgbClr val="000000"/>
                          </a:solidFill>
                          <a:effectLst/>
                          <a:latin typeface="宋体" pitchFamily="2" charset="-122"/>
                          <a:ea typeface="+mn-ea"/>
                        </a:rPr>
                        <a:t>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biXPelsPerMeter</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 </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a:ln>
                            <a:noFill/>
                          </a:ln>
                          <a:solidFill>
                            <a:srgbClr val="000000"/>
                          </a:solidFill>
                          <a:effectLst/>
                          <a:latin typeface="宋体" pitchFamily="2" charset="-122"/>
                          <a:ea typeface="+mn-ea"/>
                        </a:rPr>
                        <a:t>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biYPelsPerMeter</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 </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biClrUsed</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 </a:t>
                      </a:r>
                      <a:r>
                        <a:rPr kumimoji="0" lang="zh-CN" altLang="en-US" sz="2000" b="0" i="0" u="none" strike="noStrike" cap="none" normalizeH="0" baseline="0" dirty="0">
                          <a:ln>
                            <a:noFill/>
                          </a:ln>
                          <a:solidFill>
                            <a:srgbClr val="000000"/>
                          </a:solidFill>
                          <a:effectLst/>
                          <a:latin typeface="宋体" pitchFamily="2" charset="-122"/>
                          <a:ea typeface="宋体" pitchFamily="2" charset="-122"/>
                        </a:rPr>
                        <a:t>颜色数</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DWORD </a:t>
                      </a:r>
                      <a:r>
                        <a:rPr kumimoji="0" lang="en-US" altLang="zh-CN" sz="2000" b="0" i="0" u="none" strike="noStrike" cap="none" normalizeH="0" baseline="0" dirty="0" err="1">
                          <a:ln>
                            <a:noFill/>
                          </a:ln>
                          <a:solidFill>
                            <a:srgbClr val="000000"/>
                          </a:solidFill>
                          <a:effectLst/>
                          <a:latin typeface="宋体" pitchFamily="2" charset="-122"/>
                          <a:ea typeface="宋体" pitchFamily="2" charset="-122"/>
                        </a:rPr>
                        <a:t>biClrImportant</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 </a:t>
                      </a:r>
                      <a:r>
                        <a:rPr kumimoji="0" lang="zh-CN" altLang="en-US" sz="2000" b="0" i="0" u="none" strike="noStrike" cap="none" normalizeH="0" baseline="0" dirty="0">
                          <a:ln>
                            <a:noFill/>
                          </a:ln>
                          <a:solidFill>
                            <a:srgbClr val="000000"/>
                          </a:solidFill>
                          <a:effectLst/>
                          <a:latin typeface="宋体" pitchFamily="2" charset="-122"/>
                          <a:ea typeface="宋体" pitchFamily="2" charset="-122"/>
                        </a:rPr>
                        <a:t>重要的颜色数</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rgbClr val="000000"/>
                          </a:solidFill>
                          <a:effectLst/>
                          <a:latin typeface="宋体" pitchFamily="2" charset="-122"/>
                          <a:ea typeface="宋体" pitchFamily="2" charset="-122"/>
                        </a:rPr>
                        <a:t>} BITMAPINFOHEADER;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dirty="0">
                        <a:ln>
                          <a:noFill/>
                        </a:ln>
                        <a:solidFill>
                          <a:srgbClr val="000099"/>
                        </a:solidFill>
                        <a:effectLst/>
                        <a:latin typeface="Tahoma" pitchFamily="34" charset="0"/>
                        <a:ea typeface="宋体" panose="02010600030101010101" pitchFamily="2" charset="-122"/>
                      </a:endParaRPr>
                    </a:p>
                  </a:txBody>
                  <a:tcPr marT="45717" marB="45717" horzOverflow="overflow">
                    <a:lnL w="28575" cap="flat" cmpd="sng" algn="ctr">
                      <a:noFill/>
                      <a:prstDash val="solid"/>
                      <a:miter lim="800000"/>
                      <a:headEnd type="none" w="med" len="med"/>
                      <a:tailEnd type="none" w="med" len="med"/>
                    </a:lnL>
                    <a:lnR w="28575" cap="flat" cmpd="sng" algn="ctr">
                      <a:noFill/>
                      <a:prstDash val="solid"/>
                      <a:miter lim="800000"/>
                      <a:headEnd type="none" w="med" len="med"/>
                      <a:tailEnd type="none" w="med" len="med"/>
                    </a:lnR>
                    <a:lnT w="28575" cap="flat" cmpd="sng" algn="ctr">
                      <a:noFill/>
                      <a:prstDash val="solid"/>
                      <a:miter lim="800000"/>
                      <a:headEnd type="none" w="med" len="med"/>
                      <a:tailEnd type="none" w="med" len="med"/>
                    </a:lnT>
                    <a:lnB w="28575" cap="flat" cmpd="sng" algn="ctr">
                      <a:no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 name="灯片编号占位符 2"/>
          <p:cNvSpPr>
            <a:spLocks noGrp="1"/>
          </p:cNvSpPr>
          <p:nvPr>
            <p:ph type="sldNum" sz="quarter" idx="12"/>
          </p:nvPr>
        </p:nvSpPr>
        <p:spPr/>
        <p:txBody>
          <a:bodyPr/>
          <a:lstStyle/>
          <a:p>
            <a:fld id="{F64BA984-46A0-4F46-990E-EC790E6934B4}" type="slidenum">
              <a:rPr lang="zh-CN" altLang="en-US" smtClean="0"/>
              <a:t>39</a:t>
            </a:fld>
            <a:endParaRPr lang="zh-CN" altLang="en-US"/>
          </a:p>
        </p:txBody>
      </p:sp>
      <p:sp>
        <p:nvSpPr>
          <p:cNvPr id="6"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2971707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537"/>
                                        </p:tgtEl>
                                        <p:attrNameLst>
                                          <p:attrName>style.visibility</p:attrName>
                                        </p:attrNameLst>
                                      </p:cBhvr>
                                      <p:to>
                                        <p:strVal val="visible"/>
                                      </p:to>
                                    </p:set>
                                    <p:animEffect transition="in" filter="box(in)">
                                      <p:cBhvr>
                                        <p:cTn id="7" dur="500"/>
                                        <p:tgtEl>
                                          <p:spTgt spid="21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50824" y="1243120"/>
            <a:ext cx="8229600" cy="703263"/>
          </a:xfrm>
        </p:spPr>
        <p:txBody>
          <a:bodyPr>
            <a:normAutofit fontScale="90000"/>
          </a:bodyPr>
          <a:lstStyle/>
          <a:p>
            <a:pPr eaLnBrk="1" hangingPunct="1"/>
            <a:r>
              <a:rPr lang="zh-CN" altLang="en-US" dirty="0">
                <a:latin typeface="宋体" pitchFamily="2" charset="-122"/>
                <a:ea typeface="宋体" panose="02010600030101010101" pitchFamily="2" charset="-122"/>
                <a:sym typeface="Wingdings 2" pitchFamily="18" charset="2"/>
              </a:rPr>
              <a:t>颜色表</a:t>
            </a:r>
            <a:r>
              <a:rPr lang="zh-CN" altLang="en-US" dirty="0">
                <a:latin typeface="Arial" charset="0"/>
                <a:ea typeface="宋体" pitchFamily="2" charset="-122"/>
              </a:rPr>
              <a:t> </a:t>
            </a:r>
            <a:r>
              <a:rPr lang="zh-CN" altLang="en-US" dirty="0"/>
              <a:t> </a:t>
            </a:r>
          </a:p>
        </p:txBody>
      </p:sp>
      <p:sp>
        <p:nvSpPr>
          <p:cNvPr id="23555" name="Rectangle 3"/>
          <p:cNvSpPr>
            <a:spLocks noGrp="1" noChangeArrowheads="1"/>
          </p:cNvSpPr>
          <p:nvPr>
            <p:ph type="body" idx="1"/>
          </p:nvPr>
        </p:nvSpPr>
        <p:spPr>
          <a:xfrm>
            <a:off x="-53976" y="2204971"/>
            <a:ext cx="8839200" cy="544513"/>
          </a:xfrm>
        </p:spPr>
        <p:txBody>
          <a:bodyPr/>
          <a:lstStyle/>
          <a:p>
            <a:pPr algn="just" eaLnBrk="1" fontAlgn="t" hangingPunct="1">
              <a:lnSpc>
                <a:spcPct val="90000"/>
              </a:lnSpc>
              <a:buFont typeface="Wingdings" pitchFamily="2" charset="2"/>
              <a:buNone/>
            </a:pPr>
            <a:r>
              <a:rPr lang="en-US" altLang="zh-CN" dirty="0">
                <a:solidFill>
                  <a:srgbClr val="000000"/>
                </a:solidFill>
                <a:latin typeface="宋体" pitchFamily="2" charset="-122"/>
                <a:ea typeface="宋体" pitchFamily="2" charset="-122"/>
              </a:rPr>
              <a:t>    </a:t>
            </a:r>
            <a:r>
              <a:rPr lang="zh-CN" altLang="en-US" dirty="0">
                <a:solidFill>
                  <a:srgbClr val="000000"/>
                </a:solidFill>
                <a:latin typeface="宋体" pitchFamily="2" charset="-122"/>
                <a:ea typeface="宋体" pitchFamily="2" charset="-122"/>
              </a:rPr>
              <a:t>每一个表项是一个</a:t>
            </a:r>
            <a:r>
              <a:rPr lang="en-US" altLang="zh-CN" dirty="0">
                <a:solidFill>
                  <a:srgbClr val="000000"/>
                </a:solidFill>
                <a:latin typeface="宋体" pitchFamily="2" charset="-122"/>
                <a:ea typeface="宋体" pitchFamily="2" charset="-122"/>
              </a:rPr>
              <a:t>RGBQUAD</a:t>
            </a:r>
            <a:r>
              <a:rPr lang="zh-CN" altLang="en-US" dirty="0">
                <a:solidFill>
                  <a:srgbClr val="000000"/>
                </a:solidFill>
                <a:latin typeface="宋体" pitchFamily="2" charset="-122"/>
                <a:ea typeface="宋体" pitchFamily="2" charset="-122"/>
              </a:rPr>
              <a:t>类型的结构。</a:t>
            </a:r>
            <a:endParaRPr lang="zh-CN" altLang="en-US" dirty="0"/>
          </a:p>
        </p:txBody>
      </p:sp>
      <p:sp>
        <p:nvSpPr>
          <p:cNvPr id="23556" name="Text Box 59"/>
          <p:cNvSpPr txBox="1">
            <a:spLocks noChangeArrowheads="1"/>
          </p:cNvSpPr>
          <p:nvPr/>
        </p:nvSpPr>
        <p:spPr bwMode="auto">
          <a:xfrm>
            <a:off x="669925" y="5181600"/>
            <a:ext cx="7559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1400">
                <a:solidFill>
                  <a:srgbClr val="000099"/>
                </a:solidFill>
                <a:latin typeface="Tahoma" pitchFamily="34" charset="0"/>
                <a:ea typeface="宋体" pitchFamily="2" charset="-122"/>
              </a:defRPr>
            </a:lvl1pPr>
            <a:lvl2pPr marL="742950" indent="-285750" eaLnBrk="0" hangingPunct="0">
              <a:defRPr sz="1400">
                <a:solidFill>
                  <a:srgbClr val="000099"/>
                </a:solidFill>
                <a:latin typeface="Tahoma" pitchFamily="34" charset="0"/>
                <a:ea typeface="宋体" pitchFamily="2" charset="-122"/>
              </a:defRPr>
            </a:lvl2pPr>
            <a:lvl3pPr marL="1143000" indent="-228600" eaLnBrk="0" hangingPunct="0">
              <a:defRPr sz="1400">
                <a:solidFill>
                  <a:srgbClr val="000099"/>
                </a:solidFill>
                <a:latin typeface="Tahoma" pitchFamily="34" charset="0"/>
                <a:ea typeface="宋体" pitchFamily="2" charset="-122"/>
              </a:defRPr>
            </a:lvl3pPr>
            <a:lvl4pPr marL="1600200" indent="-228600" eaLnBrk="0" hangingPunct="0">
              <a:defRPr sz="1400">
                <a:solidFill>
                  <a:srgbClr val="000099"/>
                </a:solidFill>
                <a:latin typeface="Tahoma" pitchFamily="34" charset="0"/>
                <a:ea typeface="宋体" pitchFamily="2" charset="-122"/>
              </a:defRPr>
            </a:lvl4pPr>
            <a:lvl5pPr marL="2057400" indent="-228600" eaLnBrk="0" hangingPunct="0">
              <a:defRPr sz="1400">
                <a:solidFill>
                  <a:srgbClr val="000099"/>
                </a:solidFill>
                <a:latin typeface="Tahom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defRPr sz="1400">
                <a:solidFill>
                  <a:srgbClr val="000099"/>
                </a:solidFill>
                <a:latin typeface="Tahom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defRPr sz="1400">
                <a:solidFill>
                  <a:srgbClr val="000099"/>
                </a:solidFill>
                <a:latin typeface="Tahom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defRPr sz="1400">
                <a:solidFill>
                  <a:srgbClr val="000099"/>
                </a:solidFill>
                <a:latin typeface="Tahom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defRPr sz="1400">
                <a:solidFill>
                  <a:srgbClr val="000099"/>
                </a:solidFill>
                <a:latin typeface="Tahoma" pitchFamily="34" charset="0"/>
                <a:ea typeface="宋体" pitchFamily="2" charset="-122"/>
              </a:defRPr>
            </a:lvl9pPr>
          </a:lstStyle>
          <a:p>
            <a:pPr algn="r" eaLnBrk="1" hangingPunct="1">
              <a:spcBef>
                <a:spcPct val="0"/>
              </a:spcBef>
              <a:buClrTx/>
              <a:buSzTx/>
              <a:buFontTx/>
              <a:buNone/>
            </a:pPr>
            <a:endParaRPr lang="zh-CN" altLang="zh-CN"/>
          </a:p>
        </p:txBody>
      </p:sp>
      <p:graphicFrame>
        <p:nvGraphicFramePr>
          <p:cNvPr id="22617" name="Group 89"/>
          <p:cNvGraphicFramePr>
            <a:graphicFrameLocks noGrp="1"/>
          </p:cNvGraphicFramePr>
          <p:nvPr>
            <p:extLst>
              <p:ext uri="{D42A27DB-BD31-4B8C-83A1-F6EECF244321}">
                <p14:modId xmlns:p14="http://schemas.microsoft.com/office/powerpoint/2010/main" val="2882862676"/>
              </p:ext>
            </p:extLst>
          </p:nvPr>
        </p:nvGraphicFramePr>
        <p:xfrm>
          <a:off x="1619672" y="2863461"/>
          <a:ext cx="5040560" cy="4019626"/>
        </p:xfrm>
        <a:graphic>
          <a:graphicData uri="http://schemas.openxmlformats.org/drawingml/2006/table">
            <a:tbl>
              <a:tblPr/>
              <a:tblGrid>
                <a:gridCol w="5040560">
                  <a:extLst>
                    <a:ext uri="{9D8B030D-6E8A-4147-A177-3AD203B41FA5}">
                      <a16:colId xmlns:a16="http://schemas.microsoft.com/office/drawing/2014/main" val="20000"/>
                    </a:ext>
                  </a:extLst>
                </a:gridCol>
              </a:tblGrid>
              <a:tr h="2743460">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typedef</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struct</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tagRGBQUAD</a:t>
                      </a:r>
                      <a:endParaRPr kumimoji="0" lang="en-US" altLang="zh-CN" sz="2400" b="0" i="0" u="none" strike="noStrike" cap="none" normalizeH="0" baseline="0" dirty="0">
                        <a:ln>
                          <a:noFill/>
                        </a:ln>
                        <a:solidFill>
                          <a:srgbClr val="000000"/>
                        </a:solidFill>
                        <a:effectLst/>
                        <a:latin typeface="宋体" pitchFamily="2" charset="-122"/>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BYTE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rgbBlue</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a:t>
                      </a:r>
                      <a:r>
                        <a:rPr kumimoji="0" lang="zh-CN" altLang="en-US" sz="2400" b="0" i="0" u="none" strike="noStrike" cap="none" normalizeH="0" baseline="0" dirty="0">
                          <a:ln>
                            <a:noFill/>
                          </a:ln>
                          <a:solidFill>
                            <a:srgbClr val="000000"/>
                          </a:solidFill>
                          <a:effectLst/>
                          <a:latin typeface="宋体" pitchFamily="2" charset="-122"/>
                          <a:ea typeface="宋体" pitchFamily="2" charset="-122"/>
                        </a:rPr>
                        <a:t>蓝色</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BYTE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rgbGreen</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 </a:t>
                      </a:r>
                      <a:r>
                        <a:rPr kumimoji="0" lang="zh-CN" altLang="en-US" sz="2400" b="0" i="0" u="none" strike="noStrike" cap="none" normalizeH="0" baseline="0" dirty="0">
                          <a:ln>
                            <a:noFill/>
                          </a:ln>
                          <a:solidFill>
                            <a:srgbClr val="000000"/>
                          </a:solidFill>
                          <a:effectLst/>
                          <a:latin typeface="宋体" pitchFamily="2" charset="-122"/>
                          <a:ea typeface="宋体" pitchFamily="2" charset="-122"/>
                        </a:rPr>
                        <a:t>绿色</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BYTE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rgbRed</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 </a:t>
                      </a:r>
                      <a:r>
                        <a:rPr kumimoji="0" lang="zh-CN" altLang="en-US" sz="2400" b="0" i="0" u="none" strike="noStrike" cap="none" normalizeH="0" baseline="0" dirty="0">
                          <a:ln>
                            <a:noFill/>
                          </a:ln>
                          <a:solidFill>
                            <a:srgbClr val="000000"/>
                          </a:solidFill>
                          <a:effectLst/>
                          <a:latin typeface="宋体" pitchFamily="2" charset="-122"/>
                          <a:ea typeface="宋体" pitchFamily="2" charset="-122"/>
                        </a:rPr>
                        <a:t>红色</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BYTE </a:t>
                      </a:r>
                      <a:r>
                        <a:rPr kumimoji="0" lang="en-US" altLang="zh-CN" sz="2400" b="0" i="0" u="none" strike="noStrike" cap="none" normalizeH="0" baseline="0" dirty="0" err="1">
                          <a:ln>
                            <a:noFill/>
                          </a:ln>
                          <a:solidFill>
                            <a:srgbClr val="000000"/>
                          </a:solidFill>
                          <a:effectLst/>
                          <a:latin typeface="宋体" pitchFamily="2" charset="-122"/>
                          <a:ea typeface="宋体" pitchFamily="2" charset="-122"/>
                        </a:rPr>
                        <a:t>rgbReserved</a:t>
                      </a:r>
                      <a:r>
                        <a:rPr kumimoji="0" lang="en-US" altLang="zh-CN" sz="2400" b="0" i="0" u="none" strike="noStrike" cap="none" normalizeH="0" baseline="0" dirty="0">
                          <a:ln>
                            <a:noFill/>
                          </a:ln>
                          <a:solidFill>
                            <a:srgbClr val="000000"/>
                          </a:solidFill>
                          <a:effectLst/>
                          <a:latin typeface="宋体" pitchFamily="2" charset="-122"/>
                          <a:ea typeface="宋体" pitchFamily="2" charset="-122"/>
                        </a:rPr>
                        <a:t>;// 0</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rgbClr val="000000"/>
                          </a:solidFill>
                          <a:effectLst/>
                          <a:latin typeface="宋体" pitchFamily="2" charset="-122"/>
                          <a:ea typeface="宋体" pitchFamily="2" charset="-122"/>
                        </a:rPr>
                        <a:t>}</a:t>
                      </a:r>
                      <a:r>
                        <a:rPr kumimoji="0" lang="en-US" altLang="zh-CN" sz="2400" b="0" i="0" u="none" strike="noStrike" cap="none" normalizeH="0" baseline="0" dirty="0">
                          <a:ln>
                            <a:noFill/>
                          </a:ln>
                          <a:solidFill>
                            <a:srgbClr val="000000"/>
                          </a:solidFill>
                          <a:effectLst/>
                          <a:latin typeface="宋体" pitchFamily="2" charset="-122"/>
                          <a:ea typeface="宋体" panose="02010600030101010101" pitchFamily="2" charset="-122"/>
                          <a:cs typeface="Times New Roman" pitchFamily="18" charset="0"/>
                        </a:rPr>
                        <a:t> RGBQUAD;</a:t>
                      </a:r>
                      <a:r>
                        <a:rPr kumimoji="0" lang="en-US" altLang="zh-CN" sz="2000" b="0" i="0" u="none" strike="noStrike" cap="none" normalizeH="0" baseline="0" dirty="0">
                          <a:ln>
                            <a:noFill/>
                          </a:ln>
                          <a:solidFill>
                            <a:srgbClr val="000000"/>
                          </a:solidFill>
                          <a:effectLst/>
                          <a:latin typeface="宋体" pitchFamily="2" charset="-122"/>
                          <a:ea typeface="宋体" pitchFamily="2" charset="-122"/>
                        </a:rPr>
                        <a:t> </a:t>
                      </a:r>
                    </a:p>
                  </a:txBody>
                  <a:tcPr marT="45723" marB="45723" horzOverflow="overflow">
                    <a:lnL w="28575" cap="flat" cmpd="sng" algn="ctr">
                      <a:noFill/>
                      <a:prstDash val="solid"/>
                      <a:miter lim="800000"/>
                      <a:headEnd type="none" w="med" len="med"/>
                      <a:tailEnd type="none" w="med" len="med"/>
                    </a:lnL>
                    <a:lnR w="28575" cap="flat" cmpd="sng" algn="ctr">
                      <a:noFill/>
                      <a:prstDash val="solid"/>
                      <a:miter lim="800000"/>
                      <a:headEnd type="none" w="med" len="med"/>
                      <a:tailEnd type="none" w="med" len="med"/>
                    </a:lnR>
                    <a:lnT w="12700" cap="flat" cmpd="sng" algn="ctr">
                      <a:noFill/>
                      <a:prstDash val="solid"/>
                      <a:miter lim="800000"/>
                      <a:headEnd type="none" w="med" len="med"/>
                      <a:tailEnd type="none" w="med" len="med"/>
                    </a:lnT>
                    <a:lnB w="28575" cap="flat" cmpd="sng" algn="ctr">
                      <a:no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2894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endParaRPr>
                    </a:p>
                  </a:txBody>
                  <a:tcPr marT="45723" marB="45723" horzOverflow="overflow">
                    <a:lnL w="28575" cap="flat" cmpd="sng" algn="ctr">
                      <a:noFill/>
                      <a:prstDash val="solid"/>
                      <a:miter lim="800000"/>
                      <a:headEnd type="none" w="med" len="med"/>
                      <a:tailEnd type="none" w="med" len="med"/>
                    </a:lnL>
                    <a:lnR w="28575" cap="flat" cmpd="sng" algn="ctr">
                      <a:noFill/>
                      <a:prstDash val="solid"/>
                      <a:miter lim="800000"/>
                      <a:headEnd type="none" w="med" len="med"/>
                      <a:tailEnd type="none" w="med" len="med"/>
                    </a:lnR>
                    <a:lnT w="12700" cap="flat" cmpd="sng" algn="ctr">
                      <a:noFill/>
                      <a:prstDash val="solid"/>
                      <a:miter lim="800000"/>
                      <a:headEnd type="none" w="med" len="med"/>
                      <a:tailEnd type="none" w="med" len="med"/>
                    </a:lnT>
                    <a:lnB w="28575" cap="flat" cmpd="sng" algn="ctr">
                      <a:no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灯片编号占位符 2"/>
          <p:cNvSpPr>
            <a:spLocks noGrp="1"/>
          </p:cNvSpPr>
          <p:nvPr>
            <p:ph type="sldNum" sz="quarter" idx="12"/>
          </p:nvPr>
        </p:nvSpPr>
        <p:spPr/>
        <p:txBody>
          <a:bodyPr/>
          <a:lstStyle/>
          <a:p>
            <a:fld id="{F64BA984-46A0-4F46-990E-EC790E6934B4}" type="slidenum">
              <a:rPr lang="zh-CN" altLang="en-US" smtClean="0"/>
              <a:t>40</a:t>
            </a:fld>
            <a:endParaRPr lang="zh-CN" altLang="en-US"/>
          </a:p>
        </p:txBody>
      </p:sp>
      <p:sp>
        <p:nvSpPr>
          <p:cNvPr id="8"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136394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69179" y="1412776"/>
            <a:ext cx="8229600" cy="703263"/>
          </a:xfrm>
        </p:spPr>
        <p:txBody>
          <a:bodyPr>
            <a:normAutofit fontScale="90000"/>
          </a:bodyPr>
          <a:lstStyle/>
          <a:p>
            <a:pPr eaLnBrk="1" hangingPunct="1"/>
            <a:r>
              <a:rPr lang="zh-CN" altLang="en-US" dirty="0">
                <a:latin typeface="宋体" pitchFamily="2" charset="-122"/>
                <a:ea typeface="宋体" panose="02010600030101010101" pitchFamily="2" charset="-122"/>
                <a:sym typeface="Wingdings 2" pitchFamily="18" charset="2"/>
              </a:rPr>
              <a:t>位图信息</a:t>
            </a:r>
            <a:r>
              <a:rPr lang="en-US" altLang="zh-CN" dirty="0">
                <a:latin typeface="宋体" pitchFamily="2" charset="-122"/>
                <a:ea typeface="宋体" panose="02010600030101010101" pitchFamily="2" charset="-122"/>
                <a:sym typeface="Wingdings 2" pitchFamily="18" charset="2"/>
              </a:rPr>
              <a:t>-- BITMAPINFO</a:t>
            </a:r>
            <a:r>
              <a:rPr lang="zh-CN" altLang="en-US" dirty="0">
                <a:latin typeface="宋体" pitchFamily="2" charset="-122"/>
                <a:ea typeface="宋体" panose="02010600030101010101" pitchFamily="2" charset="-122"/>
                <a:sym typeface="Wingdings 2" pitchFamily="18" charset="2"/>
              </a:rPr>
              <a:t>结构</a:t>
            </a:r>
          </a:p>
        </p:txBody>
      </p:sp>
      <p:sp>
        <p:nvSpPr>
          <p:cNvPr id="24579" name="Rectangle 3"/>
          <p:cNvSpPr>
            <a:spLocks noGrp="1" noChangeArrowheads="1"/>
          </p:cNvSpPr>
          <p:nvPr>
            <p:ph type="body" idx="1"/>
          </p:nvPr>
        </p:nvSpPr>
        <p:spPr>
          <a:xfrm>
            <a:off x="269179" y="2492896"/>
            <a:ext cx="8382000" cy="1049338"/>
          </a:xfrm>
        </p:spPr>
        <p:txBody>
          <a:bodyPr/>
          <a:lstStyle/>
          <a:p>
            <a:pPr algn="just" eaLnBrk="1" hangingPunct="1">
              <a:lnSpc>
                <a:spcPct val="90000"/>
              </a:lnSpc>
              <a:buFont typeface="Wingdings" pitchFamily="2" charset="2"/>
              <a:buNone/>
            </a:pPr>
            <a:r>
              <a:rPr lang="en-US" altLang="zh-CN" dirty="0">
                <a:solidFill>
                  <a:srgbClr val="000000"/>
                </a:solidFill>
                <a:latin typeface="宋体" pitchFamily="2" charset="-122"/>
                <a:ea typeface="宋体" pitchFamily="2" charset="-122"/>
              </a:rPr>
              <a:t>  </a:t>
            </a:r>
            <a:r>
              <a:rPr lang="zh-CN" altLang="en-US" dirty="0">
                <a:solidFill>
                  <a:srgbClr val="000000"/>
                </a:solidFill>
                <a:latin typeface="宋体" pitchFamily="2" charset="-122"/>
                <a:ea typeface="宋体" pitchFamily="2" charset="-122"/>
              </a:rPr>
              <a:t>位图信息头和颜色表组成位图信息，</a:t>
            </a:r>
            <a:r>
              <a:rPr lang="en-US" altLang="zh-CN" dirty="0">
                <a:solidFill>
                  <a:srgbClr val="000000"/>
                </a:solidFill>
                <a:latin typeface="宋体" pitchFamily="2" charset="-122"/>
                <a:ea typeface="宋体" pitchFamily="2" charset="-122"/>
              </a:rPr>
              <a:t>BITMAPINFO</a:t>
            </a:r>
            <a:r>
              <a:rPr lang="zh-CN" altLang="en-US" dirty="0">
                <a:solidFill>
                  <a:srgbClr val="000000"/>
                </a:solidFill>
                <a:latin typeface="宋体" pitchFamily="2" charset="-122"/>
                <a:ea typeface="宋体" pitchFamily="2" charset="-122"/>
              </a:rPr>
              <a:t>结构定义如下</a:t>
            </a:r>
            <a:r>
              <a:rPr lang="en-US" altLang="zh-CN" dirty="0">
                <a:solidFill>
                  <a:srgbClr val="000000"/>
                </a:solidFill>
                <a:latin typeface="宋体" pitchFamily="2" charset="-122"/>
                <a:ea typeface="宋体" pitchFamily="2" charset="-122"/>
              </a:rPr>
              <a:t>:</a:t>
            </a:r>
          </a:p>
          <a:p>
            <a:pPr algn="just" eaLnBrk="1" hangingPunct="1">
              <a:lnSpc>
                <a:spcPct val="90000"/>
              </a:lnSpc>
              <a:buFont typeface="Wingdings" pitchFamily="2" charset="2"/>
              <a:buNone/>
            </a:pPr>
            <a:endParaRPr lang="en-US" altLang="zh-CN" dirty="0">
              <a:solidFill>
                <a:srgbClr val="000000"/>
              </a:solidFill>
              <a:latin typeface="宋体" pitchFamily="2" charset="-122"/>
              <a:ea typeface="宋体" pitchFamily="2" charset="-122"/>
            </a:endParaRPr>
          </a:p>
          <a:p>
            <a:pPr eaLnBrk="1" hangingPunct="1">
              <a:lnSpc>
                <a:spcPct val="90000"/>
              </a:lnSpc>
              <a:buFont typeface="Wingdings" pitchFamily="2" charset="2"/>
              <a:buNone/>
            </a:pPr>
            <a:endParaRPr lang="en-US" altLang="zh-CN" dirty="0"/>
          </a:p>
        </p:txBody>
      </p:sp>
      <p:graphicFrame>
        <p:nvGraphicFramePr>
          <p:cNvPr id="23580" name="Group 28"/>
          <p:cNvGraphicFramePr>
            <a:graphicFrameLocks noGrp="1"/>
          </p:cNvGraphicFramePr>
          <p:nvPr>
            <p:extLst>
              <p:ext uri="{D42A27DB-BD31-4B8C-83A1-F6EECF244321}">
                <p14:modId xmlns:p14="http://schemas.microsoft.com/office/powerpoint/2010/main" val="3297399454"/>
              </p:ext>
            </p:extLst>
          </p:nvPr>
        </p:nvGraphicFramePr>
        <p:xfrm>
          <a:off x="1259632" y="3689726"/>
          <a:ext cx="6096000" cy="3117850"/>
        </p:xfrm>
        <a:graphic>
          <a:graphicData uri="http://schemas.openxmlformats.org/drawingml/2006/table">
            <a:tbl>
              <a:tblPr/>
              <a:tblGrid>
                <a:gridCol w="6096000">
                  <a:extLst>
                    <a:ext uri="{9D8B030D-6E8A-4147-A177-3AD203B41FA5}">
                      <a16:colId xmlns:a16="http://schemas.microsoft.com/office/drawing/2014/main" val="20000"/>
                    </a:ext>
                  </a:extLst>
                </a:gridCol>
              </a:tblGrid>
              <a:tr h="3117850">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err="1">
                          <a:ln>
                            <a:noFill/>
                          </a:ln>
                          <a:solidFill>
                            <a:srgbClr val="000099"/>
                          </a:solidFill>
                          <a:effectLst/>
                          <a:latin typeface="Tahoma" pitchFamily="34" charset="0"/>
                          <a:ea typeface="宋体" panose="02010600030101010101" pitchFamily="2" charset="-122"/>
                        </a:rPr>
                        <a:t>struct</a:t>
                      </a:r>
                      <a: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t> </a:t>
                      </a:r>
                      <a:r>
                        <a:rPr kumimoji="0" lang="en-US" altLang="zh-CN" sz="2800" b="0" i="0" u="none" strike="noStrike" cap="none" normalizeH="0" baseline="0" dirty="0" err="1">
                          <a:ln>
                            <a:noFill/>
                          </a:ln>
                          <a:solidFill>
                            <a:srgbClr val="000099"/>
                          </a:solidFill>
                          <a:effectLst/>
                          <a:latin typeface="Tahoma" pitchFamily="34" charset="0"/>
                          <a:ea typeface="宋体" panose="02010600030101010101" pitchFamily="2" charset="-122"/>
                        </a:rPr>
                        <a:t>tagBITMAPINFO</a:t>
                      </a:r>
                      <a: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t>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t>{</a:t>
                      </a:r>
                      <a:b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br>
                      <a: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t>BITMAPINFOHEADER </a:t>
                      </a:r>
                      <a:r>
                        <a:rPr kumimoji="0" lang="en-US" altLang="zh-CN" sz="2800" b="0" i="0" u="none" strike="noStrike" cap="none" normalizeH="0" baseline="0" dirty="0" err="1">
                          <a:ln>
                            <a:noFill/>
                          </a:ln>
                          <a:solidFill>
                            <a:srgbClr val="000099"/>
                          </a:solidFill>
                          <a:effectLst/>
                          <a:latin typeface="Tahoma" pitchFamily="34" charset="0"/>
                          <a:ea typeface="宋体" panose="02010600030101010101" pitchFamily="2" charset="-122"/>
                        </a:rPr>
                        <a:t>bmiHeader</a:t>
                      </a:r>
                      <a: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t>; RGBQUAD </a:t>
                      </a:r>
                      <a:r>
                        <a:rPr kumimoji="0" lang="en-US" altLang="zh-CN" sz="2800" b="0" i="0" u="none" strike="noStrike" cap="none" normalizeH="0" baseline="0" dirty="0" err="1">
                          <a:ln>
                            <a:noFill/>
                          </a:ln>
                          <a:solidFill>
                            <a:srgbClr val="000099"/>
                          </a:solidFill>
                          <a:effectLst/>
                          <a:latin typeface="Tahoma" pitchFamily="34" charset="0"/>
                          <a:ea typeface="宋体" panose="02010600030101010101" pitchFamily="2" charset="-122"/>
                        </a:rPr>
                        <a:t>bmiColors</a:t>
                      </a:r>
                      <a: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t>[1]; // </a:t>
                      </a:r>
                      <a:r>
                        <a:rPr kumimoji="0" lang="zh-CN" altLang="en-US" sz="2800" b="0" i="0" u="none" strike="noStrike" cap="none" normalizeH="0" baseline="0" dirty="0">
                          <a:ln>
                            <a:noFill/>
                          </a:ln>
                          <a:solidFill>
                            <a:srgbClr val="000099"/>
                          </a:solidFill>
                          <a:effectLst/>
                          <a:latin typeface="Tahoma" pitchFamily="34" charset="0"/>
                          <a:ea typeface="宋体" panose="02010600030101010101" pitchFamily="2" charset="-122"/>
                        </a:rPr>
                        <a:t>颜色表</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rgbClr val="000099"/>
                          </a:solidFill>
                          <a:effectLst/>
                          <a:latin typeface="Tahoma" pitchFamily="34" charset="0"/>
                          <a:ea typeface="宋体" panose="02010600030101010101" pitchFamily="2" charset="-122"/>
                        </a:rPr>
                        <a:t>} BITMAPINFO;</a:t>
                      </a:r>
                      <a:endParaRPr kumimoji="0" lang="en-US" altLang="zh-CN" sz="2000" b="0" i="0" u="none" strike="noStrike" cap="none" normalizeH="0" baseline="0" dirty="0">
                        <a:ln>
                          <a:noFill/>
                        </a:ln>
                        <a:solidFill>
                          <a:srgbClr val="000000"/>
                        </a:solidFill>
                        <a:effectLst/>
                        <a:latin typeface="宋体" pitchFamily="2" charset="-122"/>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dirty="0">
                        <a:ln>
                          <a:noFill/>
                        </a:ln>
                        <a:solidFill>
                          <a:srgbClr val="000099"/>
                        </a:solidFill>
                        <a:effectLst/>
                        <a:latin typeface="Tahoma" pitchFamily="34" charset="0"/>
                        <a:ea typeface="宋体" panose="02010600030101010101" pitchFamily="2" charset="-122"/>
                      </a:endParaRPr>
                    </a:p>
                  </a:txBody>
                  <a:tcPr horzOverflow="overflow">
                    <a:lnL w="28575" cap="flat" cmpd="sng" algn="ctr">
                      <a:noFill/>
                      <a:prstDash val="solid"/>
                      <a:miter lim="800000"/>
                      <a:headEnd type="none" w="med" len="med"/>
                      <a:tailEnd type="none" w="med" len="med"/>
                    </a:lnL>
                    <a:lnR w="28575" cap="flat" cmpd="sng" algn="ctr">
                      <a:noFill/>
                      <a:prstDash val="solid"/>
                      <a:miter lim="800000"/>
                      <a:headEnd type="none" w="med" len="med"/>
                      <a:tailEnd type="none" w="med" len="med"/>
                    </a:lnR>
                    <a:lnT w="28575" cap="flat" cmpd="sng" algn="ctr">
                      <a:noFill/>
                      <a:prstDash val="solid"/>
                      <a:miter lim="800000"/>
                      <a:headEnd type="none" w="med" len="med"/>
                      <a:tailEnd type="none" w="med" len="med"/>
                    </a:lnT>
                    <a:lnB w="28575" cap="flat" cmpd="sng" algn="ctr">
                      <a:no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 name="灯片编号占位符 2"/>
          <p:cNvSpPr>
            <a:spLocks noGrp="1"/>
          </p:cNvSpPr>
          <p:nvPr>
            <p:ph type="sldNum" sz="quarter" idx="12"/>
          </p:nvPr>
        </p:nvSpPr>
        <p:spPr/>
        <p:txBody>
          <a:bodyPr/>
          <a:lstStyle/>
          <a:p>
            <a:fld id="{F64BA984-46A0-4F46-990E-EC790E6934B4}" type="slidenum">
              <a:rPr lang="zh-CN" altLang="en-US" smtClean="0"/>
              <a:t>41</a:t>
            </a:fld>
            <a:endParaRPr lang="zh-CN" altLang="en-US"/>
          </a:p>
        </p:txBody>
      </p:sp>
      <p:sp>
        <p:nvSpPr>
          <p:cNvPr id="7"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1695027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5112568"/>
          </a:xfrm>
        </p:spPr>
        <p:txBody>
          <a:bodyPr/>
          <a:lstStyle/>
          <a:p>
            <a:r>
              <a:rPr lang="en-US" altLang="zh-CN" dirty="0"/>
              <a:t>Bitmap</a:t>
            </a:r>
            <a:r>
              <a:rPr lang="zh-CN" altLang="en-US" dirty="0"/>
              <a:t>文件读取工具（</a:t>
            </a:r>
            <a:r>
              <a:rPr lang="en-US" altLang="zh-CN" dirty="0"/>
              <a:t>GUI</a:t>
            </a:r>
            <a:r>
              <a:rPr lang="zh-CN" altLang="en-US" dirty="0"/>
              <a:t>）</a:t>
            </a:r>
            <a:endParaRPr lang="en-US" altLang="zh-CN" dirty="0"/>
          </a:p>
          <a:p>
            <a:r>
              <a:rPr lang="zh-CN" altLang="en-US" dirty="0"/>
              <a:t>要求</a:t>
            </a:r>
            <a:endParaRPr lang="en-US" altLang="zh-CN" dirty="0"/>
          </a:p>
          <a:p>
            <a:pPr marL="971550" lvl="1" indent="-514350">
              <a:buFont typeface="+mj-lt"/>
              <a:buAutoNum type="arabicPeriod"/>
            </a:pPr>
            <a:r>
              <a:rPr lang="zh-CN" altLang="en-US" dirty="0"/>
              <a:t>编写代码读取</a:t>
            </a:r>
            <a:r>
              <a:rPr lang="en-US" altLang="zh-CN" dirty="0"/>
              <a:t>Bitmap</a:t>
            </a:r>
            <a:r>
              <a:rPr lang="zh-CN" altLang="en-US" dirty="0"/>
              <a:t>文件，不能使用库函数</a:t>
            </a:r>
            <a:endParaRPr lang="en-US" altLang="zh-CN" dirty="0"/>
          </a:p>
          <a:p>
            <a:pPr marL="971550" lvl="1" indent="-514350">
              <a:buFont typeface="+mj-lt"/>
              <a:buAutoNum type="arabicPeriod"/>
            </a:pPr>
            <a:r>
              <a:rPr lang="zh-CN" altLang="en-US" dirty="0"/>
              <a:t>显示图像以及 图像大小，长宽等信息</a:t>
            </a:r>
            <a:endParaRPr lang="en-US" altLang="zh-CN" dirty="0"/>
          </a:p>
          <a:p>
            <a:pPr marL="971550" lvl="1" indent="-514350">
              <a:buFont typeface="+mj-lt"/>
              <a:buAutoNum type="arabicPeriod"/>
            </a:pPr>
            <a:r>
              <a:rPr lang="zh-CN" altLang="en-US" dirty="0">
                <a:solidFill>
                  <a:srgbClr val="0000FF"/>
                </a:solidFill>
              </a:rPr>
              <a:t>独立完成</a:t>
            </a:r>
            <a:endParaRPr lang="en-US" altLang="zh-CN" dirty="0">
              <a:solidFill>
                <a:srgbClr val="0000FF"/>
              </a:solidFill>
            </a:endParaRPr>
          </a:p>
          <a:p>
            <a:pPr marL="971550" lvl="1" indent="-514350">
              <a:buFont typeface="+mj-lt"/>
              <a:buAutoNum type="arabicPeriod"/>
            </a:pPr>
            <a:r>
              <a:rPr lang="zh-CN" altLang="en-US" dirty="0">
                <a:solidFill>
                  <a:srgbClr val="0000FF"/>
                </a:solidFill>
              </a:rPr>
              <a:t>语言不限</a:t>
            </a:r>
            <a:endParaRPr lang="en-US" altLang="zh-CN" dirty="0">
              <a:solidFill>
                <a:srgbClr val="0000FF"/>
              </a:solidFill>
            </a:endParaRPr>
          </a:p>
          <a:p>
            <a:r>
              <a:rPr lang="zh-CN" altLang="en-US" dirty="0"/>
              <a:t>提交</a:t>
            </a:r>
            <a:endParaRPr lang="en-US" altLang="zh-CN" dirty="0"/>
          </a:p>
          <a:p>
            <a:pPr marL="857250" indent="-514350">
              <a:buFont typeface="+mj-lt"/>
              <a:buAutoNum type="arabicPeriod"/>
            </a:pPr>
            <a:r>
              <a:rPr lang="en-US" altLang="zh-CN" b="0" dirty="0">
                <a:solidFill>
                  <a:srgbClr val="0000FF"/>
                </a:solidFill>
              </a:rPr>
              <a:t>Code </a:t>
            </a:r>
          </a:p>
          <a:p>
            <a:pPr marL="857250" indent="-514350">
              <a:buFont typeface="+mj-lt"/>
              <a:buAutoNum type="arabicPeriod"/>
            </a:pPr>
            <a:r>
              <a:rPr lang="zh-CN" altLang="en-US" b="0" dirty="0">
                <a:solidFill>
                  <a:srgbClr val="0000FF"/>
                </a:solidFill>
              </a:rPr>
              <a:t>说明文档</a:t>
            </a:r>
          </a:p>
        </p:txBody>
      </p:sp>
      <p:sp>
        <p:nvSpPr>
          <p:cNvPr id="3" name="标题 2"/>
          <p:cNvSpPr>
            <a:spLocks noGrp="1"/>
          </p:cNvSpPr>
          <p:nvPr>
            <p:ph type="title"/>
          </p:nvPr>
        </p:nvSpPr>
        <p:spPr/>
        <p:txBody>
          <a:bodyPr>
            <a:normAutofit fontScale="90000"/>
          </a:bodyPr>
          <a:lstStyle/>
          <a:p>
            <a:r>
              <a:rPr lang="zh-CN" altLang="en-US" dirty="0"/>
              <a:t>实践环节</a:t>
            </a:r>
            <a:r>
              <a:rPr lang="en-US" altLang="zh-CN" dirty="0"/>
              <a:t>—</a:t>
            </a:r>
            <a:r>
              <a:rPr lang="zh-CN" altLang="en-US" dirty="0"/>
              <a:t>选做</a:t>
            </a:r>
          </a:p>
        </p:txBody>
      </p:sp>
      <p:sp>
        <p:nvSpPr>
          <p:cNvPr id="5" name="灯片编号占位符 4"/>
          <p:cNvSpPr>
            <a:spLocks noGrp="1"/>
          </p:cNvSpPr>
          <p:nvPr>
            <p:ph type="sldNum" sz="quarter" idx="12"/>
          </p:nvPr>
        </p:nvSpPr>
        <p:spPr/>
        <p:txBody>
          <a:bodyPr/>
          <a:lstStyle/>
          <a:p>
            <a:fld id="{F64BA984-46A0-4F46-990E-EC790E6934B4}" type="slidenum">
              <a:rPr lang="zh-CN" altLang="en-US" smtClean="0"/>
              <a:t>42</a:t>
            </a:fld>
            <a:endParaRPr lang="zh-CN" altLang="en-US"/>
          </a:p>
        </p:txBody>
      </p:sp>
    </p:spTree>
    <p:extLst>
      <p:ext uri="{BB962C8B-B14F-4D97-AF65-F5344CB8AC3E}">
        <p14:creationId xmlns:p14="http://schemas.microsoft.com/office/powerpoint/2010/main" val="208162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Line 5"/>
          <p:cNvSpPr>
            <a:spLocks noChangeShapeType="1"/>
          </p:cNvSpPr>
          <p:nvPr/>
        </p:nvSpPr>
        <p:spPr bwMode="auto">
          <a:xfrm>
            <a:off x="4750882" y="2614619"/>
            <a:ext cx="0" cy="30656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latin typeface="+mj-ea"/>
              <a:ea typeface="+mj-ea"/>
            </a:endParaRPr>
          </a:p>
        </p:txBody>
      </p:sp>
      <p:sp>
        <p:nvSpPr>
          <p:cNvPr id="30725" name="Line 7"/>
          <p:cNvSpPr>
            <a:spLocks noChangeShapeType="1"/>
          </p:cNvSpPr>
          <p:nvPr/>
        </p:nvSpPr>
        <p:spPr bwMode="auto">
          <a:xfrm>
            <a:off x="4759648" y="2001486"/>
            <a:ext cx="0" cy="30656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latin typeface="+mj-ea"/>
              <a:ea typeface="+mj-ea"/>
            </a:endParaRPr>
          </a:p>
        </p:txBody>
      </p:sp>
      <p:sp>
        <p:nvSpPr>
          <p:cNvPr id="30726" name="Rectangle 8"/>
          <p:cNvSpPr>
            <a:spLocks noChangeArrowheads="1"/>
          </p:cNvSpPr>
          <p:nvPr/>
        </p:nvSpPr>
        <p:spPr bwMode="auto">
          <a:xfrm>
            <a:off x="3532385" y="2300847"/>
            <a:ext cx="2805173" cy="306567"/>
          </a:xfrm>
          <a:prstGeom prst="rect">
            <a:avLst/>
          </a:prstGeom>
          <a:noFill/>
          <a:ln w="9525">
            <a:solidFill>
              <a:srgbClr val="000000"/>
            </a:solidFill>
            <a:miter lim="800000"/>
            <a:headEnd/>
            <a:tailEnd/>
          </a:ln>
        </p:spPr>
        <p:txBody>
          <a:bodyPr/>
          <a:lstStyle/>
          <a:p>
            <a:pPr algn="ctr" eaLnBrk="0" hangingPunct="0">
              <a:spcBef>
                <a:spcPct val="0"/>
              </a:spcBef>
              <a:buClrTx/>
              <a:buSzTx/>
              <a:buFontTx/>
              <a:buNone/>
            </a:pPr>
            <a:r>
              <a:rPr lang="en-US" altLang="zh-CN" sz="1600">
                <a:solidFill>
                  <a:schemeClr val="tx1"/>
                </a:solidFill>
                <a:latin typeface="+mj-ea"/>
                <a:ea typeface="+mj-ea"/>
              </a:rPr>
              <a:t>     </a:t>
            </a:r>
            <a:r>
              <a:rPr lang="zh-CN" altLang="en-US" sz="1600">
                <a:solidFill>
                  <a:schemeClr val="tx1"/>
                </a:solidFill>
                <a:latin typeface="+mj-ea"/>
                <a:ea typeface="+mj-ea"/>
              </a:rPr>
              <a:t>打开位图文件</a:t>
            </a:r>
          </a:p>
        </p:txBody>
      </p:sp>
      <p:sp>
        <p:nvSpPr>
          <p:cNvPr id="30728" name="Rectangle 10"/>
          <p:cNvSpPr>
            <a:spLocks noChangeArrowheads="1"/>
          </p:cNvSpPr>
          <p:nvPr/>
        </p:nvSpPr>
        <p:spPr bwMode="auto">
          <a:xfrm>
            <a:off x="3181738" y="2921186"/>
            <a:ext cx="3506467" cy="306567"/>
          </a:xfrm>
          <a:prstGeom prst="rect">
            <a:avLst/>
          </a:prstGeom>
          <a:noFill/>
          <a:ln w="9525">
            <a:solidFill>
              <a:srgbClr val="000000"/>
            </a:solidFill>
            <a:miter lim="800000"/>
            <a:headEnd/>
            <a:tailEnd/>
          </a:ln>
        </p:spPr>
        <p:txBody>
          <a:bodyPr/>
          <a:lstStyle/>
          <a:p>
            <a:pPr algn="ctr" eaLnBrk="0" hangingPunct="0">
              <a:spcBef>
                <a:spcPct val="0"/>
              </a:spcBef>
              <a:buClrTx/>
              <a:buSzTx/>
              <a:buFontTx/>
              <a:buNone/>
            </a:pPr>
            <a:r>
              <a:rPr lang="zh-CN" altLang="en-US" sz="1600" dirty="0">
                <a:solidFill>
                  <a:schemeClr val="tx1"/>
                </a:solidFill>
                <a:latin typeface="+mj-ea"/>
                <a:ea typeface="+mj-ea"/>
              </a:rPr>
              <a:t>读取</a:t>
            </a:r>
            <a:r>
              <a:rPr lang="en-US" altLang="zh-CN" sz="1600" dirty="0">
                <a:solidFill>
                  <a:schemeClr val="tx1"/>
                </a:solidFill>
                <a:latin typeface="+mj-ea"/>
                <a:ea typeface="+mj-ea"/>
              </a:rPr>
              <a:t>BITMAPFILEHEADER</a:t>
            </a:r>
            <a:r>
              <a:rPr lang="zh-CN" altLang="en-US" sz="1600" dirty="0">
                <a:solidFill>
                  <a:schemeClr val="tx1"/>
                </a:solidFill>
                <a:latin typeface="+mj-ea"/>
                <a:ea typeface="+mj-ea"/>
              </a:rPr>
              <a:t>结构</a:t>
            </a:r>
          </a:p>
        </p:txBody>
      </p:sp>
      <p:sp>
        <p:nvSpPr>
          <p:cNvPr id="30729" name="Line 11"/>
          <p:cNvSpPr>
            <a:spLocks noChangeShapeType="1"/>
          </p:cNvSpPr>
          <p:nvPr/>
        </p:nvSpPr>
        <p:spPr bwMode="auto">
          <a:xfrm>
            <a:off x="4721662" y="3962727"/>
            <a:ext cx="0" cy="30656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latin typeface="+mj-ea"/>
              <a:ea typeface="+mj-ea"/>
            </a:endParaRPr>
          </a:p>
        </p:txBody>
      </p:sp>
      <p:sp>
        <p:nvSpPr>
          <p:cNvPr id="30730" name="Rectangle 12"/>
          <p:cNvSpPr>
            <a:spLocks noChangeArrowheads="1"/>
          </p:cNvSpPr>
          <p:nvPr/>
        </p:nvSpPr>
        <p:spPr bwMode="auto">
          <a:xfrm>
            <a:off x="2867130" y="4277810"/>
            <a:ext cx="3857113" cy="306567"/>
          </a:xfrm>
          <a:prstGeom prst="rect">
            <a:avLst/>
          </a:prstGeom>
          <a:noFill/>
          <a:ln w="9525">
            <a:solidFill>
              <a:srgbClr val="000000"/>
            </a:solidFill>
            <a:miter lim="800000"/>
            <a:headEnd/>
            <a:tailEnd/>
          </a:ln>
        </p:spPr>
        <p:txBody>
          <a:bodyPr/>
          <a:lstStyle/>
          <a:p>
            <a:pPr algn="ctr" eaLnBrk="0" hangingPunct="0">
              <a:spcBef>
                <a:spcPct val="0"/>
              </a:spcBef>
              <a:buClrTx/>
              <a:buSzTx/>
              <a:buFontTx/>
              <a:buNone/>
            </a:pPr>
            <a:r>
              <a:rPr lang="en-US" altLang="zh-CN" sz="1600">
                <a:solidFill>
                  <a:schemeClr val="tx1"/>
                </a:solidFill>
                <a:latin typeface="+mj-ea"/>
                <a:ea typeface="+mj-ea"/>
              </a:rPr>
              <a:t> </a:t>
            </a:r>
            <a:r>
              <a:rPr lang="zh-CN" altLang="en-US" sz="1600">
                <a:solidFill>
                  <a:schemeClr val="tx1"/>
                </a:solidFill>
                <a:latin typeface="+mj-ea"/>
                <a:ea typeface="+mj-ea"/>
              </a:rPr>
              <a:t>读取</a:t>
            </a:r>
            <a:r>
              <a:rPr lang="en-US" altLang="zh-CN" sz="1600">
                <a:solidFill>
                  <a:schemeClr val="tx1"/>
                </a:solidFill>
                <a:latin typeface="+mj-ea"/>
                <a:ea typeface="+mj-ea"/>
              </a:rPr>
              <a:t>BITMAPINFOHEADER</a:t>
            </a:r>
            <a:r>
              <a:rPr lang="zh-CN" altLang="en-US" sz="1600">
                <a:solidFill>
                  <a:schemeClr val="tx1"/>
                </a:solidFill>
                <a:latin typeface="+mj-ea"/>
                <a:ea typeface="+mj-ea"/>
              </a:rPr>
              <a:t>结构</a:t>
            </a:r>
          </a:p>
        </p:txBody>
      </p:sp>
      <p:sp>
        <p:nvSpPr>
          <p:cNvPr id="30731" name="Line 13"/>
          <p:cNvSpPr>
            <a:spLocks noChangeShapeType="1"/>
          </p:cNvSpPr>
          <p:nvPr/>
        </p:nvSpPr>
        <p:spPr bwMode="auto">
          <a:xfrm>
            <a:off x="4707051" y="3227753"/>
            <a:ext cx="16557" cy="4172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latin typeface="+mj-ea"/>
              <a:ea typeface="+mj-ea"/>
            </a:endParaRPr>
          </a:p>
        </p:txBody>
      </p:sp>
      <p:sp>
        <p:nvSpPr>
          <p:cNvPr id="30732" name="Rectangle 14"/>
          <p:cNvSpPr>
            <a:spLocks noChangeArrowheads="1"/>
          </p:cNvSpPr>
          <p:nvPr/>
        </p:nvSpPr>
        <p:spPr bwMode="auto">
          <a:xfrm>
            <a:off x="2427848" y="3645024"/>
            <a:ext cx="4558407" cy="306567"/>
          </a:xfrm>
          <a:prstGeom prst="rect">
            <a:avLst/>
          </a:prstGeom>
          <a:noFill/>
          <a:ln w="9525">
            <a:solidFill>
              <a:srgbClr val="000000"/>
            </a:solidFill>
            <a:miter lim="800000"/>
            <a:headEnd/>
            <a:tailEnd/>
          </a:ln>
        </p:spPr>
        <p:txBody>
          <a:bodyPr/>
          <a:lstStyle/>
          <a:p>
            <a:pPr algn="ctr" eaLnBrk="0" hangingPunct="0">
              <a:spcBef>
                <a:spcPct val="0"/>
              </a:spcBef>
              <a:buClrTx/>
              <a:buSzTx/>
              <a:buFontTx/>
              <a:buNone/>
            </a:pPr>
            <a:r>
              <a:rPr lang="en-US" altLang="zh-CN" sz="1600">
                <a:solidFill>
                  <a:schemeClr val="tx1"/>
                </a:solidFill>
                <a:latin typeface="+mj-ea"/>
                <a:ea typeface="+mj-ea"/>
              </a:rPr>
              <a:t>   </a:t>
            </a:r>
            <a:r>
              <a:rPr lang="zh-CN" altLang="en-US" sz="1600">
                <a:solidFill>
                  <a:schemeClr val="tx1"/>
                </a:solidFill>
                <a:latin typeface="+mj-ea"/>
                <a:ea typeface="+mj-ea"/>
              </a:rPr>
              <a:t>得到位图大小，分配内存空间</a:t>
            </a:r>
          </a:p>
        </p:txBody>
      </p:sp>
      <p:sp>
        <p:nvSpPr>
          <p:cNvPr id="30733" name="Line 15"/>
          <p:cNvSpPr>
            <a:spLocks noChangeShapeType="1"/>
          </p:cNvSpPr>
          <p:nvPr/>
        </p:nvSpPr>
        <p:spPr bwMode="auto">
          <a:xfrm>
            <a:off x="4750882" y="4581756"/>
            <a:ext cx="0" cy="30656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latin typeface="+mj-ea"/>
              <a:ea typeface="+mj-ea"/>
            </a:endParaRPr>
          </a:p>
        </p:txBody>
      </p:sp>
      <p:sp>
        <p:nvSpPr>
          <p:cNvPr id="30738" name="AutoShape 20"/>
          <p:cNvSpPr>
            <a:spLocks noChangeArrowheads="1"/>
          </p:cNvSpPr>
          <p:nvPr/>
        </p:nvSpPr>
        <p:spPr bwMode="auto">
          <a:xfrm>
            <a:off x="3931025" y="1592730"/>
            <a:ext cx="1577910" cy="408756"/>
          </a:xfrm>
          <a:prstGeom prst="flowChartPreparation">
            <a:avLst/>
          </a:prstGeom>
          <a:noFill/>
          <a:ln w="9525">
            <a:solidFill>
              <a:srgbClr val="000000"/>
            </a:solidFill>
            <a:miter lim="800000"/>
            <a:headEnd/>
            <a:tailEnd/>
          </a:ln>
        </p:spPr>
        <p:txBody>
          <a:bodyPr/>
          <a:lstStyle/>
          <a:p>
            <a:pPr algn="ctr" eaLnBrk="0" hangingPunct="0">
              <a:spcBef>
                <a:spcPct val="0"/>
              </a:spcBef>
              <a:buClrTx/>
              <a:buSzTx/>
              <a:buFontTx/>
              <a:buNone/>
            </a:pPr>
            <a:r>
              <a:rPr lang="en-US" altLang="zh-CN" sz="1600" dirty="0">
                <a:solidFill>
                  <a:schemeClr val="tx1"/>
                </a:solidFill>
                <a:latin typeface="+mj-ea"/>
                <a:ea typeface="+mj-ea"/>
              </a:rPr>
              <a:t>  </a:t>
            </a:r>
            <a:r>
              <a:rPr lang="zh-CN" altLang="en-US" sz="1600" dirty="0">
                <a:solidFill>
                  <a:schemeClr val="tx1"/>
                </a:solidFill>
                <a:latin typeface="+mj-ea"/>
                <a:ea typeface="+mj-ea"/>
              </a:rPr>
              <a:t>开始</a:t>
            </a:r>
          </a:p>
        </p:txBody>
      </p:sp>
      <p:sp>
        <p:nvSpPr>
          <p:cNvPr id="30739" name="Line 21"/>
          <p:cNvSpPr>
            <a:spLocks noChangeShapeType="1"/>
          </p:cNvSpPr>
          <p:nvPr/>
        </p:nvSpPr>
        <p:spPr bwMode="auto">
          <a:xfrm flipH="1">
            <a:off x="4759648" y="5297079"/>
            <a:ext cx="20455" cy="56416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latin typeface="+mj-ea"/>
              <a:ea typeface="+mj-ea"/>
            </a:endParaRPr>
          </a:p>
        </p:txBody>
      </p:sp>
      <p:sp>
        <p:nvSpPr>
          <p:cNvPr id="30740" name="Rectangle 22"/>
          <p:cNvSpPr>
            <a:spLocks noChangeArrowheads="1"/>
          </p:cNvSpPr>
          <p:nvPr/>
        </p:nvSpPr>
        <p:spPr bwMode="auto">
          <a:xfrm>
            <a:off x="2223304" y="4888323"/>
            <a:ext cx="5522685" cy="408756"/>
          </a:xfrm>
          <a:prstGeom prst="rect">
            <a:avLst/>
          </a:prstGeom>
          <a:noFill/>
          <a:ln w="9525">
            <a:solidFill>
              <a:srgbClr val="000000"/>
            </a:solidFill>
            <a:miter lim="800000"/>
            <a:headEnd/>
            <a:tailEnd/>
          </a:ln>
        </p:spPr>
        <p:txBody>
          <a:bodyPr/>
          <a:lstStyle/>
          <a:p>
            <a:pPr algn="ctr" eaLnBrk="0" hangingPunct="0">
              <a:spcBef>
                <a:spcPct val="0"/>
              </a:spcBef>
              <a:buClrTx/>
              <a:buSzTx/>
              <a:buFontTx/>
              <a:buNone/>
            </a:pPr>
            <a:r>
              <a:rPr lang="zh-CN" altLang="en-US" sz="1600">
                <a:solidFill>
                  <a:schemeClr val="tx1"/>
                </a:solidFill>
                <a:latin typeface="+mj-ea"/>
                <a:ea typeface="+mj-ea"/>
              </a:rPr>
              <a:t>获得数据的起始位置</a:t>
            </a:r>
            <a:r>
              <a:rPr lang="en-US" altLang="zh-CN" sz="1600">
                <a:solidFill>
                  <a:schemeClr val="tx1"/>
                </a:solidFill>
                <a:latin typeface="+mj-ea"/>
                <a:ea typeface="+mj-ea"/>
              </a:rPr>
              <a:t>,</a:t>
            </a:r>
            <a:r>
              <a:rPr lang="zh-CN" altLang="en-US" sz="1600">
                <a:solidFill>
                  <a:schemeClr val="tx1"/>
                </a:solidFill>
                <a:latin typeface="+mj-ea"/>
                <a:ea typeface="+mj-ea"/>
              </a:rPr>
              <a:t>保存起始位置指针</a:t>
            </a:r>
          </a:p>
        </p:txBody>
      </p:sp>
      <p:sp>
        <p:nvSpPr>
          <p:cNvPr id="30742" name="AutoShape 24"/>
          <p:cNvSpPr>
            <a:spLocks noChangeArrowheads="1"/>
          </p:cNvSpPr>
          <p:nvPr/>
        </p:nvSpPr>
        <p:spPr bwMode="auto">
          <a:xfrm>
            <a:off x="4059328" y="5861245"/>
            <a:ext cx="1472716" cy="408756"/>
          </a:xfrm>
          <a:prstGeom prst="flowChartTerminator">
            <a:avLst/>
          </a:prstGeom>
          <a:noFill/>
          <a:ln w="9525">
            <a:solidFill>
              <a:srgbClr val="000000"/>
            </a:solidFill>
            <a:miter lim="800000"/>
            <a:headEnd/>
            <a:tailEnd/>
          </a:ln>
        </p:spPr>
        <p:txBody>
          <a:bodyPr/>
          <a:lstStyle/>
          <a:p>
            <a:pPr algn="ctr" eaLnBrk="0" hangingPunct="0">
              <a:spcBef>
                <a:spcPct val="0"/>
              </a:spcBef>
              <a:buClrTx/>
              <a:buSzTx/>
              <a:buFontTx/>
              <a:buNone/>
            </a:pPr>
            <a:r>
              <a:rPr lang="en-US" altLang="zh-CN" sz="1600">
                <a:solidFill>
                  <a:schemeClr val="tx1"/>
                </a:solidFill>
                <a:latin typeface="+mj-ea"/>
                <a:ea typeface="+mj-ea"/>
              </a:rPr>
              <a:t>   </a:t>
            </a:r>
            <a:r>
              <a:rPr lang="zh-CN" altLang="en-US" sz="1600">
                <a:solidFill>
                  <a:schemeClr val="tx1"/>
                </a:solidFill>
                <a:latin typeface="+mj-ea"/>
                <a:ea typeface="+mj-ea"/>
              </a:rPr>
              <a:t>结束</a:t>
            </a:r>
          </a:p>
        </p:txBody>
      </p:sp>
      <p:sp>
        <p:nvSpPr>
          <p:cNvPr id="23" name="Rectangle 2"/>
          <p:cNvSpPr>
            <a:spLocks noGrp="1" noChangeArrowheads="1"/>
          </p:cNvSpPr>
          <p:nvPr>
            <p:ph type="title"/>
          </p:nvPr>
        </p:nvSpPr>
        <p:spPr>
          <a:xfrm>
            <a:off x="178623" y="1188828"/>
            <a:ext cx="8229600" cy="703263"/>
          </a:xfrm>
        </p:spPr>
        <p:txBody>
          <a:bodyPr>
            <a:normAutofit/>
          </a:bodyPr>
          <a:lstStyle/>
          <a:p>
            <a:pPr eaLnBrk="1" hangingPunct="1"/>
            <a:r>
              <a:rPr lang="zh-CN" altLang="en-US" sz="3200" dirty="0">
                <a:latin typeface="宋体" pitchFamily="2" charset="-122"/>
                <a:ea typeface="宋体" pitchFamily="2" charset="-122"/>
              </a:rPr>
              <a:t>图像读取的流程图</a:t>
            </a:r>
            <a:r>
              <a:rPr lang="zh-CN" altLang="en-US" sz="3200" dirty="0"/>
              <a:t> </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43</a:t>
            </a:fld>
            <a:endParaRPr lang="zh-CN" altLang="en-US"/>
          </a:p>
        </p:txBody>
      </p:sp>
      <p:sp>
        <p:nvSpPr>
          <p:cNvPr id="18"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31210593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14400" y="1052188"/>
            <a:ext cx="8229600" cy="703263"/>
          </a:xfrm>
          <a:noFill/>
        </p:spPr>
        <p:txBody>
          <a:bodyPr>
            <a:normAutofit fontScale="90000"/>
          </a:bodyPr>
          <a:lstStyle/>
          <a:p>
            <a:pPr eaLnBrk="1" hangingPunct="1"/>
            <a:r>
              <a:rPr lang="zh-CN" altLang="en-US" dirty="0">
                <a:latin typeface="宋体" pitchFamily="2" charset="-122"/>
                <a:ea typeface="宋体" pitchFamily="2" charset="-122"/>
              </a:rPr>
              <a:t>图像显示的流程图</a:t>
            </a:r>
            <a:r>
              <a:rPr lang="zh-CN" altLang="en-US" dirty="0"/>
              <a:t> </a:t>
            </a:r>
          </a:p>
        </p:txBody>
      </p:sp>
      <p:grpSp>
        <p:nvGrpSpPr>
          <p:cNvPr id="31747" name="Group 4"/>
          <p:cNvGrpSpPr>
            <a:grpSpLocks/>
          </p:cNvGrpSpPr>
          <p:nvPr/>
        </p:nvGrpSpPr>
        <p:grpSpPr bwMode="auto">
          <a:xfrm>
            <a:off x="1645804" y="1700808"/>
            <a:ext cx="7416824" cy="4614900"/>
            <a:chOff x="2160" y="5156"/>
            <a:chExt cx="7920" cy="8683"/>
          </a:xfrm>
          <a:noFill/>
        </p:grpSpPr>
        <p:sp>
          <p:nvSpPr>
            <p:cNvPr id="31748" name="Line 5"/>
            <p:cNvSpPr>
              <a:spLocks noChangeShapeType="1"/>
            </p:cNvSpPr>
            <p:nvPr/>
          </p:nvSpPr>
          <p:spPr bwMode="auto">
            <a:xfrm>
              <a:off x="5040" y="12684"/>
              <a:ext cx="0" cy="468"/>
            </a:xfrm>
            <a:prstGeom prst="line">
              <a:avLst/>
            </a:prstGeom>
            <a:grpFill/>
            <a:ln w="9525">
              <a:solidFill>
                <a:srgbClr val="000000"/>
              </a:solidFill>
              <a:round/>
              <a:headEnd/>
              <a:tailEnd type="triangle" w="med" len="med"/>
            </a:ln>
          </p:spPr>
          <p:txBody>
            <a:bodyPr/>
            <a:lstStyle/>
            <a:p>
              <a:endParaRPr lang="zh-CN" altLang="en-US" sz="1600"/>
            </a:p>
          </p:txBody>
        </p:sp>
        <p:sp>
          <p:nvSpPr>
            <p:cNvPr id="31749" name="Rectangle 6"/>
            <p:cNvSpPr>
              <a:spLocks noChangeArrowheads="1"/>
            </p:cNvSpPr>
            <p:nvPr/>
          </p:nvSpPr>
          <p:spPr bwMode="auto">
            <a:xfrm>
              <a:off x="2160" y="6456"/>
              <a:ext cx="7380" cy="468"/>
            </a:xfrm>
            <a:prstGeom prst="rect">
              <a:avLst/>
            </a:prstGeom>
            <a:grpFill/>
            <a:ln w="9525">
              <a:solidFill>
                <a:srgbClr val="000000"/>
              </a:solidFill>
              <a:miter lim="800000"/>
              <a:headEnd/>
              <a:tailEnd/>
            </a:ln>
          </p:spPr>
          <p:txBody>
            <a:bodyPr/>
            <a:lstStyle/>
            <a:p>
              <a:pPr algn="ctr" eaLnBrk="0" hangingPunct="0">
                <a:spcBef>
                  <a:spcPct val="0"/>
                </a:spcBef>
                <a:buClrTx/>
                <a:buSzTx/>
                <a:buFontTx/>
                <a:buNone/>
              </a:pPr>
              <a:r>
                <a:rPr lang="zh-CN" altLang="en-US" sz="1600">
                  <a:solidFill>
                    <a:schemeClr val="tx1"/>
                  </a:solidFill>
                  <a:latin typeface="Times New Roman" pitchFamily="18" charset="0"/>
                </a:rPr>
                <a:t>得到数据起始位置指针，并得到图象的宽、高等信息信息</a:t>
              </a:r>
            </a:p>
          </p:txBody>
        </p:sp>
        <p:sp>
          <p:nvSpPr>
            <p:cNvPr id="31750" name="Line 7"/>
            <p:cNvSpPr>
              <a:spLocks noChangeShapeType="1"/>
            </p:cNvSpPr>
            <p:nvPr/>
          </p:nvSpPr>
          <p:spPr bwMode="auto">
            <a:xfrm>
              <a:off x="5027" y="7005"/>
              <a:ext cx="0" cy="468"/>
            </a:xfrm>
            <a:prstGeom prst="line">
              <a:avLst/>
            </a:prstGeom>
            <a:grpFill/>
            <a:ln w="9525">
              <a:solidFill>
                <a:srgbClr val="000000"/>
              </a:solidFill>
              <a:round/>
              <a:headEnd/>
              <a:tailEnd type="triangle" w="med" len="med"/>
            </a:ln>
          </p:spPr>
          <p:txBody>
            <a:bodyPr/>
            <a:lstStyle/>
            <a:p>
              <a:endParaRPr lang="zh-CN" altLang="en-US" sz="1600"/>
            </a:p>
          </p:txBody>
        </p:sp>
        <p:sp>
          <p:nvSpPr>
            <p:cNvPr id="31751" name="Line 8"/>
            <p:cNvSpPr>
              <a:spLocks noChangeShapeType="1"/>
            </p:cNvSpPr>
            <p:nvPr/>
          </p:nvSpPr>
          <p:spPr bwMode="auto">
            <a:xfrm>
              <a:off x="5053" y="8473"/>
              <a:ext cx="0" cy="468"/>
            </a:xfrm>
            <a:prstGeom prst="line">
              <a:avLst/>
            </a:prstGeom>
            <a:grpFill/>
            <a:ln w="9525">
              <a:solidFill>
                <a:srgbClr val="000000"/>
              </a:solidFill>
              <a:round/>
              <a:headEnd/>
              <a:tailEnd type="triangle" w="med" len="med"/>
            </a:ln>
          </p:spPr>
          <p:txBody>
            <a:bodyPr/>
            <a:lstStyle/>
            <a:p>
              <a:endParaRPr lang="zh-CN" altLang="en-US" sz="1600"/>
            </a:p>
          </p:txBody>
        </p:sp>
        <p:sp>
          <p:nvSpPr>
            <p:cNvPr id="31752" name="Rectangle 9"/>
            <p:cNvSpPr>
              <a:spLocks noChangeArrowheads="1"/>
            </p:cNvSpPr>
            <p:nvPr/>
          </p:nvSpPr>
          <p:spPr bwMode="auto">
            <a:xfrm>
              <a:off x="3420" y="8941"/>
              <a:ext cx="3420" cy="613"/>
            </a:xfrm>
            <a:prstGeom prst="rect">
              <a:avLst/>
            </a:prstGeom>
            <a:grpFill/>
            <a:ln w="9525">
              <a:solidFill>
                <a:srgbClr val="000000"/>
              </a:solidFill>
              <a:miter lim="800000"/>
              <a:headEnd/>
              <a:tailEnd/>
            </a:ln>
          </p:spPr>
          <p:txBody>
            <a:bodyPr/>
            <a:lstStyle/>
            <a:p>
              <a:pPr algn="just" eaLnBrk="0" hangingPunct="0">
                <a:spcBef>
                  <a:spcPct val="0"/>
                </a:spcBef>
                <a:buClrTx/>
                <a:buSzTx/>
                <a:buFontTx/>
                <a:buNone/>
              </a:pPr>
              <a:r>
                <a:rPr lang="zh-CN" altLang="en-US" dirty="0">
                  <a:solidFill>
                    <a:schemeClr val="tx1"/>
                  </a:solidFill>
                  <a:latin typeface="Times New Roman" pitchFamily="18" charset="0"/>
                </a:rPr>
                <a:t>使用文件中颜色表创建调色板</a:t>
              </a:r>
            </a:p>
          </p:txBody>
        </p:sp>
        <p:sp>
          <p:nvSpPr>
            <p:cNvPr id="31753" name="Line 10"/>
            <p:cNvSpPr>
              <a:spLocks noChangeShapeType="1"/>
            </p:cNvSpPr>
            <p:nvPr/>
          </p:nvSpPr>
          <p:spPr bwMode="auto">
            <a:xfrm>
              <a:off x="5053" y="9409"/>
              <a:ext cx="0" cy="468"/>
            </a:xfrm>
            <a:prstGeom prst="line">
              <a:avLst/>
            </a:prstGeom>
            <a:grpFill/>
            <a:ln w="9525">
              <a:solidFill>
                <a:srgbClr val="000000"/>
              </a:solidFill>
              <a:round/>
              <a:headEnd/>
              <a:tailEnd type="triangle" w="med" len="med"/>
            </a:ln>
          </p:spPr>
          <p:txBody>
            <a:bodyPr/>
            <a:lstStyle/>
            <a:p>
              <a:endParaRPr lang="zh-CN" altLang="en-US" sz="1600"/>
            </a:p>
          </p:txBody>
        </p:sp>
        <p:sp>
          <p:nvSpPr>
            <p:cNvPr id="31754" name="Rectangle 11"/>
            <p:cNvSpPr>
              <a:spLocks noChangeArrowheads="1"/>
            </p:cNvSpPr>
            <p:nvPr/>
          </p:nvSpPr>
          <p:spPr bwMode="auto">
            <a:xfrm>
              <a:off x="3329" y="9926"/>
              <a:ext cx="3420" cy="554"/>
            </a:xfrm>
            <a:prstGeom prst="rect">
              <a:avLst/>
            </a:prstGeom>
            <a:grpFill/>
            <a:ln w="9525">
              <a:solidFill>
                <a:srgbClr val="000000"/>
              </a:solidFill>
              <a:miter lim="800000"/>
              <a:headEnd/>
              <a:tailEnd/>
            </a:ln>
          </p:spPr>
          <p:txBody>
            <a:bodyPr/>
            <a:lstStyle/>
            <a:p>
              <a:pPr algn="just" eaLnBrk="0" hangingPunct="0">
                <a:spcBef>
                  <a:spcPct val="0"/>
                </a:spcBef>
                <a:buClrTx/>
                <a:buSzTx/>
                <a:buFontTx/>
                <a:buNone/>
              </a:pPr>
              <a:r>
                <a:rPr lang="en-US" altLang="zh-CN" dirty="0">
                  <a:solidFill>
                    <a:schemeClr val="tx1"/>
                  </a:solidFill>
                  <a:latin typeface="Times New Roman" pitchFamily="18" charset="0"/>
                </a:rPr>
                <a:t>    </a:t>
              </a:r>
              <a:r>
                <a:rPr lang="zh-CN" altLang="en-US" dirty="0">
                  <a:solidFill>
                    <a:schemeClr val="tx1"/>
                  </a:solidFill>
                  <a:latin typeface="Times New Roman" pitchFamily="18" charset="0"/>
                </a:rPr>
                <a:t>调色板调入设备环境</a:t>
              </a:r>
            </a:p>
          </p:txBody>
        </p:sp>
        <p:sp>
          <p:nvSpPr>
            <p:cNvPr id="31755" name="Line 12"/>
            <p:cNvSpPr>
              <a:spLocks noChangeShapeType="1"/>
            </p:cNvSpPr>
            <p:nvPr/>
          </p:nvSpPr>
          <p:spPr bwMode="auto">
            <a:xfrm>
              <a:off x="6660" y="8005"/>
              <a:ext cx="2340" cy="0"/>
            </a:xfrm>
            <a:prstGeom prst="line">
              <a:avLst/>
            </a:prstGeom>
            <a:grpFill/>
            <a:ln w="9525">
              <a:solidFill>
                <a:srgbClr val="000000"/>
              </a:solidFill>
              <a:round/>
              <a:headEnd/>
              <a:tailEnd/>
            </a:ln>
          </p:spPr>
          <p:txBody>
            <a:bodyPr/>
            <a:lstStyle/>
            <a:p>
              <a:endParaRPr lang="zh-CN" altLang="en-US" sz="1600"/>
            </a:p>
          </p:txBody>
        </p:sp>
        <p:sp>
          <p:nvSpPr>
            <p:cNvPr id="31756" name="Line 13"/>
            <p:cNvSpPr>
              <a:spLocks noChangeShapeType="1"/>
            </p:cNvSpPr>
            <p:nvPr/>
          </p:nvSpPr>
          <p:spPr bwMode="auto">
            <a:xfrm>
              <a:off x="5053" y="10480"/>
              <a:ext cx="0" cy="722"/>
            </a:xfrm>
            <a:prstGeom prst="line">
              <a:avLst/>
            </a:prstGeom>
            <a:grpFill/>
            <a:ln w="9525">
              <a:solidFill>
                <a:srgbClr val="000000"/>
              </a:solidFill>
              <a:round/>
              <a:headEnd/>
              <a:tailEnd type="triangle" w="med" len="med"/>
            </a:ln>
          </p:spPr>
          <p:txBody>
            <a:bodyPr/>
            <a:lstStyle/>
            <a:p>
              <a:endParaRPr lang="zh-CN" altLang="en-US" sz="1600"/>
            </a:p>
          </p:txBody>
        </p:sp>
        <p:sp>
          <p:nvSpPr>
            <p:cNvPr id="31757" name="Rectangle 14"/>
            <p:cNvSpPr>
              <a:spLocks noChangeArrowheads="1"/>
            </p:cNvSpPr>
            <p:nvPr/>
          </p:nvSpPr>
          <p:spPr bwMode="auto">
            <a:xfrm>
              <a:off x="3703" y="11114"/>
              <a:ext cx="2700" cy="642"/>
            </a:xfrm>
            <a:prstGeom prst="rect">
              <a:avLst/>
            </a:prstGeom>
            <a:grpFill/>
            <a:ln w="9525">
              <a:solidFill>
                <a:srgbClr val="000000"/>
              </a:solidFill>
              <a:miter lim="800000"/>
              <a:headEnd/>
              <a:tailEnd/>
            </a:ln>
          </p:spPr>
          <p:txBody>
            <a:bodyPr/>
            <a:lstStyle/>
            <a:p>
              <a:pPr algn="just" eaLnBrk="0" hangingPunct="0">
                <a:spcBef>
                  <a:spcPct val="0"/>
                </a:spcBef>
                <a:buClrTx/>
                <a:buSzTx/>
                <a:buFontTx/>
                <a:buNone/>
              </a:pPr>
              <a:r>
                <a:rPr lang="zh-CN" altLang="en-US">
                  <a:solidFill>
                    <a:schemeClr val="tx1"/>
                  </a:solidFill>
                  <a:latin typeface="Times New Roman" pitchFamily="18" charset="0"/>
                </a:rPr>
                <a:t>设定参数，显示位图</a:t>
              </a:r>
            </a:p>
          </p:txBody>
        </p:sp>
        <p:sp>
          <p:nvSpPr>
            <p:cNvPr id="31758" name="Line 15"/>
            <p:cNvSpPr>
              <a:spLocks noChangeShapeType="1"/>
            </p:cNvSpPr>
            <p:nvPr/>
          </p:nvSpPr>
          <p:spPr bwMode="auto">
            <a:xfrm>
              <a:off x="5053" y="11748"/>
              <a:ext cx="0" cy="468"/>
            </a:xfrm>
            <a:prstGeom prst="line">
              <a:avLst/>
            </a:prstGeom>
            <a:grpFill/>
            <a:ln w="9525">
              <a:solidFill>
                <a:srgbClr val="000000"/>
              </a:solidFill>
              <a:round/>
              <a:headEnd/>
              <a:tailEnd type="triangle" w="med" len="med"/>
            </a:ln>
          </p:spPr>
          <p:txBody>
            <a:bodyPr/>
            <a:lstStyle/>
            <a:p>
              <a:endParaRPr lang="zh-CN" altLang="en-US" sz="1600"/>
            </a:p>
          </p:txBody>
        </p:sp>
        <p:sp>
          <p:nvSpPr>
            <p:cNvPr id="31759" name="Rectangle 16"/>
            <p:cNvSpPr>
              <a:spLocks noChangeArrowheads="1"/>
            </p:cNvSpPr>
            <p:nvPr/>
          </p:nvSpPr>
          <p:spPr bwMode="auto">
            <a:xfrm>
              <a:off x="3960" y="12216"/>
              <a:ext cx="2340" cy="624"/>
            </a:xfrm>
            <a:prstGeom prst="rect">
              <a:avLst/>
            </a:prstGeom>
            <a:grpFill/>
            <a:ln w="9525">
              <a:solidFill>
                <a:srgbClr val="000000"/>
              </a:solidFill>
              <a:miter lim="800000"/>
              <a:headEnd/>
              <a:tailEnd/>
            </a:ln>
          </p:spPr>
          <p:txBody>
            <a:bodyPr/>
            <a:lstStyle/>
            <a:p>
              <a:pPr algn="just" eaLnBrk="0" hangingPunct="0">
                <a:spcBef>
                  <a:spcPct val="0"/>
                </a:spcBef>
                <a:buClrTx/>
                <a:buSzTx/>
                <a:buFontTx/>
                <a:buNone/>
              </a:pPr>
              <a:r>
                <a:rPr lang="en-US" altLang="zh-CN" sz="900">
                  <a:solidFill>
                    <a:schemeClr val="tx1"/>
                  </a:solidFill>
                  <a:latin typeface="Times New Roman" pitchFamily="18" charset="0"/>
                </a:rPr>
                <a:t>  </a:t>
              </a:r>
              <a:r>
                <a:rPr lang="zh-CN" altLang="en-US">
                  <a:solidFill>
                    <a:schemeClr val="tx1"/>
                  </a:solidFill>
                  <a:latin typeface="Times New Roman" pitchFamily="18" charset="0"/>
                </a:rPr>
                <a:t>恢复原调色板</a:t>
              </a:r>
            </a:p>
          </p:txBody>
        </p:sp>
        <p:sp>
          <p:nvSpPr>
            <p:cNvPr id="31760" name="Rectangle 17"/>
            <p:cNvSpPr>
              <a:spLocks noChangeArrowheads="1"/>
            </p:cNvSpPr>
            <p:nvPr/>
          </p:nvSpPr>
          <p:spPr bwMode="auto">
            <a:xfrm>
              <a:off x="7920" y="12372"/>
              <a:ext cx="2160" cy="780"/>
            </a:xfrm>
            <a:prstGeom prst="rect">
              <a:avLst/>
            </a:prstGeom>
            <a:grpFill/>
            <a:ln w="9525">
              <a:solidFill>
                <a:srgbClr val="000000"/>
              </a:solidFill>
              <a:miter lim="800000"/>
              <a:headEnd/>
              <a:tailEnd/>
            </a:ln>
          </p:spPr>
          <p:txBody>
            <a:bodyPr/>
            <a:lstStyle/>
            <a:p>
              <a:pPr algn="just" eaLnBrk="0" hangingPunct="0">
                <a:spcBef>
                  <a:spcPct val="0"/>
                </a:spcBef>
                <a:buClrTx/>
                <a:buSzTx/>
                <a:buFontTx/>
                <a:buNone/>
              </a:pPr>
              <a:r>
                <a:rPr lang="zh-CN" altLang="en-US">
                  <a:solidFill>
                    <a:schemeClr val="tx1"/>
                  </a:solidFill>
                  <a:latin typeface="Times New Roman" pitchFamily="18" charset="0"/>
                </a:rPr>
                <a:t>设定参数显示位图</a:t>
              </a:r>
            </a:p>
          </p:txBody>
        </p:sp>
        <p:sp>
          <p:nvSpPr>
            <p:cNvPr id="31761" name="AutoShape 18"/>
            <p:cNvSpPr>
              <a:spLocks noChangeArrowheads="1"/>
            </p:cNvSpPr>
            <p:nvPr/>
          </p:nvSpPr>
          <p:spPr bwMode="auto">
            <a:xfrm>
              <a:off x="3316" y="7537"/>
              <a:ext cx="3420" cy="936"/>
            </a:xfrm>
            <a:prstGeom prst="flowChartDecision">
              <a:avLst/>
            </a:prstGeom>
            <a:grpFill/>
            <a:ln w="9525">
              <a:solidFill>
                <a:srgbClr val="000000"/>
              </a:solidFill>
              <a:miter lim="800000"/>
              <a:headEnd/>
              <a:tailEnd/>
            </a:ln>
          </p:spPr>
          <p:txBody>
            <a:bodyPr/>
            <a:lstStyle/>
            <a:p>
              <a:pPr algn="just" eaLnBrk="0" hangingPunct="0">
                <a:spcBef>
                  <a:spcPct val="0"/>
                </a:spcBef>
                <a:buClrTx/>
                <a:buSzTx/>
                <a:buFontTx/>
                <a:buNone/>
              </a:pPr>
              <a:r>
                <a:rPr lang="zh-CN" altLang="en-US">
                  <a:solidFill>
                    <a:schemeClr val="tx1"/>
                  </a:solidFill>
                  <a:latin typeface="Times New Roman" pitchFamily="18" charset="0"/>
                </a:rPr>
                <a:t>带有颜色表</a:t>
              </a:r>
              <a:r>
                <a:rPr lang="zh-CN" altLang="en-US" sz="800">
                  <a:solidFill>
                    <a:schemeClr val="tx1"/>
                  </a:solidFill>
                  <a:latin typeface="Times New Roman" pitchFamily="18" charset="0"/>
                </a:rPr>
                <a:t> </a:t>
              </a:r>
              <a:r>
                <a:rPr lang="zh-CN" altLang="en-US">
                  <a:solidFill>
                    <a:schemeClr val="tx1"/>
                  </a:solidFill>
                  <a:latin typeface="Times New Roman" pitchFamily="18" charset="0"/>
                </a:rPr>
                <a:t>？</a:t>
              </a:r>
            </a:p>
          </p:txBody>
        </p:sp>
        <p:sp>
          <p:nvSpPr>
            <p:cNvPr id="31762" name="Line 19"/>
            <p:cNvSpPr>
              <a:spLocks noChangeShapeType="1"/>
            </p:cNvSpPr>
            <p:nvPr/>
          </p:nvSpPr>
          <p:spPr bwMode="auto">
            <a:xfrm>
              <a:off x="5040" y="12840"/>
              <a:ext cx="2880" cy="0"/>
            </a:xfrm>
            <a:prstGeom prst="line">
              <a:avLst/>
            </a:prstGeom>
            <a:grpFill/>
            <a:ln w="9525">
              <a:solidFill>
                <a:srgbClr val="000000"/>
              </a:solidFill>
              <a:round/>
              <a:headEnd type="triangle" w="med" len="med"/>
              <a:tailEnd/>
            </a:ln>
          </p:spPr>
          <p:txBody>
            <a:bodyPr/>
            <a:lstStyle/>
            <a:p>
              <a:endParaRPr lang="zh-CN" altLang="en-US" sz="1600"/>
            </a:p>
          </p:txBody>
        </p:sp>
        <p:sp>
          <p:nvSpPr>
            <p:cNvPr id="31763" name="Line 20"/>
            <p:cNvSpPr>
              <a:spLocks noChangeShapeType="1"/>
            </p:cNvSpPr>
            <p:nvPr/>
          </p:nvSpPr>
          <p:spPr bwMode="auto">
            <a:xfrm>
              <a:off x="9000" y="8005"/>
              <a:ext cx="0" cy="4368"/>
            </a:xfrm>
            <a:prstGeom prst="line">
              <a:avLst/>
            </a:prstGeom>
            <a:grpFill/>
            <a:ln w="9525">
              <a:solidFill>
                <a:srgbClr val="000000"/>
              </a:solidFill>
              <a:round/>
              <a:headEnd/>
              <a:tailEnd type="triangle" w="med" len="med"/>
            </a:ln>
          </p:spPr>
          <p:txBody>
            <a:bodyPr/>
            <a:lstStyle/>
            <a:p>
              <a:endParaRPr lang="zh-CN" altLang="en-US" sz="1600"/>
            </a:p>
          </p:txBody>
        </p:sp>
        <p:sp>
          <p:nvSpPr>
            <p:cNvPr id="31764" name="AutoShape 21"/>
            <p:cNvSpPr>
              <a:spLocks noChangeArrowheads="1"/>
            </p:cNvSpPr>
            <p:nvPr/>
          </p:nvSpPr>
          <p:spPr bwMode="auto">
            <a:xfrm>
              <a:off x="4410" y="13187"/>
              <a:ext cx="1260" cy="652"/>
            </a:xfrm>
            <a:prstGeom prst="flowChartTerminator">
              <a:avLst/>
            </a:prstGeom>
            <a:grpFill/>
            <a:ln w="9525">
              <a:solidFill>
                <a:srgbClr val="000000"/>
              </a:solidFill>
              <a:miter lim="800000"/>
              <a:headEnd/>
              <a:tailEnd/>
            </a:ln>
          </p:spPr>
          <p:txBody>
            <a:bodyPr/>
            <a:lstStyle/>
            <a:p>
              <a:pPr algn="ctr" eaLnBrk="0" hangingPunct="0">
                <a:spcBef>
                  <a:spcPct val="0"/>
                </a:spcBef>
                <a:buClrTx/>
                <a:buSzTx/>
                <a:buFontTx/>
                <a:buNone/>
              </a:pPr>
              <a:r>
                <a:rPr lang="en-US" altLang="zh-CN" sz="900" dirty="0">
                  <a:solidFill>
                    <a:schemeClr val="tx1"/>
                  </a:solidFill>
                  <a:latin typeface="Times New Roman" pitchFamily="18" charset="0"/>
                </a:rPr>
                <a:t>  </a:t>
              </a:r>
              <a:r>
                <a:rPr lang="zh-CN" altLang="en-US" dirty="0">
                  <a:solidFill>
                    <a:schemeClr val="tx1"/>
                  </a:solidFill>
                  <a:latin typeface="Times New Roman" pitchFamily="18" charset="0"/>
                </a:rPr>
                <a:t>结束</a:t>
              </a:r>
            </a:p>
          </p:txBody>
        </p:sp>
        <p:sp>
          <p:nvSpPr>
            <p:cNvPr id="31765" name="AutoShape 22"/>
            <p:cNvSpPr>
              <a:spLocks noChangeArrowheads="1"/>
            </p:cNvSpPr>
            <p:nvPr/>
          </p:nvSpPr>
          <p:spPr bwMode="auto">
            <a:xfrm>
              <a:off x="4310" y="5156"/>
              <a:ext cx="1440" cy="652"/>
            </a:xfrm>
            <a:prstGeom prst="flowChartPreparation">
              <a:avLst/>
            </a:prstGeom>
            <a:grpFill/>
            <a:ln w="9525">
              <a:solidFill>
                <a:srgbClr val="000000"/>
              </a:solidFill>
              <a:miter lim="800000"/>
              <a:headEnd/>
              <a:tailEnd/>
            </a:ln>
          </p:spPr>
          <p:txBody>
            <a:bodyPr/>
            <a:lstStyle/>
            <a:p>
              <a:pPr algn="ctr" eaLnBrk="0" hangingPunct="0">
                <a:spcBef>
                  <a:spcPct val="0"/>
                </a:spcBef>
                <a:buClrTx/>
                <a:buSzTx/>
                <a:buFontTx/>
                <a:buNone/>
              </a:pPr>
              <a:r>
                <a:rPr lang="en-US" altLang="zh-CN" sz="900">
                  <a:solidFill>
                    <a:schemeClr val="tx1"/>
                  </a:solidFill>
                  <a:latin typeface="Times New Roman" pitchFamily="18" charset="0"/>
                </a:rPr>
                <a:t> </a:t>
              </a:r>
              <a:r>
                <a:rPr lang="zh-CN" altLang="en-US">
                  <a:solidFill>
                    <a:schemeClr val="tx1"/>
                  </a:solidFill>
                  <a:latin typeface="Times New Roman" pitchFamily="18" charset="0"/>
                </a:rPr>
                <a:t>开始</a:t>
              </a:r>
            </a:p>
          </p:txBody>
        </p:sp>
        <p:sp>
          <p:nvSpPr>
            <p:cNvPr id="31766" name="Line 23"/>
            <p:cNvSpPr>
              <a:spLocks noChangeShapeType="1"/>
            </p:cNvSpPr>
            <p:nvPr/>
          </p:nvSpPr>
          <p:spPr bwMode="auto">
            <a:xfrm>
              <a:off x="5040" y="5808"/>
              <a:ext cx="0" cy="624"/>
            </a:xfrm>
            <a:prstGeom prst="line">
              <a:avLst/>
            </a:prstGeom>
            <a:grpFill/>
            <a:ln w="9525">
              <a:solidFill>
                <a:srgbClr val="000000"/>
              </a:solidFill>
              <a:round/>
              <a:headEnd/>
              <a:tailEnd type="triangle" w="med" len="med"/>
            </a:ln>
          </p:spPr>
          <p:txBody>
            <a:bodyPr/>
            <a:lstStyle/>
            <a:p>
              <a:endParaRPr lang="zh-CN" altLang="en-US" sz="1600"/>
            </a:p>
          </p:txBody>
        </p:sp>
      </p:grpSp>
      <p:sp>
        <p:nvSpPr>
          <p:cNvPr id="3" name="灯片编号占位符 2"/>
          <p:cNvSpPr>
            <a:spLocks noGrp="1"/>
          </p:cNvSpPr>
          <p:nvPr>
            <p:ph type="sldNum" sz="quarter" idx="12"/>
          </p:nvPr>
        </p:nvSpPr>
        <p:spPr/>
        <p:txBody>
          <a:bodyPr/>
          <a:lstStyle/>
          <a:p>
            <a:fld id="{F64BA984-46A0-4F46-990E-EC790E6934B4}" type="slidenum">
              <a:rPr lang="zh-CN" altLang="en-US" smtClean="0"/>
              <a:t>44</a:t>
            </a:fld>
            <a:endParaRPr lang="zh-CN" altLang="en-US"/>
          </a:p>
        </p:txBody>
      </p:sp>
      <p:sp>
        <p:nvSpPr>
          <p:cNvPr id="25"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23963665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7544" y="1281547"/>
            <a:ext cx="8229600" cy="703263"/>
          </a:xfrm>
        </p:spPr>
        <p:txBody>
          <a:bodyPr>
            <a:normAutofit fontScale="90000"/>
          </a:bodyPr>
          <a:lstStyle/>
          <a:p>
            <a:r>
              <a:rPr lang="zh-CN" altLang="en-US" dirty="0"/>
              <a:t>实践环节</a:t>
            </a:r>
          </a:p>
        </p:txBody>
      </p:sp>
      <p:pic>
        <p:nvPicPr>
          <p:cNvPr id="117762" name="Picture 2" descr="http://i.stack.imgur.com/dEO3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120178"/>
            <a:ext cx="5568551" cy="405153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img2.fengniao.com/product/13/790/ceNr6cB6Cco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5776" y="2703280"/>
            <a:ext cx="3267000" cy="2402536"/>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F64BA984-46A0-4F46-990E-EC790E6934B4}" type="slidenum">
              <a:rPr lang="zh-CN" altLang="en-US" smtClean="0"/>
              <a:t>45</a:t>
            </a:fld>
            <a:endParaRPr lang="zh-CN" altLang="en-US"/>
          </a:p>
        </p:txBody>
      </p:sp>
      <p:sp>
        <p:nvSpPr>
          <p:cNvPr id="7"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a:t>
            </a:r>
            <a:r>
              <a:rPr lang="en-US" altLang="zh-CN" dirty="0"/>
              <a:t>Bitmap</a:t>
            </a:r>
            <a:endParaRPr lang="zh-CN" altLang="en-US" dirty="0"/>
          </a:p>
        </p:txBody>
      </p:sp>
    </p:spTree>
    <p:extLst>
      <p:ext uri="{BB962C8B-B14F-4D97-AF65-F5344CB8AC3E}">
        <p14:creationId xmlns:p14="http://schemas.microsoft.com/office/powerpoint/2010/main" val="9721731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2" name="Rectangle 3"/>
          <p:cNvSpPr>
            <a:spLocks noGrp="1" noChangeArrowheads="1"/>
          </p:cNvSpPr>
          <p:nvPr>
            <p:ph idx="1"/>
          </p:nvPr>
        </p:nvSpPr>
        <p:spPr>
          <a:xfrm>
            <a:off x="0" y="1178247"/>
            <a:ext cx="8507267" cy="5112568"/>
          </a:xfrm>
        </p:spPr>
        <p:txBody>
          <a:bodyPr>
            <a:noAutofit/>
          </a:bodyPr>
          <a:lstStyle/>
          <a:p>
            <a:pPr lvl="1" eaLnBrk="1" hangingPunct="1"/>
            <a:r>
              <a:rPr lang="en-US" altLang="zh-CN" dirty="0" err="1">
                <a:solidFill>
                  <a:srgbClr val="0000FF"/>
                </a:solidFill>
              </a:rPr>
              <a:t>JPEG：Joint</a:t>
            </a:r>
            <a:r>
              <a:rPr lang="en-US" altLang="zh-CN" dirty="0">
                <a:solidFill>
                  <a:srgbClr val="0000FF"/>
                </a:solidFill>
              </a:rPr>
              <a:t> Photographic Experts Group</a:t>
            </a:r>
            <a:r>
              <a:rPr lang="zh-CN" altLang="en-US" dirty="0">
                <a:solidFill>
                  <a:srgbClr val="0000FF"/>
                </a:solidFill>
              </a:rPr>
              <a:t>的缩写 </a:t>
            </a:r>
          </a:p>
          <a:p>
            <a:pPr marL="800100" lvl="1" indent="-342900" eaLnBrk="1" hangingPunct="1">
              <a:buFont typeface="Arial" pitchFamily="34" charset="0"/>
              <a:buChar char="•"/>
            </a:pPr>
            <a:r>
              <a:rPr lang="en-US" altLang="zh-CN" dirty="0"/>
              <a:t>JPEG</a:t>
            </a:r>
            <a:r>
              <a:rPr lang="zh-CN" altLang="en-US" dirty="0"/>
              <a:t>委员会在制定</a:t>
            </a:r>
            <a:r>
              <a:rPr lang="en-US" altLang="zh-CN" dirty="0"/>
              <a:t>JPEG</a:t>
            </a:r>
            <a:r>
              <a:rPr lang="zh-CN" altLang="en-US" dirty="0"/>
              <a:t>标准时定义了许多标记，用来区分和识别图像数据及其相关信息</a:t>
            </a:r>
          </a:p>
          <a:p>
            <a:pPr marL="800100" lvl="1" indent="-342900" eaLnBrk="1" hangingPunct="1">
              <a:buFont typeface="Arial" pitchFamily="34" charset="0"/>
              <a:buChar char="•"/>
            </a:pPr>
            <a:r>
              <a:rPr lang="zh-CN" altLang="en-US" dirty="0"/>
              <a:t>广泛使用的</a:t>
            </a:r>
            <a:r>
              <a:rPr lang="en-US" altLang="zh-CN" dirty="0"/>
              <a:t>JPEG</a:t>
            </a:r>
            <a:r>
              <a:rPr lang="zh-CN" altLang="en-US" dirty="0"/>
              <a:t>文件格式是</a:t>
            </a:r>
            <a:r>
              <a:rPr lang="en-US" altLang="zh-CN" dirty="0"/>
              <a:t>JPEG</a:t>
            </a:r>
            <a:r>
              <a:rPr lang="zh-CN" altLang="en-US" dirty="0"/>
              <a:t>文件交换格式</a:t>
            </a:r>
            <a:r>
              <a:rPr lang="en-US" altLang="zh-CN" dirty="0"/>
              <a:t>(JPEG File Interchange Format</a:t>
            </a:r>
            <a:r>
              <a:rPr lang="zh-CN" altLang="en-US" dirty="0"/>
              <a:t>，</a:t>
            </a:r>
            <a:r>
              <a:rPr lang="en-US" altLang="zh-CN" dirty="0"/>
              <a:t>JFIF)</a:t>
            </a:r>
            <a:r>
              <a:rPr lang="zh-CN" altLang="en-US" dirty="0"/>
              <a:t>，版本号为</a:t>
            </a:r>
            <a:r>
              <a:rPr lang="en-US" altLang="zh-CN" dirty="0"/>
              <a:t>1.02</a:t>
            </a:r>
            <a:r>
              <a:rPr lang="zh-CN" altLang="en-US" dirty="0"/>
              <a:t>，这是</a:t>
            </a:r>
            <a:r>
              <a:rPr lang="en-US" altLang="zh-CN" dirty="0"/>
              <a:t>1992</a:t>
            </a:r>
            <a:r>
              <a:rPr lang="zh-CN" altLang="en-US" dirty="0"/>
              <a:t>年</a:t>
            </a:r>
            <a:r>
              <a:rPr lang="en-US" altLang="zh-CN" dirty="0"/>
              <a:t>9</a:t>
            </a:r>
            <a:r>
              <a:rPr lang="zh-CN" altLang="en-US" dirty="0"/>
              <a:t>月由在</a:t>
            </a:r>
            <a:r>
              <a:rPr lang="en-US" altLang="zh-CN" dirty="0"/>
              <a:t>C-Cube Microsystems</a:t>
            </a:r>
            <a:r>
              <a:rPr lang="zh-CN" altLang="en-US" dirty="0"/>
              <a:t>公司工作的</a:t>
            </a:r>
            <a:r>
              <a:rPr lang="en-US" altLang="zh-CN" dirty="0"/>
              <a:t>Eric Hamilton</a:t>
            </a:r>
            <a:r>
              <a:rPr lang="zh-CN" altLang="en-US" dirty="0"/>
              <a:t>提出的</a:t>
            </a:r>
          </a:p>
          <a:p>
            <a:pPr marL="800100" lvl="1" indent="-342900" eaLnBrk="1" hangingPunct="1">
              <a:buFont typeface="Arial" pitchFamily="34" charset="0"/>
              <a:buChar char="•"/>
            </a:pPr>
            <a:r>
              <a:rPr lang="zh-CN" altLang="en-US" dirty="0"/>
              <a:t>由于</a:t>
            </a:r>
            <a:r>
              <a:rPr lang="en-US" altLang="zh-CN" dirty="0"/>
              <a:t>JFIF</a:t>
            </a:r>
            <a:r>
              <a:rPr lang="zh-CN" altLang="en-US" dirty="0"/>
              <a:t>文件格式直接使用</a:t>
            </a:r>
            <a:r>
              <a:rPr lang="en-US" altLang="zh-CN" dirty="0"/>
              <a:t>JPEG</a:t>
            </a:r>
            <a:r>
              <a:rPr lang="zh-CN" altLang="en-US" dirty="0"/>
              <a:t>标准为应用程序定义的许多标记，因此</a:t>
            </a:r>
            <a:r>
              <a:rPr lang="en-US" altLang="zh-CN" dirty="0"/>
              <a:t>JFIF</a:t>
            </a:r>
            <a:r>
              <a:rPr lang="zh-CN" altLang="en-US" dirty="0"/>
              <a:t>格式就成了事实上的</a:t>
            </a:r>
            <a:r>
              <a:rPr lang="en-US" altLang="zh-CN" dirty="0"/>
              <a:t>JPEG</a:t>
            </a:r>
            <a:r>
              <a:rPr lang="zh-CN" altLang="en-US" dirty="0"/>
              <a:t>文件交换格式标准 </a:t>
            </a:r>
          </a:p>
        </p:txBody>
      </p:sp>
      <p:sp>
        <p:nvSpPr>
          <p:cNvPr id="86021" name="Rectangle 2"/>
          <p:cNvSpPr>
            <a:spLocks noGrp="1" noChangeArrowheads="1"/>
          </p:cNvSpPr>
          <p:nvPr>
            <p:ph type="title"/>
          </p:nvPr>
        </p:nvSpPr>
        <p:spPr/>
        <p:txBody>
          <a:bodyPr>
            <a:normAutofit fontScale="90000"/>
          </a:bodyPr>
          <a:lstStyle/>
          <a:p>
            <a:pPr eaLnBrk="1" hangingPunct="1"/>
            <a:r>
              <a:rPr lang="en-US" altLang="zh-CN" dirty="0"/>
              <a:t>2.4 </a:t>
            </a:r>
            <a:r>
              <a:rPr lang="zh-CN" altLang="en-US" dirty="0"/>
              <a:t>图像 其他图像文件格式</a:t>
            </a:r>
            <a:endParaRPr lang="en-US" altLang="zh-CN" dirty="0"/>
          </a:p>
        </p:txBody>
      </p:sp>
      <p:sp>
        <p:nvSpPr>
          <p:cNvPr id="3" name="灯片编号占位符 2"/>
          <p:cNvSpPr>
            <a:spLocks noGrp="1"/>
          </p:cNvSpPr>
          <p:nvPr>
            <p:ph type="sldNum" sz="quarter" idx="12"/>
          </p:nvPr>
        </p:nvSpPr>
        <p:spPr/>
        <p:txBody>
          <a:bodyPr/>
          <a:lstStyle/>
          <a:p>
            <a:fld id="{F64BA984-46A0-4F46-990E-EC790E6934B4}" type="slidenum">
              <a:rPr lang="zh-CN" altLang="en-US" smtClean="0"/>
              <a:t>46</a:t>
            </a:fld>
            <a:endParaRPr lang="zh-CN" altLang="en-US"/>
          </a:p>
        </p:txBody>
      </p:sp>
    </p:spTree>
    <p:extLst>
      <p:ext uri="{BB962C8B-B14F-4D97-AF65-F5344CB8AC3E}">
        <p14:creationId xmlns:p14="http://schemas.microsoft.com/office/powerpoint/2010/main" val="19491861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8" name="Rectangle 3"/>
          <p:cNvSpPr>
            <a:spLocks noGrp="1" noChangeArrowheads="1"/>
          </p:cNvSpPr>
          <p:nvPr>
            <p:ph idx="1"/>
          </p:nvPr>
        </p:nvSpPr>
        <p:spPr>
          <a:xfrm>
            <a:off x="255015" y="1196752"/>
            <a:ext cx="8229600" cy="4968552"/>
          </a:xfrm>
        </p:spPr>
        <p:txBody>
          <a:bodyPr>
            <a:normAutofit/>
          </a:bodyPr>
          <a:lstStyle/>
          <a:p>
            <a:pPr eaLnBrk="1" hangingPunct="1"/>
            <a:r>
              <a:rPr lang="en-US" altLang="zh-CN" sz="2800" dirty="0"/>
              <a:t>GIF</a:t>
            </a:r>
            <a:r>
              <a:rPr lang="zh-CN" altLang="en-US" sz="2800" dirty="0"/>
              <a:t>格式</a:t>
            </a:r>
            <a:r>
              <a:rPr lang="en-US" altLang="zh-CN" sz="2800" dirty="0"/>
              <a:t>——</a:t>
            </a:r>
            <a:r>
              <a:rPr lang="zh-CN" altLang="en-US" sz="2800" dirty="0"/>
              <a:t>图形文件交换格式</a:t>
            </a:r>
          </a:p>
          <a:p>
            <a:pPr lvl="1" eaLnBrk="1" hangingPunct="1"/>
            <a:r>
              <a:rPr lang="en-US" altLang="zh-CN" sz="2400" dirty="0"/>
              <a:t>Graphics Interchange Format</a:t>
            </a:r>
            <a:r>
              <a:rPr lang="zh-CN" altLang="en-US" sz="2400" dirty="0"/>
              <a:t>的缩写</a:t>
            </a:r>
          </a:p>
          <a:p>
            <a:pPr lvl="1" eaLnBrk="1" hangingPunct="1"/>
            <a:r>
              <a:rPr lang="en-US" altLang="zh-CN" sz="2400" dirty="0"/>
              <a:t>CompuServe</a:t>
            </a:r>
            <a:r>
              <a:rPr lang="zh-CN" altLang="en-US" sz="2400" dirty="0"/>
              <a:t>公司开发的图像文件存储格式</a:t>
            </a:r>
          </a:p>
          <a:p>
            <a:pPr lvl="1" eaLnBrk="1" hangingPunct="1"/>
            <a:r>
              <a:rPr lang="zh-CN" altLang="en-US" sz="2400" dirty="0"/>
              <a:t>图像的相关信息以数据块</a:t>
            </a:r>
            <a:r>
              <a:rPr lang="en-US" altLang="zh-CN" sz="2400" dirty="0"/>
              <a:t>(block)</a:t>
            </a:r>
            <a:r>
              <a:rPr lang="zh-CN" altLang="en-US" sz="2400" dirty="0"/>
              <a:t>为单位</a:t>
            </a:r>
          </a:p>
          <a:p>
            <a:pPr lvl="2" eaLnBrk="1" hangingPunct="1"/>
            <a:r>
              <a:rPr lang="zh-CN" altLang="en-US" sz="2000" dirty="0"/>
              <a:t>一个</a:t>
            </a:r>
            <a:r>
              <a:rPr lang="en-US" altLang="zh-CN" sz="2000" dirty="0"/>
              <a:t>GIF</a:t>
            </a:r>
            <a:r>
              <a:rPr lang="zh-CN" altLang="en-US" sz="2000" dirty="0"/>
              <a:t>文件由表示图形</a:t>
            </a:r>
            <a:r>
              <a:rPr lang="en-US" altLang="zh-CN" sz="2000" dirty="0"/>
              <a:t>/</a:t>
            </a:r>
            <a:r>
              <a:rPr lang="zh-CN" altLang="en-US" sz="2000" dirty="0"/>
              <a:t>图像的</a:t>
            </a:r>
            <a:r>
              <a:rPr lang="zh-CN" altLang="en-US" sz="2000" b="1" dirty="0"/>
              <a:t>数据块</a:t>
            </a:r>
            <a:r>
              <a:rPr lang="zh-CN" altLang="en-US" sz="2000" dirty="0"/>
              <a:t>、</a:t>
            </a:r>
            <a:r>
              <a:rPr lang="zh-CN" altLang="en-US" sz="2000" b="1" dirty="0"/>
              <a:t>数据子块</a:t>
            </a:r>
            <a:r>
              <a:rPr lang="zh-CN" altLang="en-US" sz="2000" dirty="0"/>
              <a:t>以及显示图形</a:t>
            </a:r>
            <a:r>
              <a:rPr lang="en-US" altLang="zh-CN" sz="2000" dirty="0"/>
              <a:t>/</a:t>
            </a:r>
            <a:r>
              <a:rPr lang="zh-CN" altLang="en-US" sz="2000" dirty="0"/>
              <a:t>图像的</a:t>
            </a:r>
            <a:r>
              <a:rPr lang="zh-CN" altLang="en-US" sz="2000" b="1" dirty="0"/>
              <a:t>控制信息块</a:t>
            </a:r>
            <a:r>
              <a:rPr lang="zh-CN" altLang="en-US" sz="2000" dirty="0"/>
              <a:t>组成 </a:t>
            </a:r>
          </a:p>
          <a:p>
            <a:pPr lvl="1" eaLnBrk="1" hangingPunct="1"/>
            <a:r>
              <a:rPr lang="zh-CN" altLang="en-US" sz="2400" dirty="0"/>
              <a:t>在一个文件中可存放多幅彩色图形</a:t>
            </a:r>
            <a:r>
              <a:rPr lang="en-US" altLang="zh-CN" sz="2400" dirty="0"/>
              <a:t>/</a:t>
            </a:r>
            <a:r>
              <a:rPr lang="zh-CN" altLang="en-US" sz="2400" dirty="0"/>
              <a:t>图像，并可像幻灯片那样显示或像动画那样演示</a:t>
            </a:r>
          </a:p>
          <a:p>
            <a:pPr lvl="1" eaLnBrk="1" hangingPunct="1"/>
            <a:r>
              <a:rPr lang="zh-CN" altLang="en-US" sz="2400" dirty="0"/>
              <a:t>采用</a:t>
            </a:r>
            <a:r>
              <a:rPr lang="en-US" altLang="zh-CN" sz="2400" dirty="0"/>
              <a:t>LZW</a:t>
            </a:r>
            <a:r>
              <a:rPr lang="zh-CN" altLang="en-US" sz="2400" dirty="0"/>
              <a:t>压缩算法来压缩图像数据</a:t>
            </a:r>
          </a:p>
          <a:p>
            <a:pPr lvl="1" eaLnBrk="1" hangingPunct="1"/>
            <a:r>
              <a:rPr lang="zh-CN" altLang="en-US" sz="2400" dirty="0"/>
              <a:t>用户可为图像设置透明</a:t>
            </a:r>
            <a:r>
              <a:rPr lang="en-US" altLang="zh-CN" sz="2400" dirty="0"/>
              <a:t>(transparency)</a:t>
            </a:r>
            <a:r>
              <a:rPr lang="zh-CN" altLang="en-US" sz="2400" dirty="0"/>
              <a:t>的背景</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47</a:t>
            </a:fld>
            <a:endParaRPr lang="zh-CN" altLang="en-US"/>
          </a:p>
        </p:txBody>
      </p:sp>
      <p:sp>
        <p:nvSpPr>
          <p:cNvPr id="7" name="Rectangle 2"/>
          <p:cNvSpPr>
            <a:spLocks noGrp="1" noChangeArrowheads="1"/>
          </p:cNvSpPr>
          <p:nvPr>
            <p:ph type="title"/>
          </p:nvPr>
        </p:nvSpPr>
        <p:spPr>
          <a:xfrm>
            <a:off x="250824" y="204785"/>
            <a:ext cx="8229600" cy="703263"/>
          </a:xfrm>
        </p:spPr>
        <p:txBody>
          <a:bodyPr>
            <a:normAutofit fontScale="90000"/>
          </a:bodyPr>
          <a:lstStyle/>
          <a:p>
            <a:pPr eaLnBrk="1" hangingPunct="1"/>
            <a:r>
              <a:rPr lang="en-US" altLang="zh-CN" dirty="0"/>
              <a:t>2.4 </a:t>
            </a:r>
            <a:r>
              <a:rPr lang="zh-CN" altLang="en-US" dirty="0"/>
              <a:t>图像 其他图像文件格式</a:t>
            </a:r>
            <a:endParaRPr lang="en-US" altLang="zh-CN" dirty="0"/>
          </a:p>
        </p:txBody>
      </p:sp>
    </p:spTree>
    <p:extLst>
      <p:ext uri="{BB962C8B-B14F-4D97-AF65-F5344CB8AC3E}">
        <p14:creationId xmlns:p14="http://schemas.microsoft.com/office/powerpoint/2010/main" val="11681545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6" name="Rectangle 3"/>
          <p:cNvSpPr>
            <a:spLocks noGrp="1" noChangeArrowheads="1"/>
          </p:cNvSpPr>
          <p:nvPr>
            <p:ph idx="1"/>
          </p:nvPr>
        </p:nvSpPr>
        <p:spPr>
          <a:xfrm>
            <a:off x="255014" y="1196752"/>
            <a:ext cx="8349433" cy="4968552"/>
          </a:xfrm>
        </p:spPr>
        <p:txBody>
          <a:bodyPr>
            <a:normAutofit/>
          </a:bodyPr>
          <a:lstStyle/>
          <a:p>
            <a:pPr eaLnBrk="1" hangingPunct="1"/>
            <a:r>
              <a:rPr lang="en-US" altLang="zh-CN" sz="2800" dirty="0"/>
              <a:t>PNG</a:t>
            </a:r>
            <a:r>
              <a:rPr lang="zh-CN" altLang="en-US" sz="2800" dirty="0"/>
              <a:t>格式</a:t>
            </a:r>
            <a:r>
              <a:rPr lang="en-US" altLang="zh-CN" sz="2800" dirty="0"/>
              <a:t>——</a:t>
            </a:r>
            <a:r>
              <a:rPr lang="zh-CN" altLang="en-US" sz="2800" dirty="0"/>
              <a:t>便携网络图形格式</a:t>
            </a:r>
          </a:p>
          <a:p>
            <a:pPr lvl="1" eaLnBrk="1" hangingPunct="1">
              <a:lnSpc>
                <a:spcPct val="110000"/>
              </a:lnSpc>
            </a:pPr>
            <a:r>
              <a:rPr lang="en-US" altLang="zh-CN" sz="2400" dirty="0"/>
              <a:t>Portable Network Graphic Format</a:t>
            </a:r>
            <a:r>
              <a:rPr lang="zh-CN" altLang="en-US" sz="2400" dirty="0"/>
              <a:t>的简称</a:t>
            </a:r>
          </a:p>
          <a:p>
            <a:pPr lvl="1" eaLnBrk="1" hangingPunct="1">
              <a:lnSpc>
                <a:spcPct val="110000"/>
              </a:lnSpc>
            </a:pPr>
            <a:r>
              <a:rPr lang="en-US" altLang="zh-CN" sz="2400" dirty="0"/>
              <a:t>20</a:t>
            </a:r>
            <a:r>
              <a:rPr lang="zh-CN" altLang="en-US" sz="2400" dirty="0"/>
              <a:t>世纪</a:t>
            </a:r>
            <a:r>
              <a:rPr lang="en-US" altLang="zh-CN" sz="2400" dirty="0"/>
              <a:t>90</a:t>
            </a:r>
            <a:r>
              <a:rPr lang="zh-CN" altLang="en-US" sz="2400" dirty="0"/>
              <a:t>年代中期开始开发的图像文件存储格式，其目的是企图替代</a:t>
            </a:r>
            <a:r>
              <a:rPr lang="en-US" altLang="zh-CN" sz="2400" dirty="0"/>
              <a:t>GIF</a:t>
            </a:r>
            <a:r>
              <a:rPr lang="zh-CN" altLang="en-US" sz="2400" dirty="0"/>
              <a:t>和</a:t>
            </a:r>
            <a:r>
              <a:rPr lang="en-US" altLang="zh-CN" sz="2400" dirty="0"/>
              <a:t>TIFF</a:t>
            </a:r>
            <a:r>
              <a:rPr lang="zh-CN" altLang="en-US" sz="2400" dirty="0"/>
              <a:t>文件格式，同时增加一些</a:t>
            </a:r>
            <a:r>
              <a:rPr lang="en-US" altLang="zh-CN" sz="2400" dirty="0"/>
              <a:t>GIF</a:t>
            </a:r>
            <a:r>
              <a:rPr lang="zh-CN" altLang="en-US" sz="2400" dirty="0"/>
              <a:t>文件格式所不具备的特性</a:t>
            </a:r>
          </a:p>
          <a:p>
            <a:pPr lvl="1" eaLnBrk="1" hangingPunct="1">
              <a:lnSpc>
                <a:spcPct val="110000"/>
              </a:lnSpc>
            </a:pPr>
            <a:r>
              <a:rPr lang="zh-CN" altLang="en-US" sz="2400" dirty="0"/>
              <a:t>名称来源于非官方的“</a:t>
            </a:r>
            <a:r>
              <a:rPr lang="en-US" altLang="zh-CN" sz="2400" dirty="0"/>
              <a:t>PNG‘s Not GIF”</a:t>
            </a:r>
            <a:r>
              <a:rPr lang="zh-CN" altLang="en-US" sz="2400" dirty="0"/>
              <a:t>，是一种位图文件</a:t>
            </a:r>
            <a:r>
              <a:rPr lang="en-US" altLang="zh-CN" sz="2400" dirty="0"/>
              <a:t>(bitmap file)</a:t>
            </a:r>
            <a:r>
              <a:rPr lang="zh-CN" altLang="en-US" sz="2400" dirty="0"/>
              <a:t>存储格式</a:t>
            </a:r>
          </a:p>
          <a:p>
            <a:pPr lvl="1" eaLnBrk="1" hangingPunct="1">
              <a:lnSpc>
                <a:spcPct val="110000"/>
              </a:lnSpc>
            </a:pPr>
            <a:r>
              <a:rPr lang="zh-CN" altLang="en-US" sz="2400" dirty="0"/>
              <a:t>用来存储灰度图像时，灰度图像的深度可多达</a:t>
            </a:r>
            <a:r>
              <a:rPr lang="en-US" altLang="zh-CN" sz="2400" dirty="0"/>
              <a:t>16</a:t>
            </a:r>
            <a:r>
              <a:rPr lang="zh-CN" altLang="en-US" sz="2400" dirty="0"/>
              <a:t>位，存储彩色图像时，彩色图像的深度可多达</a:t>
            </a:r>
            <a:r>
              <a:rPr lang="en-US" altLang="zh-CN" sz="2400" dirty="0"/>
              <a:t>48</a:t>
            </a:r>
            <a:r>
              <a:rPr lang="zh-CN" altLang="en-US" sz="2400" dirty="0"/>
              <a:t>位，并且还可存储多达</a:t>
            </a:r>
            <a:r>
              <a:rPr lang="en-US" altLang="zh-CN" sz="2400" dirty="0"/>
              <a:t>16</a:t>
            </a:r>
            <a:r>
              <a:rPr lang="zh-CN" altLang="en-US" sz="2400" dirty="0"/>
              <a:t>位的</a:t>
            </a:r>
            <a:r>
              <a:rPr lang="en-US" altLang="zh-CN" sz="2400" dirty="0"/>
              <a:t>α</a:t>
            </a:r>
            <a:r>
              <a:rPr lang="zh-CN" altLang="en-US" sz="2400" dirty="0"/>
              <a:t>通道数据</a:t>
            </a:r>
          </a:p>
          <a:p>
            <a:pPr lvl="1" eaLnBrk="1" hangingPunct="1">
              <a:lnSpc>
                <a:spcPct val="110000"/>
              </a:lnSpc>
            </a:pPr>
            <a:r>
              <a:rPr lang="en-US" altLang="zh-CN" sz="2400" dirty="0"/>
              <a:t>PNG</a:t>
            </a:r>
            <a:r>
              <a:rPr lang="zh-CN" altLang="en-US" sz="2400" dirty="0"/>
              <a:t>使用从</a:t>
            </a:r>
            <a:r>
              <a:rPr lang="en-US" altLang="zh-CN" sz="2400" dirty="0"/>
              <a:t>LZ77</a:t>
            </a:r>
            <a:r>
              <a:rPr lang="zh-CN" altLang="en-US" sz="2400" dirty="0"/>
              <a:t>派生的数据无损压缩算法 </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48</a:t>
            </a:fld>
            <a:endParaRPr lang="zh-CN" altLang="en-US"/>
          </a:p>
        </p:txBody>
      </p:sp>
      <p:sp>
        <p:nvSpPr>
          <p:cNvPr id="7" name="Rectangle 2"/>
          <p:cNvSpPr txBox="1">
            <a:spLocks noChangeArrowheads="1"/>
          </p:cNvSpPr>
          <p:nvPr/>
        </p:nvSpPr>
        <p:spPr>
          <a:xfrm>
            <a:off x="255015" y="188640"/>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2.4 </a:t>
            </a:r>
            <a:r>
              <a:rPr lang="zh-CN" altLang="en-US" dirty="0"/>
              <a:t>图像 其他图像文件格式</a:t>
            </a:r>
            <a:endParaRPr lang="en-US" altLang="zh-CN" dirty="0"/>
          </a:p>
        </p:txBody>
      </p:sp>
    </p:spTree>
    <p:extLst>
      <p:ext uri="{BB962C8B-B14F-4D97-AF65-F5344CB8AC3E}">
        <p14:creationId xmlns:p14="http://schemas.microsoft.com/office/powerpoint/2010/main" val="17617653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idx="1"/>
          </p:nvPr>
        </p:nvSpPr>
        <p:spPr>
          <a:xfrm>
            <a:off x="255015" y="1196752"/>
            <a:ext cx="8229600" cy="2807717"/>
          </a:xfrm>
        </p:spPr>
        <p:txBody>
          <a:bodyPr/>
          <a:lstStyle/>
          <a:p>
            <a:r>
              <a:rPr lang="en-US" altLang="zh-CN" dirty="0">
                <a:latin typeface="+mn-ea"/>
              </a:rPr>
              <a:t>AVI</a:t>
            </a:r>
            <a:r>
              <a:rPr lang="zh-CN" altLang="en-US" dirty="0">
                <a:latin typeface="+mn-ea"/>
              </a:rPr>
              <a:t>文件</a:t>
            </a:r>
            <a:r>
              <a:rPr kumimoji="0" lang="zh-CN" altLang="en-US" dirty="0">
                <a:latin typeface="+mn-ea"/>
              </a:rPr>
              <a:t>（</a:t>
            </a:r>
            <a:r>
              <a:rPr kumimoji="0" lang="en-US" altLang="zh-CN" dirty="0">
                <a:latin typeface="+mn-ea"/>
              </a:rPr>
              <a:t>Audio Video Interleaved </a:t>
            </a:r>
            <a:r>
              <a:rPr kumimoji="0" lang="zh-CN" altLang="en-US" dirty="0">
                <a:latin typeface="+mn-ea"/>
              </a:rPr>
              <a:t>）</a:t>
            </a:r>
          </a:p>
          <a:p>
            <a:pPr>
              <a:buFont typeface="Wingdings" pitchFamily="2" charset="2"/>
              <a:buNone/>
            </a:pPr>
            <a:r>
              <a:rPr kumimoji="0" lang="zh-CN" altLang="en-US" dirty="0">
                <a:latin typeface="+mn-ea"/>
              </a:rPr>
              <a:t>    一种不需要专门硬件参与就可以实现大量视频压缩的数字视频压缩格式，是文件中音频和视频数据的混合，音频数据和视频数据交错存放在同一个文件中。 </a:t>
            </a:r>
          </a:p>
        </p:txBody>
      </p:sp>
      <p:sp>
        <p:nvSpPr>
          <p:cNvPr id="143362" name="Rectangle 2"/>
          <p:cNvSpPr>
            <a:spLocks noGrp="1" noChangeArrowheads="1"/>
          </p:cNvSpPr>
          <p:nvPr>
            <p:ph type="title"/>
          </p:nvPr>
        </p:nvSpPr>
        <p:spPr/>
        <p:txBody>
          <a:bodyPr>
            <a:noAutofit/>
          </a:bodyPr>
          <a:lstStyle/>
          <a:p>
            <a:r>
              <a:rPr lang="en-US" altLang="zh-CN" sz="4300" dirty="0"/>
              <a:t>2.5 </a:t>
            </a:r>
            <a:r>
              <a:rPr lang="zh-CN" altLang="en-US" sz="4300" dirty="0"/>
              <a:t>视频 文件格式</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49</a:t>
            </a:fld>
            <a:endParaRPr lang="zh-CN" altLang="en-US"/>
          </a:p>
        </p:txBody>
      </p:sp>
      <p:pic>
        <p:nvPicPr>
          <p:cNvPr id="307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17106"/>
          <a:stretch/>
        </p:blipFill>
        <p:spPr bwMode="auto">
          <a:xfrm>
            <a:off x="611559" y="4221088"/>
            <a:ext cx="7704137" cy="2010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3407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idx="1"/>
          </p:nvPr>
        </p:nvSpPr>
        <p:spPr>
          <a:xfrm>
            <a:off x="255015" y="1196753"/>
            <a:ext cx="8229600" cy="703264"/>
          </a:xfrm>
        </p:spPr>
        <p:txBody>
          <a:bodyPr/>
          <a:lstStyle/>
          <a:p>
            <a:r>
              <a:rPr lang="en-US" altLang="zh-CN" dirty="0">
                <a:latin typeface="+mn-ea"/>
              </a:rPr>
              <a:t>AVI</a:t>
            </a:r>
            <a:r>
              <a:rPr lang="zh-CN" altLang="en-US" dirty="0">
                <a:latin typeface="+mn-ea"/>
              </a:rPr>
              <a:t>文件</a:t>
            </a:r>
            <a:r>
              <a:rPr kumimoji="0" lang="zh-CN" altLang="en-US" dirty="0">
                <a:latin typeface="+mn-ea"/>
              </a:rPr>
              <a:t>（</a:t>
            </a:r>
            <a:r>
              <a:rPr kumimoji="0" lang="en-US" altLang="zh-CN" dirty="0">
                <a:latin typeface="+mn-ea"/>
              </a:rPr>
              <a:t>Audio Video Interleaved </a:t>
            </a:r>
            <a:r>
              <a:rPr kumimoji="0" lang="zh-CN" altLang="en-US" dirty="0">
                <a:latin typeface="+mn-ea"/>
              </a:rPr>
              <a:t>）</a:t>
            </a:r>
          </a:p>
        </p:txBody>
      </p:sp>
      <p:sp>
        <p:nvSpPr>
          <p:cNvPr id="143362" name="Rectangle 2"/>
          <p:cNvSpPr>
            <a:spLocks noGrp="1" noChangeArrowheads="1"/>
          </p:cNvSpPr>
          <p:nvPr>
            <p:ph type="title"/>
          </p:nvPr>
        </p:nvSpPr>
        <p:spPr/>
        <p:txBody>
          <a:bodyPr>
            <a:normAutofit fontScale="90000"/>
          </a:bodyPr>
          <a:lstStyle/>
          <a:p>
            <a:r>
              <a:rPr lang="en-US" altLang="zh-CN" dirty="0"/>
              <a:t>2.5 </a:t>
            </a:r>
            <a:r>
              <a:rPr lang="zh-CN" altLang="en-US" dirty="0"/>
              <a:t>视频 文件格式</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50</a:t>
            </a:fld>
            <a:endParaRPr lang="zh-CN" altLang="en-US"/>
          </a:p>
        </p:txBody>
      </p:sp>
      <p:sp>
        <p:nvSpPr>
          <p:cNvPr id="28" name="矩形 27">
            <a:extLst>
              <a:ext uri="{FF2B5EF4-FFF2-40B4-BE49-F238E27FC236}">
                <a16:creationId xmlns:a16="http://schemas.microsoft.com/office/drawing/2014/main" id="{51BCB2DD-BD3A-41D3-9D33-97C046D9EEC2}"/>
              </a:ext>
            </a:extLst>
          </p:cNvPr>
          <p:cNvSpPr/>
          <p:nvPr/>
        </p:nvSpPr>
        <p:spPr>
          <a:xfrm>
            <a:off x="551494" y="2014995"/>
            <a:ext cx="5222712" cy="369332"/>
          </a:xfrm>
          <a:prstGeom prst="rect">
            <a:avLst/>
          </a:prstGeom>
        </p:spPr>
        <p:txBody>
          <a:bodyPr wrap="none">
            <a:spAutoFit/>
          </a:bodyPr>
          <a:lstStyle/>
          <a:p>
            <a:r>
              <a:rPr lang="zh-CN" altLang="en-US" dirty="0"/>
              <a:t>资源交换文件格式 </a:t>
            </a:r>
            <a:r>
              <a:rPr lang="en-US" altLang="zh-CN" dirty="0">
                <a:solidFill>
                  <a:srgbClr val="404040"/>
                </a:solidFill>
                <a:latin typeface="-apple-system"/>
              </a:rPr>
              <a:t>Resource Interchange File Format</a:t>
            </a:r>
            <a:endParaRPr lang="zh-CN" altLang="en-US" dirty="0"/>
          </a:p>
        </p:txBody>
      </p:sp>
      <p:sp>
        <p:nvSpPr>
          <p:cNvPr id="2" name="文本框 1">
            <a:extLst>
              <a:ext uri="{FF2B5EF4-FFF2-40B4-BE49-F238E27FC236}">
                <a16:creationId xmlns:a16="http://schemas.microsoft.com/office/drawing/2014/main" id="{6231CEE1-7415-802F-0110-BF4382462C78}"/>
              </a:ext>
            </a:extLst>
          </p:cNvPr>
          <p:cNvSpPr txBox="1"/>
          <p:nvPr/>
        </p:nvSpPr>
        <p:spPr>
          <a:xfrm>
            <a:off x="-33678" y="6283883"/>
            <a:ext cx="7503785" cy="369332"/>
          </a:xfrm>
          <a:prstGeom prst="rect">
            <a:avLst/>
          </a:prstGeom>
          <a:noFill/>
        </p:spPr>
        <p:txBody>
          <a:bodyPr wrap="none" rtlCol="0">
            <a:spAutoFit/>
          </a:bodyPr>
          <a:lstStyle/>
          <a:p>
            <a:r>
              <a:rPr kumimoji="1" lang="en-US" altLang="zh-CN" i="1" dirty="0"/>
              <a:t>Hint: AVI</a:t>
            </a:r>
            <a:r>
              <a:rPr kumimoji="1" lang="zh-CN" altLang="en-US" i="1" dirty="0"/>
              <a:t>文件格式分析及举例验证</a:t>
            </a:r>
            <a:r>
              <a:rPr kumimoji="1" lang="en-US" altLang="zh-CN" i="1" dirty="0"/>
              <a:t> https://</a:t>
            </a:r>
            <a:r>
              <a:rPr kumimoji="1" lang="en-US" altLang="zh-CN" i="1" dirty="0" err="1"/>
              <a:t>zhuanlan.zhihu.com</a:t>
            </a:r>
            <a:r>
              <a:rPr kumimoji="1" lang="en-US" altLang="zh-CN" i="1" dirty="0"/>
              <a:t>/p/496775731</a:t>
            </a:r>
            <a:endParaRPr kumimoji="1" lang="zh-CN" altLang="en-US" i="1" dirty="0"/>
          </a:p>
        </p:txBody>
      </p:sp>
      <p:pic>
        <p:nvPicPr>
          <p:cNvPr id="4" name="图片 3">
            <a:extLst>
              <a:ext uri="{FF2B5EF4-FFF2-40B4-BE49-F238E27FC236}">
                <a16:creationId xmlns:a16="http://schemas.microsoft.com/office/drawing/2014/main" id="{0D3F50C1-ABE0-FC57-9745-251ECD3CA0F7}"/>
              </a:ext>
            </a:extLst>
          </p:cNvPr>
          <p:cNvPicPr>
            <a:picLocks noChangeAspect="1"/>
          </p:cNvPicPr>
          <p:nvPr/>
        </p:nvPicPr>
        <p:blipFill>
          <a:blip r:embed="rId3"/>
          <a:stretch>
            <a:fillRect/>
          </a:stretch>
        </p:blipFill>
        <p:spPr>
          <a:xfrm>
            <a:off x="1918014" y="2372211"/>
            <a:ext cx="3600400" cy="3923789"/>
          </a:xfrm>
          <a:prstGeom prst="rect">
            <a:avLst/>
          </a:prstGeom>
        </p:spPr>
      </p:pic>
    </p:spTree>
    <p:extLst>
      <p:ext uri="{BB962C8B-B14F-4D97-AF65-F5344CB8AC3E}">
        <p14:creationId xmlns:p14="http://schemas.microsoft.com/office/powerpoint/2010/main" val="29781171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idx="1"/>
          </p:nvPr>
        </p:nvSpPr>
        <p:spPr>
          <a:xfrm>
            <a:off x="255015" y="1196753"/>
            <a:ext cx="8229600" cy="703264"/>
          </a:xfrm>
        </p:spPr>
        <p:txBody>
          <a:bodyPr/>
          <a:lstStyle/>
          <a:p>
            <a:r>
              <a:rPr lang="en-US" altLang="zh-CN" dirty="0">
                <a:latin typeface="+mn-ea"/>
              </a:rPr>
              <a:t>AVI</a:t>
            </a:r>
            <a:r>
              <a:rPr lang="zh-CN" altLang="en-US" dirty="0">
                <a:latin typeface="+mn-ea"/>
              </a:rPr>
              <a:t>文件</a:t>
            </a:r>
            <a:r>
              <a:rPr kumimoji="0" lang="zh-CN" altLang="en-US" dirty="0">
                <a:latin typeface="+mn-ea"/>
              </a:rPr>
              <a:t>（</a:t>
            </a:r>
            <a:r>
              <a:rPr kumimoji="0" lang="en-US" altLang="zh-CN" dirty="0">
                <a:latin typeface="+mn-ea"/>
              </a:rPr>
              <a:t>Audio Video Interleaved </a:t>
            </a:r>
            <a:r>
              <a:rPr kumimoji="0" lang="zh-CN" altLang="en-US" dirty="0">
                <a:latin typeface="+mn-ea"/>
              </a:rPr>
              <a:t>）</a:t>
            </a:r>
          </a:p>
        </p:txBody>
      </p:sp>
      <p:sp>
        <p:nvSpPr>
          <p:cNvPr id="143362" name="Rectangle 2"/>
          <p:cNvSpPr>
            <a:spLocks noGrp="1" noChangeArrowheads="1"/>
          </p:cNvSpPr>
          <p:nvPr>
            <p:ph type="title"/>
          </p:nvPr>
        </p:nvSpPr>
        <p:spPr/>
        <p:txBody>
          <a:bodyPr>
            <a:normAutofit fontScale="90000"/>
          </a:bodyPr>
          <a:lstStyle/>
          <a:p>
            <a:r>
              <a:rPr lang="en-US" altLang="zh-CN" dirty="0"/>
              <a:t>2.5 </a:t>
            </a:r>
            <a:r>
              <a:rPr lang="zh-CN" altLang="en-US" dirty="0"/>
              <a:t>视频 文件格式</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51</a:t>
            </a:fld>
            <a:endParaRPr lang="zh-CN" altLang="en-US"/>
          </a:p>
        </p:txBody>
      </p:sp>
      <p:sp>
        <p:nvSpPr>
          <p:cNvPr id="6" name="矩形 5">
            <a:extLst>
              <a:ext uri="{FF2B5EF4-FFF2-40B4-BE49-F238E27FC236}">
                <a16:creationId xmlns:a16="http://schemas.microsoft.com/office/drawing/2014/main" id="{DE409323-3485-4721-9239-F858BEEBB634}"/>
              </a:ext>
            </a:extLst>
          </p:cNvPr>
          <p:cNvSpPr/>
          <p:nvPr/>
        </p:nvSpPr>
        <p:spPr>
          <a:xfrm>
            <a:off x="448768" y="3205450"/>
            <a:ext cx="432048"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RIFF</a:t>
            </a:r>
            <a:endParaRPr lang="zh-CN" altLang="en-US" dirty="0">
              <a:solidFill>
                <a:schemeClr val="tx1"/>
              </a:solidFill>
              <a:latin typeface="Calibri (正文)"/>
            </a:endParaRPr>
          </a:p>
        </p:txBody>
      </p:sp>
      <p:sp>
        <p:nvSpPr>
          <p:cNvPr id="11" name="矩形 10">
            <a:extLst>
              <a:ext uri="{FF2B5EF4-FFF2-40B4-BE49-F238E27FC236}">
                <a16:creationId xmlns:a16="http://schemas.microsoft.com/office/drawing/2014/main" id="{926DBF71-BC50-451C-8AD4-46E5303ABE1C}"/>
              </a:ext>
            </a:extLst>
          </p:cNvPr>
          <p:cNvSpPr/>
          <p:nvPr/>
        </p:nvSpPr>
        <p:spPr>
          <a:xfrm>
            <a:off x="880816" y="3205450"/>
            <a:ext cx="432048"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大小</a:t>
            </a:r>
          </a:p>
        </p:txBody>
      </p:sp>
      <p:sp>
        <p:nvSpPr>
          <p:cNvPr id="12" name="矩形 11">
            <a:extLst>
              <a:ext uri="{FF2B5EF4-FFF2-40B4-BE49-F238E27FC236}">
                <a16:creationId xmlns:a16="http://schemas.microsoft.com/office/drawing/2014/main" id="{3DB45AB8-14AB-463C-A6AC-8E1CD10DCC38}"/>
              </a:ext>
            </a:extLst>
          </p:cNvPr>
          <p:cNvSpPr/>
          <p:nvPr/>
        </p:nvSpPr>
        <p:spPr>
          <a:xfrm>
            <a:off x="1312864" y="3205450"/>
            <a:ext cx="511286"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AVI</a:t>
            </a:r>
            <a:endParaRPr lang="zh-CN" altLang="en-US" dirty="0">
              <a:solidFill>
                <a:schemeClr val="tx1"/>
              </a:solidFill>
              <a:latin typeface="Calibri (正文)"/>
            </a:endParaRPr>
          </a:p>
        </p:txBody>
      </p:sp>
      <p:sp>
        <p:nvSpPr>
          <p:cNvPr id="13" name="矩形 12">
            <a:extLst>
              <a:ext uri="{FF2B5EF4-FFF2-40B4-BE49-F238E27FC236}">
                <a16:creationId xmlns:a16="http://schemas.microsoft.com/office/drawing/2014/main" id="{650681B6-010B-46FA-933D-52B7D8C0244B}"/>
              </a:ext>
            </a:extLst>
          </p:cNvPr>
          <p:cNvSpPr/>
          <p:nvPr/>
        </p:nvSpPr>
        <p:spPr>
          <a:xfrm>
            <a:off x="1824150" y="3205450"/>
            <a:ext cx="6689514"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dirty="0">
              <a:solidFill>
                <a:schemeClr val="tx1"/>
              </a:solidFill>
              <a:latin typeface="Calibri (正文)"/>
            </a:endParaRPr>
          </a:p>
        </p:txBody>
      </p:sp>
      <p:sp>
        <p:nvSpPr>
          <p:cNvPr id="14" name="矩形 13">
            <a:extLst>
              <a:ext uri="{FF2B5EF4-FFF2-40B4-BE49-F238E27FC236}">
                <a16:creationId xmlns:a16="http://schemas.microsoft.com/office/drawing/2014/main" id="{5484D738-35BE-4CD2-9ADC-FDCEF760E511}"/>
              </a:ext>
            </a:extLst>
          </p:cNvPr>
          <p:cNvSpPr/>
          <p:nvPr/>
        </p:nvSpPr>
        <p:spPr>
          <a:xfrm>
            <a:off x="2104952" y="3332791"/>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LIST</a:t>
            </a:r>
            <a:endParaRPr lang="zh-CN" altLang="en-US" dirty="0">
              <a:solidFill>
                <a:schemeClr val="tx1"/>
              </a:solidFill>
              <a:latin typeface="Calibri (正文)"/>
            </a:endParaRPr>
          </a:p>
        </p:txBody>
      </p:sp>
      <p:sp>
        <p:nvSpPr>
          <p:cNvPr id="15" name="矩形 14">
            <a:extLst>
              <a:ext uri="{FF2B5EF4-FFF2-40B4-BE49-F238E27FC236}">
                <a16:creationId xmlns:a16="http://schemas.microsoft.com/office/drawing/2014/main" id="{4BD9961B-EA02-487D-B46E-DB140A821486}"/>
              </a:ext>
            </a:extLst>
          </p:cNvPr>
          <p:cNvSpPr/>
          <p:nvPr/>
        </p:nvSpPr>
        <p:spPr>
          <a:xfrm>
            <a:off x="2472082" y="3324051"/>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大小</a:t>
            </a:r>
          </a:p>
        </p:txBody>
      </p:sp>
      <p:sp>
        <p:nvSpPr>
          <p:cNvPr id="16" name="矩形 15">
            <a:extLst>
              <a:ext uri="{FF2B5EF4-FFF2-40B4-BE49-F238E27FC236}">
                <a16:creationId xmlns:a16="http://schemas.microsoft.com/office/drawing/2014/main" id="{7CB83F0F-8845-4C28-A581-CB911B26CE50}"/>
              </a:ext>
            </a:extLst>
          </p:cNvPr>
          <p:cNvSpPr/>
          <p:nvPr/>
        </p:nvSpPr>
        <p:spPr>
          <a:xfrm>
            <a:off x="2836058" y="3324050"/>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类型</a:t>
            </a:r>
          </a:p>
        </p:txBody>
      </p:sp>
      <p:sp>
        <p:nvSpPr>
          <p:cNvPr id="17" name="矩形 16">
            <a:extLst>
              <a:ext uri="{FF2B5EF4-FFF2-40B4-BE49-F238E27FC236}">
                <a16:creationId xmlns:a16="http://schemas.microsoft.com/office/drawing/2014/main" id="{D52E5103-1A38-4A47-BF0A-E01920BF8363}"/>
              </a:ext>
            </a:extLst>
          </p:cNvPr>
          <p:cNvSpPr/>
          <p:nvPr/>
        </p:nvSpPr>
        <p:spPr>
          <a:xfrm>
            <a:off x="3196098" y="3332791"/>
            <a:ext cx="2221222"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dirty="0">
              <a:solidFill>
                <a:schemeClr val="tx1"/>
              </a:solidFill>
              <a:latin typeface="Calibri (正文)"/>
            </a:endParaRPr>
          </a:p>
        </p:txBody>
      </p:sp>
      <p:sp>
        <p:nvSpPr>
          <p:cNvPr id="18" name="矩形 17">
            <a:extLst>
              <a:ext uri="{FF2B5EF4-FFF2-40B4-BE49-F238E27FC236}">
                <a16:creationId xmlns:a16="http://schemas.microsoft.com/office/drawing/2014/main" id="{D70B7233-919F-4197-84A3-1F6A42B4F4B0}"/>
              </a:ext>
            </a:extLst>
          </p:cNvPr>
          <p:cNvSpPr/>
          <p:nvPr/>
        </p:nvSpPr>
        <p:spPr>
          <a:xfrm>
            <a:off x="3408507" y="3453503"/>
            <a:ext cx="435523" cy="9825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LIST</a:t>
            </a:r>
            <a:endParaRPr lang="zh-CN" altLang="en-US" dirty="0">
              <a:solidFill>
                <a:schemeClr val="tx1"/>
              </a:solidFill>
              <a:latin typeface="Calibri (正文)"/>
            </a:endParaRPr>
          </a:p>
        </p:txBody>
      </p:sp>
      <p:sp>
        <p:nvSpPr>
          <p:cNvPr id="19" name="矩形 18">
            <a:extLst>
              <a:ext uri="{FF2B5EF4-FFF2-40B4-BE49-F238E27FC236}">
                <a16:creationId xmlns:a16="http://schemas.microsoft.com/office/drawing/2014/main" id="{62AAB2DF-1724-44AD-B296-25C7FF5B158A}"/>
              </a:ext>
            </a:extLst>
          </p:cNvPr>
          <p:cNvSpPr/>
          <p:nvPr/>
        </p:nvSpPr>
        <p:spPr>
          <a:xfrm>
            <a:off x="5594186" y="3332791"/>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LIST</a:t>
            </a:r>
            <a:endParaRPr lang="zh-CN" altLang="en-US" dirty="0">
              <a:solidFill>
                <a:schemeClr val="tx1"/>
              </a:solidFill>
              <a:latin typeface="Calibri (正文)"/>
            </a:endParaRPr>
          </a:p>
        </p:txBody>
      </p:sp>
      <p:sp>
        <p:nvSpPr>
          <p:cNvPr id="20" name="矩形 19">
            <a:extLst>
              <a:ext uri="{FF2B5EF4-FFF2-40B4-BE49-F238E27FC236}">
                <a16:creationId xmlns:a16="http://schemas.microsoft.com/office/drawing/2014/main" id="{2DD4C2F2-66AF-4CB6-9A01-313CDB993F09}"/>
              </a:ext>
            </a:extLst>
          </p:cNvPr>
          <p:cNvSpPr/>
          <p:nvPr/>
        </p:nvSpPr>
        <p:spPr>
          <a:xfrm>
            <a:off x="5961316" y="3324051"/>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大小</a:t>
            </a:r>
          </a:p>
        </p:txBody>
      </p:sp>
      <p:sp>
        <p:nvSpPr>
          <p:cNvPr id="21" name="矩形 20">
            <a:extLst>
              <a:ext uri="{FF2B5EF4-FFF2-40B4-BE49-F238E27FC236}">
                <a16:creationId xmlns:a16="http://schemas.microsoft.com/office/drawing/2014/main" id="{5297CB1F-F32C-4F48-82E6-F1CA6B319ECB}"/>
              </a:ext>
            </a:extLst>
          </p:cNvPr>
          <p:cNvSpPr/>
          <p:nvPr/>
        </p:nvSpPr>
        <p:spPr>
          <a:xfrm>
            <a:off x="6325292" y="3324050"/>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类型</a:t>
            </a:r>
          </a:p>
        </p:txBody>
      </p:sp>
      <p:sp>
        <p:nvSpPr>
          <p:cNvPr id="22" name="矩形 21">
            <a:extLst>
              <a:ext uri="{FF2B5EF4-FFF2-40B4-BE49-F238E27FC236}">
                <a16:creationId xmlns:a16="http://schemas.microsoft.com/office/drawing/2014/main" id="{D2DE68DC-3B07-4D6E-BEE7-B9943265C315}"/>
              </a:ext>
            </a:extLst>
          </p:cNvPr>
          <p:cNvSpPr/>
          <p:nvPr/>
        </p:nvSpPr>
        <p:spPr>
          <a:xfrm>
            <a:off x="6685332" y="3332791"/>
            <a:ext cx="154030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dirty="0">
              <a:solidFill>
                <a:schemeClr val="tx1"/>
              </a:solidFill>
              <a:latin typeface="Calibri (正文)"/>
            </a:endParaRPr>
          </a:p>
        </p:txBody>
      </p:sp>
      <p:sp>
        <p:nvSpPr>
          <p:cNvPr id="23" name="矩形 22">
            <a:extLst>
              <a:ext uri="{FF2B5EF4-FFF2-40B4-BE49-F238E27FC236}">
                <a16:creationId xmlns:a16="http://schemas.microsoft.com/office/drawing/2014/main" id="{1450A9D1-B5ED-4044-BF1C-847C62C4FA47}"/>
              </a:ext>
            </a:extLst>
          </p:cNvPr>
          <p:cNvSpPr/>
          <p:nvPr/>
        </p:nvSpPr>
        <p:spPr>
          <a:xfrm>
            <a:off x="6897741" y="3453503"/>
            <a:ext cx="435523" cy="9825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LIST</a:t>
            </a:r>
            <a:endParaRPr lang="zh-CN" altLang="en-US" dirty="0">
              <a:solidFill>
                <a:schemeClr val="tx1"/>
              </a:solidFill>
              <a:latin typeface="Calibri (正文)"/>
            </a:endParaRPr>
          </a:p>
        </p:txBody>
      </p:sp>
      <p:cxnSp>
        <p:nvCxnSpPr>
          <p:cNvPr id="8" name="直接箭头连接符 7">
            <a:extLst>
              <a:ext uri="{FF2B5EF4-FFF2-40B4-BE49-F238E27FC236}">
                <a16:creationId xmlns:a16="http://schemas.microsoft.com/office/drawing/2014/main" id="{C6BF9ADD-8622-460F-A57F-A7989F2876D1}"/>
              </a:ext>
            </a:extLst>
          </p:cNvPr>
          <p:cNvCxnSpPr/>
          <p:nvPr/>
        </p:nvCxnSpPr>
        <p:spPr>
          <a:xfrm>
            <a:off x="1824150" y="2900602"/>
            <a:ext cx="3593170" cy="0"/>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87C4F6FB-C44E-49F1-8427-F6B1D853CF78}"/>
              </a:ext>
            </a:extLst>
          </p:cNvPr>
          <p:cNvSpPr txBox="1"/>
          <p:nvPr/>
        </p:nvSpPr>
        <p:spPr>
          <a:xfrm>
            <a:off x="2832122" y="2553712"/>
            <a:ext cx="1015523" cy="369332"/>
          </a:xfrm>
          <a:prstGeom prst="rect">
            <a:avLst/>
          </a:prstGeom>
          <a:noFill/>
        </p:spPr>
        <p:txBody>
          <a:bodyPr wrap="square" rtlCol="0">
            <a:spAutoFit/>
          </a:bodyPr>
          <a:lstStyle/>
          <a:p>
            <a:r>
              <a:rPr lang="zh-CN" altLang="en-US" dirty="0"/>
              <a:t>信息块</a:t>
            </a:r>
          </a:p>
        </p:txBody>
      </p:sp>
      <p:cxnSp>
        <p:nvCxnSpPr>
          <p:cNvPr id="24" name="直接连接符 23">
            <a:extLst>
              <a:ext uri="{FF2B5EF4-FFF2-40B4-BE49-F238E27FC236}">
                <a16:creationId xmlns:a16="http://schemas.microsoft.com/office/drawing/2014/main" id="{1555F345-2E14-4E51-8D54-F891228358E1}"/>
              </a:ext>
            </a:extLst>
          </p:cNvPr>
          <p:cNvCxnSpPr/>
          <p:nvPr/>
        </p:nvCxnSpPr>
        <p:spPr>
          <a:xfrm flipV="1">
            <a:off x="1824150" y="2612570"/>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9BB546B-6477-4257-BEBB-98BB3075D844}"/>
              </a:ext>
            </a:extLst>
          </p:cNvPr>
          <p:cNvCxnSpPr/>
          <p:nvPr/>
        </p:nvCxnSpPr>
        <p:spPr>
          <a:xfrm flipV="1">
            <a:off x="5417320" y="2612570"/>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0350C8E-886D-4961-9C0A-F031BB8DBC71}"/>
              </a:ext>
            </a:extLst>
          </p:cNvPr>
          <p:cNvCxnSpPr>
            <a:cxnSpLocks/>
          </p:cNvCxnSpPr>
          <p:nvPr/>
        </p:nvCxnSpPr>
        <p:spPr>
          <a:xfrm>
            <a:off x="5594186" y="2923044"/>
            <a:ext cx="2631446" cy="0"/>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81631681-06BE-4053-B5D0-BC8B5032ED35}"/>
              </a:ext>
            </a:extLst>
          </p:cNvPr>
          <p:cNvSpPr txBox="1"/>
          <p:nvPr/>
        </p:nvSpPr>
        <p:spPr>
          <a:xfrm>
            <a:off x="6602158" y="2576154"/>
            <a:ext cx="1015523" cy="369332"/>
          </a:xfrm>
          <a:prstGeom prst="rect">
            <a:avLst/>
          </a:prstGeom>
          <a:noFill/>
        </p:spPr>
        <p:txBody>
          <a:bodyPr wrap="square" rtlCol="0">
            <a:spAutoFit/>
          </a:bodyPr>
          <a:lstStyle/>
          <a:p>
            <a:r>
              <a:rPr lang="zh-CN" altLang="en-US" dirty="0"/>
              <a:t>数据块</a:t>
            </a:r>
          </a:p>
        </p:txBody>
      </p:sp>
      <p:cxnSp>
        <p:nvCxnSpPr>
          <p:cNvPr id="32" name="直接连接符 31">
            <a:extLst>
              <a:ext uri="{FF2B5EF4-FFF2-40B4-BE49-F238E27FC236}">
                <a16:creationId xmlns:a16="http://schemas.microsoft.com/office/drawing/2014/main" id="{C10A8BD2-C0BD-4D97-8CFD-F438A31E2F52}"/>
              </a:ext>
            </a:extLst>
          </p:cNvPr>
          <p:cNvCxnSpPr/>
          <p:nvPr/>
        </p:nvCxnSpPr>
        <p:spPr>
          <a:xfrm flipV="1">
            <a:off x="5594186" y="2635012"/>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E5D10D4B-D1B0-4BB9-9B67-7FF891B73377}"/>
              </a:ext>
            </a:extLst>
          </p:cNvPr>
          <p:cNvCxnSpPr/>
          <p:nvPr/>
        </p:nvCxnSpPr>
        <p:spPr>
          <a:xfrm flipV="1">
            <a:off x="8225632" y="2635012"/>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9AD08088-2DEC-4D0A-AA8B-1F4B605EDD36}"/>
              </a:ext>
            </a:extLst>
          </p:cNvPr>
          <p:cNvSpPr/>
          <p:nvPr/>
        </p:nvSpPr>
        <p:spPr>
          <a:xfrm>
            <a:off x="630336" y="4717618"/>
            <a:ext cx="7470576" cy="1477328"/>
          </a:xfrm>
          <a:prstGeom prst="rect">
            <a:avLst/>
          </a:prstGeom>
        </p:spPr>
        <p:txBody>
          <a:bodyPr wrap="square">
            <a:spAutoFit/>
          </a:bodyPr>
          <a:lstStyle/>
          <a:p>
            <a:pPr>
              <a:buFont typeface="Arial" panose="020B0604020202020204" pitchFamily="34" charset="0"/>
              <a:buChar char="•"/>
            </a:pPr>
            <a:r>
              <a:rPr lang="en-US" altLang="zh-CN" dirty="0" err="1">
                <a:solidFill>
                  <a:srgbClr val="333333"/>
                </a:solidFill>
                <a:latin typeface="open sans"/>
              </a:rPr>
              <a:t>Hdrl</a:t>
            </a:r>
            <a:r>
              <a:rPr lang="zh-CN" altLang="en-US" dirty="0">
                <a:solidFill>
                  <a:srgbClr val="333333"/>
                </a:solidFill>
                <a:latin typeface="open sans"/>
              </a:rPr>
              <a:t>列表 包含了音视频信息，描述媒体流信息</a:t>
            </a:r>
          </a:p>
          <a:p>
            <a:pPr>
              <a:buFont typeface="Arial" panose="020B0604020202020204" pitchFamily="34" charset="0"/>
              <a:buChar char="•"/>
            </a:pPr>
            <a:r>
              <a:rPr lang="en-US" altLang="zh-CN" dirty="0">
                <a:solidFill>
                  <a:srgbClr val="333333"/>
                </a:solidFill>
                <a:latin typeface="open sans"/>
              </a:rPr>
              <a:t>Info  </a:t>
            </a:r>
            <a:r>
              <a:rPr lang="zh-CN" altLang="en-US" dirty="0">
                <a:solidFill>
                  <a:srgbClr val="333333"/>
                </a:solidFill>
                <a:latin typeface="open sans"/>
              </a:rPr>
              <a:t>包含编码该 </a:t>
            </a:r>
            <a:r>
              <a:rPr lang="en-US" altLang="zh-CN" dirty="0">
                <a:solidFill>
                  <a:srgbClr val="333333"/>
                </a:solidFill>
                <a:latin typeface="open sans"/>
              </a:rPr>
              <a:t>AVI </a:t>
            </a:r>
            <a:r>
              <a:rPr lang="zh-CN" altLang="en-US" dirty="0">
                <a:solidFill>
                  <a:srgbClr val="333333"/>
                </a:solidFill>
                <a:latin typeface="open sans"/>
              </a:rPr>
              <a:t>的程序信息</a:t>
            </a:r>
          </a:p>
          <a:p>
            <a:pPr>
              <a:buFont typeface="Arial" panose="020B0604020202020204" pitchFamily="34" charset="0"/>
              <a:buChar char="•"/>
            </a:pPr>
            <a:r>
              <a:rPr lang="en-US" altLang="zh-CN" dirty="0">
                <a:solidFill>
                  <a:srgbClr val="333333"/>
                </a:solidFill>
                <a:latin typeface="open sans"/>
              </a:rPr>
              <a:t>Junk</a:t>
            </a:r>
            <a:r>
              <a:rPr lang="zh-CN" altLang="en-US" dirty="0">
                <a:solidFill>
                  <a:srgbClr val="333333"/>
                </a:solidFill>
                <a:latin typeface="open sans"/>
              </a:rPr>
              <a:t> 无用数据，用于填充</a:t>
            </a:r>
          </a:p>
          <a:p>
            <a:pPr>
              <a:buFont typeface="Arial" panose="020B0604020202020204" pitchFamily="34" charset="0"/>
              <a:buChar char="•"/>
            </a:pPr>
            <a:r>
              <a:rPr lang="en-US" altLang="zh-CN" dirty="0" err="1">
                <a:solidFill>
                  <a:srgbClr val="333333"/>
                </a:solidFill>
                <a:latin typeface="open sans"/>
              </a:rPr>
              <a:t>Movi</a:t>
            </a:r>
            <a:r>
              <a:rPr lang="zh-CN" altLang="en-US" dirty="0">
                <a:solidFill>
                  <a:srgbClr val="333333"/>
                </a:solidFill>
                <a:latin typeface="open sans"/>
              </a:rPr>
              <a:t>列表 包含了交错排列的音视频数据</a:t>
            </a:r>
          </a:p>
          <a:p>
            <a:pPr>
              <a:buFont typeface="Arial" panose="020B0604020202020204" pitchFamily="34" charset="0"/>
              <a:buChar char="•"/>
            </a:pPr>
            <a:r>
              <a:rPr lang="en-US" altLang="zh-CN" dirty="0">
                <a:solidFill>
                  <a:srgbClr val="333333"/>
                </a:solidFill>
                <a:latin typeface="open sans"/>
              </a:rPr>
              <a:t>Idx1</a:t>
            </a:r>
            <a:r>
              <a:rPr lang="zh-CN" altLang="en-US" dirty="0">
                <a:solidFill>
                  <a:srgbClr val="333333"/>
                </a:solidFill>
                <a:latin typeface="open sans"/>
              </a:rPr>
              <a:t> 包含音视频排列的索引数据（可选块）</a:t>
            </a:r>
            <a:endParaRPr lang="zh-CN" altLang="en-US" b="0" i="0" dirty="0">
              <a:solidFill>
                <a:srgbClr val="333333"/>
              </a:solidFill>
              <a:effectLst/>
              <a:latin typeface="open sans"/>
            </a:endParaRPr>
          </a:p>
        </p:txBody>
      </p:sp>
      <p:sp>
        <p:nvSpPr>
          <p:cNvPr id="28" name="矩形 27">
            <a:extLst>
              <a:ext uri="{FF2B5EF4-FFF2-40B4-BE49-F238E27FC236}">
                <a16:creationId xmlns:a16="http://schemas.microsoft.com/office/drawing/2014/main" id="{51BCB2DD-BD3A-41D3-9D33-97C046D9EEC2}"/>
              </a:ext>
            </a:extLst>
          </p:cNvPr>
          <p:cNvSpPr/>
          <p:nvPr/>
        </p:nvSpPr>
        <p:spPr>
          <a:xfrm>
            <a:off x="551494" y="2014995"/>
            <a:ext cx="5222712" cy="369332"/>
          </a:xfrm>
          <a:prstGeom prst="rect">
            <a:avLst/>
          </a:prstGeom>
        </p:spPr>
        <p:txBody>
          <a:bodyPr wrap="none">
            <a:spAutoFit/>
          </a:bodyPr>
          <a:lstStyle/>
          <a:p>
            <a:r>
              <a:rPr lang="zh-CN" altLang="en-US" dirty="0"/>
              <a:t>资源交换文件格式 </a:t>
            </a:r>
            <a:r>
              <a:rPr lang="en-US" altLang="zh-CN" dirty="0">
                <a:solidFill>
                  <a:srgbClr val="404040"/>
                </a:solidFill>
                <a:latin typeface="-apple-system"/>
              </a:rPr>
              <a:t>Resource Interchange File Format</a:t>
            </a:r>
            <a:endParaRPr lang="zh-CN" altLang="en-US" dirty="0"/>
          </a:p>
        </p:txBody>
      </p:sp>
    </p:spTree>
    <p:extLst>
      <p:ext uri="{BB962C8B-B14F-4D97-AF65-F5344CB8AC3E}">
        <p14:creationId xmlns:p14="http://schemas.microsoft.com/office/powerpoint/2010/main" val="1459287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idx="1"/>
          </p:nvPr>
        </p:nvSpPr>
        <p:spPr>
          <a:xfrm>
            <a:off x="255015" y="1196753"/>
            <a:ext cx="8229600" cy="703264"/>
          </a:xfrm>
        </p:spPr>
        <p:txBody>
          <a:bodyPr/>
          <a:lstStyle/>
          <a:p>
            <a:r>
              <a:rPr lang="en-US" altLang="zh-CN" dirty="0">
                <a:latin typeface="+mn-ea"/>
              </a:rPr>
              <a:t>AVI</a:t>
            </a:r>
            <a:r>
              <a:rPr lang="zh-CN" altLang="en-US" dirty="0">
                <a:latin typeface="+mn-ea"/>
              </a:rPr>
              <a:t>文件</a:t>
            </a:r>
            <a:r>
              <a:rPr kumimoji="0" lang="zh-CN" altLang="en-US" dirty="0">
                <a:latin typeface="+mn-ea"/>
              </a:rPr>
              <a:t>（</a:t>
            </a:r>
            <a:r>
              <a:rPr kumimoji="0" lang="en-US" altLang="zh-CN" dirty="0">
                <a:latin typeface="+mn-ea"/>
              </a:rPr>
              <a:t>Audio Video Interleaved </a:t>
            </a:r>
            <a:r>
              <a:rPr kumimoji="0" lang="zh-CN" altLang="en-US" dirty="0">
                <a:latin typeface="+mn-ea"/>
              </a:rPr>
              <a:t>）</a:t>
            </a:r>
          </a:p>
        </p:txBody>
      </p:sp>
      <p:sp>
        <p:nvSpPr>
          <p:cNvPr id="143362" name="Rectangle 2"/>
          <p:cNvSpPr>
            <a:spLocks noGrp="1" noChangeArrowheads="1"/>
          </p:cNvSpPr>
          <p:nvPr>
            <p:ph type="title"/>
          </p:nvPr>
        </p:nvSpPr>
        <p:spPr/>
        <p:txBody>
          <a:bodyPr>
            <a:normAutofit fontScale="90000"/>
          </a:bodyPr>
          <a:lstStyle/>
          <a:p>
            <a:r>
              <a:rPr lang="en-US" altLang="zh-CN" dirty="0"/>
              <a:t>2.5 </a:t>
            </a:r>
            <a:r>
              <a:rPr lang="zh-CN" altLang="en-US" dirty="0"/>
              <a:t>视频 文件格式</a:t>
            </a:r>
          </a:p>
        </p:txBody>
      </p:sp>
      <p:sp>
        <p:nvSpPr>
          <p:cNvPr id="3" name="灯片编号占位符 2"/>
          <p:cNvSpPr>
            <a:spLocks noGrp="1"/>
          </p:cNvSpPr>
          <p:nvPr>
            <p:ph type="sldNum" sz="quarter" idx="12"/>
          </p:nvPr>
        </p:nvSpPr>
        <p:spPr/>
        <p:txBody>
          <a:bodyPr/>
          <a:lstStyle/>
          <a:p>
            <a:fld id="{F64BA984-46A0-4F46-990E-EC790E6934B4}" type="slidenum">
              <a:rPr lang="zh-CN" altLang="en-US" smtClean="0"/>
              <a:t>52</a:t>
            </a:fld>
            <a:endParaRPr lang="zh-CN" altLang="en-US"/>
          </a:p>
        </p:txBody>
      </p:sp>
      <p:pic>
        <p:nvPicPr>
          <p:cNvPr id="5" name="图片 4">
            <a:extLst>
              <a:ext uri="{FF2B5EF4-FFF2-40B4-BE49-F238E27FC236}">
                <a16:creationId xmlns:a16="http://schemas.microsoft.com/office/drawing/2014/main" id="{32956FB2-828C-490D-ADD0-760668B161DB}"/>
              </a:ext>
            </a:extLst>
          </p:cNvPr>
          <p:cNvPicPr>
            <a:picLocks noChangeAspect="1"/>
          </p:cNvPicPr>
          <p:nvPr/>
        </p:nvPicPr>
        <p:blipFill>
          <a:blip r:embed="rId3"/>
          <a:stretch>
            <a:fillRect/>
          </a:stretch>
        </p:blipFill>
        <p:spPr>
          <a:xfrm>
            <a:off x="341784" y="2381012"/>
            <a:ext cx="8460432" cy="3036112"/>
          </a:xfrm>
          <a:prstGeom prst="rect">
            <a:avLst/>
          </a:prstGeom>
        </p:spPr>
      </p:pic>
    </p:spTree>
    <p:extLst>
      <p:ext uri="{BB962C8B-B14F-4D97-AF65-F5344CB8AC3E}">
        <p14:creationId xmlns:p14="http://schemas.microsoft.com/office/powerpoint/2010/main" val="33106823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ChangeArrowheads="1"/>
          </p:cNvSpPr>
          <p:nvPr/>
        </p:nvSpPr>
        <p:spPr bwMode="auto">
          <a:xfrm>
            <a:off x="388707" y="1268760"/>
            <a:ext cx="8305800" cy="4327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2800" b="1" dirty="0">
                <a:solidFill>
                  <a:schemeClr val="hlink"/>
                </a:solidFill>
                <a:latin typeface="宋体" panose="02010600030101010101" pitchFamily="2" charset="-122"/>
                <a:ea typeface="宋体" panose="02010600030101010101" pitchFamily="2" charset="-122"/>
              </a:rPr>
              <a:t>MOV</a:t>
            </a:r>
            <a:r>
              <a:rPr lang="zh-CN" altLang="en-US" sz="2800" b="1" dirty="0">
                <a:solidFill>
                  <a:schemeClr val="hlink"/>
                </a:solidFill>
                <a:latin typeface="宋体" panose="02010600030101010101" pitchFamily="2" charset="-122"/>
                <a:ea typeface="宋体" panose="02010600030101010101" pitchFamily="2" charset="-122"/>
              </a:rPr>
              <a:t>（</a:t>
            </a:r>
            <a:r>
              <a:rPr lang="en-US" altLang="zh-CN" sz="2800" b="1" dirty="0">
                <a:solidFill>
                  <a:schemeClr val="hlink"/>
                </a:solidFill>
                <a:latin typeface="宋体" panose="02010600030101010101" pitchFamily="2" charset="-122"/>
                <a:ea typeface="宋体" panose="02010600030101010101" pitchFamily="2" charset="-122"/>
              </a:rPr>
              <a:t>Movie digital video technology</a:t>
            </a:r>
            <a:r>
              <a:rPr lang="zh-CN" altLang="en-US" sz="2800" b="1" dirty="0">
                <a:solidFill>
                  <a:schemeClr val="hlink"/>
                </a:solidFill>
                <a:latin typeface="宋体" panose="02010600030101010101" pitchFamily="2" charset="-122"/>
                <a:ea typeface="宋体" panose="02010600030101010101" pitchFamily="2" charset="-122"/>
              </a:rPr>
              <a:t>）</a:t>
            </a:r>
          </a:p>
          <a:p>
            <a:pPr eaLnBrk="0" hangingPunct="0">
              <a:lnSpc>
                <a:spcPct val="125000"/>
              </a:lnSpc>
              <a:spcBef>
                <a:spcPct val="50000"/>
              </a:spcBef>
              <a:buClr>
                <a:srgbClr val="0000FF"/>
              </a:buClr>
              <a:buFont typeface="Wingdings" pitchFamily="2" charset="2"/>
              <a:buChar char="§"/>
            </a:pPr>
            <a:r>
              <a:rPr lang="zh-CN" altLang="en-US" sz="2800" b="0" dirty="0">
                <a:latin typeface="宋体" panose="02010600030101010101" pitchFamily="2" charset="-122"/>
                <a:ea typeface="宋体" panose="02010600030101010101" pitchFamily="2" charset="-122"/>
              </a:rPr>
              <a:t> </a:t>
            </a:r>
            <a:r>
              <a:rPr lang="en-US" altLang="zh-CN" sz="2800" b="0" dirty="0">
                <a:solidFill>
                  <a:srgbClr val="0000FF"/>
                </a:solidFill>
                <a:latin typeface="宋体" panose="02010600030101010101" pitchFamily="2" charset="-122"/>
                <a:ea typeface="宋体" panose="02010600030101010101" pitchFamily="2" charset="-122"/>
              </a:rPr>
              <a:t>Apple</a:t>
            </a:r>
            <a:r>
              <a:rPr lang="zh-CN" altLang="en-US" sz="2800" b="0" dirty="0">
                <a:solidFill>
                  <a:srgbClr val="0000FF"/>
                </a:solidFill>
                <a:latin typeface="宋体" panose="02010600030101010101" pitchFamily="2" charset="-122"/>
                <a:ea typeface="宋体" panose="02010600030101010101" pitchFamily="2" charset="-122"/>
              </a:rPr>
              <a:t>公司</a:t>
            </a:r>
            <a:r>
              <a:rPr lang="zh-CN" altLang="en-US" sz="2800" b="0" dirty="0">
                <a:latin typeface="宋体" panose="02010600030101010101" pitchFamily="2" charset="-122"/>
                <a:ea typeface="宋体" panose="02010600030101010101" pitchFamily="2" charset="-122"/>
              </a:rPr>
              <a:t>推出的视频格式文件。</a:t>
            </a:r>
          </a:p>
          <a:p>
            <a:pPr eaLnBrk="0" hangingPunct="0">
              <a:lnSpc>
                <a:spcPct val="125000"/>
              </a:lnSpc>
              <a:spcBef>
                <a:spcPct val="50000"/>
              </a:spcBef>
              <a:buClr>
                <a:srgbClr val="0000FF"/>
              </a:buClr>
              <a:buFont typeface="Wingdings" pitchFamily="2" charset="2"/>
              <a:buChar char="§"/>
            </a:pPr>
            <a:r>
              <a:rPr lang="zh-CN" altLang="en-US" sz="2800" b="0" dirty="0">
                <a:latin typeface="宋体" panose="02010600030101010101" pitchFamily="2" charset="-122"/>
                <a:ea typeface="宋体" panose="02010600030101010101" pitchFamily="2" charset="-122"/>
              </a:rPr>
              <a:t> 相应的视频应用软件为</a:t>
            </a:r>
            <a:r>
              <a:rPr lang="en-US" altLang="zh-CN" sz="2800" b="0" dirty="0">
                <a:latin typeface="宋体" panose="02010600030101010101" pitchFamily="2" charset="-122"/>
                <a:ea typeface="宋体" panose="02010600030101010101" pitchFamily="2" charset="-122"/>
              </a:rPr>
              <a:t>Apple</a:t>
            </a:r>
            <a:r>
              <a:rPr lang="en-US" altLang="zh-CN" sz="2800" b="0" dirty="0">
                <a:latin typeface="Times New Roman"/>
                <a:ea typeface="宋体" panose="02010600030101010101" pitchFamily="2" charset="-122"/>
              </a:rPr>
              <a:t>’</a:t>
            </a:r>
            <a:r>
              <a:rPr lang="en-US" altLang="zh-CN" sz="2800" b="0" dirty="0">
                <a:latin typeface="宋体" panose="02010600030101010101" pitchFamily="2" charset="-122"/>
                <a:ea typeface="宋体" panose="02010600030101010101" pitchFamily="2" charset="-122"/>
              </a:rPr>
              <a:t>s QuickTime for Macintosh</a:t>
            </a:r>
            <a:r>
              <a:rPr lang="zh-CN" altLang="en-US" sz="2800" b="0" dirty="0">
                <a:latin typeface="宋体" panose="02010600030101010101" pitchFamily="2" charset="-122"/>
                <a:ea typeface="宋体" panose="02010600030101010101" pitchFamily="2" charset="-122"/>
              </a:rPr>
              <a:t>。同时也推出了适用于</a:t>
            </a:r>
            <a:r>
              <a:rPr lang="en-US" altLang="zh-CN" sz="2800" b="0" dirty="0">
                <a:latin typeface="宋体" panose="02010600030101010101" pitchFamily="2" charset="-122"/>
                <a:ea typeface="宋体" panose="02010600030101010101" pitchFamily="2" charset="-122"/>
              </a:rPr>
              <a:t>PC</a:t>
            </a:r>
            <a:r>
              <a:rPr lang="zh-CN" altLang="en-US" sz="2800" b="0" dirty="0">
                <a:latin typeface="宋体" panose="02010600030101010101" pitchFamily="2" charset="-122"/>
                <a:ea typeface="宋体" panose="02010600030101010101" pitchFamily="2" charset="-122"/>
              </a:rPr>
              <a:t>机的视频应用软件</a:t>
            </a:r>
            <a:r>
              <a:rPr lang="en-US" altLang="zh-CN" sz="2800" b="0" dirty="0">
                <a:latin typeface="宋体" panose="02010600030101010101" pitchFamily="2" charset="-122"/>
                <a:ea typeface="宋体" panose="02010600030101010101" pitchFamily="2" charset="-122"/>
              </a:rPr>
              <a:t>Apple</a:t>
            </a:r>
            <a:r>
              <a:rPr lang="en-US" altLang="zh-CN" sz="2800" b="0" dirty="0">
                <a:latin typeface="Times New Roman"/>
                <a:ea typeface="宋体" panose="02010600030101010101" pitchFamily="2" charset="-122"/>
              </a:rPr>
              <a:t>’</a:t>
            </a:r>
            <a:r>
              <a:rPr lang="en-US" altLang="zh-CN" sz="2800" b="0" dirty="0">
                <a:latin typeface="宋体" panose="02010600030101010101" pitchFamily="2" charset="-122"/>
                <a:ea typeface="宋体" panose="02010600030101010101" pitchFamily="2" charset="-122"/>
              </a:rPr>
              <a:t>s QuickTime for Windows</a:t>
            </a:r>
            <a:r>
              <a:rPr lang="zh-CN" altLang="en-US" sz="2800" b="0" dirty="0">
                <a:latin typeface="宋体" panose="02010600030101010101" pitchFamily="2" charset="-122"/>
                <a:ea typeface="宋体" panose="02010600030101010101" pitchFamily="2" charset="-122"/>
              </a:rPr>
              <a:t>，因此在</a:t>
            </a:r>
            <a:r>
              <a:rPr lang="en-US" altLang="zh-CN" sz="2800" b="0" dirty="0">
                <a:latin typeface="宋体" panose="02010600030101010101" pitchFamily="2" charset="-122"/>
                <a:ea typeface="宋体" panose="02010600030101010101" pitchFamily="2" charset="-122"/>
              </a:rPr>
              <a:t>MPC</a:t>
            </a:r>
            <a:r>
              <a:rPr lang="zh-CN" altLang="en-US" sz="2800" b="0" dirty="0">
                <a:latin typeface="宋体" panose="02010600030101010101" pitchFamily="2" charset="-122"/>
                <a:ea typeface="宋体" panose="02010600030101010101" pitchFamily="2" charset="-122"/>
              </a:rPr>
              <a:t>机（多媒体个人计算机）上也可以播放</a:t>
            </a:r>
            <a:r>
              <a:rPr lang="en-US" altLang="zh-CN" sz="2800" b="0" dirty="0">
                <a:latin typeface="宋体" panose="02010600030101010101" pitchFamily="2" charset="-122"/>
                <a:ea typeface="宋体" panose="02010600030101010101" pitchFamily="2" charset="-122"/>
              </a:rPr>
              <a:t>MOV</a:t>
            </a:r>
            <a:r>
              <a:rPr lang="zh-CN" altLang="en-US" sz="2800" b="0" dirty="0">
                <a:latin typeface="宋体" panose="02010600030101010101" pitchFamily="2" charset="-122"/>
                <a:ea typeface="宋体" panose="02010600030101010101" pitchFamily="2" charset="-122"/>
              </a:rPr>
              <a:t>视频文件。</a:t>
            </a:r>
          </a:p>
          <a:p>
            <a:pPr eaLnBrk="0" hangingPunct="0">
              <a:lnSpc>
                <a:spcPct val="125000"/>
              </a:lnSpc>
              <a:spcBef>
                <a:spcPct val="50000"/>
              </a:spcBef>
              <a:buClr>
                <a:srgbClr val="0000FF"/>
              </a:buClr>
              <a:buFont typeface="Wingdings" pitchFamily="2" charset="2"/>
              <a:buChar char="§"/>
            </a:pPr>
            <a:r>
              <a:rPr lang="zh-CN" altLang="en-US" sz="2800" b="0" dirty="0">
                <a:latin typeface="宋体" panose="02010600030101010101" pitchFamily="2" charset="-122"/>
                <a:ea typeface="宋体" panose="02010600030101010101" pitchFamily="2" charset="-122"/>
              </a:rPr>
              <a:t> </a:t>
            </a:r>
            <a:r>
              <a:rPr lang="en-US" altLang="zh-CN" sz="2800" b="0" dirty="0">
                <a:latin typeface="宋体" panose="02010600030101010101" pitchFamily="2" charset="-122"/>
                <a:ea typeface="宋体" panose="02010600030101010101" pitchFamily="2" charset="-122"/>
              </a:rPr>
              <a:t>MOV</a:t>
            </a:r>
            <a:r>
              <a:rPr lang="zh-CN" altLang="en-US" sz="2800" b="0" dirty="0">
                <a:latin typeface="宋体" panose="02010600030101010101" pitchFamily="2" charset="-122"/>
                <a:ea typeface="宋体" panose="02010600030101010101" pitchFamily="2" charset="-122"/>
              </a:rPr>
              <a:t>也可以作为一种流文件格式。</a:t>
            </a:r>
          </a:p>
        </p:txBody>
      </p:sp>
      <p:sp>
        <p:nvSpPr>
          <p:cNvPr id="6" name="Rectangle 2"/>
          <p:cNvSpPr>
            <a:spLocks noGrp="1" noChangeArrowheads="1"/>
          </p:cNvSpPr>
          <p:nvPr>
            <p:ph type="title"/>
          </p:nvPr>
        </p:nvSpPr>
        <p:spPr>
          <a:xfrm>
            <a:off x="250824" y="204785"/>
            <a:ext cx="8229600" cy="703263"/>
          </a:xfrm>
        </p:spPr>
        <p:txBody>
          <a:bodyPr>
            <a:normAutofit fontScale="90000"/>
          </a:bodyPr>
          <a:lstStyle/>
          <a:p>
            <a:r>
              <a:rPr lang="en-US" altLang="zh-CN" dirty="0"/>
              <a:t>2.5 </a:t>
            </a:r>
            <a:r>
              <a:rPr lang="zh-CN" altLang="en-US" dirty="0"/>
              <a:t>视频 文件格式</a:t>
            </a:r>
          </a:p>
        </p:txBody>
      </p:sp>
      <p:pic>
        <p:nvPicPr>
          <p:cNvPr id="2" name="图片 1"/>
          <p:cNvPicPr>
            <a:picLocks noChangeAspect="1"/>
          </p:cNvPicPr>
          <p:nvPr/>
        </p:nvPicPr>
        <p:blipFill>
          <a:blip r:embed="rId3"/>
          <a:stretch>
            <a:fillRect/>
          </a:stretch>
        </p:blipFill>
        <p:spPr>
          <a:xfrm>
            <a:off x="7164288" y="1052736"/>
            <a:ext cx="1763688" cy="1329692"/>
          </a:xfrm>
          <a:prstGeom prst="rect">
            <a:avLst/>
          </a:prstGeom>
        </p:spPr>
      </p:pic>
      <p:sp>
        <p:nvSpPr>
          <p:cNvPr id="3" name="灯片编号占位符 2">
            <a:extLst>
              <a:ext uri="{FF2B5EF4-FFF2-40B4-BE49-F238E27FC236}">
                <a16:creationId xmlns:a16="http://schemas.microsoft.com/office/drawing/2014/main" id="{0D56A9A5-FDBF-471E-8595-661D04D9D740}"/>
              </a:ext>
            </a:extLst>
          </p:cNvPr>
          <p:cNvSpPr>
            <a:spLocks noGrp="1"/>
          </p:cNvSpPr>
          <p:nvPr>
            <p:ph type="sldNum" sz="quarter" idx="12"/>
          </p:nvPr>
        </p:nvSpPr>
        <p:spPr/>
        <p:txBody>
          <a:bodyPr/>
          <a:lstStyle/>
          <a:p>
            <a:fld id="{F64BA984-46A0-4F46-990E-EC790E6934B4}" type="slidenum">
              <a:rPr lang="zh-CN" altLang="en-US" smtClean="0"/>
              <a:t>53</a:t>
            </a:fld>
            <a:endParaRPr lang="zh-CN" altLang="en-US"/>
          </a:p>
        </p:txBody>
      </p:sp>
      <p:sp>
        <p:nvSpPr>
          <p:cNvPr id="4" name="文本框 3">
            <a:extLst>
              <a:ext uri="{FF2B5EF4-FFF2-40B4-BE49-F238E27FC236}">
                <a16:creationId xmlns:a16="http://schemas.microsoft.com/office/drawing/2014/main" id="{175A7F26-2830-C3C4-249E-3383A451C3BB}"/>
              </a:ext>
            </a:extLst>
          </p:cNvPr>
          <p:cNvSpPr txBox="1"/>
          <p:nvPr/>
        </p:nvSpPr>
        <p:spPr>
          <a:xfrm>
            <a:off x="601979" y="5834513"/>
            <a:ext cx="6538649" cy="369332"/>
          </a:xfrm>
          <a:prstGeom prst="rect">
            <a:avLst/>
          </a:prstGeom>
          <a:noFill/>
        </p:spPr>
        <p:txBody>
          <a:bodyPr wrap="none" rtlCol="0">
            <a:spAutoFit/>
          </a:bodyPr>
          <a:lstStyle/>
          <a:p>
            <a:r>
              <a:rPr kumimoji="1" lang="en-US" altLang="zh-CN" i="1" dirty="0"/>
              <a:t>Hint: </a:t>
            </a:r>
            <a:r>
              <a:rPr kumimoji="1" lang="zh-CN" altLang="en-US" i="1" dirty="0"/>
              <a:t>流文件（</a:t>
            </a:r>
            <a:r>
              <a:rPr kumimoji="1" lang="en-US" altLang="zh-CN" i="1" dirty="0"/>
              <a:t>Stream File</a:t>
            </a:r>
            <a:r>
              <a:rPr kumimoji="1" lang="zh-CN" altLang="en-US" i="1" dirty="0"/>
              <a:t>）是一种按顺序生成或接收的数据文件</a:t>
            </a:r>
          </a:p>
        </p:txBody>
      </p:sp>
    </p:spTree>
    <p:extLst>
      <p:ext uri="{BB962C8B-B14F-4D97-AF65-F5344CB8AC3E}">
        <p14:creationId xmlns:p14="http://schemas.microsoft.com/office/powerpoint/2010/main" val="476159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type="body" idx="1"/>
          </p:nvPr>
        </p:nvSpPr>
        <p:spPr>
          <a:xfrm>
            <a:off x="323528" y="1124744"/>
            <a:ext cx="8640960" cy="5029200"/>
          </a:xfrm>
        </p:spPr>
        <p:txBody>
          <a:bodyPr/>
          <a:lstStyle/>
          <a:p>
            <a:pPr>
              <a:buSzTx/>
              <a:buFont typeface="Wingdings" pitchFamily="2" charset="2"/>
              <a:buNone/>
            </a:pPr>
            <a:r>
              <a:rPr lang="en-US" altLang="zh-CN" b="1" dirty="0">
                <a:solidFill>
                  <a:schemeClr val="hlink"/>
                </a:solidFill>
                <a:latin typeface="宋体" panose="02010600030101010101" pitchFamily="2" charset="-122"/>
                <a:ea typeface="宋体" panose="02010600030101010101" pitchFamily="2" charset="-122"/>
              </a:rPr>
              <a:t>RM(Real Media)</a:t>
            </a:r>
            <a:r>
              <a:rPr lang="zh-CN" altLang="en-US" b="1" dirty="0">
                <a:solidFill>
                  <a:schemeClr val="hlink"/>
                </a:solidFill>
                <a:latin typeface="宋体" panose="02010600030101010101" pitchFamily="2" charset="-122"/>
                <a:ea typeface="宋体" panose="02010600030101010101" pitchFamily="2" charset="-122"/>
              </a:rPr>
              <a:t>格式</a:t>
            </a:r>
          </a:p>
          <a:p>
            <a:pPr>
              <a:lnSpc>
                <a:spcPct val="125000"/>
              </a:lnSpc>
              <a:spcBef>
                <a:spcPct val="40000"/>
              </a:spcBef>
              <a:buSzTx/>
              <a:buFont typeface="Wingdings" pitchFamily="2" charset="2"/>
              <a:buChar char="§"/>
            </a:pPr>
            <a:r>
              <a:rPr lang="en-US" altLang="zh-CN" sz="2800" dirty="0">
                <a:latin typeface="宋体" panose="02010600030101010101" pitchFamily="2" charset="-122"/>
                <a:ea typeface="宋体" panose="02010600030101010101" pitchFamily="2" charset="-122"/>
              </a:rPr>
              <a:t>RM</a:t>
            </a:r>
            <a:r>
              <a:rPr lang="zh-CN" altLang="en-US" sz="2800" dirty="0">
                <a:latin typeface="宋体" panose="02010600030101010101" pitchFamily="2" charset="-122"/>
                <a:ea typeface="宋体" panose="02010600030101010101" pitchFamily="2" charset="-122"/>
              </a:rPr>
              <a:t>格式是</a:t>
            </a:r>
            <a:r>
              <a:rPr lang="en-US" altLang="zh-CN" sz="2800" dirty="0">
                <a:latin typeface="宋体" panose="02010600030101010101" pitchFamily="2" charset="-122"/>
                <a:ea typeface="宋体" panose="02010600030101010101" pitchFamily="2" charset="-122"/>
              </a:rPr>
              <a:t>RealNetworks</a:t>
            </a:r>
            <a:r>
              <a:rPr lang="zh-CN" altLang="en-US" sz="2800" dirty="0">
                <a:latin typeface="宋体" panose="02010600030101010101" pitchFamily="2" charset="-122"/>
                <a:ea typeface="宋体" panose="02010600030101010101" pitchFamily="2" charset="-122"/>
              </a:rPr>
              <a:t>公司开发的一种</a:t>
            </a:r>
            <a:r>
              <a:rPr lang="zh-CN" altLang="en-US" sz="2800" dirty="0">
                <a:solidFill>
                  <a:srgbClr val="0000FF"/>
                </a:solidFill>
                <a:latin typeface="宋体" panose="02010600030101010101" pitchFamily="2" charset="-122"/>
                <a:ea typeface="宋体" panose="02010600030101010101" pitchFamily="2" charset="-122"/>
              </a:rPr>
              <a:t>流式视频文件格式</a:t>
            </a:r>
            <a:r>
              <a:rPr lang="zh-CN" altLang="en-US" sz="2800" dirty="0">
                <a:latin typeface="宋体" panose="02010600030101010101" pitchFamily="2" charset="-122"/>
                <a:ea typeface="宋体" panose="02010600030101010101" pitchFamily="2" charset="-122"/>
              </a:rPr>
              <a:t>，它包括三部分：</a:t>
            </a:r>
            <a:r>
              <a:rPr lang="en-US" altLang="zh-CN" sz="2800" dirty="0">
                <a:latin typeface="宋体" panose="02010600030101010101" pitchFamily="2" charset="-122"/>
                <a:ea typeface="宋体" panose="02010600030101010101" pitchFamily="2" charset="-122"/>
              </a:rPr>
              <a:t>RealAudio</a:t>
            </a:r>
            <a:r>
              <a:rPr lang="zh-CN" altLang="en-US" sz="2800" dirty="0">
                <a:latin typeface="宋体" panose="02010600030101010101" pitchFamily="2" charset="-122"/>
                <a:ea typeface="宋体" panose="02010600030101010101" pitchFamily="2" charset="-122"/>
              </a:rPr>
              <a:t>、</a:t>
            </a:r>
            <a:r>
              <a:rPr lang="en-US" altLang="zh-CN" sz="2800" dirty="0" err="1">
                <a:latin typeface="宋体" panose="02010600030101010101" pitchFamily="2" charset="-122"/>
                <a:ea typeface="宋体" panose="02010600030101010101" pitchFamily="2" charset="-122"/>
              </a:rPr>
              <a:t>RealVideo</a:t>
            </a:r>
            <a:r>
              <a:rPr lang="zh-CN" altLang="en-US" sz="2800" dirty="0">
                <a:latin typeface="宋体" panose="02010600030101010101" pitchFamily="2" charset="-122"/>
                <a:ea typeface="宋体" panose="02010600030101010101" pitchFamily="2" charset="-122"/>
              </a:rPr>
              <a:t>和</a:t>
            </a:r>
            <a:r>
              <a:rPr lang="en-US" altLang="zh-CN" sz="2800" dirty="0" err="1">
                <a:latin typeface="宋体" panose="02010600030101010101" pitchFamily="2" charset="-122"/>
                <a:ea typeface="宋体" panose="02010600030101010101" pitchFamily="2" charset="-122"/>
              </a:rPr>
              <a:t>RealFlash</a:t>
            </a:r>
            <a:r>
              <a:rPr lang="zh-CN" altLang="en-US" sz="2800" dirty="0">
                <a:latin typeface="宋体" panose="02010600030101010101" pitchFamily="2" charset="-122"/>
                <a:ea typeface="宋体" panose="02010600030101010101" pitchFamily="2" charset="-122"/>
              </a:rPr>
              <a:t>。</a:t>
            </a:r>
          </a:p>
          <a:p>
            <a:pPr>
              <a:lnSpc>
                <a:spcPct val="125000"/>
              </a:lnSpc>
              <a:spcBef>
                <a:spcPct val="40000"/>
              </a:spcBef>
              <a:buSzTx/>
              <a:buFont typeface="Wingdings" pitchFamily="2" charset="2"/>
              <a:buChar char="§"/>
            </a:pPr>
            <a:r>
              <a:rPr lang="en-US" altLang="zh-CN" sz="2800" dirty="0" err="1">
                <a:latin typeface="宋体" panose="02010600030101010101" pitchFamily="2" charset="-122"/>
                <a:ea typeface="宋体" panose="02010600030101010101" pitchFamily="2" charset="-122"/>
              </a:rPr>
              <a:t>RealMedia</a:t>
            </a:r>
            <a:r>
              <a:rPr lang="zh-CN" altLang="en-US" sz="2800" dirty="0">
                <a:solidFill>
                  <a:srgbClr val="0000FF"/>
                </a:solidFill>
                <a:latin typeface="宋体" panose="02010600030101010101" pitchFamily="2" charset="-122"/>
                <a:ea typeface="宋体" panose="02010600030101010101" pitchFamily="2" charset="-122"/>
              </a:rPr>
              <a:t>可以根据网络数据传输速率的不同制定了不同的压缩比率</a:t>
            </a:r>
            <a:r>
              <a:rPr lang="zh-CN" altLang="en-US" sz="2800" dirty="0">
                <a:latin typeface="宋体" panose="02010600030101010101" pitchFamily="2" charset="-122"/>
                <a:ea typeface="宋体" panose="02010600030101010101" pitchFamily="2" charset="-122"/>
              </a:rPr>
              <a:t>，从而实现在低速率的广域网上进行影像数据的实时传送和实时播放。</a:t>
            </a:r>
          </a:p>
        </p:txBody>
      </p:sp>
      <p:sp>
        <p:nvSpPr>
          <p:cNvPr id="5" name="Rectangle 2"/>
          <p:cNvSpPr>
            <a:spLocks noGrp="1" noChangeArrowheads="1"/>
          </p:cNvSpPr>
          <p:nvPr>
            <p:ph type="title"/>
          </p:nvPr>
        </p:nvSpPr>
        <p:spPr>
          <a:xfrm>
            <a:off x="250824" y="204785"/>
            <a:ext cx="8229600" cy="703263"/>
          </a:xfrm>
        </p:spPr>
        <p:txBody>
          <a:bodyPr>
            <a:normAutofit fontScale="90000"/>
          </a:bodyPr>
          <a:lstStyle/>
          <a:p>
            <a:r>
              <a:rPr lang="en-US" altLang="zh-CN" dirty="0"/>
              <a:t>2.5 </a:t>
            </a:r>
            <a:r>
              <a:rPr lang="zh-CN" altLang="en-US" dirty="0"/>
              <a:t>视频 文件格式</a:t>
            </a:r>
          </a:p>
        </p:txBody>
      </p:sp>
      <p:sp>
        <p:nvSpPr>
          <p:cNvPr id="2" name="灯片编号占位符 1">
            <a:extLst>
              <a:ext uri="{FF2B5EF4-FFF2-40B4-BE49-F238E27FC236}">
                <a16:creationId xmlns:a16="http://schemas.microsoft.com/office/drawing/2014/main" id="{2742E74D-C2AE-424F-9797-415C35B07A23}"/>
              </a:ext>
            </a:extLst>
          </p:cNvPr>
          <p:cNvSpPr>
            <a:spLocks noGrp="1"/>
          </p:cNvSpPr>
          <p:nvPr>
            <p:ph type="sldNum" sz="quarter" idx="12"/>
          </p:nvPr>
        </p:nvSpPr>
        <p:spPr/>
        <p:txBody>
          <a:bodyPr/>
          <a:lstStyle/>
          <a:p>
            <a:fld id="{F64BA984-46A0-4F46-990E-EC790E6934B4}" type="slidenum">
              <a:rPr lang="zh-CN" altLang="en-US" smtClean="0"/>
              <a:t>54</a:t>
            </a:fld>
            <a:endParaRPr lang="zh-CN" altLang="en-US"/>
          </a:p>
        </p:txBody>
      </p:sp>
    </p:spTree>
    <p:extLst>
      <p:ext uri="{BB962C8B-B14F-4D97-AF65-F5344CB8AC3E}">
        <p14:creationId xmlns:p14="http://schemas.microsoft.com/office/powerpoint/2010/main" val="16448900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a:xfrm>
            <a:off x="467544" y="1268760"/>
            <a:ext cx="8352928" cy="4968552"/>
          </a:xfrm>
        </p:spPr>
        <p:txBody>
          <a:bodyPr>
            <a:normAutofit/>
          </a:bodyPr>
          <a:lstStyle/>
          <a:p>
            <a:pPr eaLnBrk="0" hangingPunct="0">
              <a:lnSpc>
                <a:spcPct val="125000"/>
              </a:lnSpc>
              <a:spcBef>
                <a:spcPct val="50000"/>
              </a:spcBef>
              <a:buClrTx/>
              <a:buSzTx/>
              <a:buFontTx/>
              <a:buNone/>
            </a:pPr>
            <a:r>
              <a:rPr lang="en-US" altLang="zh-CN" sz="2800" b="1" dirty="0">
                <a:solidFill>
                  <a:schemeClr val="hlink"/>
                </a:solidFill>
                <a:latin typeface="Times New Roman" panose="02020603050405020304" pitchFamily="18" charset="0"/>
                <a:ea typeface="宋体" panose="02010600030101010101" pitchFamily="2" charset="-122"/>
                <a:cs typeface="Times New Roman" panose="02020603050405020304" pitchFamily="18" charset="0"/>
              </a:rPr>
              <a:t>MPEG</a:t>
            </a:r>
            <a:r>
              <a:rPr lang="zh-CN" altLang="en-US" sz="2800" b="1" dirty="0">
                <a:solidFill>
                  <a:schemeClr val="hlin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M</a:t>
            </a:r>
            <a:r>
              <a:rPr lang="en-US" altLang="zh-CN" sz="2800" b="0" dirty="0">
                <a:latin typeface="Times New Roman" panose="02020603050405020304" pitchFamily="18" charset="0"/>
                <a:cs typeface="Times New Roman" panose="02020603050405020304" pitchFamily="18" charset="0"/>
              </a:rPr>
              <a:t>oving </a:t>
            </a:r>
            <a:r>
              <a:rPr lang="en-US" altLang="zh-CN" sz="2800" dirty="0">
                <a:latin typeface="Times New Roman" panose="02020603050405020304" pitchFamily="18" charset="0"/>
                <a:cs typeface="Times New Roman" panose="02020603050405020304" pitchFamily="18" charset="0"/>
              </a:rPr>
              <a:t>P</a:t>
            </a:r>
            <a:r>
              <a:rPr lang="en-US" altLang="zh-CN" sz="2800" b="0" dirty="0">
                <a:latin typeface="Times New Roman" panose="02020603050405020304" pitchFamily="18" charset="0"/>
                <a:cs typeface="Times New Roman" panose="02020603050405020304" pitchFamily="18" charset="0"/>
              </a:rPr>
              <a:t>icture </a:t>
            </a:r>
            <a:r>
              <a:rPr lang="en-US" altLang="zh-CN" sz="2800" dirty="0">
                <a:latin typeface="Times New Roman" panose="02020603050405020304" pitchFamily="18" charset="0"/>
                <a:cs typeface="Times New Roman" panose="02020603050405020304" pitchFamily="18" charset="0"/>
              </a:rPr>
              <a:t>E</a:t>
            </a:r>
            <a:r>
              <a:rPr lang="en-US" altLang="zh-CN" sz="2800" b="0" dirty="0">
                <a:latin typeface="Times New Roman" panose="02020603050405020304" pitchFamily="18" charset="0"/>
                <a:cs typeface="Times New Roman" panose="02020603050405020304" pitchFamily="18" charset="0"/>
              </a:rPr>
              <a:t>xperts </a:t>
            </a:r>
            <a:r>
              <a:rPr lang="en-US" altLang="zh-CN" sz="2800" dirty="0">
                <a:latin typeface="Times New Roman" panose="02020603050405020304" pitchFamily="18" charset="0"/>
                <a:cs typeface="Times New Roman" panose="02020603050405020304" pitchFamily="18" charset="0"/>
              </a:rPr>
              <a:t>G</a:t>
            </a:r>
            <a:r>
              <a:rPr lang="en-US" altLang="zh-CN" sz="2800" b="0" dirty="0">
                <a:latin typeface="Times New Roman" panose="02020603050405020304" pitchFamily="18" charset="0"/>
                <a:cs typeface="Times New Roman" panose="02020603050405020304" pitchFamily="18" charset="0"/>
              </a:rPr>
              <a:t>roup </a:t>
            </a:r>
            <a:r>
              <a:rPr lang="zh-CN" altLang="en-US" sz="2800" b="1" dirty="0">
                <a:solidFill>
                  <a:schemeClr val="hlin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dirty="0">
              <a:solidFill>
                <a:schemeClr val="hlink"/>
              </a:solidFill>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ct val="125000"/>
              </a:lnSpc>
              <a:spcBef>
                <a:spcPct val="50000"/>
              </a:spcBef>
              <a:buClrTx/>
              <a:buSzTx/>
              <a:buFontTx/>
              <a:buNone/>
            </a:pPr>
            <a:r>
              <a:rPr lang="zh-CN" altLang="en-US" dirty="0">
                <a:latin typeface="Times New Roman" panose="02020603050405020304" pitchFamily="18" charset="0"/>
                <a:cs typeface="Times New Roman" panose="02020603050405020304" pitchFamily="18" charset="0"/>
              </a:rPr>
              <a:t>动态影像专家小组</a:t>
            </a:r>
            <a:endParaRPr lang="en-US" altLang="zh-CN" dirty="0">
              <a:latin typeface="Times New Roman" panose="02020603050405020304" pitchFamily="18" charset="0"/>
              <a:cs typeface="Times New Roman" panose="02020603050405020304" pitchFamily="18" charset="0"/>
            </a:endParaRPr>
          </a:p>
          <a:p>
            <a:pPr eaLnBrk="0" hangingPunct="0">
              <a:lnSpc>
                <a:spcPct val="125000"/>
              </a:lnSpc>
              <a:spcBef>
                <a:spcPct val="50000"/>
              </a:spcBef>
              <a:buClrTx/>
              <a:buSzTx/>
              <a:buFontTx/>
              <a:buNone/>
            </a:pPr>
            <a:r>
              <a:rPr lang="en-US" altLang="zh-CN" b="0" dirty="0">
                <a:solidFill>
                  <a:schemeClr val="tx1"/>
                </a:solidFill>
              </a:rPr>
              <a:t>1988</a:t>
            </a:r>
            <a:r>
              <a:rPr lang="zh-CN" altLang="en-US" b="0" dirty="0">
                <a:solidFill>
                  <a:schemeClr val="tx1"/>
                </a:solidFill>
              </a:rPr>
              <a:t>年由</a:t>
            </a:r>
            <a:r>
              <a:rPr lang="en-US" altLang="zh-CN" b="0" dirty="0">
                <a:solidFill>
                  <a:schemeClr val="tx1"/>
                </a:solidFill>
              </a:rPr>
              <a:t>ISO</a:t>
            </a:r>
            <a:r>
              <a:rPr lang="zh-CN" altLang="en-US" b="0" dirty="0">
                <a:solidFill>
                  <a:schemeClr val="tx1"/>
                </a:solidFill>
              </a:rPr>
              <a:t>与</a:t>
            </a:r>
            <a:r>
              <a:rPr lang="en-US" altLang="zh-CN" b="0" dirty="0">
                <a:solidFill>
                  <a:schemeClr val="tx1"/>
                </a:solidFill>
              </a:rPr>
              <a:t>IEC</a:t>
            </a:r>
            <a:r>
              <a:rPr lang="zh-CN" altLang="en-US" b="0" dirty="0">
                <a:solidFill>
                  <a:schemeClr val="tx1"/>
                </a:solidFill>
              </a:rPr>
              <a:t>等国际组织的工作小组，</a:t>
            </a:r>
            <a:endParaRPr lang="en-US" altLang="zh-CN" b="0" dirty="0">
              <a:solidFill>
                <a:schemeClr val="tx1"/>
              </a:solidFill>
            </a:endParaRPr>
          </a:p>
          <a:p>
            <a:pPr eaLnBrk="0" hangingPunct="0">
              <a:lnSpc>
                <a:spcPct val="125000"/>
              </a:lnSpc>
              <a:spcBef>
                <a:spcPct val="50000"/>
              </a:spcBef>
              <a:buClrTx/>
              <a:buSzTx/>
              <a:buFontTx/>
              <a:buNone/>
            </a:pPr>
            <a:r>
              <a:rPr lang="zh-CN" altLang="en-US" b="0" dirty="0">
                <a:solidFill>
                  <a:schemeClr val="tx1"/>
                </a:solidFill>
              </a:rPr>
              <a:t>制定影音压缩及传输的规格标准。</a:t>
            </a:r>
            <a:endParaRPr lang="zh-CN" altLang="en-US" sz="2800" b="0" dirty="0">
              <a:solidFill>
                <a:schemeClr val="tx1"/>
              </a:solidFill>
              <a:ea typeface="宋体" panose="02010600030101010101" pitchFamily="2" charset="-122"/>
            </a:endParaRPr>
          </a:p>
        </p:txBody>
      </p:sp>
      <p:sp>
        <p:nvSpPr>
          <p:cNvPr id="5" name="Rectangle 2"/>
          <p:cNvSpPr>
            <a:spLocks noGrp="1" noChangeArrowheads="1"/>
          </p:cNvSpPr>
          <p:nvPr>
            <p:ph type="title"/>
          </p:nvPr>
        </p:nvSpPr>
        <p:spPr>
          <a:xfrm>
            <a:off x="250824" y="204785"/>
            <a:ext cx="8229600" cy="703263"/>
          </a:xfrm>
        </p:spPr>
        <p:txBody>
          <a:bodyPr>
            <a:normAutofit fontScale="90000"/>
          </a:bodyPr>
          <a:lstStyle/>
          <a:p>
            <a:r>
              <a:rPr lang="en-US" altLang="zh-CN" dirty="0"/>
              <a:t>2.5 </a:t>
            </a:r>
            <a:r>
              <a:rPr lang="zh-CN" altLang="en-US" dirty="0"/>
              <a:t>视频 文件格式</a:t>
            </a:r>
          </a:p>
        </p:txBody>
      </p:sp>
      <p:sp>
        <p:nvSpPr>
          <p:cNvPr id="2" name="灯片编号占位符 1">
            <a:extLst>
              <a:ext uri="{FF2B5EF4-FFF2-40B4-BE49-F238E27FC236}">
                <a16:creationId xmlns:a16="http://schemas.microsoft.com/office/drawing/2014/main" id="{AA74665B-9224-4F15-9ED3-3489C797C006}"/>
              </a:ext>
            </a:extLst>
          </p:cNvPr>
          <p:cNvSpPr>
            <a:spLocks noGrp="1"/>
          </p:cNvSpPr>
          <p:nvPr>
            <p:ph type="sldNum" sz="quarter" idx="12"/>
          </p:nvPr>
        </p:nvSpPr>
        <p:spPr/>
        <p:txBody>
          <a:bodyPr/>
          <a:lstStyle/>
          <a:p>
            <a:fld id="{F64BA984-46A0-4F46-990E-EC790E6934B4}" type="slidenum">
              <a:rPr lang="zh-CN" altLang="en-US" smtClean="0"/>
              <a:t>55</a:t>
            </a:fld>
            <a:endParaRPr lang="zh-CN" altLang="en-US"/>
          </a:p>
        </p:txBody>
      </p:sp>
      <p:pic>
        <p:nvPicPr>
          <p:cNvPr id="1026" name="Picture 2" descr="Mpeg.svg">
            <a:extLst>
              <a:ext uri="{FF2B5EF4-FFF2-40B4-BE49-F238E27FC236}">
                <a16:creationId xmlns:a16="http://schemas.microsoft.com/office/drawing/2014/main" id="{A05BEACD-E884-4342-A102-0B3859631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9425" y="4408512"/>
            <a:ext cx="310515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50662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8A8D71-AA51-4777-A0B4-0A129F9877F6}"/>
              </a:ext>
            </a:extLst>
          </p:cNvPr>
          <p:cNvSpPr>
            <a:spLocks noGrp="1"/>
          </p:cNvSpPr>
          <p:nvPr>
            <p:ph idx="1"/>
          </p:nvPr>
        </p:nvSpPr>
        <p:spPr>
          <a:xfrm>
            <a:off x="255014" y="1196752"/>
            <a:ext cx="8709473" cy="5610824"/>
          </a:xfrm>
        </p:spPr>
        <p:txBody>
          <a:bodyPr>
            <a:normAutofit/>
          </a:bodyPr>
          <a:lstStyle/>
          <a:p>
            <a:pPr eaLnBrk="0" hangingPunct="0">
              <a:lnSpc>
                <a:spcPct val="125000"/>
              </a:lnSpc>
              <a:spcBef>
                <a:spcPct val="50000"/>
              </a:spcBef>
              <a:buClrTx/>
              <a:buSzTx/>
              <a:buFontTx/>
              <a:buNone/>
            </a:pPr>
            <a:r>
              <a:rPr lang="en-US" altLang="zh-CN" dirty="0">
                <a:solidFill>
                  <a:schemeClr val="hlink"/>
                </a:solidFill>
              </a:rPr>
              <a:t>MPEG</a:t>
            </a:r>
            <a:endParaRPr lang="en-US" altLang="zh-CN" dirty="0"/>
          </a:p>
          <a:p>
            <a:pPr marL="571500" lvl="1" indent="-457200">
              <a:lnSpc>
                <a:spcPct val="135000"/>
              </a:lnSpc>
              <a:buSzPct val="110000"/>
              <a:buFont typeface="Arial" panose="020B0604020202020204" pitchFamily="34" charset="0"/>
              <a:buChar char="•"/>
            </a:pPr>
            <a:r>
              <a:rPr lang="zh-CN" altLang="en-US" dirty="0"/>
              <a:t>用</a:t>
            </a:r>
            <a:r>
              <a:rPr lang="en-US" altLang="zh-CN" dirty="0"/>
              <a:t>MPEG</a:t>
            </a:r>
            <a:r>
              <a:rPr lang="zh-CN" altLang="en-US" dirty="0"/>
              <a:t>算法压缩的全运动图像视频文件。支持</a:t>
            </a:r>
            <a:r>
              <a:rPr lang="en-US" altLang="zh-CN" dirty="0"/>
              <a:t>1024X768</a:t>
            </a:r>
            <a:r>
              <a:rPr lang="zh-CN" altLang="en-US" dirty="0"/>
              <a:t>分辨率，</a:t>
            </a:r>
            <a:r>
              <a:rPr lang="en-US" altLang="zh-CN" dirty="0"/>
              <a:t>25</a:t>
            </a:r>
            <a:r>
              <a:rPr lang="zh-CN" altLang="en-US" dirty="0"/>
              <a:t>或</a:t>
            </a:r>
            <a:r>
              <a:rPr lang="en-US" altLang="zh-CN" dirty="0"/>
              <a:t>30</a:t>
            </a:r>
            <a:r>
              <a:rPr lang="zh-CN" altLang="en-US" dirty="0"/>
              <a:t>帧播放，压缩文件的大小是</a:t>
            </a:r>
            <a:r>
              <a:rPr lang="en-US" altLang="zh-CN" dirty="0"/>
              <a:t>AVI</a:t>
            </a:r>
            <a:r>
              <a:rPr lang="zh-CN" altLang="en-US" dirty="0"/>
              <a:t>的</a:t>
            </a:r>
            <a:r>
              <a:rPr lang="en-US" altLang="zh-CN" dirty="0"/>
              <a:t>1/6.</a:t>
            </a:r>
          </a:p>
          <a:p>
            <a:pPr marL="571500" lvl="1" indent="-457200">
              <a:lnSpc>
                <a:spcPct val="135000"/>
              </a:lnSpc>
              <a:buSzPct val="110000"/>
              <a:buFont typeface="Arial" panose="020B0604020202020204" pitchFamily="34" charset="0"/>
              <a:buChar char="•"/>
            </a:pPr>
            <a:r>
              <a:rPr lang="en-US" altLang="zh-CN" dirty="0"/>
              <a:t>MPEG</a:t>
            </a:r>
            <a:r>
              <a:rPr lang="zh-CN" altLang="en-US" dirty="0"/>
              <a:t>影像编码是基于变换的</a:t>
            </a:r>
            <a:r>
              <a:rPr lang="zh-CN" altLang="en-US" dirty="0">
                <a:solidFill>
                  <a:srgbClr val="C00000"/>
                </a:solidFill>
              </a:rPr>
              <a:t>有损压缩</a:t>
            </a:r>
            <a:r>
              <a:rPr lang="zh-CN" altLang="en-US" dirty="0"/>
              <a:t>。光学信号先经过采样形成视频信号，视频信号基本的单位叫做帧，一个帧就是一个独立的图像，然后帧被分割成小块做变换编码，然后量化，最后进行熵编码</a:t>
            </a:r>
          </a:p>
        </p:txBody>
      </p:sp>
      <p:sp>
        <p:nvSpPr>
          <p:cNvPr id="3" name="标题 2">
            <a:extLst>
              <a:ext uri="{FF2B5EF4-FFF2-40B4-BE49-F238E27FC236}">
                <a16:creationId xmlns:a16="http://schemas.microsoft.com/office/drawing/2014/main" id="{D96ACAFE-CE10-4AD5-8721-E238AA9F0DC1}"/>
              </a:ext>
            </a:extLst>
          </p:cNvPr>
          <p:cNvSpPr>
            <a:spLocks noGrp="1"/>
          </p:cNvSpPr>
          <p:nvPr>
            <p:ph type="title"/>
          </p:nvPr>
        </p:nvSpPr>
        <p:spPr/>
        <p:txBody>
          <a:bodyPr>
            <a:normAutofit fontScale="90000"/>
          </a:bodyPr>
          <a:lstStyle/>
          <a:p>
            <a:r>
              <a:rPr lang="en-US" altLang="zh-CN" dirty="0"/>
              <a:t>2.5 </a:t>
            </a:r>
            <a:r>
              <a:rPr lang="zh-CN" altLang="en-US" dirty="0"/>
              <a:t>视频 文件格式</a:t>
            </a:r>
          </a:p>
        </p:txBody>
      </p:sp>
      <p:sp>
        <p:nvSpPr>
          <p:cNvPr id="4" name="灯片编号占位符 3">
            <a:extLst>
              <a:ext uri="{FF2B5EF4-FFF2-40B4-BE49-F238E27FC236}">
                <a16:creationId xmlns:a16="http://schemas.microsoft.com/office/drawing/2014/main" id="{052D122A-73C4-4CF6-BE11-59D3F2DE061F}"/>
              </a:ext>
            </a:extLst>
          </p:cNvPr>
          <p:cNvSpPr>
            <a:spLocks noGrp="1"/>
          </p:cNvSpPr>
          <p:nvPr>
            <p:ph type="sldNum" sz="quarter" idx="12"/>
          </p:nvPr>
        </p:nvSpPr>
        <p:spPr/>
        <p:txBody>
          <a:bodyPr/>
          <a:lstStyle/>
          <a:p>
            <a:fld id="{F64BA984-46A0-4F46-990E-EC790E6934B4}" type="slidenum">
              <a:rPr lang="zh-CN" altLang="en-US" smtClean="0"/>
              <a:t>56</a:t>
            </a:fld>
            <a:endParaRPr lang="zh-CN" altLang="en-US"/>
          </a:p>
        </p:txBody>
      </p:sp>
    </p:spTree>
    <p:extLst>
      <p:ext uri="{BB962C8B-B14F-4D97-AF65-F5344CB8AC3E}">
        <p14:creationId xmlns:p14="http://schemas.microsoft.com/office/powerpoint/2010/main" val="36065932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8A8D71-AA51-4777-A0B4-0A129F9877F6}"/>
              </a:ext>
            </a:extLst>
          </p:cNvPr>
          <p:cNvSpPr>
            <a:spLocks noGrp="1"/>
          </p:cNvSpPr>
          <p:nvPr>
            <p:ph idx="1"/>
          </p:nvPr>
        </p:nvSpPr>
        <p:spPr>
          <a:xfrm>
            <a:off x="255015" y="1196752"/>
            <a:ext cx="8229600" cy="5544616"/>
          </a:xfrm>
        </p:spPr>
        <p:txBody>
          <a:bodyPr>
            <a:normAutofit/>
          </a:bodyPr>
          <a:lstStyle/>
          <a:p>
            <a:pPr eaLnBrk="0" hangingPunct="0">
              <a:lnSpc>
                <a:spcPct val="125000"/>
              </a:lnSpc>
              <a:spcBef>
                <a:spcPct val="50000"/>
              </a:spcBef>
              <a:buClrTx/>
              <a:buSzTx/>
              <a:buFontTx/>
              <a:buNone/>
            </a:pPr>
            <a:r>
              <a:rPr lang="en-US" altLang="zh-CN" dirty="0">
                <a:solidFill>
                  <a:schemeClr val="hlink"/>
                </a:solidFill>
              </a:rPr>
              <a:t>MPEG</a:t>
            </a:r>
            <a:endParaRPr lang="en-US" altLang="zh-CN" dirty="0"/>
          </a:p>
          <a:p>
            <a:pPr marL="571500" lvl="1" indent="-457200">
              <a:lnSpc>
                <a:spcPct val="125000"/>
              </a:lnSpc>
              <a:buSzPct val="110000"/>
              <a:buFont typeface="Arial" panose="020B0604020202020204" pitchFamily="34" charset="0"/>
              <a:buChar char="•"/>
            </a:pPr>
            <a:r>
              <a:rPr lang="en-US" altLang="zh-CN" dirty="0"/>
              <a:t>MPEG</a:t>
            </a:r>
            <a:r>
              <a:rPr lang="zh-CN" altLang="en-US" dirty="0"/>
              <a:t>技术是近</a:t>
            </a:r>
            <a:r>
              <a:rPr lang="en-US" altLang="zh-CN" dirty="0"/>
              <a:t>10</a:t>
            </a:r>
            <a:r>
              <a:rPr lang="zh-CN" altLang="en-US" dirty="0"/>
              <a:t>年国际图像压缩编码技术的结晶，也是伴随信息时代应运而生的热门技术。</a:t>
            </a:r>
            <a:r>
              <a:rPr lang="en-US" altLang="zh-CN" dirty="0"/>
              <a:t>MPEG</a:t>
            </a:r>
            <a:r>
              <a:rPr lang="zh-CN" altLang="en-US" dirty="0"/>
              <a:t>主要包括</a:t>
            </a:r>
            <a:r>
              <a:rPr lang="en-US" altLang="zh-CN" dirty="0"/>
              <a:t>MPEG</a:t>
            </a:r>
            <a:r>
              <a:rPr lang="zh-CN" altLang="en-US" dirty="0"/>
              <a:t>视频、</a:t>
            </a:r>
            <a:r>
              <a:rPr lang="en-US" altLang="zh-CN" dirty="0"/>
              <a:t>MPEG</a:t>
            </a:r>
            <a:r>
              <a:rPr lang="zh-CN" altLang="en-US" dirty="0"/>
              <a:t>音频和</a:t>
            </a:r>
            <a:r>
              <a:rPr lang="en-US" altLang="zh-CN" dirty="0"/>
              <a:t>MPEG</a:t>
            </a:r>
            <a:r>
              <a:rPr lang="zh-CN" altLang="en-US" dirty="0"/>
              <a:t>系统（视音频同步）三个部分。</a:t>
            </a:r>
          </a:p>
          <a:p>
            <a:pPr marL="571500" lvl="1" indent="-457200">
              <a:lnSpc>
                <a:spcPct val="125000"/>
              </a:lnSpc>
              <a:buSzPct val="110000"/>
              <a:buFont typeface="Arial" panose="020B0604020202020204" pitchFamily="34" charset="0"/>
              <a:buChar char="•"/>
            </a:pPr>
            <a:r>
              <a:rPr lang="en-US" altLang="zh-CN" u="sng" dirty="0">
                <a:solidFill>
                  <a:srgbClr val="C00000"/>
                </a:solidFill>
              </a:rPr>
              <a:t>MPEG</a:t>
            </a:r>
            <a:r>
              <a:rPr lang="zh-CN" altLang="en-US" u="sng" dirty="0">
                <a:solidFill>
                  <a:srgbClr val="C00000"/>
                </a:solidFill>
              </a:rPr>
              <a:t>压缩标准是针对运动图像而设计的</a:t>
            </a:r>
            <a:r>
              <a:rPr lang="zh-CN" altLang="en-US" dirty="0"/>
              <a:t>，其平均压缩比可达</a:t>
            </a:r>
            <a:r>
              <a:rPr lang="en-US" altLang="zh-CN" dirty="0"/>
              <a:t>50</a:t>
            </a:r>
            <a:r>
              <a:rPr lang="zh-CN" altLang="en-US" dirty="0"/>
              <a:t>：</a:t>
            </a:r>
            <a:r>
              <a:rPr lang="en-US" altLang="zh-CN" dirty="0"/>
              <a:t>1</a:t>
            </a:r>
            <a:r>
              <a:rPr lang="zh-CN" altLang="en-US" dirty="0"/>
              <a:t>，压缩率比较高，且又有统一的格式，兼容性好。</a:t>
            </a:r>
          </a:p>
          <a:p>
            <a:endParaRPr lang="zh-CN" altLang="en-US" dirty="0"/>
          </a:p>
        </p:txBody>
      </p:sp>
      <p:sp>
        <p:nvSpPr>
          <p:cNvPr id="3" name="标题 2">
            <a:extLst>
              <a:ext uri="{FF2B5EF4-FFF2-40B4-BE49-F238E27FC236}">
                <a16:creationId xmlns:a16="http://schemas.microsoft.com/office/drawing/2014/main" id="{D96ACAFE-CE10-4AD5-8721-E238AA9F0DC1}"/>
              </a:ext>
            </a:extLst>
          </p:cNvPr>
          <p:cNvSpPr>
            <a:spLocks noGrp="1"/>
          </p:cNvSpPr>
          <p:nvPr>
            <p:ph type="title"/>
          </p:nvPr>
        </p:nvSpPr>
        <p:spPr/>
        <p:txBody>
          <a:bodyPr>
            <a:normAutofit fontScale="90000"/>
          </a:bodyPr>
          <a:lstStyle/>
          <a:p>
            <a:r>
              <a:rPr lang="en-US" altLang="zh-CN" dirty="0"/>
              <a:t>2.5 </a:t>
            </a:r>
            <a:r>
              <a:rPr lang="zh-CN" altLang="en-US" dirty="0"/>
              <a:t>视频 文件格式</a:t>
            </a:r>
          </a:p>
        </p:txBody>
      </p:sp>
      <p:sp>
        <p:nvSpPr>
          <p:cNvPr id="4" name="灯片编号占位符 3">
            <a:extLst>
              <a:ext uri="{FF2B5EF4-FFF2-40B4-BE49-F238E27FC236}">
                <a16:creationId xmlns:a16="http://schemas.microsoft.com/office/drawing/2014/main" id="{052D122A-73C4-4CF6-BE11-59D3F2DE061F}"/>
              </a:ext>
            </a:extLst>
          </p:cNvPr>
          <p:cNvSpPr>
            <a:spLocks noGrp="1"/>
          </p:cNvSpPr>
          <p:nvPr>
            <p:ph type="sldNum" sz="quarter" idx="12"/>
          </p:nvPr>
        </p:nvSpPr>
        <p:spPr/>
        <p:txBody>
          <a:bodyPr/>
          <a:lstStyle/>
          <a:p>
            <a:fld id="{F64BA984-46A0-4F46-990E-EC790E6934B4}" type="slidenum">
              <a:rPr lang="zh-CN" altLang="en-US" smtClean="0"/>
              <a:t>57</a:t>
            </a:fld>
            <a:endParaRPr lang="zh-CN" altLang="en-US"/>
          </a:p>
        </p:txBody>
      </p:sp>
    </p:spTree>
    <p:extLst>
      <p:ext uri="{BB962C8B-B14F-4D97-AF65-F5344CB8AC3E}">
        <p14:creationId xmlns:p14="http://schemas.microsoft.com/office/powerpoint/2010/main" val="14007571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8A8D71-AA51-4777-A0B4-0A129F9877F6}"/>
              </a:ext>
            </a:extLst>
          </p:cNvPr>
          <p:cNvSpPr>
            <a:spLocks noGrp="1"/>
          </p:cNvSpPr>
          <p:nvPr>
            <p:ph idx="1"/>
          </p:nvPr>
        </p:nvSpPr>
        <p:spPr>
          <a:xfrm>
            <a:off x="255014" y="1196752"/>
            <a:ext cx="8637465" cy="5610824"/>
          </a:xfrm>
        </p:spPr>
        <p:txBody>
          <a:bodyPr>
            <a:normAutofit/>
          </a:bodyPr>
          <a:lstStyle/>
          <a:p>
            <a:pPr eaLnBrk="0" hangingPunct="0">
              <a:lnSpc>
                <a:spcPct val="125000"/>
              </a:lnSpc>
              <a:spcBef>
                <a:spcPct val="50000"/>
              </a:spcBef>
              <a:buClrTx/>
              <a:buSzTx/>
              <a:buFontTx/>
              <a:buNone/>
            </a:pPr>
            <a:r>
              <a:rPr lang="en-US" altLang="zh-CN" dirty="0">
                <a:solidFill>
                  <a:schemeClr val="hlink"/>
                </a:solidFill>
              </a:rPr>
              <a:t>MPEG</a:t>
            </a:r>
            <a:endParaRPr lang="en-US" altLang="zh-CN" dirty="0"/>
          </a:p>
          <a:p>
            <a:pPr marL="571500" lvl="1" indent="-457200">
              <a:lnSpc>
                <a:spcPct val="145000"/>
              </a:lnSpc>
              <a:buSzPct val="110000"/>
              <a:buFont typeface="Arial" panose="020B0604020202020204" pitchFamily="34" charset="0"/>
              <a:buChar char="•"/>
            </a:pPr>
            <a:r>
              <a:rPr lang="en-US" altLang="zh-CN" dirty="0"/>
              <a:t>MPEG</a:t>
            </a:r>
            <a:r>
              <a:rPr lang="zh-CN" altLang="en-US" dirty="0"/>
              <a:t>标准阐明了声音和电视图像的编码和解码过程，但没有对所有内容都作严格规定，尤其是对压缩和解压缩的算法，人们可以不断改进编码和解码算法，提高声音和电视图像的质量以及编码效率。</a:t>
            </a:r>
          </a:p>
          <a:p>
            <a:pPr marL="571500" lvl="1" indent="-457200">
              <a:lnSpc>
                <a:spcPct val="145000"/>
              </a:lnSpc>
              <a:buSzPct val="110000"/>
              <a:buFont typeface="Arial" panose="020B0604020202020204" pitchFamily="34" charset="0"/>
              <a:buChar char="•"/>
            </a:pPr>
            <a:r>
              <a:rPr lang="en-US" altLang="zh-CN" dirty="0"/>
              <a:t>MPEG </a:t>
            </a:r>
            <a:r>
              <a:rPr lang="zh-CN" altLang="en-US" b="1" dirty="0"/>
              <a:t>对于不同带宽和数字影像质量的要求</a:t>
            </a:r>
            <a:r>
              <a:rPr lang="zh-CN" altLang="en-US" dirty="0"/>
              <a:t>完成多个版本。</a:t>
            </a:r>
            <a:r>
              <a:rPr lang="en-US" altLang="zh-CN" dirty="0">
                <a:solidFill>
                  <a:srgbClr val="C00000"/>
                </a:solidFill>
              </a:rPr>
              <a:t>MPEG-1</a:t>
            </a:r>
            <a:r>
              <a:rPr lang="zh-CN" altLang="en-US" dirty="0"/>
              <a:t>、</a:t>
            </a:r>
            <a:r>
              <a:rPr lang="en-US" altLang="zh-CN" dirty="0">
                <a:solidFill>
                  <a:srgbClr val="C00000"/>
                </a:solidFill>
              </a:rPr>
              <a:t>MPEG-2</a:t>
            </a:r>
            <a:r>
              <a:rPr lang="zh-CN" altLang="en-US" dirty="0"/>
              <a:t>和</a:t>
            </a:r>
            <a:r>
              <a:rPr lang="en-US" altLang="zh-CN" dirty="0">
                <a:solidFill>
                  <a:srgbClr val="C00000"/>
                </a:solidFill>
              </a:rPr>
              <a:t>MPEG-4</a:t>
            </a:r>
            <a:r>
              <a:rPr lang="zh-CN" altLang="en-US" dirty="0"/>
              <a:t>、 </a:t>
            </a:r>
            <a:r>
              <a:rPr lang="en-US" altLang="zh-CN" dirty="0">
                <a:solidFill>
                  <a:srgbClr val="C00000"/>
                </a:solidFill>
              </a:rPr>
              <a:t>MPEG-7</a:t>
            </a:r>
            <a:r>
              <a:rPr lang="zh-CN" altLang="en-US" dirty="0"/>
              <a:t>等。</a:t>
            </a:r>
          </a:p>
          <a:p>
            <a:endParaRPr lang="zh-CN" altLang="en-US" dirty="0"/>
          </a:p>
        </p:txBody>
      </p:sp>
      <p:sp>
        <p:nvSpPr>
          <p:cNvPr id="3" name="标题 2">
            <a:extLst>
              <a:ext uri="{FF2B5EF4-FFF2-40B4-BE49-F238E27FC236}">
                <a16:creationId xmlns:a16="http://schemas.microsoft.com/office/drawing/2014/main" id="{D96ACAFE-CE10-4AD5-8721-E238AA9F0DC1}"/>
              </a:ext>
            </a:extLst>
          </p:cNvPr>
          <p:cNvSpPr>
            <a:spLocks noGrp="1"/>
          </p:cNvSpPr>
          <p:nvPr>
            <p:ph type="title"/>
          </p:nvPr>
        </p:nvSpPr>
        <p:spPr/>
        <p:txBody>
          <a:bodyPr>
            <a:normAutofit fontScale="90000"/>
          </a:bodyPr>
          <a:lstStyle/>
          <a:p>
            <a:r>
              <a:rPr lang="en-US" altLang="zh-CN" dirty="0"/>
              <a:t>2.5 </a:t>
            </a:r>
            <a:r>
              <a:rPr lang="zh-CN" altLang="en-US" dirty="0"/>
              <a:t>视频 文件格式</a:t>
            </a:r>
          </a:p>
        </p:txBody>
      </p:sp>
      <p:sp>
        <p:nvSpPr>
          <p:cNvPr id="4" name="灯片编号占位符 3">
            <a:extLst>
              <a:ext uri="{FF2B5EF4-FFF2-40B4-BE49-F238E27FC236}">
                <a16:creationId xmlns:a16="http://schemas.microsoft.com/office/drawing/2014/main" id="{052D122A-73C4-4CF6-BE11-59D3F2DE061F}"/>
              </a:ext>
            </a:extLst>
          </p:cNvPr>
          <p:cNvSpPr>
            <a:spLocks noGrp="1"/>
          </p:cNvSpPr>
          <p:nvPr>
            <p:ph type="sldNum" sz="quarter" idx="12"/>
          </p:nvPr>
        </p:nvSpPr>
        <p:spPr/>
        <p:txBody>
          <a:bodyPr/>
          <a:lstStyle/>
          <a:p>
            <a:fld id="{F64BA984-46A0-4F46-990E-EC790E6934B4}" type="slidenum">
              <a:rPr lang="zh-CN" altLang="en-US" smtClean="0"/>
              <a:t>58</a:t>
            </a:fld>
            <a:endParaRPr lang="zh-CN" altLang="en-US"/>
          </a:p>
        </p:txBody>
      </p:sp>
    </p:spTree>
    <p:extLst>
      <p:ext uri="{BB962C8B-B14F-4D97-AF65-F5344CB8AC3E}">
        <p14:creationId xmlns:p14="http://schemas.microsoft.com/office/powerpoint/2010/main" val="20405044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8A8D71-AA51-4777-A0B4-0A129F9877F6}"/>
              </a:ext>
            </a:extLst>
          </p:cNvPr>
          <p:cNvSpPr>
            <a:spLocks noGrp="1"/>
          </p:cNvSpPr>
          <p:nvPr>
            <p:ph idx="1"/>
          </p:nvPr>
        </p:nvSpPr>
        <p:spPr>
          <a:xfrm>
            <a:off x="255014" y="1196752"/>
            <a:ext cx="8637465" cy="5610824"/>
          </a:xfrm>
        </p:spPr>
        <p:txBody>
          <a:bodyPr>
            <a:normAutofit/>
          </a:bodyPr>
          <a:lstStyle/>
          <a:p>
            <a:pPr eaLnBrk="0" hangingPunct="0">
              <a:lnSpc>
                <a:spcPct val="125000"/>
              </a:lnSpc>
              <a:spcBef>
                <a:spcPct val="50000"/>
              </a:spcBef>
              <a:buClrTx/>
              <a:buSzTx/>
              <a:buFontTx/>
              <a:buNone/>
            </a:pPr>
            <a:r>
              <a:rPr lang="en-US" altLang="zh-CN" dirty="0">
                <a:solidFill>
                  <a:schemeClr val="hlink"/>
                </a:solidFill>
              </a:rPr>
              <a:t>MPEG-1</a:t>
            </a:r>
            <a:endParaRPr lang="en-US" altLang="zh-CN" dirty="0"/>
          </a:p>
          <a:p>
            <a:pPr marL="571500" lvl="1" indent="-457200">
              <a:lnSpc>
                <a:spcPct val="145000"/>
              </a:lnSpc>
              <a:buSzPct val="110000"/>
              <a:buFont typeface="Arial" panose="020B0604020202020204" pitchFamily="34" charset="0"/>
              <a:buChar char="•"/>
            </a:pPr>
            <a:r>
              <a:rPr lang="zh-CN" altLang="en-US" sz="2400" dirty="0"/>
              <a:t>第一个官方的视讯音频压缩标准，随后在</a:t>
            </a:r>
            <a:r>
              <a:rPr lang="en-US" altLang="zh-CN" sz="2400" dirty="0"/>
              <a:t>Video CD</a:t>
            </a:r>
            <a:r>
              <a:rPr lang="zh-CN" altLang="en-US" sz="2400" dirty="0"/>
              <a:t>中被采用，其中的</a:t>
            </a:r>
            <a:r>
              <a:rPr lang="zh-CN" altLang="en-US" sz="2400" b="1" dirty="0"/>
              <a:t>音频压缩的第三级</a:t>
            </a:r>
            <a:r>
              <a:rPr lang="zh-CN" altLang="en-US" sz="2400" dirty="0"/>
              <a:t>（</a:t>
            </a:r>
            <a:r>
              <a:rPr lang="en-US" altLang="zh-CN" sz="2400" dirty="0"/>
              <a:t>MPEG-1 Layer 3</a:t>
            </a:r>
            <a:r>
              <a:rPr lang="zh-CN" altLang="en-US" sz="2400" dirty="0"/>
              <a:t>）简称</a:t>
            </a:r>
            <a:r>
              <a:rPr lang="en-US" altLang="zh-CN" sz="2400" dirty="0"/>
              <a:t>MP3</a:t>
            </a:r>
            <a:r>
              <a:rPr lang="zh-CN" altLang="en-US" sz="2400" dirty="0"/>
              <a:t>，成为比较流行的音频压缩格式。</a:t>
            </a:r>
          </a:p>
          <a:p>
            <a:pPr marL="571500" lvl="1" indent="-457200">
              <a:lnSpc>
                <a:spcPct val="145000"/>
              </a:lnSpc>
              <a:buSzPct val="110000"/>
              <a:buFont typeface="Arial" panose="020B0604020202020204" pitchFamily="34" charset="0"/>
              <a:buChar char="•"/>
            </a:pPr>
            <a:r>
              <a:rPr lang="zh-CN" altLang="en-US" sz="2400" dirty="0"/>
              <a:t>主要用于在</a:t>
            </a:r>
            <a:r>
              <a:rPr lang="en-US" altLang="zh-CN" sz="2400" dirty="0"/>
              <a:t>CD-ROM</a:t>
            </a:r>
            <a:r>
              <a:rPr lang="zh-CN" altLang="en-US" sz="2400" dirty="0"/>
              <a:t>上存储视频和音频信号。压缩率约</a:t>
            </a:r>
            <a:r>
              <a:rPr lang="en-US" altLang="zh-CN" sz="2400" dirty="0"/>
              <a:t>26∶1</a:t>
            </a:r>
            <a:r>
              <a:rPr lang="zh-CN" altLang="en-US" sz="2400" dirty="0"/>
              <a:t>，图像质量接近于家用录像系统（</a:t>
            </a:r>
            <a:r>
              <a:rPr lang="en-US" altLang="zh-CN" sz="2400" dirty="0"/>
              <a:t>VHS</a:t>
            </a:r>
            <a:r>
              <a:rPr lang="zh-CN" altLang="en-US" sz="2400" dirty="0"/>
              <a:t>）。</a:t>
            </a:r>
          </a:p>
          <a:p>
            <a:pPr marL="571500" lvl="1" indent="-457200">
              <a:lnSpc>
                <a:spcPct val="145000"/>
              </a:lnSpc>
              <a:buSzPct val="110000"/>
              <a:buFont typeface="Arial" panose="020B0604020202020204" pitchFamily="34" charset="0"/>
              <a:buChar char="•"/>
            </a:pPr>
            <a:r>
              <a:rPr lang="en-US" altLang="zh-CN" sz="2400" dirty="0"/>
              <a:t>MPEG</a:t>
            </a:r>
            <a:r>
              <a:rPr lang="zh-CN" altLang="en-US" sz="2400" dirty="0"/>
              <a:t>音频编码器的输入为线性</a:t>
            </a:r>
            <a:r>
              <a:rPr lang="en-US" altLang="zh-CN" sz="2400" dirty="0"/>
              <a:t>PCM</a:t>
            </a:r>
            <a:r>
              <a:rPr lang="zh-CN" altLang="en-US" sz="2400" dirty="0"/>
              <a:t>信号，双声道，采样频率为</a:t>
            </a:r>
            <a:r>
              <a:rPr lang="en-US" altLang="zh-CN" sz="2400" dirty="0"/>
              <a:t>32kHz</a:t>
            </a:r>
            <a:r>
              <a:rPr lang="zh-CN" altLang="en-US" sz="2400" dirty="0"/>
              <a:t>，</a:t>
            </a:r>
            <a:r>
              <a:rPr lang="en-US" altLang="zh-CN" sz="2400" dirty="0"/>
              <a:t>44.1kHz</a:t>
            </a:r>
            <a:r>
              <a:rPr lang="zh-CN" altLang="en-US" sz="2400" dirty="0"/>
              <a:t>或者</a:t>
            </a:r>
            <a:r>
              <a:rPr lang="en-US" altLang="zh-CN" sz="2400" dirty="0"/>
              <a:t>48kHz</a:t>
            </a:r>
            <a:r>
              <a:rPr lang="zh-CN" altLang="en-US" sz="2400" dirty="0"/>
              <a:t>，输出为</a:t>
            </a:r>
            <a:r>
              <a:rPr lang="en-US" altLang="zh-CN" sz="2400" b="1" dirty="0"/>
              <a:t>32kb/s ~384kb/s</a:t>
            </a:r>
            <a:r>
              <a:rPr lang="zh-CN" altLang="en-US" sz="2400" dirty="0"/>
              <a:t>，可以达到</a:t>
            </a:r>
            <a:r>
              <a:rPr lang="en-US" altLang="zh-CN" sz="2400" dirty="0"/>
              <a:t>CD</a:t>
            </a:r>
            <a:r>
              <a:rPr lang="zh-CN" altLang="en-US" sz="2400" dirty="0"/>
              <a:t>质量。</a:t>
            </a:r>
          </a:p>
          <a:p>
            <a:endParaRPr lang="zh-CN" altLang="en-US" dirty="0"/>
          </a:p>
        </p:txBody>
      </p:sp>
      <p:sp>
        <p:nvSpPr>
          <p:cNvPr id="3" name="标题 2">
            <a:extLst>
              <a:ext uri="{FF2B5EF4-FFF2-40B4-BE49-F238E27FC236}">
                <a16:creationId xmlns:a16="http://schemas.microsoft.com/office/drawing/2014/main" id="{D96ACAFE-CE10-4AD5-8721-E238AA9F0DC1}"/>
              </a:ext>
            </a:extLst>
          </p:cNvPr>
          <p:cNvSpPr>
            <a:spLocks noGrp="1"/>
          </p:cNvSpPr>
          <p:nvPr>
            <p:ph type="title"/>
          </p:nvPr>
        </p:nvSpPr>
        <p:spPr/>
        <p:txBody>
          <a:bodyPr>
            <a:normAutofit fontScale="90000"/>
          </a:bodyPr>
          <a:lstStyle/>
          <a:p>
            <a:r>
              <a:rPr lang="en-US" altLang="zh-CN" dirty="0"/>
              <a:t>2.5 </a:t>
            </a:r>
            <a:r>
              <a:rPr lang="zh-CN" altLang="en-US" dirty="0"/>
              <a:t>视频 文件格式</a:t>
            </a:r>
          </a:p>
        </p:txBody>
      </p:sp>
      <p:sp>
        <p:nvSpPr>
          <p:cNvPr id="4" name="灯片编号占位符 3">
            <a:extLst>
              <a:ext uri="{FF2B5EF4-FFF2-40B4-BE49-F238E27FC236}">
                <a16:creationId xmlns:a16="http://schemas.microsoft.com/office/drawing/2014/main" id="{052D122A-73C4-4CF6-BE11-59D3F2DE061F}"/>
              </a:ext>
            </a:extLst>
          </p:cNvPr>
          <p:cNvSpPr>
            <a:spLocks noGrp="1"/>
          </p:cNvSpPr>
          <p:nvPr>
            <p:ph type="sldNum" sz="quarter" idx="12"/>
          </p:nvPr>
        </p:nvSpPr>
        <p:spPr/>
        <p:txBody>
          <a:bodyPr/>
          <a:lstStyle/>
          <a:p>
            <a:fld id="{F64BA984-46A0-4F46-990E-EC790E6934B4}" type="slidenum">
              <a:rPr lang="zh-CN" altLang="en-US" smtClean="0"/>
              <a:t>59</a:t>
            </a:fld>
            <a:endParaRPr lang="zh-CN" altLang="en-US"/>
          </a:p>
        </p:txBody>
      </p:sp>
    </p:spTree>
    <p:extLst>
      <p:ext uri="{BB962C8B-B14F-4D97-AF65-F5344CB8AC3E}">
        <p14:creationId xmlns:p14="http://schemas.microsoft.com/office/powerpoint/2010/main" val="15600469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8A8D71-AA51-4777-A0B4-0A129F9877F6}"/>
              </a:ext>
            </a:extLst>
          </p:cNvPr>
          <p:cNvSpPr>
            <a:spLocks noGrp="1"/>
          </p:cNvSpPr>
          <p:nvPr>
            <p:ph idx="1"/>
          </p:nvPr>
        </p:nvSpPr>
        <p:spPr>
          <a:xfrm>
            <a:off x="255014" y="1196752"/>
            <a:ext cx="8637465" cy="5610824"/>
          </a:xfrm>
        </p:spPr>
        <p:txBody>
          <a:bodyPr>
            <a:normAutofit/>
          </a:bodyPr>
          <a:lstStyle/>
          <a:p>
            <a:pPr eaLnBrk="0" hangingPunct="0">
              <a:lnSpc>
                <a:spcPct val="125000"/>
              </a:lnSpc>
              <a:spcBef>
                <a:spcPct val="50000"/>
              </a:spcBef>
              <a:buClrTx/>
              <a:buSzTx/>
              <a:buFontTx/>
              <a:buNone/>
            </a:pPr>
            <a:r>
              <a:rPr lang="en-US" altLang="zh-CN" dirty="0">
                <a:solidFill>
                  <a:schemeClr val="hlink"/>
                </a:solidFill>
              </a:rPr>
              <a:t>MPEG-2</a:t>
            </a:r>
            <a:endParaRPr lang="en-US" altLang="zh-CN" dirty="0"/>
          </a:p>
          <a:p>
            <a:pPr marL="571500" lvl="1" indent="-457200">
              <a:lnSpc>
                <a:spcPct val="145000"/>
              </a:lnSpc>
              <a:buSzPct val="110000"/>
              <a:buFont typeface="Arial" panose="020B0604020202020204" pitchFamily="34" charset="0"/>
              <a:buChar char="•"/>
            </a:pPr>
            <a:r>
              <a:rPr lang="zh-CN" altLang="en-US" sz="2400" dirty="0"/>
              <a:t>数字电视标准，</a:t>
            </a:r>
            <a:r>
              <a:rPr lang="en-US" altLang="zh-CN" sz="2400" dirty="0"/>
              <a:t>1994</a:t>
            </a:r>
            <a:r>
              <a:rPr lang="zh-CN" altLang="en-US" sz="2400" dirty="0"/>
              <a:t>年制定。</a:t>
            </a:r>
          </a:p>
          <a:p>
            <a:pPr marL="571500" lvl="1" indent="-457200">
              <a:lnSpc>
                <a:spcPct val="145000"/>
              </a:lnSpc>
              <a:buSzPct val="110000"/>
              <a:buFont typeface="Arial" panose="020B0604020202020204" pitchFamily="34" charset="0"/>
              <a:buChar char="•"/>
            </a:pPr>
            <a:r>
              <a:rPr lang="zh-CN" altLang="en-US" sz="2400" dirty="0"/>
              <a:t>针对广播电视质量的视频的输出速率为</a:t>
            </a:r>
            <a:r>
              <a:rPr lang="en-US" altLang="zh-CN" sz="2400" dirty="0"/>
              <a:t>4</a:t>
            </a:r>
            <a:r>
              <a:rPr lang="zh-CN" altLang="en-US" sz="2400" dirty="0"/>
              <a:t>～</a:t>
            </a:r>
            <a:r>
              <a:rPr lang="en-US" altLang="zh-CN" sz="2400" dirty="0"/>
              <a:t>9Mb/s</a:t>
            </a:r>
            <a:r>
              <a:rPr lang="zh-CN" altLang="en-US" sz="2400" dirty="0"/>
              <a:t>，最高达</a:t>
            </a:r>
            <a:r>
              <a:rPr lang="en-US" altLang="zh-CN" sz="2400" dirty="0"/>
              <a:t>15Mb/s</a:t>
            </a:r>
            <a:r>
              <a:rPr lang="zh-CN" altLang="en-US" sz="2400" dirty="0"/>
              <a:t>。</a:t>
            </a:r>
          </a:p>
          <a:p>
            <a:pPr marL="571500" lvl="1" indent="-457200">
              <a:lnSpc>
                <a:spcPct val="145000"/>
              </a:lnSpc>
              <a:buSzPct val="110000"/>
              <a:buFont typeface="Arial" panose="020B0604020202020204" pitchFamily="34" charset="0"/>
              <a:buChar char="•"/>
            </a:pPr>
            <a:r>
              <a:rPr lang="zh-CN" altLang="en-US" sz="2400" dirty="0"/>
              <a:t>音频标准与</a:t>
            </a:r>
            <a:r>
              <a:rPr lang="en-US" altLang="zh-CN" sz="2400" dirty="0"/>
              <a:t>MPEG-1</a:t>
            </a:r>
            <a:r>
              <a:rPr lang="zh-CN" altLang="en-US" sz="2400" dirty="0"/>
              <a:t>兼容，但支持更多的声道，多样化的采样频率，更宽的数据输出速率范围（</a:t>
            </a:r>
            <a:r>
              <a:rPr lang="en-US" altLang="zh-CN" sz="2400" b="1" dirty="0"/>
              <a:t>8</a:t>
            </a:r>
            <a:r>
              <a:rPr lang="zh-CN" altLang="en-US" sz="2400" b="1" dirty="0"/>
              <a:t>～</a:t>
            </a:r>
            <a:r>
              <a:rPr lang="en-US" altLang="zh-CN" sz="2400" b="1" dirty="0"/>
              <a:t>640kb/s</a:t>
            </a:r>
            <a:r>
              <a:rPr lang="zh-CN" altLang="en-US" sz="2400" dirty="0"/>
              <a:t>）。</a:t>
            </a:r>
          </a:p>
          <a:p>
            <a:pPr marL="571500" lvl="1" indent="-457200">
              <a:lnSpc>
                <a:spcPct val="145000"/>
              </a:lnSpc>
              <a:buSzPct val="110000"/>
              <a:buFont typeface="Arial" panose="020B0604020202020204" pitchFamily="34" charset="0"/>
              <a:buChar char="•"/>
            </a:pPr>
            <a:r>
              <a:rPr lang="zh-CN" altLang="en-US" sz="2400" dirty="0"/>
              <a:t>广播质量的视讯、音频和传输协议。被用于无线数字电视</a:t>
            </a:r>
            <a:r>
              <a:rPr lang="en-US" altLang="zh-CN" sz="2400" dirty="0"/>
              <a:t>-ATSC</a:t>
            </a:r>
            <a:r>
              <a:rPr lang="zh-CN" altLang="en-US" sz="2400" dirty="0"/>
              <a:t>、</a:t>
            </a:r>
            <a:r>
              <a:rPr lang="en-US" altLang="zh-CN" sz="2400" dirty="0"/>
              <a:t>DVB</a:t>
            </a:r>
            <a:r>
              <a:rPr lang="zh-CN" altLang="en-US" sz="2400" dirty="0"/>
              <a:t>以及</a:t>
            </a:r>
            <a:r>
              <a:rPr lang="en-US" altLang="zh-CN" sz="2400" dirty="0"/>
              <a:t>ISDB</a:t>
            </a:r>
            <a:r>
              <a:rPr lang="zh-CN" altLang="en-US" sz="2400" dirty="0"/>
              <a:t>、数字卫星电视（例如</a:t>
            </a:r>
            <a:r>
              <a:rPr lang="en-US" altLang="zh-CN" sz="2400" dirty="0"/>
              <a:t>DirecTV</a:t>
            </a:r>
            <a:r>
              <a:rPr lang="zh-CN" altLang="en-US" sz="2400" dirty="0"/>
              <a:t>）、数字有线电视信号，以及</a:t>
            </a:r>
            <a:r>
              <a:rPr lang="en-US" altLang="zh-CN" sz="2400" dirty="0"/>
              <a:t>DVD</a:t>
            </a:r>
            <a:r>
              <a:rPr lang="zh-CN" altLang="en-US" sz="2400" dirty="0"/>
              <a:t>视频光盘技术中。</a:t>
            </a:r>
          </a:p>
        </p:txBody>
      </p:sp>
      <p:sp>
        <p:nvSpPr>
          <p:cNvPr id="3" name="标题 2">
            <a:extLst>
              <a:ext uri="{FF2B5EF4-FFF2-40B4-BE49-F238E27FC236}">
                <a16:creationId xmlns:a16="http://schemas.microsoft.com/office/drawing/2014/main" id="{D96ACAFE-CE10-4AD5-8721-E238AA9F0DC1}"/>
              </a:ext>
            </a:extLst>
          </p:cNvPr>
          <p:cNvSpPr>
            <a:spLocks noGrp="1"/>
          </p:cNvSpPr>
          <p:nvPr>
            <p:ph type="title"/>
          </p:nvPr>
        </p:nvSpPr>
        <p:spPr/>
        <p:txBody>
          <a:bodyPr>
            <a:normAutofit fontScale="90000"/>
          </a:bodyPr>
          <a:lstStyle/>
          <a:p>
            <a:r>
              <a:rPr lang="en-US" altLang="zh-CN" dirty="0"/>
              <a:t>2.5 </a:t>
            </a:r>
            <a:r>
              <a:rPr lang="zh-CN" altLang="en-US" dirty="0"/>
              <a:t>视频 文件格式</a:t>
            </a:r>
          </a:p>
        </p:txBody>
      </p:sp>
      <p:sp>
        <p:nvSpPr>
          <p:cNvPr id="4" name="灯片编号占位符 3">
            <a:extLst>
              <a:ext uri="{FF2B5EF4-FFF2-40B4-BE49-F238E27FC236}">
                <a16:creationId xmlns:a16="http://schemas.microsoft.com/office/drawing/2014/main" id="{052D122A-73C4-4CF6-BE11-59D3F2DE061F}"/>
              </a:ext>
            </a:extLst>
          </p:cNvPr>
          <p:cNvSpPr>
            <a:spLocks noGrp="1"/>
          </p:cNvSpPr>
          <p:nvPr>
            <p:ph type="sldNum" sz="quarter" idx="12"/>
          </p:nvPr>
        </p:nvSpPr>
        <p:spPr/>
        <p:txBody>
          <a:bodyPr/>
          <a:lstStyle/>
          <a:p>
            <a:fld id="{F64BA984-46A0-4F46-990E-EC790E6934B4}" type="slidenum">
              <a:rPr lang="zh-CN" altLang="en-US" smtClean="0"/>
              <a:t>60</a:t>
            </a:fld>
            <a:endParaRPr lang="zh-CN" altLang="en-US"/>
          </a:p>
        </p:txBody>
      </p:sp>
    </p:spTree>
    <p:extLst>
      <p:ext uri="{BB962C8B-B14F-4D97-AF65-F5344CB8AC3E}">
        <p14:creationId xmlns:p14="http://schemas.microsoft.com/office/powerpoint/2010/main" val="8726507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8A8D71-AA51-4777-A0B4-0A129F9877F6}"/>
              </a:ext>
            </a:extLst>
          </p:cNvPr>
          <p:cNvSpPr>
            <a:spLocks noGrp="1"/>
          </p:cNvSpPr>
          <p:nvPr>
            <p:ph idx="1"/>
          </p:nvPr>
        </p:nvSpPr>
        <p:spPr>
          <a:xfrm>
            <a:off x="255014" y="1196752"/>
            <a:ext cx="8637465" cy="5245699"/>
          </a:xfrm>
        </p:spPr>
        <p:txBody>
          <a:bodyPr>
            <a:normAutofit/>
          </a:bodyPr>
          <a:lstStyle/>
          <a:p>
            <a:pPr eaLnBrk="0" hangingPunct="0">
              <a:lnSpc>
                <a:spcPct val="125000"/>
              </a:lnSpc>
              <a:spcBef>
                <a:spcPct val="50000"/>
              </a:spcBef>
              <a:buClrTx/>
              <a:buSzTx/>
              <a:buFontTx/>
              <a:buNone/>
            </a:pPr>
            <a:r>
              <a:rPr lang="en-US" altLang="zh-CN" dirty="0">
                <a:solidFill>
                  <a:schemeClr val="hlink"/>
                </a:solidFill>
              </a:rPr>
              <a:t>MPEG-4</a:t>
            </a:r>
            <a:endParaRPr lang="en-US" altLang="zh-CN" dirty="0"/>
          </a:p>
          <a:p>
            <a:pPr marL="571500" lvl="1" indent="-457200">
              <a:lnSpc>
                <a:spcPct val="145000"/>
              </a:lnSpc>
              <a:buSzPct val="110000"/>
              <a:buFont typeface="Arial" panose="020B0604020202020204" pitchFamily="34" charset="0"/>
              <a:buChar char="•"/>
            </a:pPr>
            <a:r>
              <a:rPr lang="en-US" altLang="zh-CN" sz="2400" dirty="0"/>
              <a:t>2003</a:t>
            </a:r>
            <a:r>
              <a:rPr lang="zh-CN" altLang="en-US" sz="2400" dirty="0"/>
              <a:t>年发布的视讯压缩标准，主要是扩展</a:t>
            </a:r>
            <a:r>
              <a:rPr lang="en-US" altLang="zh-CN" sz="2400" dirty="0"/>
              <a:t>MPEG-1</a:t>
            </a:r>
            <a:r>
              <a:rPr lang="zh-CN" altLang="en-US" sz="2400" dirty="0"/>
              <a:t>、</a:t>
            </a:r>
            <a:r>
              <a:rPr lang="en-US" altLang="zh-CN" sz="2400" dirty="0"/>
              <a:t>MPEG-2</a:t>
            </a:r>
            <a:r>
              <a:rPr lang="zh-CN" altLang="en-US" sz="2400" dirty="0"/>
              <a:t>等标准以支持视频／音频对象（</a:t>
            </a:r>
            <a:r>
              <a:rPr lang="en-US" altLang="zh-CN" sz="2400" dirty="0"/>
              <a:t>video/audio "objects"</a:t>
            </a:r>
            <a:r>
              <a:rPr lang="zh-CN" altLang="en-US" sz="2400" dirty="0"/>
              <a:t>）的编码</a:t>
            </a:r>
            <a:endParaRPr lang="en-US" altLang="zh-CN" sz="2400" dirty="0"/>
          </a:p>
          <a:p>
            <a:pPr marL="571500" lvl="1" indent="-457200">
              <a:lnSpc>
                <a:spcPct val="145000"/>
              </a:lnSpc>
              <a:buSzPct val="110000"/>
              <a:buFont typeface="Arial" panose="020B0604020202020204" pitchFamily="34" charset="0"/>
              <a:buChar char="•"/>
            </a:pPr>
            <a:r>
              <a:rPr lang="zh-CN" altLang="en-US" sz="2400" dirty="0"/>
              <a:t>第一个目标是有效的支持甚低码率应用，比如移动通信中的声像业务，和窄带多媒体通信等等。</a:t>
            </a:r>
          </a:p>
          <a:p>
            <a:pPr marL="571500" lvl="1" indent="-457200">
              <a:lnSpc>
                <a:spcPct val="145000"/>
              </a:lnSpc>
              <a:buSzPct val="110000"/>
              <a:buFont typeface="Arial" panose="020B0604020202020204" pitchFamily="34" charset="0"/>
              <a:buChar char="•"/>
            </a:pPr>
            <a:r>
              <a:rPr lang="zh-CN" altLang="en-US" sz="2400" dirty="0"/>
              <a:t>第二个目标是实现基于内容的压缩编码，以提高可靠性，支持多媒体数据的集成，和交互式多媒体业务等等。</a:t>
            </a:r>
          </a:p>
          <a:p>
            <a:pPr marL="571500" lvl="1" indent="-457200">
              <a:lnSpc>
                <a:spcPct val="145000"/>
              </a:lnSpc>
              <a:buSzPct val="110000"/>
              <a:buFont typeface="Arial" panose="020B0604020202020204" pitchFamily="34" charset="0"/>
              <a:buChar char="•"/>
            </a:pPr>
            <a:r>
              <a:rPr lang="en-US" altLang="zh-CN" sz="2400" dirty="0"/>
              <a:t>MPEG4</a:t>
            </a:r>
            <a:r>
              <a:rPr lang="zh-CN" altLang="en-US" sz="2400" dirty="0"/>
              <a:t>的音频标准不仅支持自然声音，而且支持合成声音。 </a:t>
            </a:r>
          </a:p>
        </p:txBody>
      </p:sp>
      <p:sp>
        <p:nvSpPr>
          <p:cNvPr id="3" name="标题 2">
            <a:extLst>
              <a:ext uri="{FF2B5EF4-FFF2-40B4-BE49-F238E27FC236}">
                <a16:creationId xmlns:a16="http://schemas.microsoft.com/office/drawing/2014/main" id="{D96ACAFE-CE10-4AD5-8721-E238AA9F0DC1}"/>
              </a:ext>
            </a:extLst>
          </p:cNvPr>
          <p:cNvSpPr>
            <a:spLocks noGrp="1"/>
          </p:cNvSpPr>
          <p:nvPr>
            <p:ph type="title"/>
          </p:nvPr>
        </p:nvSpPr>
        <p:spPr/>
        <p:txBody>
          <a:bodyPr>
            <a:normAutofit fontScale="90000"/>
          </a:bodyPr>
          <a:lstStyle/>
          <a:p>
            <a:r>
              <a:rPr lang="en-US" altLang="zh-CN" dirty="0"/>
              <a:t>2.5 </a:t>
            </a:r>
            <a:r>
              <a:rPr lang="zh-CN" altLang="en-US" dirty="0"/>
              <a:t>视频 文件格式</a:t>
            </a:r>
          </a:p>
        </p:txBody>
      </p:sp>
      <p:sp>
        <p:nvSpPr>
          <p:cNvPr id="4" name="灯片编号占位符 3">
            <a:extLst>
              <a:ext uri="{FF2B5EF4-FFF2-40B4-BE49-F238E27FC236}">
                <a16:creationId xmlns:a16="http://schemas.microsoft.com/office/drawing/2014/main" id="{052D122A-73C4-4CF6-BE11-59D3F2DE061F}"/>
              </a:ext>
            </a:extLst>
          </p:cNvPr>
          <p:cNvSpPr>
            <a:spLocks noGrp="1"/>
          </p:cNvSpPr>
          <p:nvPr>
            <p:ph type="sldNum" sz="quarter" idx="12"/>
          </p:nvPr>
        </p:nvSpPr>
        <p:spPr/>
        <p:txBody>
          <a:bodyPr/>
          <a:lstStyle/>
          <a:p>
            <a:fld id="{F64BA984-46A0-4F46-990E-EC790E6934B4}" type="slidenum">
              <a:rPr lang="zh-CN" altLang="en-US" smtClean="0"/>
              <a:t>61</a:t>
            </a:fld>
            <a:endParaRPr lang="zh-CN" altLang="en-US"/>
          </a:p>
        </p:txBody>
      </p:sp>
    </p:spTree>
    <p:extLst>
      <p:ext uri="{BB962C8B-B14F-4D97-AF65-F5344CB8AC3E}">
        <p14:creationId xmlns:p14="http://schemas.microsoft.com/office/powerpoint/2010/main" val="6222748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8A8D71-AA51-4777-A0B4-0A129F9877F6}"/>
              </a:ext>
            </a:extLst>
          </p:cNvPr>
          <p:cNvSpPr>
            <a:spLocks noGrp="1"/>
          </p:cNvSpPr>
          <p:nvPr>
            <p:ph idx="1"/>
          </p:nvPr>
        </p:nvSpPr>
        <p:spPr>
          <a:xfrm>
            <a:off x="255014" y="1196752"/>
            <a:ext cx="8637465" cy="5245699"/>
          </a:xfrm>
        </p:spPr>
        <p:txBody>
          <a:bodyPr>
            <a:normAutofit/>
          </a:bodyPr>
          <a:lstStyle/>
          <a:p>
            <a:pPr eaLnBrk="0" hangingPunct="0">
              <a:lnSpc>
                <a:spcPct val="125000"/>
              </a:lnSpc>
              <a:spcBef>
                <a:spcPct val="50000"/>
              </a:spcBef>
              <a:buClrTx/>
              <a:buSzTx/>
              <a:buFontTx/>
              <a:buNone/>
            </a:pPr>
            <a:r>
              <a:rPr lang="en-US" altLang="zh-CN" dirty="0">
                <a:solidFill>
                  <a:schemeClr val="hlink"/>
                </a:solidFill>
              </a:rPr>
              <a:t>MPEG-7</a:t>
            </a:r>
            <a:endParaRPr lang="en-US" altLang="zh-CN" dirty="0"/>
          </a:p>
          <a:p>
            <a:pPr marL="571500" lvl="1" indent="-457200">
              <a:lnSpc>
                <a:spcPct val="145000"/>
              </a:lnSpc>
              <a:buSzPct val="110000"/>
              <a:buFont typeface="Arial" panose="020B0604020202020204" pitchFamily="34" charset="0"/>
              <a:buChar char="•"/>
            </a:pPr>
            <a:r>
              <a:rPr lang="en-US" altLang="zh-CN" sz="2400" dirty="0"/>
              <a:t>MPEG-7</a:t>
            </a:r>
            <a:r>
              <a:rPr lang="zh-CN" altLang="en-US" sz="2400" dirty="0"/>
              <a:t>并不是一个视讯压缩标准，它是一个</a:t>
            </a:r>
            <a:r>
              <a:rPr lang="zh-CN" altLang="en-US" sz="2400" b="1" dirty="0"/>
              <a:t>多媒体内容的描述标准</a:t>
            </a:r>
            <a:r>
              <a:rPr lang="zh-CN" altLang="en-US" sz="2400" dirty="0"/>
              <a:t>。</a:t>
            </a:r>
            <a:endParaRPr lang="en-US" altLang="zh-CN" sz="2400" dirty="0"/>
          </a:p>
          <a:p>
            <a:pPr marL="571500" lvl="1" indent="-457200">
              <a:lnSpc>
                <a:spcPct val="145000"/>
              </a:lnSpc>
              <a:buSzPct val="110000"/>
              <a:buFont typeface="Arial" panose="020B0604020202020204" pitchFamily="34" charset="0"/>
              <a:buChar char="•"/>
            </a:pPr>
            <a:r>
              <a:rPr lang="zh-CN" altLang="en-US" sz="2400" dirty="0"/>
              <a:t>目的是制定一套描述符标准，用来描述各种类型的多媒体信息及它们之间的关系，以便更快更有效的检索信息。</a:t>
            </a:r>
          </a:p>
          <a:p>
            <a:pPr marL="571500" lvl="1" indent="-457200">
              <a:lnSpc>
                <a:spcPct val="145000"/>
              </a:lnSpc>
              <a:buSzPct val="110000"/>
              <a:buFont typeface="Arial" panose="020B0604020202020204" pitchFamily="34" charset="0"/>
              <a:buChar char="•"/>
            </a:pPr>
            <a:r>
              <a:rPr lang="en-US" altLang="zh-CN" sz="2400" dirty="0"/>
              <a:t>MPEG-7</a:t>
            </a:r>
            <a:r>
              <a:rPr lang="zh-CN" altLang="en-US" sz="2400" dirty="0"/>
              <a:t>标准重点在于影音内容的描述和定义。</a:t>
            </a:r>
            <a:r>
              <a:rPr lang="zh-CN" altLang="en-US" sz="2400" dirty="0">
                <a:solidFill>
                  <a:srgbClr val="C00000"/>
                </a:solidFill>
              </a:rPr>
              <a:t>使用者可以有效率地搜寻、过滤和定义想要的影音资料</a:t>
            </a:r>
            <a:r>
              <a:rPr lang="zh-CN" altLang="en-US" sz="2400" dirty="0"/>
              <a:t>。 </a:t>
            </a:r>
          </a:p>
          <a:p>
            <a:pPr marL="571500" lvl="1" indent="-457200">
              <a:lnSpc>
                <a:spcPct val="145000"/>
              </a:lnSpc>
              <a:buSzPct val="110000"/>
              <a:buFont typeface="Arial" panose="020B0604020202020204" pitchFamily="34" charset="0"/>
              <a:buChar char="•"/>
            </a:pPr>
            <a:r>
              <a:rPr lang="en-US" altLang="zh-CN" sz="2400" dirty="0"/>
              <a:t>MPEG-7</a:t>
            </a:r>
            <a:r>
              <a:rPr lang="zh-CN" altLang="en-US" sz="2400" dirty="0"/>
              <a:t>的应用领域包括：数字图书馆，图像目录、音乐词典等；多媒体目录服务、多媒体编辑、多媒体创作等等。</a:t>
            </a:r>
          </a:p>
        </p:txBody>
      </p:sp>
      <p:sp>
        <p:nvSpPr>
          <p:cNvPr id="3" name="标题 2">
            <a:extLst>
              <a:ext uri="{FF2B5EF4-FFF2-40B4-BE49-F238E27FC236}">
                <a16:creationId xmlns:a16="http://schemas.microsoft.com/office/drawing/2014/main" id="{D96ACAFE-CE10-4AD5-8721-E238AA9F0DC1}"/>
              </a:ext>
            </a:extLst>
          </p:cNvPr>
          <p:cNvSpPr>
            <a:spLocks noGrp="1"/>
          </p:cNvSpPr>
          <p:nvPr>
            <p:ph type="title"/>
          </p:nvPr>
        </p:nvSpPr>
        <p:spPr/>
        <p:txBody>
          <a:bodyPr>
            <a:normAutofit fontScale="90000"/>
          </a:bodyPr>
          <a:lstStyle/>
          <a:p>
            <a:r>
              <a:rPr lang="en-US" altLang="zh-CN" dirty="0"/>
              <a:t>2.5 </a:t>
            </a:r>
            <a:r>
              <a:rPr lang="zh-CN" altLang="en-US" dirty="0"/>
              <a:t>视频 文件格式</a:t>
            </a:r>
          </a:p>
        </p:txBody>
      </p:sp>
      <p:sp>
        <p:nvSpPr>
          <p:cNvPr id="4" name="灯片编号占位符 3">
            <a:extLst>
              <a:ext uri="{FF2B5EF4-FFF2-40B4-BE49-F238E27FC236}">
                <a16:creationId xmlns:a16="http://schemas.microsoft.com/office/drawing/2014/main" id="{052D122A-73C4-4CF6-BE11-59D3F2DE061F}"/>
              </a:ext>
            </a:extLst>
          </p:cNvPr>
          <p:cNvSpPr>
            <a:spLocks noGrp="1"/>
          </p:cNvSpPr>
          <p:nvPr>
            <p:ph type="sldNum" sz="quarter" idx="12"/>
          </p:nvPr>
        </p:nvSpPr>
        <p:spPr/>
        <p:txBody>
          <a:bodyPr/>
          <a:lstStyle/>
          <a:p>
            <a:fld id="{F64BA984-46A0-4F46-990E-EC790E6934B4}" type="slidenum">
              <a:rPr lang="zh-CN" altLang="en-US" smtClean="0"/>
              <a:t>62</a:t>
            </a:fld>
            <a:endParaRPr lang="zh-CN" altLang="en-US"/>
          </a:p>
        </p:txBody>
      </p:sp>
    </p:spTree>
    <p:extLst>
      <p:ext uri="{BB962C8B-B14F-4D97-AF65-F5344CB8AC3E}">
        <p14:creationId xmlns:p14="http://schemas.microsoft.com/office/powerpoint/2010/main" val="31518022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23DC378-2B24-4D66-B4A3-25122998C834}"/>
              </a:ext>
            </a:extLst>
          </p:cNvPr>
          <p:cNvSpPr>
            <a:spLocks noGrp="1"/>
          </p:cNvSpPr>
          <p:nvPr>
            <p:ph idx="1"/>
          </p:nvPr>
        </p:nvSpPr>
        <p:spPr>
          <a:xfrm>
            <a:off x="255014" y="1196752"/>
            <a:ext cx="8781481" cy="4525963"/>
          </a:xfrm>
        </p:spPr>
        <p:txBody>
          <a:bodyPr/>
          <a:lstStyle/>
          <a:p>
            <a:r>
              <a:rPr lang="zh-CN" altLang="en-US" dirty="0"/>
              <a:t>声波：由各种机械振动或气流扰动引起周围的弹性媒质发生波动。</a:t>
            </a:r>
            <a:endParaRPr lang="en-US" altLang="zh-CN" dirty="0"/>
          </a:p>
          <a:p>
            <a:r>
              <a:rPr lang="zh-CN" altLang="en-US" dirty="0"/>
              <a:t>声源：产生声波的物体，如人的声带和乐器等。</a:t>
            </a:r>
            <a:endParaRPr lang="en-US" altLang="zh-CN" dirty="0"/>
          </a:p>
          <a:p>
            <a:r>
              <a:rPr lang="zh-CN" altLang="en-US" dirty="0"/>
              <a:t>声音：人的听觉系统所能感知到的声波（</a:t>
            </a:r>
            <a:r>
              <a:rPr lang="en-US" altLang="zh-CN" dirty="0"/>
              <a:t>20</a:t>
            </a:r>
            <a:r>
              <a:rPr lang="zh-CN" altLang="en-US" dirty="0"/>
              <a:t>～</a:t>
            </a:r>
            <a:r>
              <a:rPr lang="en-US" altLang="zh-CN" dirty="0"/>
              <a:t>20000</a:t>
            </a:r>
            <a:r>
              <a:rPr lang="zh-CN" altLang="en-US" dirty="0"/>
              <a:t> </a:t>
            </a:r>
            <a:r>
              <a:rPr lang="en-US" altLang="zh-CN" dirty="0"/>
              <a:t>HZ</a:t>
            </a:r>
            <a:r>
              <a:rPr lang="zh-CN" altLang="en-US" dirty="0"/>
              <a:t>）。</a:t>
            </a:r>
          </a:p>
        </p:txBody>
      </p:sp>
      <p:sp>
        <p:nvSpPr>
          <p:cNvPr id="3" name="标题 2">
            <a:extLst>
              <a:ext uri="{FF2B5EF4-FFF2-40B4-BE49-F238E27FC236}">
                <a16:creationId xmlns:a16="http://schemas.microsoft.com/office/drawing/2014/main" id="{2D60DDEF-14F0-4D60-BAEA-EEFF2C80DA0F}"/>
              </a:ext>
            </a:extLst>
          </p:cNvPr>
          <p:cNvSpPr>
            <a:spLocks noGrp="1"/>
          </p:cNvSpPr>
          <p:nvPr>
            <p:ph type="title"/>
          </p:nvPr>
        </p:nvSpPr>
        <p:spPr/>
        <p:txBody>
          <a:bodyPr>
            <a:normAutofit fontScale="90000"/>
          </a:bodyPr>
          <a:lstStyle/>
          <a:p>
            <a:r>
              <a:rPr lang="en-US" altLang="zh-CN" dirty="0"/>
              <a:t>2.6 </a:t>
            </a:r>
            <a:r>
              <a:rPr lang="zh-CN" altLang="en-US" dirty="0"/>
              <a:t>音频 信号</a:t>
            </a:r>
          </a:p>
        </p:txBody>
      </p:sp>
      <p:sp>
        <p:nvSpPr>
          <p:cNvPr id="4" name="灯片编号占位符 3">
            <a:extLst>
              <a:ext uri="{FF2B5EF4-FFF2-40B4-BE49-F238E27FC236}">
                <a16:creationId xmlns:a16="http://schemas.microsoft.com/office/drawing/2014/main" id="{3E9D36D6-526F-4DE4-A0DB-0272950CB594}"/>
              </a:ext>
            </a:extLst>
          </p:cNvPr>
          <p:cNvSpPr>
            <a:spLocks noGrp="1"/>
          </p:cNvSpPr>
          <p:nvPr>
            <p:ph type="sldNum" sz="quarter" idx="12"/>
          </p:nvPr>
        </p:nvSpPr>
        <p:spPr/>
        <p:txBody>
          <a:bodyPr/>
          <a:lstStyle/>
          <a:p>
            <a:fld id="{F64BA984-46A0-4F46-990E-EC790E6934B4}" type="slidenum">
              <a:rPr lang="zh-CN" altLang="en-US" smtClean="0"/>
              <a:t>63</a:t>
            </a:fld>
            <a:endParaRPr lang="zh-CN" altLang="en-US"/>
          </a:p>
        </p:txBody>
      </p:sp>
      <p:pic>
        <p:nvPicPr>
          <p:cNvPr id="5" name="图片 4">
            <a:extLst>
              <a:ext uri="{FF2B5EF4-FFF2-40B4-BE49-F238E27FC236}">
                <a16:creationId xmlns:a16="http://schemas.microsoft.com/office/drawing/2014/main" id="{2A962F21-2689-44D8-869D-E8246D0F4ED6}"/>
              </a:ext>
            </a:extLst>
          </p:cNvPr>
          <p:cNvPicPr>
            <a:picLocks noChangeAspect="1"/>
          </p:cNvPicPr>
          <p:nvPr/>
        </p:nvPicPr>
        <p:blipFill>
          <a:blip r:embed="rId2"/>
          <a:stretch>
            <a:fillRect/>
          </a:stretch>
        </p:blipFill>
        <p:spPr>
          <a:xfrm>
            <a:off x="364266" y="3861048"/>
            <a:ext cx="8562975" cy="1038225"/>
          </a:xfrm>
          <a:prstGeom prst="rect">
            <a:avLst/>
          </a:prstGeom>
        </p:spPr>
      </p:pic>
    </p:spTree>
    <p:extLst>
      <p:ext uri="{BB962C8B-B14F-4D97-AF65-F5344CB8AC3E}">
        <p14:creationId xmlns:p14="http://schemas.microsoft.com/office/powerpoint/2010/main" val="21219911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23DC378-2B24-4D66-B4A3-25122998C834}"/>
              </a:ext>
            </a:extLst>
          </p:cNvPr>
          <p:cNvSpPr>
            <a:spLocks noGrp="1"/>
          </p:cNvSpPr>
          <p:nvPr>
            <p:ph idx="1"/>
          </p:nvPr>
        </p:nvSpPr>
        <p:spPr>
          <a:xfrm>
            <a:off x="255012" y="980727"/>
            <a:ext cx="8709473" cy="5760641"/>
          </a:xfrm>
        </p:spPr>
        <p:txBody>
          <a:bodyPr>
            <a:normAutofit lnSpcReduction="10000"/>
          </a:bodyPr>
          <a:lstStyle/>
          <a:p>
            <a:r>
              <a:rPr lang="zh-CN" altLang="en-US" dirty="0"/>
              <a:t>声波的物理特征</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lvl="1"/>
            <a:r>
              <a:rPr lang="zh-CN" altLang="en-US" dirty="0">
                <a:solidFill>
                  <a:srgbClr val="C00000"/>
                </a:solidFill>
              </a:rPr>
              <a:t>周期</a:t>
            </a:r>
            <a:r>
              <a:rPr lang="en-US" altLang="zh-CN" dirty="0">
                <a:solidFill>
                  <a:srgbClr val="C00000"/>
                </a:solidFill>
              </a:rPr>
              <a:t>T</a:t>
            </a:r>
            <a:r>
              <a:rPr lang="zh-CN" altLang="en-US" dirty="0">
                <a:solidFill>
                  <a:srgbClr val="C00000"/>
                </a:solidFill>
              </a:rPr>
              <a:t>：</a:t>
            </a:r>
            <a:r>
              <a:rPr lang="zh-CN" altLang="en-US" dirty="0"/>
              <a:t>相邻两个波峰或波谷之间的时间。</a:t>
            </a:r>
          </a:p>
          <a:p>
            <a:pPr lvl="1"/>
            <a:r>
              <a:rPr lang="zh-CN" altLang="en-US" dirty="0">
                <a:solidFill>
                  <a:srgbClr val="C00000"/>
                </a:solidFill>
              </a:rPr>
              <a:t>频率</a:t>
            </a:r>
            <a:r>
              <a:rPr lang="en-US" altLang="zh-CN" dirty="0">
                <a:solidFill>
                  <a:srgbClr val="C00000"/>
                </a:solidFill>
              </a:rPr>
              <a:t>f</a:t>
            </a:r>
            <a:r>
              <a:rPr lang="zh-CN" altLang="en-US" dirty="0">
                <a:solidFill>
                  <a:srgbClr val="C00000"/>
                </a:solidFill>
              </a:rPr>
              <a:t>：</a:t>
            </a:r>
            <a:r>
              <a:rPr lang="zh-CN" altLang="en-US" dirty="0"/>
              <a:t>周期的倒数（</a:t>
            </a:r>
            <a:r>
              <a:rPr lang="en-US" altLang="zh-CN" dirty="0"/>
              <a:t>f=1/T</a:t>
            </a:r>
            <a:r>
              <a:rPr lang="zh-CN" altLang="en-US" dirty="0"/>
              <a:t>），即每秒波峰或波谷出现的次数。</a:t>
            </a:r>
            <a:endParaRPr lang="en-US" altLang="zh-CN" dirty="0"/>
          </a:p>
          <a:p>
            <a:pPr lvl="1"/>
            <a:r>
              <a:rPr lang="zh-CN" altLang="en-US" dirty="0">
                <a:solidFill>
                  <a:srgbClr val="C00000"/>
                </a:solidFill>
              </a:rPr>
              <a:t>幅度：</a:t>
            </a:r>
            <a:r>
              <a:rPr lang="zh-CN" altLang="en-US" b="1" dirty="0"/>
              <a:t>从基线</a:t>
            </a:r>
            <a:r>
              <a:rPr lang="zh-CN" altLang="en-US" dirty="0"/>
              <a:t>到波峰或波谷的距离，幅度越大声音越响。</a:t>
            </a:r>
          </a:p>
        </p:txBody>
      </p:sp>
      <p:sp>
        <p:nvSpPr>
          <p:cNvPr id="3" name="标题 2">
            <a:extLst>
              <a:ext uri="{FF2B5EF4-FFF2-40B4-BE49-F238E27FC236}">
                <a16:creationId xmlns:a16="http://schemas.microsoft.com/office/drawing/2014/main" id="{2D60DDEF-14F0-4D60-BAEA-EEFF2C80DA0F}"/>
              </a:ext>
            </a:extLst>
          </p:cNvPr>
          <p:cNvSpPr>
            <a:spLocks noGrp="1"/>
          </p:cNvSpPr>
          <p:nvPr>
            <p:ph type="title"/>
          </p:nvPr>
        </p:nvSpPr>
        <p:spPr/>
        <p:txBody>
          <a:bodyPr>
            <a:normAutofit fontScale="90000"/>
          </a:bodyPr>
          <a:lstStyle/>
          <a:p>
            <a:r>
              <a:rPr lang="en-US" altLang="zh-CN" dirty="0"/>
              <a:t>2.6 </a:t>
            </a:r>
            <a:r>
              <a:rPr lang="zh-CN" altLang="en-US" dirty="0"/>
              <a:t>音频 信号</a:t>
            </a:r>
          </a:p>
        </p:txBody>
      </p:sp>
      <p:sp>
        <p:nvSpPr>
          <p:cNvPr id="4" name="灯片编号占位符 3">
            <a:extLst>
              <a:ext uri="{FF2B5EF4-FFF2-40B4-BE49-F238E27FC236}">
                <a16:creationId xmlns:a16="http://schemas.microsoft.com/office/drawing/2014/main" id="{3E9D36D6-526F-4DE4-A0DB-0272950CB594}"/>
              </a:ext>
            </a:extLst>
          </p:cNvPr>
          <p:cNvSpPr>
            <a:spLocks noGrp="1"/>
          </p:cNvSpPr>
          <p:nvPr>
            <p:ph type="sldNum" sz="quarter" idx="12"/>
          </p:nvPr>
        </p:nvSpPr>
        <p:spPr/>
        <p:txBody>
          <a:bodyPr/>
          <a:lstStyle/>
          <a:p>
            <a:fld id="{F64BA984-46A0-4F46-990E-EC790E6934B4}" type="slidenum">
              <a:rPr lang="zh-CN" altLang="en-US" smtClean="0"/>
              <a:t>64</a:t>
            </a:fld>
            <a:endParaRPr lang="zh-CN" altLang="en-US"/>
          </a:p>
        </p:txBody>
      </p:sp>
      <p:pic>
        <p:nvPicPr>
          <p:cNvPr id="5" name="图片 4">
            <a:extLst>
              <a:ext uri="{FF2B5EF4-FFF2-40B4-BE49-F238E27FC236}">
                <a16:creationId xmlns:a16="http://schemas.microsoft.com/office/drawing/2014/main" id="{8ECA692B-581A-401C-8485-77A02CF8FC0F}"/>
              </a:ext>
            </a:extLst>
          </p:cNvPr>
          <p:cNvPicPr>
            <a:picLocks noChangeAspect="1"/>
          </p:cNvPicPr>
          <p:nvPr/>
        </p:nvPicPr>
        <p:blipFill>
          <a:blip r:embed="rId2"/>
          <a:stretch>
            <a:fillRect/>
          </a:stretch>
        </p:blipFill>
        <p:spPr>
          <a:xfrm>
            <a:off x="1404937" y="1479330"/>
            <a:ext cx="6334125" cy="2447925"/>
          </a:xfrm>
          <a:prstGeom prst="rect">
            <a:avLst/>
          </a:prstGeom>
        </p:spPr>
      </p:pic>
    </p:spTree>
    <p:extLst>
      <p:ext uri="{BB962C8B-B14F-4D97-AF65-F5344CB8AC3E}">
        <p14:creationId xmlns:p14="http://schemas.microsoft.com/office/powerpoint/2010/main" val="24252751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23DC378-2B24-4D66-B4A3-25122998C834}"/>
              </a:ext>
            </a:extLst>
          </p:cNvPr>
          <p:cNvSpPr>
            <a:spLocks noGrp="1"/>
          </p:cNvSpPr>
          <p:nvPr>
            <p:ph idx="1"/>
          </p:nvPr>
        </p:nvSpPr>
        <p:spPr>
          <a:xfrm>
            <a:off x="255014" y="1196752"/>
            <a:ext cx="8709473" cy="5112568"/>
          </a:xfrm>
        </p:spPr>
        <p:txBody>
          <a:bodyPr>
            <a:normAutofit/>
          </a:bodyPr>
          <a:lstStyle/>
          <a:p>
            <a:r>
              <a:rPr lang="zh-CN" altLang="en-US" dirty="0"/>
              <a:t>音频信号：通过麦克风等设备转换成的电信号。 </a:t>
            </a:r>
            <a:endParaRPr lang="en-US" altLang="zh-CN" dirty="0"/>
          </a:p>
          <a:p>
            <a:r>
              <a:rPr lang="zh-CN" altLang="en-US" dirty="0"/>
              <a:t>规则音频信号：带有语音、音乐和音效的有规律的音频信号。</a:t>
            </a:r>
          </a:p>
          <a:p>
            <a:pPr lvl="1"/>
            <a:r>
              <a:rPr lang="zh-CN" altLang="en-US" dirty="0"/>
              <a:t> 语音：语言的载体，有丰富的语言内涵。</a:t>
            </a:r>
          </a:p>
          <a:p>
            <a:pPr lvl="1"/>
            <a:r>
              <a:rPr lang="zh-CN" altLang="en-US" dirty="0"/>
              <a:t> 音乐：是一种规范的符号化的声音。</a:t>
            </a:r>
          </a:p>
          <a:p>
            <a:pPr lvl="1"/>
            <a:r>
              <a:rPr lang="zh-CN" altLang="en-US" dirty="0"/>
              <a:t> 音效：自然界中各种声音效果，如掌声和雷声等。</a:t>
            </a:r>
          </a:p>
          <a:p>
            <a:r>
              <a:rPr lang="zh-CN" altLang="en-US" dirty="0"/>
              <a:t>不规则音频信号：不包含任何信息的声音，如噪声。</a:t>
            </a:r>
          </a:p>
        </p:txBody>
      </p:sp>
      <p:sp>
        <p:nvSpPr>
          <p:cNvPr id="3" name="标题 2">
            <a:extLst>
              <a:ext uri="{FF2B5EF4-FFF2-40B4-BE49-F238E27FC236}">
                <a16:creationId xmlns:a16="http://schemas.microsoft.com/office/drawing/2014/main" id="{2D60DDEF-14F0-4D60-BAEA-EEFF2C80DA0F}"/>
              </a:ext>
            </a:extLst>
          </p:cNvPr>
          <p:cNvSpPr>
            <a:spLocks noGrp="1"/>
          </p:cNvSpPr>
          <p:nvPr>
            <p:ph type="title"/>
          </p:nvPr>
        </p:nvSpPr>
        <p:spPr/>
        <p:txBody>
          <a:bodyPr>
            <a:normAutofit fontScale="90000"/>
          </a:bodyPr>
          <a:lstStyle/>
          <a:p>
            <a:r>
              <a:rPr lang="en-US" altLang="zh-CN" dirty="0"/>
              <a:t>2.6 </a:t>
            </a:r>
            <a:r>
              <a:rPr lang="zh-CN" altLang="en-US" dirty="0"/>
              <a:t>音频 信号</a:t>
            </a:r>
          </a:p>
        </p:txBody>
      </p:sp>
      <p:sp>
        <p:nvSpPr>
          <p:cNvPr id="4" name="灯片编号占位符 3">
            <a:extLst>
              <a:ext uri="{FF2B5EF4-FFF2-40B4-BE49-F238E27FC236}">
                <a16:creationId xmlns:a16="http://schemas.microsoft.com/office/drawing/2014/main" id="{3E9D36D6-526F-4DE4-A0DB-0272950CB594}"/>
              </a:ext>
            </a:extLst>
          </p:cNvPr>
          <p:cNvSpPr>
            <a:spLocks noGrp="1"/>
          </p:cNvSpPr>
          <p:nvPr>
            <p:ph type="sldNum" sz="quarter" idx="12"/>
          </p:nvPr>
        </p:nvSpPr>
        <p:spPr/>
        <p:txBody>
          <a:bodyPr/>
          <a:lstStyle/>
          <a:p>
            <a:fld id="{F64BA984-46A0-4F46-990E-EC790E6934B4}" type="slidenum">
              <a:rPr lang="zh-CN" altLang="en-US" smtClean="0"/>
              <a:t>65</a:t>
            </a:fld>
            <a:endParaRPr lang="zh-CN" altLang="en-US"/>
          </a:p>
        </p:txBody>
      </p:sp>
    </p:spTree>
    <p:extLst>
      <p:ext uri="{BB962C8B-B14F-4D97-AF65-F5344CB8AC3E}">
        <p14:creationId xmlns:p14="http://schemas.microsoft.com/office/powerpoint/2010/main" val="34465858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7" name="Rectangle 3"/>
          <p:cNvSpPr>
            <a:spLocks noGrp="1" noChangeArrowheads="1"/>
          </p:cNvSpPr>
          <p:nvPr>
            <p:ph idx="1"/>
          </p:nvPr>
        </p:nvSpPr>
        <p:spPr>
          <a:xfrm>
            <a:off x="255015" y="1196753"/>
            <a:ext cx="8229600" cy="2520280"/>
          </a:xfrm>
        </p:spPr>
        <p:txBody>
          <a:bodyPr>
            <a:normAutofit/>
          </a:bodyPr>
          <a:lstStyle/>
          <a:p>
            <a:pPr eaLnBrk="1" hangingPunct="1"/>
            <a:r>
              <a:rPr lang="zh-CN" altLang="en-US" dirty="0">
                <a:ea typeface="宋体" charset="-122"/>
              </a:rPr>
              <a:t>麦克风是把声音</a:t>
            </a:r>
            <a:r>
              <a:rPr lang="en-US" altLang="zh-CN" dirty="0">
                <a:ea typeface="宋体" charset="-122"/>
              </a:rPr>
              <a:t>(</a:t>
            </a:r>
            <a:r>
              <a:rPr lang="zh-CN" altLang="en-US" dirty="0">
                <a:ea typeface="宋体" charset="-122"/>
              </a:rPr>
              <a:t>振动</a:t>
            </a:r>
            <a:r>
              <a:rPr lang="en-US" altLang="zh-CN" dirty="0">
                <a:ea typeface="宋体" charset="-122"/>
              </a:rPr>
              <a:t>)</a:t>
            </a:r>
            <a:r>
              <a:rPr lang="zh-CN" altLang="en-US" dirty="0">
                <a:ea typeface="宋体" charset="-122"/>
              </a:rPr>
              <a:t>转化成电信号的装置</a:t>
            </a:r>
            <a:endParaRPr lang="en-US" altLang="zh-CN" dirty="0">
              <a:ea typeface="宋体" charset="-122"/>
            </a:endParaRPr>
          </a:p>
          <a:p>
            <a:r>
              <a:rPr lang="zh-CN" altLang="en-US" dirty="0"/>
              <a:t>其原理是人声通过空气使振膜振动，然后在振膜上的线圈绕组和环绕在动圈麦头的磁铁形成磁力场切割，形成微弱的电流</a:t>
            </a:r>
            <a:endParaRPr lang="en-US" altLang="zh-CN" dirty="0">
              <a:ea typeface="宋体" charset="-122"/>
            </a:endParaRPr>
          </a:p>
        </p:txBody>
      </p:sp>
      <p:sp>
        <p:nvSpPr>
          <p:cNvPr id="231426" name="Rectangle 2"/>
          <p:cNvSpPr>
            <a:spLocks noGrp="1" noChangeArrowheads="1"/>
          </p:cNvSpPr>
          <p:nvPr>
            <p:ph type="title"/>
          </p:nvPr>
        </p:nvSpPr>
        <p:spPr/>
        <p:txBody>
          <a:bodyPr>
            <a:normAutofit fontScale="90000"/>
          </a:bodyPr>
          <a:lstStyle/>
          <a:p>
            <a:pPr eaLnBrk="1" hangingPunct="1">
              <a:defRPr/>
            </a:pPr>
            <a:r>
              <a:rPr lang="en-US" altLang="zh-CN" dirty="0"/>
              <a:t>2.6 </a:t>
            </a:r>
            <a:r>
              <a:rPr lang="zh-CN" altLang="en-US" dirty="0"/>
              <a:t>音频 采集</a:t>
            </a:r>
            <a:endParaRPr lang="en-US" dirty="0"/>
          </a:p>
        </p:txBody>
      </p:sp>
      <p:sp>
        <p:nvSpPr>
          <p:cNvPr id="2" name="AutoShape 2" descr="http://upload.wikimedia.org/wikipedia/commons/thumb/0/03/Mic-condenser.PNG/220px-Mic-condenser.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矩形 3"/>
          <p:cNvSpPr/>
          <p:nvPr/>
        </p:nvSpPr>
        <p:spPr>
          <a:xfrm>
            <a:off x="5940152" y="3985353"/>
            <a:ext cx="1728192" cy="1938992"/>
          </a:xfrm>
          <a:prstGeom prst="rect">
            <a:avLst/>
          </a:prstGeom>
        </p:spPr>
        <p:txBody>
          <a:bodyPr wrap="square">
            <a:spAutoFit/>
          </a:bodyPr>
          <a:lstStyle/>
          <a:p>
            <a:pPr marL="342900" indent="-342900">
              <a:buAutoNum type="arabicPeriod"/>
            </a:pPr>
            <a:r>
              <a:rPr lang="zh-CN" altLang="en-US" sz="2400" dirty="0"/>
              <a:t>声波</a:t>
            </a:r>
            <a:endParaRPr lang="en-US" altLang="zh-CN" sz="2400" dirty="0"/>
          </a:p>
          <a:p>
            <a:pPr marL="342900" indent="-342900">
              <a:buAutoNum type="arabicPeriod"/>
            </a:pPr>
            <a:r>
              <a:rPr lang="en-US" altLang="zh-CN" sz="2400" dirty="0"/>
              <a:t> </a:t>
            </a:r>
            <a:r>
              <a:rPr lang="zh-CN" altLang="en-US" sz="2400" dirty="0"/>
              <a:t>振动膜</a:t>
            </a:r>
            <a:endParaRPr lang="en-US" altLang="zh-CN" sz="2400" dirty="0"/>
          </a:p>
          <a:p>
            <a:pPr marL="342900" indent="-342900">
              <a:buAutoNum type="arabicPeriod"/>
            </a:pPr>
            <a:r>
              <a:rPr lang="zh-CN" altLang="en-US" sz="2400" dirty="0"/>
              <a:t>线圈</a:t>
            </a:r>
            <a:endParaRPr lang="en-US" altLang="zh-CN" sz="2400" dirty="0"/>
          </a:p>
          <a:p>
            <a:pPr marL="342900" indent="-342900">
              <a:buAutoNum type="arabicPeriod"/>
            </a:pPr>
            <a:r>
              <a:rPr lang="zh-CN" altLang="en-US" sz="2400" dirty="0"/>
              <a:t>磁铁</a:t>
            </a:r>
            <a:endParaRPr lang="en-US" altLang="zh-CN" sz="2400" dirty="0"/>
          </a:p>
          <a:p>
            <a:pPr marL="342900" indent="-342900">
              <a:buAutoNum type="arabicPeriod"/>
            </a:pPr>
            <a:r>
              <a:rPr lang="zh-CN" altLang="en-US" sz="2400" dirty="0"/>
              <a:t>电信号</a:t>
            </a:r>
            <a:endParaRPr lang="en-US" altLang="zh-CN" sz="2400" dirty="0"/>
          </a:p>
        </p:txBody>
      </p:sp>
      <p:pic>
        <p:nvPicPr>
          <p:cNvPr id="119812" name="Picture 4" descr="File:Mic-dynamic.PNG"/>
          <p:cNvPicPr>
            <a:picLocks noChangeAspect="1" noChangeArrowheads="1"/>
          </p:cNvPicPr>
          <p:nvPr/>
        </p:nvPicPr>
        <p:blipFill rotWithShape="1">
          <a:blip r:embed="rId3">
            <a:extLst>
              <a:ext uri="{28A0092B-C50C-407E-A947-70E740481C1C}">
                <a14:useLocalDpi xmlns:a14="http://schemas.microsoft.com/office/drawing/2010/main" val="0"/>
              </a:ext>
            </a:extLst>
          </a:blip>
          <a:srcRect t="10624"/>
          <a:stretch/>
        </p:blipFill>
        <p:spPr bwMode="auto">
          <a:xfrm>
            <a:off x="368300" y="3573016"/>
            <a:ext cx="4824536" cy="2763667"/>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F64BA984-46A0-4F46-990E-EC790E6934B4}" type="slidenum">
              <a:rPr lang="zh-CN" altLang="en-US" smtClean="0"/>
              <a:t>66</a:t>
            </a:fld>
            <a:endParaRPr lang="zh-CN" altLang="en-US"/>
          </a:p>
        </p:txBody>
      </p:sp>
    </p:spTree>
    <p:extLst>
      <p:ext uri="{BB962C8B-B14F-4D97-AF65-F5344CB8AC3E}">
        <p14:creationId xmlns:p14="http://schemas.microsoft.com/office/powerpoint/2010/main" val="3075599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64BA984-46A0-4F46-990E-EC790E6934B4}" type="slidenum">
              <a:rPr lang="zh-CN" altLang="en-US" smtClean="0"/>
              <a:t>67</a:t>
            </a:fld>
            <a:endParaRPr lang="zh-CN" altLang="en-US"/>
          </a:p>
        </p:txBody>
      </p:sp>
      <p:sp>
        <p:nvSpPr>
          <p:cNvPr id="7" name="Rectangle 2"/>
          <p:cNvSpPr>
            <a:spLocks noGrp="1" noChangeArrowheads="1"/>
          </p:cNvSpPr>
          <p:nvPr>
            <p:ph type="title"/>
          </p:nvPr>
        </p:nvSpPr>
        <p:spPr>
          <a:xfrm>
            <a:off x="250824" y="204785"/>
            <a:ext cx="8229600" cy="703263"/>
          </a:xfrm>
        </p:spPr>
        <p:txBody>
          <a:bodyPr>
            <a:normAutofit fontScale="90000"/>
          </a:bodyPr>
          <a:lstStyle/>
          <a:p>
            <a:pPr eaLnBrk="1" hangingPunct="1">
              <a:defRPr/>
            </a:pPr>
            <a:r>
              <a:rPr lang="en-US" altLang="zh-CN" dirty="0"/>
              <a:t>2.6 </a:t>
            </a:r>
            <a:r>
              <a:rPr lang="zh-CN" altLang="en-US" dirty="0"/>
              <a:t>音频 采集</a:t>
            </a:r>
            <a:endParaRPr lang="en-US" dirty="0"/>
          </a:p>
        </p:txBody>
      </p:sp>
      <p:sp>
        <p:nvSpPr>
          <p:cNvPr id="6" name="内容占位符 1">
            <a:extLst>
              <a:ext uri="{FF2B5EF4-FFF2-40B4-BE49-F238E27FC236}">
                <a16:creationId xmlns:a16="http://schemas.microsoft.com/office/drawing/2014/main" id="{9EC7E714-E48C-487B-8CEA-DB935DF79FC1}"/>
              </a:ext>
            </a:extLst>
          </p:cNvPr>
          <p:cNvSpPr>
            <a:spLocks noGrp="1"/>
          </p:cNvSpPr>
          <p:nvPr>
            <p:ph idx="1"/>
          </p:nvPr>
        </p:nvSpPr>
        <p:spPr>
          <a:xfrm>
            <a:off x="107504" y="1196752"/>
            <a:ext cx="8997506" cy="5040558"/>
          </a:xfrm>
        </p:spPr>
        <p:txBody>
          <a:bodyPr>
            <a:normAutofit/>
          </a:bodyPr>
          <a:lstStyle/>
          <a:p>
            <a:pPr indent="457200">
              <a:lnSpc>
                <a:spcPct val="130000"/>
              </a:lnSpc>
            </a:pPr>
            <a:r>
              <a:rPr lang="zh-CN" altLang="en-US" dirty="0">
                <a:latin typeface="+mn-ea"/>
              </a:rPr>
              <a:t>声波在时间和幅度上都是连续的，是一种模拟信号。</a:t>
            </a:r>
            <a:endParaRPr lang="en-US" altLang="zh-CN" dirty="0">
              <a:latin typeface="+mn-ea"/>
            </a:endParaRPr>
          </a:p>
          <a:p>
            <a:pPr indent="457200">
              <a:lnSpc>
                <a:spcPct val="130000"/>
              </a:lnSpc>
            </a:pPr>
            <a:r>
              <a:rPr lang="zh-CN" altLang="en-US" dirty="0">
                <a:latin typeface="+mn-ea"/>
              </a:rPr>
              <a:t>数字化过程：就是</a:t>
            </a:r>
            <a:r>
              <a:rPr lang="zh-CN" altLang="en-US" dirty="0">
                <a:solidFill>
                  <a:srgbClr val="C00000"/>
                </a:solidFill>
                <a:latin typeface="+mn-ea"/>
              </a:rPr>
              <a:t>采样</a:t>
            </a:r>
            <a:r>
              <a:rPr lang="zh-CN" altLang="en-US" dirty="0">
                <a:latin typeface="+mn-ea"/>
              </a:rPr>
              <a:t>、</a:t>
            </a:r>
            <a:r>
              <a:rPr lang="zh-CN" altLang="en-US" dirty="0">
                <a:solidFill>
                  <a:srgbClr val="C00000"/>
                </a:solidFill>
                <a:latin typeface="+mn-ea"/>
              </a:rPr>
              <a:t>量化</a:t>
            </a:r>
            <a:r>
              <a:rPr lang="zh-CN" altLang="en-US" dirty="0">
                <a:latin typeface="+mn-ea"/>
              </a:rPr>
              <a:t>和</a:t>
            </a:r>
            <a:r>
              <a:rPr lang="zh-CN" altLang="en-US" dirty="0">
                <a:solidFill>
                  <a:srgbClr val="C00000"/>
                </a:solidFill>
                <a:latin typeface="+mn-ea"/>
              </a:rPr>
              <a:t>编码</a:t>
            </a:r>
            <a:r>
              <a:rPr lang="zh-CN" altLang="en-US" dirty="0">
                <a:latin typeface="+mn-ea"/>
              </a:rPr>
              <a:t>的过程。</a:t>
            </a:r>
            <a:endParaRPr lang="en-US" altLang="zh-CN" dirty="0">
              <a:latin typeface="+mn-ea"/>
            </a:endParaRPr>
          </a:p>
          <a:p>
            <a:pPr indent="457200">
              <a:lnSpc>
                <a:spcPct val="130000"/>
              </a:lnSpc>
            </a:pPr>
            <a:r>
              <a:rPr lang="zh-CN" altLang="en-US" dirty="0">
                <a:latin typeface="+mn-ea"/>
              </a:rPr>
              <a:t>计算机音频技术主要包括声音的采集、数字化、压缩</a:t>
            </a:r>
            <a:r>
              <a:rPr lang="en-US" altLang="zh-CN" dirty="0">
                <a:latin typeface="+mn-ea"/>
              </a:rPr>
              <a:t>/</a:t>
            </a:r>
            <a:r>
              <a:rPr lang="zh-CN" altLang="en-US" dirty="0">
                <a:latin typeface="+mn-ea"/>
              </a:rPr>
              <a:t>解压缩以及声音的播放。</a:t>
            </a:r>
          </a:p>
          <a:p>
            <a:endParaRPr lang="zh-CN" altLang="en-US" dirty="0"/>
          </a:p>
        </p:txBody>
      </p:sp>
    </p:spTree>
    <p:extLst>
      <p:ext uri="{BB962C8B-B14F-4D97-AF65-F5344CB8AC3E}">
        <p14:creationId xmlns:p14="http://schemas.microsoft.com/office/powerpoint/2010/main" val="15003016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3E431F7-4C93-4D8C-B6FF-7B37F30379C2}"/>
              </a:ext>
            </a:extLst>
          </p:cNvPr>
          <p:cNvSpPr>
            <a:spLocks noGrp="1"/>
          </p:cNvSpPr>
          <p:nvPr>
            <p:ph idx="1"/>
          </p:nvPr>
        </p:nvSpPr>
        <p:spPr/>
        <p:txBody>
          <a:bodyPr/>
          <a:lstStyle/>
          <a:p>
            <a:r>
              <a:rPr lang="zh-CN" altLang="en-US" dirty="0"/>
              <a:t>音频信号采样：声音信号在时间上的离散化。</a:t>
            </a:r>
            <a:endParaRPr lang="en-US" altLang="zh-CN" dirty="0"/>
          </a:p>
          <a:p>
            <a:pPr lvl="1"/>
            <a:r>
              <a:rPr lang="zh-CN" altLang="en-US" dirty="0"/>
              <a:t>采样频率：</a:t>
            </a:r>
            <a:r>
              <a:rPr lang="zh-CN" altLang="en-US" b="0" dirty="0"/>
              <a:t>每秒采样的次数。 </a:t>
            </a:r>
            <a:endParaRPr lang="en-US" altLang="zh-CN" b="0" dirty="0"/>
          </a:p>
          <a:p>
            <a:pPr lvl="1"/>
            <a:r>
              <a:rPr lang="zh-CN" altLang="en-US" b="0" dirty="0"/>
              <a:t>奈奎斯特理论：采样频率不低于声音信号最高频率的两倍，这样就能 把数字声音还原成原来的声音，</a:t>
            </a:r>
            <a:r>
              <a:rPr lang="zh-CN" altLang="en-US" b="1" dirty="0"/>
              <a:t>称为无损数字化</a:t>
            </a:r>
            <a:r>
              <a:rPr lang="zh-CN" altLang="en-US" b="0" dirty="0"/>
              <a:t>。 </a:t>
            </a:r>
            <a:endParaRPr lang="en-US" altLang="zh-CN" b="0" dirty="0"/>
          </a:p>
          <a:p>
            <a:pPr marL="914400" lvl="1" indent="-457200">
              <a:buFont typeface="Arial" panose="020B0604020202020204" pitchFamily="34" charset="0"/>
              <a:buChar char="•"/>
            </a:pPr>
            <a:r>
              <a:rPr lang="zh-CN" altLang="en-US" b="0" dirty="0"/>
              <a:t>语音的最高频率约为</a:t>
            </a:r>
            <a:r>
              <a:rPr lang="en-US" altLang="zh-CN" b="0" dirty="0"/>
              <a:t>3.4kHz</a:t>
            </a:r>
            <a:r>
              <a:rPr lang="zh-CN" altLang="en-US" b="0" dirty="0"/>
              <a:t>，电话采样频率为</a:t>
            </a:r>
            <a:r>
              <a:rPr lang="en-US" altLang="zh-CN" b="0" dirty="0"/>
              <a:t>8kHz</a:t>
            </a:r>
            <a:r>
              <a:rPr lang="zh-CN" altLang="en-US" b="0" dirty="0"/>
              <a:t>； </a:t>
            </a:r>
            <a:endParaRPr lang="en-US" altLang="zh-CN" b="0" dirty="0"/>
          </a:p>
          <a:p>
            <a:pPr marL="914400" lvl="1" indent="-457200">
              <a:buFont typeface="Arial" panose="020B0604020202020204" pitchFamily="34" charset="0"/>
              <a:buChar char="•"/>
            </a:pPr>
            <a:r>
              <a:rPr lang="zh-CN" altLang="en-US" b="0" dirty="0"/>
              <a:t>音频的最高频率为</a:t>
            </a:r>
            <a:r>
              <a:rPr lang="en-US" altLang="zh-CN" b="0" dirty="0"/>
              <a:t>20kHz</a:t>
            </a:r>
            <a:r>
              <a:rPr lang="zh-CN" altLang="en-US" b="0" dirty="0"/>
              <a:t>，</a:t>
            </a:r>
            <a:r>
              <a:rPr lang="en-US" altLang="zh-CN" b="0" dirty="0"/>
              <a:t>CD</a:t>
            </a:r>
            <a:r>
              <a:rPr lang="zh-CN" altLang="en-US" b="0" dirty="0"/>
              <a:t>音质的采样频率为</a:t>
            </a:r>
            <a:r>
              <a:rPr lang="en-US" altLang="zh-CN" b="0" dirty="0"/>
              <a:t>44.1kHz</a:t>
            </a:r>
            <a:r>
              <a:rPr lang="zh-CN" altLang="en-US" b="0" dirty="0"/>
              <a:t> </a:t>
            </a:r>
          </a:p>
        </p:txBody>
      </p:sp>
      <p:sp>
        <p:nvSpPr>
          <p:cNvPr id="3" name="标题 2">
            <a:extLst>
              <a:ext uri="{FF2B5EF4-FFF2-40B4-BE49-F238E27FC236}">
                <a16:creationId xmlns:a16="http://schemas.microsoft.com/office/drawing/2014/main" id="{77F947C3-45BC-4C61-BF11-8E278B22A627}"/>
              </a:ext>
            </a:extLst>
          </p:cNvPr>
          <p:cNvSpPr>
            <a:spLocks noGrp="1"/>
          </p:cNvSpPr>
          <p:nvPr>
            <p:ph type="title"/>
          </p:nvPr>
        </p:nvSpPr>
        <p:spPr/>
        <p:txBody>
          <a:bodyPr>
            <a:normAutofit fontScale="90000"/>
          </a:bodyPr>
          <a:lstStyle/>
          <a:p>
            <a:r>
              <a:rPr lang="en-US" altLang="zh-CN" dirty="0"/>
              <a:t>2.6 </a:t>
            </a:r>
            <a:r>
              <a:rPr lang="zh-CN" altLang="en-US" dirty="0"/>
              <a:t>音频 采集</a:t>
            </a:r>
          </a:p>
        </p:txBody>
      </p:sp>
      <p:sp>
        <p:nvSpPr>
          <p:cNvPr id="4" name="灯片编号占位符 3">
            <a:extLst>
              <a:ext uri="{FF2B5EF4-FFF2-40B4-BE49-F238E27FC236}">
                <a16:creationId xmlns:a16="http://schemas.microsoft.com/office/drawing/2014/main" id="{64FB71FF-AF3E-48D7-B3EF-5536EE93D8A1}"/>
              </a:ext>
            </a:extLst>
          </p:cNvPr>
          <p:cNvSpPr>
            <a:spLocks noGrp="1"/>
          </p:cNvSpPr>
          <p:nvPr>
            <p:ph type="sldNum" sz="quarter" idx="12"/>
          </p:nvPr>
        </p:nvSpPr>
        <p:spPr/>
        <p:txBody>
          <a:bodyPr/>
          <a:lstStyle/>
          <a:p>
            <a:fld id="{F64BA984-46A0-4F46-990E-EC790E6934B4}" type="slidenum">
              <a:rPr lang="zh-CN" altLang="en-US" smtClean="0"/>
              <a:t>68</a:t>
            </a:fld>
            <a:endParaRPr lang="zh-CN" altLang="en-US"/>
          </a:p>
        </p:txBody>
      </p:sp>
    </p:spTree>
    <p:extLst>
      <p:ext uri="{BB962C8B-B14F-4D97-AF65-F5344CB8AC3E}">
        <p14:creationId xmlns:p14="http://schemas.microsoft.com/office/powerpoint/2010/main" val="29514744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3E431F7-4C93-4D8C-B6FF-7B37F30379C2}"/>
              </a:ext>
            </a:extLst>
          </p:cNvPr>
          <p:cNvSpPr>
            <a:spLocks noGrp="1"/>
          </p:cNvSpPr>
          <p:nvPr>
            <p:ph idx="1"/>
          </p:nvPr>
        </p:nvSpPr>
        <p:spPr/>
        <p:txBody>
          <a:bodyPr/>
          <a:lstStyle/>
          <a:p>
            <a:r>
              <a:rPr lang="zh-CN" altLang="en-US" dirty="0"/>
              <a:t>音频信号量化：声音信号在</a:t>
            </a:r>
            <a:r>
              <a:rPr lang="zh-CN" altLang="en-US" dirty="0">
                <a:solidFill>
                  <a:srgbClr val="C00000"/>
                </a:solidFill>
              </a:rPr>
              <a:t>幅度上</a:t>
            </a:r>
            <a:r>
              <a:rPr lang="zh-CN" altLang="en-US" dirty="0"/>
              <a:t>的</a:t>
            </a:r>
            <a:r>
              <a:rPr lang="zh-CN" altLang="en-US" dirty="0">
                <a:solidFill>
                  <a:srgbClr val="C00000"/>
                </a:solidFill>
              </a:rPr>
              <a:t>离散化</a:t>
            </a:r>
            <a:r>
              <a:rPr lang="zh-CN" altLang="en-US" dirty="0"/>
              <a:t>。</a:t>
            </a:r>
            <a:endParaRPr lang="en-US" altLang="zh-CN" dirty="0"/>
          </a:p>
          <a:p>
            <a:pPr lvl="1"/>
            <a:r>
              <a:rPr lang="zh-CN" altLang="en-US" dirty="0"/>
              <a:t>采样过程中对每一个采样点的幅度值用数字量来表示。</a:t>
            </a:r>
            <a:endParaRPr lang="en-US" altLang="zh-CN" dirty="0"/>
          </a:p>
          <a:p>
            <a:pPr lvl="2"/>
            <a:r>
              <a:rPr lang="zh-CN" altLang="en-US" dirty="0"/>
              <a:t>采样精度：即量化的位数，</a:t>
            </a:r>
            <a:r>
              <a:rPr lang="en-US" altLang="zh-CN" dirty="0"/>
              <a:t>8</a:t>
            </a:r>
            <a:r>
              <a:rPr lang="zh-CN" altLang="en-US" dirty="0"/>
              <a:t>位可以将幅度分成</a:t>
            </a:r>
            <a:r>
              <a:rPr lang="en-US" altLang="zh-CN" dirty="0"/>
              <a:t>256</a:t>
            </a:r>
            <a:r>
              <a:rPr lang="zh-CN" altLang="en-US" dirty="0"/>
              <a:t>等份，位数越多量化等级数也越多，所能表示的声波幅度的动态范围也越大</a:t>
            </a:r>
            <a:endParaRPr lang="en-US" altLang="zh-CN" dirty="0"/>
          </a:p>
        </p:txBody>
      </p:sp>
      <p:sp>
        <p:nvSpPr>
          <p:cNvPr id="3" name="标题 2">
            <a:extLst>
              <a:ext uri="{FF2B5EF4-FFF2-40B4-BE49-F238E27FC236}">
                <a16:creationId xmlns:a16="http://schemas.microsoft.com/office/drawing/2014/main" id="{77F947C3-45BC-4C61-BF11-8E278B22A627}"/>
              </a:ext>
            </a:extLst>
          </p:cNvPr>
          <p:cNvSpPr>
            <a:spLocks noGrp="1"/>
          </p:cNvSpPr>
          <p:nvPr>
            <p:ph type="title"/>
          </p:nvPr>
        </p:nvSpPr>
        <p:spPr/>
        <p:txBody>
          <a:bodyPr>
            <a:normAutofit fontScale="90000"/>
          </a:bodyPr>
          <a:lstStyle/>
          <a:p>
            <a:r>
              <a:rPr lang="en-US" altLang="zh-CN" dirty="0"/>
              <a:t>2.6 </a:t>
            </a:r>
            <a:r>
              <a:rPr lang="zh-CN" altLang="en-US" dirty="0"/>
              <a:t>音频 采集</a:t>
            </a:r>
          </a:p>
        </p:txBody>
      </p:sp>
      <p:sp>
        <p:nvSpPr>
          <p:cNvPr id="4" name="灯片编号占位符 3">
            <a:extLst>
              <a:ext uri="{FF2B5EF4-FFF2-40B4-BE49-F238E27FC236}">
                <a16:creationId xmlns:a16="http://schemas.microsoft.com/office/drawing/2014/main" id="{64FB71FF-AF3E-48D7-B3EF-5536EE93D8A1}"/>
              </a:ext>
            </a:extLst>
          </p:cNvPr>
          <p:cNvSpPr>
            <a:spLocks noGrp="1"/>
          </p:cNvSpPr>
          <p:nvPr>
            <p:ph type="sldNum" sz="quarter" idx="12"/>
          </p:nvPr>
        </p:nvSpPr>
        <p:spPr/>
        <p:txBody>
          <a:bodyPr/>
          <a:lstStyle/>
          <a:p>
            <a:fld id="{F64BA984-46A0-4F46-990E-EC790E6934B4}" type="slidenum">
              <a:rPr lang="zh-CN" altLang="en-US" smtClean="0"/>
              <a:t>69</a:t>
            </a:fld>
            <a:endParaRPr lang="zh-CN" altLang="en-US"/>
          </a:p>
        </p:txBody>
      </p:sp>
      <p:pic>
        <p:nvPicPr>
          <p:cNvPr id="5" name="图片 4">
            <a:extLst>
              <a:ext uri="{FF2B5EF4-FFF2-40B4-BE49-F238E27FC236}">
                <a16:creationId xmlns:a16="http://schemas.microsoft.com/office/drawing/2014/main" id="{910FC77F-4B47-4776-BDFB-F1214DC7F8DD}"/>
              </a:ext>
            </a:extLst>
          </p:cNvPr>
          <p:cNvPicPr>
            <a:picLocks noChangeAspect="1"/>
          </p:cNvPicPr>
          <p:nvPr/>
        </p:nvPicPr>
        <p:blipFill>
          <a:blip r:embed="rId2"/>
          <a:stretch>
            <a:fillRect/>
          </a:stretch>
        </p:blipFill>
        <p:spPr>
          <a:xfrm>
            <a:off x="1391370" y="3868938"/>
            <a:ext cx="6361260" cy="2368372"/>
          </a:xfrm>
          <a:prstGeom prst="rect">
            <a:avLst/>
          </a:prstGeom>
        </p:spPr>
      </p:pic>
    </p:spTree>
    <p:extLst>
      <p:ext uri="{BB962C8B-B14F-4D97-AF65-F5344CB8AC3E}">
        <p14:creationId xmlns:p14="http://schemas.microsoft.com/office/powerpoint/2010/main" val="35207183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356929" y="1716290"/>
            <a:ext cx="8521005" cy="3046988"/>
          </a:xfrm>
          <a:prstGeom prst="rect">
            <a:avLst/>
          </a:prstGeom>
          <a:noFill/>
          <a:ln>
            <a:noFill/>
          </a:ln>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lang="en-US" altLang="zh-CN" sz="3200" dirty="0">
                <a:latin typeface="+mn-ea"/>
                <a:ea typeface="+mn-ea"/>
              </a:rPr>
              <a:t>	</a:t>
            </a:r>
            <a:r>
              <a:rPr lang="zh-CN" altLang="en-US" sz="3200" dirty="0">
                <a:solidFill>
                  <a:srgbClr val="FF3300"/>
                </a:solidFill>
                <a:latin typeface="+mn-ea"/>
                <a:ea typeface="+mn-ea"/>
              </a:rPr>
              <a:t>量化数据位数</a:t>
            </a:r>
            <a:r>
              <a:rPr lang="zh-CN" altLang="en-US" sz="3200" dirty="0">
                <a:latin typeface="+mn-ea"/>
                <a:ea typeface="+mn-ea"/>
              </a:rPr>
              <a:t>（也称量化级）是每个采样点能够表示的数据范围，经常采用的有</a:t>
            </a:r>
            <a:r>
              <a:rPr lang="en-US" altLang="zh-CN" sz="3200" dirty="0">
                <a:latin typeface="+mn-ea"/>
                <a:ea typeface="+mn-ea"/>
              </a:rPr>
              <a:t>8</a:t>
            </a:r>
            <a:r>
              <a:rPr lang="zh-CN" altLang="en-US" sz="3200" dirty="0">
                <a:latin typeface="+mn-ea"/>
                <a:ea typeface="+mn-ea"/>
              </a:rPr>
              <a:t>位、</a:t>
            </a:r>
            <a:r>
              <a:rPr lang="en-US" altLang="zh-CN" sz="3200" dirty="0">
                <a:latin typeface="+mn-ea"/>
                <a:ea typeface="+mn-ea"/>
              </a:rPr>
              <a:t>12</a:t>
            </a:r>
            <a:r>
              <a:rPr lang="zh-CN" altLang="en-US" sz="3200" dirty="0">
                <a:latin typeface="+mn-ea"/>
                <a:ea typeface="+mn-ea"/>
              </a:rPr>
              <a:t>位和</a:t>
            </a:r>
            <a:r>
              <a:rPr lang="en-US" altLang="zh-CN" sz="3200" dirty="0">
                <a:latin typeface="+mn-ea"/>
                <a:ea typeface="+mn-ea"/>
              </a:rPr>
              <a:t>16</a:t>
            </a:r>
            <a:r>
              <a:rPr lang="zh-CN" altLang="en-US" sz="3200" dirty="0">
                <a:latin typeface="+mn-ea"/>
                <a:ea typeface="+mn-ea"/>
              </a:rPr>
              <a:t>位。</a:t>
            </a:r>
          </a:p>
          <a:p>
            <a:pPr algn="l" eaLnBrk="1" hangingPunct="1"/>
            <a:r>
              <a:rPr lang="zh-CN" altLang="en-US" sz="3200" dirty="0">
                <a:latin typeface="+mn-ea"/>
                <a:ea typeface="+mn-ea"/>
              </a:rPr>
              <a:t>	</a:t>
            </a:r>
            <a:r>
              <a:rPr lang="zh-CN" altLang="en-US" sz="3200" dirty="0">
                <a:solidFill>
                  <a:srgbClr val="336600"/>
                </a:solidFill>
                <a:latin typeface="+mn-ea"/>
                <a:ea typeface="+mn-ea"/>
              </a:rPr>
              <a:t>例如</a:t>
            </a:r>
            <a:r>
              <a:rPr lang="zh-CN" altLang="en-US" sz="3200" dirty="0">
                <a:latin typeface="+mn-ea"/>
                <a:ea typeface="+mn-ea"/>
              </a:rPr>
              <a:t>，</a:t>
            </a:r>
            <a:r>
              <a:rPr lang="en-US" altLang="zh-CN" sz="3200" dirty="0">
                <a:latin typeface="+mn-ea"/>
                <a:ea typeface="+mn-ea"/>
              </a:rPr>
              <a:t>8</a:t>
            </a:r>
            <a:r>
              <a:rPr lang="zh-CN" altLang="en-US" sz="3200" dirty="0">
                <a:latin typeface="+mn-ea"/>
                <a:ea typeface="+mn-ea"/>
              </a:rPr>
              <a:t>位量化级表示每个采样点可以表示</a:t>
            </a:r>
            <a:r>
              <a:rPr lang="en-US" altLang="zh-CN" sz="3200" dirty="0">
                <a:latin typeface="+mn-ea"/>
                <a:ea typeface="+mn-ea"/>
              </a:rPr>
              <a:t>256</a:t>
            </a:r>
            <a:r>
              <a:rPr lang="zh-CN" altLang="en-US" sz="3200" dirty="0">
                <a:latin typeface="+mn-ea"/>
                <a:ea typeface="+mn-ea"/>
              </a:rPr>
              <a:t>个不同量化值，而</a:t>
            </a:r>
            <a:r>
              <a:rPr lang="en-US" altLang="zh-CN" sz="3200" dirty="0">
                <a:latin typeface="+mn-ea"/>
                <a:ea typeface="+mn-ea"/>
              </a:rPr>
              <a:t>16</a:t>
            </a:r>
            <a:r>
              <a:rPr lang="zh-CN" altLang="en-US" sz="3200" dirty="0">
                <a:latin typeface="+mn-ea"/>
                <a:ea typeface="+mn-ea"/>
              </a:rPr>
              <a:t>位量化级则可以表示</a:t>
            </a:r>
            <a:r>
              <a:rPr lang="en-US" altLang="zh-CN" sz="3200" dirty="0">
                <a:latin typeface="+mn-ea"/>
                <a:ea typeface="+mn-ea"/>
              </a:rPr>
              <a:t>65536</a:t>
            </a:r>
            <a:r>
              <a:rPr lang="zh-CN" altLang="en-US" sz="3200" dirty="0">
                <a:latin typeface="+mn-ea"/>
                <a:ea typeface="+mn-ea"/>
              </a:rPr>
              <a:t>个不同的量化值。</a:t>
            </a:r>
          </a:p>
        </p:txBody>
      </p:sp>
      <p:sp>
        <p:nvSpPr>
          <p:cNvPr id="26627" name="Text Box 3"/>
          <p:cNvSpPr txBox="1">
            <a:spLocks noChangeArrowheads="1"/>
          </p:cNvSpPr>
          <p:nvPr/>
        </p:nvSpPr>
        <p:spPr bwMode="auto">
          <a:xfrm>
            <a:off x="356929" y="4763278"/>
            <a:ext cx="8304981" cy="1569660"/>
          </a:xfrm>
          <a:prstGeom prst="rect">
            <a:avLst/>
          </a:prstGeom>
          <a:noFill/>
          <a:ln>
            <a:noFill/>
          </a:ln>
        </p:spPr>
        <p:txBody>
          <a:bodyPr wrap="squar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buFont typeface="Wingdings" pitchFamily="2" charset="2"/>
              <a:buNone/>
            </a:pPr>
            <a:r>
              <a:rPr lang="en-US" altLang="zh-CN" sz="3200" dirty="0">
                <a:latin typeface="+mn-ea"/>
                <a:ea typeface="+mn-ea"/>
              </a:rPr>
              <a:t>		</a:t>
            </a:r>
            <a:r>
              <a:rPr lang="zh-CN" altLang="en-US" sz="3200" dirty="0">
                <a:latin typeface="+mn-ea"/>
                <a:ea typeface="+mn-ea"/>
              </a:rPr>
              <a:t>记录声音时，如果每次生成一个声道数据，称为</a:t>
            </a:r>
            <a:r>
              <a:rPr lang="zh-CN" altLang="en-US" sz="3200" dirty="0">
                <a:solidFill>
                  <a:srgbClr val="FF3300"/>
                </a:solidFill>
                <a:latin typeface="+mn-ea"/>
                <a:ea typeface="+mn-ea"/>
              </a:rPr>
              <a:t>单声道</a:t>
            </a:r>
            <a:r>
              <a:rPr lang="zh-CN" altLang="en-US" sz="3200" dirty="0">
                <a:latin typeface="+mn-ea"/>
                <a:ea typeface="+mn-ea"/>
              </a:rPr>
              <a:t>；每次生成两个声波数据，称为</a:t>
            </a:r>
            <a:r>
              <a:rPr lang="zh-CN" altLang="en-US" sz="3200" dirty="0">
                <a:solidFill>
                  <a:srgbClr val="FF3300"/>
                </a:solidFill>
                <a:latin typeface="+mn-ea"/>
                <a:ea typeface="+mn-ea"/>
              </a:rPr>
              <a:t>双声道</a:t>
            </a:r>
            <a:r>
              <a:rPr lang="zh-CN" altLang="en-US" sz="3200" dirty="0">
                <a:latin typeface="+mn-ea"/>
                <a:ea typeface="+mn-ea"/>
              </a:rPr>
              <a:t>。</a:t>
            </a:r>
          </a:p>
        </p:txBody>
      </p:sp>
      <p:sp>
        <p:nvSpPr>
          <p:cNvPr id="2" name="标题 1"/>
          <p:cNvSpPr>
            <a:spLocks noGrp="1"/>
          </p:cNvSpPr>
          <p:nvPr>
            <p:ph type="title"/>
          </p:nvPr>
        </p:nvSpPr>
        <p:spPr>
          <a:xfrm>
            <a:off x="15959" y="1046166"/>
            <a:ext cx="8229600" cy="703263"/>
          </a:xfrm>
        </p:spPr>
        <p:txBody>
          <a:bodyPr>
            <a:normAutofit fontScale="90000"/>
          </a:bodyPr>
          <a:lstStyle/>
          <a:p>
            <a:r>
              <a:rPr lang="zh-CN" altLang="en-US" dirty="0"/>
              <a:t>量化和声道</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70</a:t>
            </a:fld>
            <a:endParaRPr lang="zh-CN" altLang="en-US"/>
          </a:p>
        </p:txBody>
      </p:sp>
      <p:sp>
        <p:nvSpPr>
          <p:cNvPr id="7"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存储</a:t>
            </a:r>
            <a:endParaRPr lang="en-US" dirty="0"/>
          </a:p>
        </p:txBody>
      </p:sp>
    </p:spTree>
    <p:extLst>
      <p:ext uri="{BB962C8B-B14F-4D97-AF65-F5344CB8AC3E}">
        <p14:creationId xmlns:p14="http://schemas.microsoft.com/office/powerpoint/2010/main" val="3680788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p:cNvSpPr txBox="1">
            <a:spLocks noChangeArrowheads="1"/>
          </p:cNvSpPr>
          <p:nvPr/>
        </p:nvSpPr>
        <p:spPr bwMode="auto">
          <a:xfrm>
            <a:off x="401862" y="2882230"/>
            <a:ext cx="8136904" cy="1077218"/>
          </a:xfrm>
          <a:prstGeom prst="rect">
            <a:avLst/>
          </a:prstGeom>
          <a:noFill/>
          <a:ln>
            <a:noFill/>
          </a:ln>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dirty="0">
                <a:solidFill>
                  <a:srgbClr val="336600"/>
                </a:solidFill>
                <a:latin typeface="+mn-ea"/>
                <a:ea typeface="+mn-ea"/>
              </a:rPr>
              <a:t>例如</a:t>
            </a:r>
            <a:r>
              <a:rPr lang="zh-CN" altLang="en-US" sz="3200" dirty="0">
                <a:latin typeface="+mn-ea"/>
                <a:ea typeface="+mn-ea"/>
              </a:rPr>
              <a:t>，</a:t>
            </a:r>
            <a:r>
              <a:rPr lang="zh-CN" altLang="en-US" sz="3200" dirty="0"/>
              <a:t>计算</a:t>
            </a:r>
            <a:r>
              <a:rPr lang="en-US" altLang="zh-CN" sz="3200" dirty="0"/>
              <a:t>1</a:t>
            </a:r>
            <a:r>
              <a:rPr lang="zh-CN" altLang="en-US" sz="3200" dirty="0"/>
              <a:t>分钟未压缩的高保真立体声数字声音数据的大小。</a:t>
            </a:r>
            <a:endParaRPr lang="zh-CN" altLang="en-US" sz="3200" dirty="0">
              <a:latin typeface="+mn-ea"/>
              <a:ea typeface="+mn-ea"/>
            </a:endParaRPr>
          </a:p>
        </p:txBody>
      </p:sp>
      <p:sp>
        <p:nvSpPr>
          <p:cNvPr id="27655" name="Line 8"/>
          <p:cNvSpPr>
            <a:spLocks noChangeShapeType="1"/>
          </p:cNvSpPr>
          <p:nvPr/>
        </p:nvSpPr>
        <p:spPr bwMode="auto">
          <a:xfrm>
            <a:off x="611188" y="765175"/>
            <a:ext cx="1152525" cy="0"/>
          </a:xfrm>
          <a:prstGeom prst="line">
            <a:avLst/>
          </a:prstGeom>
          <a:noFill/>
          <a:ln w="3175">
            <a:solidFill>
              <a:srgbClr val="CC99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2003" name="Rectangle 19"/>
          <p:cNvSpPr>
            <a:spLocks noChangeArrowheads="1"/>
          </p:cNvSpPr>
          <p:nvPr/>
        </p:nvSpPr>
        <p:spPr bwMode="auto">
          <a:xfrm>
            <a:off x="1027981" y="4148060"/>
            <a:ext cx="69974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en-US" altLang="zh-CN" sz="3200" dirty="0"/>
              <a:t>60 * </a:t>
            </a:r>
            <a:r>
              <a:rPr lang="zh-CN" altLang="en-US" sz="3200" dirty="0"/>
              <a:t>（ </a:t>
            </a:r>
            <a:r>
              <a:rPr lang="en-US" altLang="zh-CN" sz="3200" dirty="0"/>
              <a:t>44100 * 16 * 2 </a:t>
            </a:r>
            <a:r>
              <a:rPr lang="zh-CN" altLang="en-US" sz="3200" dirty="0"/>
              <a:t>） </a:t>
            </a:r>
            <a:r>
              <a:rPr lang="en-US" altLang="zh-CN" sz="3200" dirty="0"/>
              <a:t>/ 8 = 10.09 MB</a:t>
            </a:r>
            <a:endParaRPr lang="en-US" altLang="zh-CN" sz="3200" dirty="0">
              <a:latin typeface="+mn-ea"/>
            </a:endParaRPr>
          </a:p>
        </p:txBody>
      </p:sp>
      <p:sp>
        <p:nvSpPr>
          <p:cNvPr id="2" name="标题 1"/>
          <p:cNvSpPr>
            <a:spLocks noGrp="1"/>
          </p:cNvSpPr>
          <p:nvPr>
            <p:ph type="title"/>
          </p:nvPr>
        </p:nvSpPr>
        <p:spPr>
          <a:xfrm>
            <a:off x="107504" y="1086420"/>
            <a:ext cx="5141903" cy="703263"/>
          </a:xfrm>
        </p:spPr>
        <p:txBody>
          <a:bodyPr>
            <a:normAutofit fontScale="90000"/>
          </a:bodyPr>
          <a:lstStyle/>
          <a:p>
            <a:r>
              <a:rPr lang="zh-CN" altLang="en-US" dirty="0"/>
              <a:t>数字音频的存储量</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71</a:t>
            </a:fld>
            <a:endParaRPr lang="zh-CN" altLang="en-US"/>
          </a:p>
        </p:txBody>
      </p:sp>
      <p:sp>
        <p:nvSpPr>
          <p:cNvPr id="11"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存储</a:t>
            </a:r>
            <a:endParaRPr lang="en-US" dirty="0"/>
          </a:p>
        </p:txBody>
      </p:sp>
      <p:sp>
        <p:nvSpPr>
          <p:cNvPr id="5" name="文本框 4">
            <a:extLst>
              <a:ext uri="{FF2B5EF4-FFF2-40B4-BE49-F238E27FC236}">
                <a16:creationId xmlns:a16="http://schemas.microsoft.com/office/drawing/2014/main" id="{1BBC28CB-029D-4352-8B14-23D962034FD8}"/>
              </a:ext>
            </a:extLst>
          </p:cNvPr>
          <p:cNvSpPr txBox="1"/>
          <p:nvPr/>
        </p:nvSpPr>
        <p:spPr>
          <a:xfrm>
            <a:off x="16895" y="2000595"/>
            <a:ext cx="9019601" cy="461665"/>
          </a:xfrm>
          <a:prstGeom prst="rect">
            <a:avLst/>
          </a:prstGeom>
          <a:noFill/>
        </p:spPr>
        <p:txBody>
          <a:bodyPr wrap="square" rtlCol="0">
            <a:spAutoFit/>
          </a:bodyPr>
          <a:lstStyle/>
          <a:p>
            <a:pPr algn="ctr"/>
            <a:r>
              <a:rPr lang="zh-CN" altLang="en-US" sz="2400" dirty="0">
                <a:solidFill>
                  <a:srgbClr val="C00000"/>
                </a:solidFill>
              </a:rPr>
              <a:t>数据量</a:t>
            </a:r>
            <a:r>
              <a:rPr lang="en-US" altLang="zh-CN" sz="2400" dirty="0">
                <a:solidFill>
                  <a:srgbClr val="C00000"/>
                </a:solidFill>
              </a:rPr>
              <a:t>=</a:t>
            </a:r>
            <a:r>
              <a:rPr lang="zh-CN" altLang="en-US" sz="2400" dirty="0">
                <a:solidFill>
                  <a:srgbClr val="C00000"/>
                </a:solidFill>
              </a:rPr>
              <a:t>采样频率* 采样精度* 采样时间* 声道数 </a:t>
            </a:r>
            <a:r>
              <a:rPr lang="en-US" altLang="zh-CN" sz="2400" dirty="0">
                <a:solidFill>
                  <a:srgbClr val="C00000"/>
                </a:solidFill>
              </a:rPr>
              <a:t>/8 (</a:t>
            </a:r>
            <a:r>
              <a:rPr lang="zh-CN" altLang="en-US" sz="2400" dirty="0">
                <a:solidFill>
                  <a:srgbClr val="C00000"/>
                </a:solidFill>
              </a:rPr>
              <a:t>字节数</a:t>
            </a:r>
            <a:r>
              <a:rPr lang="en-US" altLang="zh-CN" sz="2400" dirty="0">
                <a:solidFill>
                  <a:srgbClr val="C00000"/>
                </a:solidFill>
              </a:rPr>
              <a:t>)</a:t>
            </a:r>
            <a:endParaRPr lang="zh-CN" altLang="en-US" sz="2400" dirty="0">
              <a:solidFill>
                <a:srgbClr val="C00000"/>
              </a:solidFill>
            </a:endParaRPr>
          </a:p>
        </p:txBody>
      </p:sp>
      <p:sp>
        <p:nvSpPr>
          <p:cNvPr id="6" name="文本框 5">
            <a:extLst>
              <a:ext uri="{FF2B5EF4-FFF2-40B4-BE49-F238E27FC236}">
                <a16:creationId xmlns:a16="http://schemas.microsoft.com/office/drawing/2014/main" id="{8BA5525C-8246-4E13-B979-A6FE97AB65C8}"/>
              </a:ext>
            </a:extLst>
          </p:cNvPr>
          <p:cNvSpPr txBox="1"/>
          <p:nvPr/>
        </p:nvSpPr>
        <p:spPr>
          <a:xfrm>
            <a:off x="276955" y="5064423"/>
            <a:ext cx="8496944" cy="523220"/>
          </a:xfrm>
          <a:prstGeom prst="rect">
            <a:avLst/>
          </a:prstGeom>
          <a:noFill/>
        </p:spPr>
        <p:txBody>
          <a:bodyPr wrap="square" rtlCol="0">
            <a:spAutoFit/>
          </a:bodyPr>
          <a:lstStyle/>
          <a:p>
            <a:r>
              <a:rPr lang="zh-CN" altLang="en-US" sz="2800" dirty="0"/>
              <a:t>一个容量为</a:t>
            </a:r>
            <a:r>
              <a:rPr lang="en-US" altLang="zh-CN" sz="2800" dirty="0"/>
              <a:t>4GB</a:t>
            </a:r>
            <a:r>
              <a:rPr lang="zh-CN" altLang="en-US" sz="2800" dirty="0"/>
              <a:t>的</a:t>
            </a:r>
            <a:r>
              <a:rPr lang="en-US" altLang="zh-CN" sz="2800" dirty="0"/>
              <a:t>MP3</a:t>
            </a:r>
            <a:r>
              <a:rPr lang="zh-CN" altLang="en-US" sz="2800" dirty="0"/>
              <a:t>播放器可存放</a:t>
            </a:r>
            <a:r>
              <a:rPr lang="en-US" altLang="zh-CN" sz="2800" dirty="0"/>
              <a:t>100</a:t>
            </a:r>
            <a:r>
              <a:rPr lang="zh-CN" altLang="en-US" sz="2800" dirty="0"/>
              <a:t>首这样的歌曲。</a:t>
            </a:r>
          </a:p>
        </p:txBody>
      </p:sp>
    </p:spTree>
    <p:extLst>
      <p:ext uri="{BB962C8B-B14F-4D97-AF65-F5344CB8AC3E}">
        <p14:creationId xmlns:p14="http://schemas.microsoft.com/office/powerpoint/2010/main" val="399532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003"/>
                                        </p:tgtEl>
                                        <p:attrNameLst>
                                          <p:attrName>style.visibility</p:attrName>
                                        </p:attrNameLst>
                                      </p:cBhvr>
                                      <p:to>
                                        <p:strVal val="visible"/>
                                      </p:to>
                                    </p:set>
                                    <p:animEffect transition="in" filter="blinds(horizontal)">
                                      <p:cBhvr>
                                        <p:cTn id="12" dur="500"/>
                                        <p:tgtEl>
                                          <p:spTgt spid="42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p:bldP spid="4200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3" descr="横向砖形"/>
          <p:cNvSpPr txBox="1">
            <a:spLocks noChangeArrowheads="1"/>
          </p:cNvSpPr>
          <p:nvPr/>
        </p:nvSpPr>
        <p:spPr bwMode="auto">
          <a:xfrm>
            <a:off x="6358917" y="2407336"/>
            <a:ext cx="2656496" cy="1384995"/>
          </a:xfrm>
          <a:prstGeom prst="rect">
            <a:avLst/>
          </a:prstGeom>
          <a:noFill/>
          <a:ln>
            <a:noFill/>
          </a:ln>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lang="zh-CN" altLang="en-US" sz="2800" dirty="0">
                <a:solidFill>
                  <a:srgbClr val="00B050"/>
                </a:solidFill>
                <a:latin typeface="Monotype Corsiva" pitchFamily="66" charset="0"/>
              </a:rPr>
              <a:t>量化位数</a:t>
            </a:r>
            <a:r>
              <a:rPr lang="en-US" altLang="zh-CN" sz="2800" dirty="0">
                <a:solidFill>
                  <a:srgbClr val="00B050"/>
                </a:solidFill>
                <a:latin typeface="Monotype Corsiva" pitchFamily="66" charset="0"/>
              </a:rPr>
              <a:t>8 </a:t>
            </a:r>
            <a:r>
              <a:rPr lang="zh-CN" altLang="en-US" sz="2800" dirty="0">
                <a:solidFill>
                  <a:srgbClr val="00B050"/>
                </a:solidFill>
                <a:latin typeface="Monotype Corsiva" pitchFamily="66" charset="0"/>
              </a:rPr>
              <a:t>位</a:t>
            </a:r>
            <a:endParaRPr lang="en-US" altLang="zh-CN" sz="2800" dirty="0">
              <a:solidFill>
                <a:srgbClr val="00B050"/>
              </a:solidFill>
              <a:latin typeface="Monotype Corsiva" pitchFamily="66" charset="0"/>
            </a:endParaRPr>
          </a:p>
          <a:p>
            <a:pPr algn="l" eaLnBrk="1" hangingPunct="1"/>
            <a:endParaRPr lang="en-US" altLang="zh-CN" sz="2800" dirty="0">
              <a:solidFill>
                <a:srgbClr val="FF0066"/>
              </a:solidFill>
              <a:latin typeface="Monotype Corsiva" pitchFamily="66" charset="0"/>
            </a:endParaRPr>
          </a:p>
          <a:p>
            <a:pPr algn="l" eaLnBrk="1" hangingPunct="1"/>
            <a:r>
              <a:rPr lang="zh-CN" altLang="en-US" sz="2800" dirty="0">
                <a:solidFill>
                  <a:srgbClr val="0000FF"/>
                </a:solidFill>
                <a:latin typeface="Monotype Corsiva" pitchFamily="66" charset="0"/>
              </a:rPr>
              <a:t>采样频率</a:t>
            </a:r>
            <a:r>
              <a:rPr lang="en-US" altLang="zh-CN" sz="2800" dirty="0">
                <a:solidFill>
                  <a:srgbClr val="0000FF"/>
                </a:solidFill>
                <a:latin typeface="Monotype Corsiva" pitchFamily="66" charset="0"/>
              </a:rPr>
              <a:t>11 KHz</a:t>
            </a:r>
          </a:p>
        </p:txBody>
      </p:sp>
      <p:grpSp>
        <p:nvGrpSpPr>
          <p:cNvPr id="28675" name="Group 42"/>
          <p:cNvGrpSpPr>
            <a:grpSpLocks/>
          </p:cNvGrpSpPr>
          <p:nvPr/>
        </p:nvGrpSpPr>
        <p:grpSpPr bwMode="auto">
          <a:xfrm>
            <a:off x="664369" y="1628775"/>
            <a:ext cx="5507038" cy="4668838"/>
            <a:chOff x="272" y="1026"/>
            <a:chExt cx="3469" cy="2941"/>
          </a:xfrm>
        </p:grpSpPr>
        <p:sp>
          <p:nvSpPr>
            <p:cNvPr id="28688" name="Freeform 2"/>
            <p:cNvSpPr>
              <a:spLocks/>
            </p:cNvSpPr>
            <p:nvPr/>
          </p:nvSpPr>
          <p:spPr bwMode="auto">
            <a:xfrm>
              <a:off x="1020" y="1752"/>
              <a:ext cx="2268" cy="1905"/>
            </a:xfrm>
            <a:custGeom>
              <a:avLst/>
              <a:gdLst>
                <a:gd name="T0" fmla="*/ 0 w 2268"/>
                <a:gd name="T1" fmla="*/ 952 h 1905"/>
                <a:gd name="T2" fmla="*/ 635 w 2268"/>
                <a:gd name="T3" fmla="*/ 136 h 1905"/>
                <a:gd name="T4" fmla="*/ 1633 w 2268"/>
                <a:gd name="T5" fmla="*/ 1769 h 1905"/>
                <a:gd name="T6" fmla="*/ 2268 w 2268"/>
                <a:gd name="T7" fmla="*/ 952 h 1905"/>
                <a:gd name="T8" fmla="*/ 0 60000 65536"/>
                <a:gd name="T9" fmla="*/ 0 60000 65536"/>
                <a:gd name="T10" fmla="*/ 0 60000 65536"/>
                <a:gd name="T11" fmla="*/ 0 60000 65536"/>
                <a:gd name="T12" fmla="*/ 0 w 2268"/>
                <a:gd name="T13" fmla="*/ 0 h 1905"/>
                <a:gd name="T14" fmla="*/ 2268 w 2268"/>
                <a:gd name="T15" fmla="*/ 1905 h 1905"/>
              </a:gdLst>
              <a:ahLst/>
              <a:cxnLst>
                <a:cxn ang="T8">
                  <a:pos x="T0" y="T1"/>
                </a:cxn>
                <a:cxn ang="T9">
                  <a:pos x="T2" y="T3"/>
                </a:cxn>
                <a:cxn ang="T10">
                  <a:pos x="T4" y="T5"/>
                </a:cxn>
                <a:cxn ang="T11">
                  <a:pos x="T6" y="T7"/>
                </a:cxn>
              </a:cxnLst>
              <a:rect l="T12" t="T13" r="T14" b="T15"/>
              <a:pathLst>
                <a:path w="2268" h="1905">
                  <a:moveTo>
                    <a:pt x="0" y="952"/>
                  </a:moveTo>
                  <a:cubicBezTo>
                    <a:pt x="181" y="476"/>
                    <a:pt x="363" y="0"/>
                    <a:pt x="635" y="136"/>
                  </a:cubicBezTo>
                  <a:cubicBezTo>
                    <a:pt x="907" y="272"/>
                    <a:pt x="1361" y="1633"/>
                    <a:pt x="1633" y="1769"/>
                  </a:cubicBezTo>
                  <a:cubicBezTo>
                    <a:pt x="1905" y="1905"/>
                    <a:pt x="2086" y="1428"/>
                    <a:pt x="2268" y="952"/>
                  </a:cubicBezTo>
                </a:path>
              </a:pathLst>
            </a:custGeom>
            <a:noFill/>
            <a:ln w="952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89" name="Rectangle 3"/>
            <p:cNvSpPr>
              <a:spLocks noChangeArrowheads="1"/>
            </p:cNvSpPr>
            <p:nvPr/>
          </p:nvSpPr>
          <p:spPr bwMode="auto">
            <a:xfrm>
              <a:off x="272" y="1881"/>
              <a:ext cx="544" cy="1678"/>
            </a:xfrm>
            <a:prstGeom prst="rect">
              <a:avLst/>
            </a:prstGeom>
            <a:gradFill rotWithShape="1">
              <a:gsLst>
                <a:gs pos="0">
                  <a:schemeClr val="bg1"/>
                </a:gs>
                <a:gs pos="100000">
                  <a:srgbClr val="0066FF"/>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a:t>+127</a:t>
              </a:r>
            </a:p>
            <a:p>
              <a:r>
                <a:rPr lang="en-US" altLang="zh-CN"/>
                <a:t>…</a:t>
              </a:r>
            </a:p>
            <a:p>
              <a:r>
                <a:rPr lang="en-US" altLang="zh-CN"/>
                <a:t>+64</a:t>
              </a:r>
            </a:p>
            <a:p>
              <a:r>
                <a:rPr lang="en-US" altLang="zh-CN"/>
                <a:t>+32</a:t>
              </a:r>
            </a:p>
            <a:p>
              <a:r>
                <a:rPr lang="en-US" altLang="zh-CN"/>
                <a:t>0</a:t>
              </a:r>
            </a:p>
            <a:p>
              <a:r>
                <a:rPr lang="en-US" altLang="zh-CN"/>
                <a:t>-32</a:t>
              </a:r>
            </a:p>
            <a:p>
              <a:r>
                <a:rPr lang="en-US" altLang="zh-CN"/>
                <a:t>-64</a:t>
              </a:r>
            </a:p>
            <a:p>
              <a:r>
                <a:rPr lang="en-US" altLang="zh-CN"/>
                <a:t>…</a:t>
              </a:r>
            </a:p>
            <a:p>
              <a:r>
                <a:rPr lang="en-US" altLang="zh-CN"/>
                <a:t>-128</a:t>
              </a:r>
            </a:p>
          </p:txBody>
        </p:sp>
        <p:grpSp>
          <p:nvGrpSpPr>
            <p:cNvPr id="28690" name="Group 7"/>
            <p:cNvGrpSpPr>
              <a:grpSpLocks/>
            </p:cNvGrpSpPr>
            <p:nvPr/>
          </p:nvGrpSpPr>
          <p:grpSpPr bwMode="auto">
            <a:xfrm>
              <a:off x="1246" y="1632"/>
              <a:ext cx="2041" cy="2086"/>
              <a:chOff x="1246" y="1632"/>
              <a:chExt cx="2041" cy="2086"/>
            </a:xfrm>
          </p:grpSpPr>
          <p:sp>
            <p:nvSpPr>
              <p:cNvPr id="28707" name="Line 8"/>
              <p:cNvSpPr>
                <a:spLocks noChangeShapeType="1"/>
              </p:cNvSpPr>
              <p:nvPr/>
            </p:nvSpPr>
            <p:spPr bwMode="auto">
              <a:xfrm flipV="1">
                <a:off x="147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8" name="Line 9"/>
              <p:cNvSpPr>
                <a:spLocks noChangeShapeType="1"/>
              </p:cNvSpPr>
              <p:nvPr/>
            </p:nvSpPr>
            <p:spPr bwMode="auto">
              <a:xfrm flipV="1">
                <a:off x="1926"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9" name="Line 10"/>
              <p:cNvSpPr>
                <a:spLocks noChangeShapeType="1"/>
              </p:cNvSpPr>
              <p:nvPr/>
            </p:nvSpPr>
            <p:spPr bwMode="auto">
              <a:xfrm flipV="1">
                <a:off x="170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0" name="Line 11"/>
              <p:cNvSpPr>
                <a:spLocks noChangeShapeType="1"/>
              </p:cNvSpPr>
              <p:nvPr/>
            </p:nvSpPr>
            <p:spPr bwMode="auto">
              <a:xfrm flipV="1">
                <a:off x="215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1" name="Line 12"/>
              <p:cNvSpPr>
                <a:spLocks noChangeShapeType="1"/>
              </p:cNvSpPr>
              <p:nvPr/>
            </p:nvSpPr>
            <p:spPr bwMode="auto">
              <a:xfrm flipV="1">
                <a:off x="238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2" name="Line 13"/>
              <p:cNvSpPr>
                <a:spLocks noChangeShapeType="1"/>
              </p:cNvSpPr>
              <p:nvPr/>
            </p:nvSpPr>
            <p:spPr bwMode="auto">
              <a:xfrm flipV="1">
                <a:off x="2607"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3" name="Line 14"/>
              <p:cNvSpPr>
                <a:spLocks noChangeShapeType="1"/>
              </p:cNvSpPr>
              <p:nvPr/>
            </p:nvSpPr>
            <p:spPr bwMode="auto">
              <a:xfrm flipV="1">
                <a:off x="283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4" name="Line 15"/>
              <p:cNvSpPr>
                <a:spLocks noChangeShapeType="1"/>
              </p:cNvSpPr>
              <p:nvPr/>
            </p:nvSpPr>
            <p:spPr bwMode="auto">
              <a:xfrm flipV="1">
                <a:off x="306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5" name="Line 16"/>
              <p:cNvSpPr>
                <a:spLocks noChangeShapeType="1"/>
              </p:cNvSpPr>
              <p:nvPr/>
            </p:nvSpPr>
            <p:spPr bwMode="auto">
              <a:xfrm flipV="1">
                <a:off x="3287"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6" name="Line 17"/>
              <p:cNvSpPr>
                <a:spLocks noChangeShapeType="1"/>
              </p:cNvSpPr>
              <p:nvPr/>
            </p:nvSpPr>
            <p:spPr bwMode="auto">
              <a:xfrm flipV="1">
                <a:off x="1246"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691" name="Group 18"/>
            <p:cNvGrpSpPr>
              <a:grpSpLocks/>
            </p:cNvGrpSpPr>
            <p:nvPr/>
          </p:nvGrpSpPr>
          <p:grpSpPr bwMode="auto">
            <a:xfrm>
              <a:off x="1020" y="1858"/>
              <a:ext cx="2721" cy="1701"/>
              <a:chOff x="1020" y="1858"/>
              <a:chExt cx="2721" cy="1701"/>
            </a:xfrm>
          </p:grpSpPr>
          <p:sp>
            <p:nvSpPr>
              <p:cNvPr id="28696" name="Line 19"/>
              <p:cNvSpPr>
                <a:spLocks noChangeShapeType="1"/>
              </p:cNvSpPr>
              <p:nvPr/>
            </p:nvSpPr>
            <p:spPr bwMode="auto">
              <a:xfrm>
                <a:off x="1020" y="2548"/>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7" name="Line 20"/>
              <p:cNvSpPr>
                <a:spLocks noChangeShapeType="1"/>
              </p:cNvSpPr>
              <p:nvPr/>
            </p:nvSpPr>
            <p:spPr bwMode="auto">
              <a:xfrm>
                <a:off x="1020" y="2375"/>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8" name="Line 21"/>
              <p:cNvSpPr>
                <a:spLocks noChangeShapeType="1"/>
              </p:cNvSpPr>
              <p:nvPr/>
            </p:nvSpPr>
            <p:spPr bwMode="auto">
              <a:xfrm>
                <a:off x="1020" y="2203"/>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9" name="Line 22"/>
              <p:cNvSpPr>
                <a:spLocks noChangeShapeType="1"/>
              </p:cNvSpPr>
              <p:nvPr/>
            </p:nvSpPr>
            <p:spPr bwMode="auto">
              <a:xfrm>
                <a:off x="1020" y="2031"/>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0" name="Line 23"/>
              <p:cNvSpPr>
                <a:spLocks noChangeShapeType="1"/>
              </p:cNvSpPr>
              <p:nvPr/>
            </p:nvSpPr>
            <p:spPr bwMode="auto">
              <a:xfrm>
                <a:off x="1020" y="2720"/>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1" name="Line 24"/>
              <p:cNvSpPr>
                <a:spLocks noChangeShapeType="1"/>
              </p:cNvSpPr>
              <p:nvPr/>
            </p:nvSpPr>
            <p:spPr bwMode="auto">
              <a:xfrm>
                <a:off x="1020" y="3064"/>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2" name="Line 25"/>
              <p:cNvSpPr>
                <a:spLocks noChangeShapeType="1"/>
              </p:cNvSpPr>
              <p:nvPr/>
            </p:nvSpPr>
            <p:spPr bwMode="auto">
              <a:xfrm>
                <a:off x="1020" y="1858"/>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3" name="Line 26"/>
              <p:cNvSpPr>
                <a:spLocks noChangeShapeType="1"/>
              </p:cNvSpPr>
              <p:nvPr/>
            </p:nvSpPr>
            <p:spPr bwMode="auto">
              <a:xfrm>
                <a:off x="1020" y="2892"/>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4" name="Line 27"/>
              <p:cNvSpPr>
                <a:spLocks noChangeShapeType="1"/>
              </p:cNvSpPr>
              <p:nvPr/>
            </p:nvSpPr>
            <p:spPr bwMode="auto">
              <a:xfrm>
                <a:off x="1020" y="3559"/>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5" name="Line 28"/>
              <p:cNvSpPr>
                <a:spLocks noChangeShapeType="1"/>
              </p:cNvSpPr>
              <p:nvPr/>
            </p:nvSpPr>
            <p:spPr bwMode="auto">
              <a:xfrm>
                <a:off x="1020" y="3402"/>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6" name="Line 29"/>
              <p:cNvSpPr>
                <a:spLocks noChangeShapeType="1"/>
              </p:cNvSpPr>
              <p:nvPr/>
            </p:nvSpPr>
            <p:spPr bwMode="auto">
              <a:xfrm>
                <a:off x="1020" y="3237"/>
                <a:ext cx="2721"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692" name="AutoShape 31"/>
            <p:cNvSpPr>
              <a:spLocks noChangeArrowheads="1"/>
            </p:cNvSpPr>
            <p:nvPr/>
          </p:nvSpPr>
          <p:spPr bwMode="auto">
            <a:xfrm>
              <a:off x="2245" y="1026"/>
              <a:ext cx="1046" cy="314"/>
            </a:xfrm>
            <a:prstGeom prst="wedgeRoundRectCallout">
              <a:avLst>
                <a:gd name="adj1" fmla="val -78870"/>
                <a:gd name="adj2" fmla="val 322292"/>
                <a:gd name="adj3" fmla="val 16667"/>
              </a:avLst>
            </a:prstGeom>
            <a:gradFill rotWithShape="1">
              <a:gsLst>
                <a:gs pos="0">
                  <a:schemeClr val="bg2"/>
                </a:gs>
                <a:gs pos="100000">
                  <a:schemeClr val="tx1"/>
                </a:gs>
              </a:gsLst>
              <a:path path="rect">
                <a:fillToRect l="50000" t="50000" r="50000" b="50000"/>
              </a:path>
            </a:gradFill>
            <a:ln w="9525">
              <a:solidFill>
                <a:schemeClr val="tx1"/>
              </a:solidFill>
              <a:miter lim="800000"/>
              <a:headEnd/>
              <a:tailEnd/>
            </a:ln>
          </p:spPr>
          <p:txBody>
            <a:bodyPr wrap="none">
              <a:spAutoFit/>
            </a:bodyPr>
            <a:lstStyle/>
            <a:p>
              <a:r>
                <a:rPr lang="en-US" altLang="zh-CN" sz="2400">
                  <a:solidFill>
                    <a:srgbClr val="99FF33"/>
                  </a:solidFill>
                </a:rPr>
                <a:t>01001010</a:t>
              </a:r>
            </a:p>
          </p:txBody>
        </p:sp>
        <p:grpSp>
          <p:nvGrpSpPr>
            <p:cNvPr id="28693" name="Group 4"/>
            <p:cNvGrpSpPr>
              <a:grpSpLocks/>
            </p:cNvGrpSpPr>
            <p:nvPr/>
          </p:nvGrpSpPr>
          <p:grpSpPr bwMode="auto">
            <a:xfrm>
              <a:off x="1020" y="1246"/>
              <a:ext cx="2607" cy="2721"/>
              <a:chOff x="1020" y="1246"/>
              <a:chExt cx="2607" cy="2721"/>
            </a:xfrm>
          </p:grpSpPr>
          <p:sp>
            <p:nvSpPr>
              <p:cNvPr id="28694" name="Freeform 5"/>
              <p:cNvSpPr>
                <a:spLocks/>
              </p:cNvSpPr>
              <p:nvPr/>
            </p:nvSpPr>
            <p:spPr bwMode="auto">
              <a:xfrm>
                <a:off x="1020" y="1246"/>
                <a:ext cx="2607" cy="1474"/>
              </a:xfrm>
              <a:custGeom>
                <a:avLst/>
                <a:gdLst>
                  <a:gd name="T0" fmla="*/ 0 w 2404"/>
                  <a:gd name="T1" fmla="*/ 0 h 2495"/>
                  <a:gd name="T2" fmla="*/ 0 w 2404"/>
                  <a:gd name="T3" fmla="*/ 871 h 2495"/>
                  <a:gd name="T4" fmla="*/ 2827 w 2404"/>
                  <a:gd name="T5" fmla="*/ 871 h 2495"/>
                  <a:gd name="T6" fmla="*/ 0 60000 65536"/>
                  <a:gd name="T7" fmla="*/ 0 60000 65536"/>
                  <a:gd name="T8" fmla="*/ 0 60000 65536"/>
                  <a:gd name="T9" fmla="*/ 0 w 2404"/>
                  <a:gd name="T10" fmla="*/ 0 h 2495"/>
                  <a:gd name="T11" fmla="*/ 2404 w 2404"/>
                  <a:gd name="T12" fmla="*/ 2495 h 2495"/>
                </a:gdLst>
                <a:ahLst/>
                <a:cxnLst>
                  <a:cxn ang="T6">
                    <a:pos x="T0" y="T1"/>
                  </a:cxn>
                  <a:cxn ang="T7">
                    <a:pos x="T2" y="T3"/>
                  </a:cxn>
                  <a:cxn ang="T8">
                    <a:pos x="T4" y="T5"/>
                  </a:cxn>
                </a:cxnLst>
                <a:rect l="T9" t="T10" r="T11" b="T12"/>
                <a:pathLst>
                  <a:path w="2404" h="2495">
                    <a:moveTo>
                      <a:pt x="0" y="0"/>
                    </a:moveTo>
                    <a:lnTo>
                      <a:pt x="0" y="2495"/>
                    </a:lnTo>
                    <a:lnTo>
                      <a:pt x="2404" y="2495"/>
                    </a:lnTo>
                  </a:path>
                </a:pathLst>
              </a:custGeom>
              <a:noFill/>
              <a:ln w="9525">
                <a:solidFill>
                  <a:srgbClr val="FF33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95" name="Line 6"/>
              <p:cNvSpPr>
                <a:spLocks noChangeShapeType="1"/>
              </p:cNvSpPr>
              <p:nvPr/>
            </p:nvSpPr>
            <p:spPr bwMode="auto">
              <a:xfrm>
                <a:off x="1020" y="2720"/>
                <a:ext cx="0" cy="1247"/>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 name="标题 1"/>
          <p:cNvSpPr>
            <a:spLocks noGrp="1"/>
          </p:cNvSpPr>
          <p:nvPr>
            <p:ph type="title"/>
          </p:nvPr>
        </p:nvSpPr>
        <p:spPr>
          <a:xfrm>
            <a:off x="256382" y="1292920"/>
            <a:ext cx="8229600" cy="703263"/>
          </a:xfrm>
        </p:spPr>
        <p:txBody>
          <a:bodyPr>
            <a:normAutofit fontScale="90000"/>
          </a:bodyPr>
          <a:lstStyle/>
          <a:p>
            <a:r>
              <a:rPr lang="zh-CN" altLang="en-US" dirty="0"/>
              <a:t>举例</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72</a:t>
            </a:fld>
            <a:endParaRPr lang="zh-CN" altLang="en-US"/>
          </a:p>
        </p:txBody>
      </p:sp>
      <p:sp>
        <p:nvSpPr>
          <p:cNvPr id="39"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存储</a:t>
            </a:r>
            <a:endParaRPr lang="en-US" dirty="0"/>
          </a:p>
        </p:txBody>
      </p:sp>
    </p:spTree>
    <p:extLst>
      <p:ext uri="{BB962C8B-B14F-4D97-AF65-F5344CB8AC3E}">
        <p14:creationId xmlns:p14="http://schemas.microsoft.com/office/powerpoint/2010/main" val="30460800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9" name="Group 62"/>
          <p:cNvGrpSpPr>
            <a:grpSpLocks/>
          </p:cNvGrpSpPr>
          <p:nvPr/>
        </p:nvGrpSpPr>
        <p:grpSpPr bwMode="auto">
          <a:xfrm>
            <a:off x="615157" y="1696812"/>
            <a:ext cx="5754688" cy="4597400"/>
            <a:chOff x="272" y="1071"/>
            <a:chExt cx="3625" cy="2896"/>
          </a:xfrm>
        </p:grpSpPr>
        <p:sp>
          <p:nvSpPr>
            <p:cNvPr id="29712" name="Freeform 5"/>
            <p:cNvSpPr>
              <a:spLocks/>
            </p:cNvSpPr>
            <p:nvPr/>
          </p:nvSpPr>
          <p:spPr bwMode="auto">
            <a:xfrm>
              <a:off x="1020" y="1752"/>
              <a:ext cx="2268" cy="1905"/>
            </a:xfrm>
            <a:custGeom>
              <a:avLst/>
              <a:gdLst>
                <a:gd name="T0" fmla="*/ 0 w 2268"/>
                <a:gd name="T1" fmla="*/ 952 h 1905"/>
                <a:gd name="T2" fmla="*/ 635 w 2268"/>
                <a:gd name="T3" fmla="*/ 136 h 1905"/>
                <a:gd name="T4" fmla="*/ 1633 w 2268"/>
                <a:gd name="T5" fmla="*/ 1769 h 1905"/>
                <a:gd name="T6" fmla="*/ 2268 w 2268"/>
                <a:gd name="T7" fmla="*/ 952 h 1905"/>
                <a:gd name="T8" fmla="*/ 0 60000 65536"/>
                <a:gd name="T9" fmla="*/ 0 60000 65536"/>
                <a:gd name="T10" fmla="*/ 0 60000 65536"/>
                <a:gd name="T11" fmla="*/ 0 60000 65536"/>
                <a:gd name="T12" fmla="*/ 0 w 2268"/>
                <a:gd name="T13" fmla="*/ 0 h 1905"/>
                <a:gd name="T14" fmla="*/ 2268 w 2268"/>
                <a:gd name="T15" fmla="*/ 1905 h 1905"/>
              </a:gdLst>
              <a:ahLst/>
              <a:cxnLst>
                <a:cxn ang="T8">
                  <a:pos x="T0" y="T1"/>
                </a:cxn>
                <a:cxn ang="T9">
                  <a:pos x="T2" y="T3"/>
                </a:cxn>
                <a:cxn ang="T10">
                  <a:pos x="T4" y="T5"/>
                </a:cxn>
                <a:cxn ang="T11">
                  <a:pos x="T6" y="T7"/>
                </a:cxn>
              </a:cxnLst>
              <a:rect l="T12" t="T13" r="T14" b="T15"/>
              <a:pathLst>
                <a:path w="2268" h="1905">
                  <a:moveTo>
                    <a:pt x="0" y="952"/>
                  </a:moveTo>
                  <a:cubicBezTo>
                    <a:pt x="181" y="476"/>
                    <a:pt x="363" y="0"/>
                    <a:pt x="635" y="136"/>
                  </a:cubicBezTo>
                  <a:cubicBezTo>
                    <a:pt x="907" y="272"/>
                    <a:pt x="1361" y="1633"/>
                    <a:pt x="1633" y="1769"/>
                  </a:cubicBezTo>
                  <a:cubicBezTo>
                    <a:pt x="1905" y="1905"/>
                    <a:pt x="2086" y="1428"/>
                    <a:pt x="2268" y="952"/>
                  </a:cubicBezTo>
                </a:path>
              </a:pathLst>
            </a:custGeom>
            <a:noFill/>
            <a:ln w="952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13" name="Rectangle 6"/>
            <p:cNvSpPr>
              <a:spLocks noChangeArrowheads="1"/>
            </p:cNvSpPr>
            <p:nvPr/>
          </p:nvSpPr>
          <p:spPr bwMode="auto">
            <a:xfrm>
              <a:off x="272" y="1881"/>
              <a:ext cx="544" cy="1678"/>
            </a:xfrm>
            <a:prstGeom prst="rect">
              <a:avLst/>
            </a:prstGeom>
            <a:gradFill rotWithShape="1">
              <a:gsLst>
                <a:gs pos="0">
                  <a:schemeClr val="bg1"/>
                </a:gs>
                <a:gs pos="100000">
                  <a:srgbClr val="FF7C80"/>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a:solidFill>
                    <a:schemeClr val="tx2"/>
                  </a:solidFill>
                </a:rPr>
                <a:t>+32767</a:t>
              </a:r>
            </a:p>
            <a:p>
              <a:r>
                <a:rPr lang="en-US" altLang="zh-CN">
                  <a:solidFill>
                    <a:schemeClr val="tx2"/>
                  </a:solidFill>
                </a:rPr>
                <a:t>…</a:t>
              </a:r>
            </a:p>
            <a:p>
              <a:r>
                <a:rPr lang="en-US" altLang="zh-CN">
                  <a:solidFill>
                    <a:schemeClr val="tx2"/>
                  </a:solidFill>
                </a:rPr>
                <a:t>+512</a:t>
              </a:r>
            </a:p>
            <a:p>
              <a:r>
                <a:rPr lang="en-US" altLang="zh-CN">
                  <a:solidFill>
                    <a:schemeClr val="tx2"/>
                  </a:solidFill>
                </a:rPr>
                <a:t>+128</a:t>
              </a:r>
            </a:p>
            <a:p>
              <a:r>
                <a:rPr lang="en-US" altLang="zh-CN">
                  <a:solidFill>
                    <a:schemeClr val="tx2"/>
                  </a:solidFill>
                </a:rPr>
                <a:t>0</a:t>
              </a:r>
            </a:p>
            <a:p>
              <a:r>
                <a:rPr lang="en-US" altLang="zh-CN">
                  <a:solidFill>
                    <a:schemeClr val="tx2"/>
                  </a:solidFill>
                </a:rPr>
                <a:t>-128</a:t>
              </a:r>
            </a:p>
            <a:p>
              <a:r>
                <a:rPr lang="en-US" altLang="zh-CN">
                  <a:solidFill>
                    <a:schemeClr val="tx2"/>
                  </a:solidFill>
                </a:rPr>
                <a:t>-512</a:t>
              </a:r>
            </a:p>
            <a:p>
              <a:r>
                <a:rPr lang="en-US" altLang="zh-CN">
                  <a:solidFill>
                    <a:schemeClr val="tx2"/>
                  </a:solidFill>
                </a:rPr>
                <a:t>…</a:t>
              </a:r>
            </a:p>
            <a:p>
              <a:r>
                <a:rPr lang="en-US" altLang="zh-CN">
                  <a:solidFill>
                    <a:schemeClr val="tx2"/>
                  </a:solidFill>
                </a:rPr>
                <a:t>-32768</a:t>
              </a:r>
            </a:p>
          </p:txBody>
        </p:sp>
        <p:grpSp>
          <p:nvGrpSpPr>
            <p:cNvPr id="29714" name="Group 7"/>
            <p:cNvGrpSpPr>
              <a:grpSpLocks/>
            </p:cNvGrpSpPr>
            <p:nvPr/>
          </p:nvGrpSpPr>
          <p:grpSpPr bwMode="auto">
            <a:xfrm>
              <a:off x="1133" y="1632"/>
              <a:ext cx="2154" cy="2086"/>
              <a:chOff x="1133" y="1632"/>
              <a:chExt cx="2154" cy="2086"/>
            </a:xfrm>
          </p:grpSpPr>
          <p:sp>
            <p:nvSpPr>
              <p:cNvPr id="29741" name="Line 8"/>
              <p:cNvSpPr>
                <a:spLocks noChangeShapeType="1"/>
              </p:cNvSpPr>
              <p:nvPr/>
            </p:nvSpPr>
            <p:spPr bwMode="auto">
              <a:xfrm flipV="1">
                <a:off x="136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2" name="Line 9"/>
              <p:cNvSpPr>
                <a:spLocks noChangeShapeType="1"/>
              </p:cNvSpPr>
              <p:nvPr/>
            </p:nvSpPr>
            <p:spPr bwMode="auto">
              <a:xfrm flipV="1">
                <a:off x="147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3" name="Line 10"/>
              <p:cNvSpPr>
                <a:spLocks noChangeShapeType="1"/>
              </p:cNvSpPr>
              <p:nvPr/>
            </p:nvSpPr>
            <p:spPr bwMode="auto">
              <a:xfrm flipV="1">
                <a:off x="1586"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4" name="Line 11"/>
              <p:cNvSpPr>
                <a:spLocks noChangeShapeType="1"/>
              </p:cNvSpPr>
              <p:nvPr/>
            </p:nvSpPr>
            <p:spPr bwMode="auto">
              <a:xfrm flipV="1">
                <a:off x="170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5" name="Line 12"/>
              <p:cNvSpPr>
                <a:spLocks noChangeShapeType="1"/>
              </p:cNvSpPr>
              <p:nvPr/>
            </p:nvSpPr>
            <p:spPr bwMode="auto">
              <a:xfrm flipV="1">
                <a:off x="181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6" name="Line 13"/>
              <p:cNvSpPr>
                <a:spLocks noChangeShapeType="1"/>
              </p:cNvSpPr>
              <p:nvPr/>
            </p:nvSpPr>
            <p:spPr bwMode="auto">
              <a:xfrm flipV="1">
                <a:off x="1926"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7" name="Line 14"/>
              <p:cNvSpPr>
                <a:spLocks noChangeShapeType="1"/>
              </p:cNvSpPr>
              <p:nvPr/>
            </p:nvSpPr>
            <p:spPr bwMode="auto">
              <a:xfrm flipV="1">
                <a:off x="317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8" name="Line 15"/>
              <p:cNvSpPr>
                <a:spLocks noChangeShapeType="1"/>
              </p:cNvSpPr>
              <p:nvPr/>
            </p:nvSpPr>
            <p:spPr bwMode="auto">
              <a:xfrm flipV="1">
                <a:off x="3287"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9" name="Line 16"/>
              <p:cNvSpPr>
                <a:spLocks noChangeShapeType="1"/>
              </p:cNvSpPr>
              <p:nvPr/>
            </p:nvSpPr>
            <p:spPr bwMode="auto">
              <a:xfrm flipV="1">
                <a:off x="204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0" name="Line 17"/>
              <p:cNvSpPr>
                <a:spLocks noChangeShapeType="1"/>
              </p:cNvSpPr>
              <p:nvPr/>
            </p:nvSpPr>
            <p:spPr bwMode="auto">
              <a:xfrm flipV="1">
                <a:off x="215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1" name="Line 18"/>
              <p:cNvSpPr>
                <a:spLocks noChangeShapeType="1"/>
              </p:cNvSpPr>
              <p:nvPr/>
            </p:nvSpPr>
            <p:spPr bwMode="auto">
              <a:xfrm flipV="1">
                <a:off x="272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2" name="Line 19"/>
              <p:cNvSpPr>
                <a:spLocks noChangeShapeType="1"/>
              </p:cNvSpPr>
              <p:nvPr/>
            </p:nvSpPr>
            <p:spPr bwMode="auto">
              <a:xfrm flipV="1">
                <a:off x="2267"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3" name="Line 20"/>
              <p:cNvSpPr>
                <a:spLocks noChangeShapeType="1"/>
              </p:cNvSpPr>
              <p:nvPr/>
            </p:nvSpPr>
            <p:spPr bwMode="auto">
              <a:xfrm flipV="1">
                <a:off x="2607"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4" name="Line 21"/>
              <p:cNvSpPr>
                <a:spLocks noChangeShapeType="1"/>
              </p:cNvSpPr>
              <p:nvPr/>
            </p:nvSpPr>
            <p:spPr bwMode="auto">
              <a:xfrm flipV="1">
                <a:off x="249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5" name="Line 22"/>
              <p:cNvSpPr>
                <a:spLocks noChangeShapeType="1"/>
              </p:cNvSpPr>
              <p:nvPr/>
            </p:nvSpPr>
            <p:spPr bwMode="auto">
              <a:xfrm flipV="1">
                <a:off x="306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6" name="Line 23"/>
              <p:cNvSpPr>
                <a:spLocks noChangeShapeType="1"/>
              </p:cNvSpPr>
              <p:nvPr/>
            </p:nvSpPr>
            <p:spPr bwMode="auto">
              <a:xfrm flipV="1">
                <a:off x="283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7" name="Line 24"/>
              <p:cNvSpPr>
                <a:spLocks noChangeShapeType="1"/>
              </p:cNvSpPr>
              <p:nvPr/>
            </p:nvSpPr>
            <p:spPr bwMode="auto">
              <a:xfrm flipV="1">
                <a:off x="2380"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8" name="Line 25"/>
              <p:cNvSpPr>
                <a:spLocks noChangeShapeType="1"/>
              </p:cNvSpPr>
              <p:nvPr/>
            </p:nvSpPr>
            <p:spPr bwMode="auto">
              <a:xfrm flipV="1">
                <a:off x="2947"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59" name="Line 26"/>
              <p:cNvSpPr>
                <a:spLocks noChangeShapeType="1"/>
              </p:cNvSpPr>
              <p:nvPr/>
            </p:nvSpPr>
            <p:spPr bwMode="auto">
              <a:xfrm flipV="1">
                <a:off x="1246"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60" name="Line 27"/>
              <p:cNvSpPr>
                <a:spLocks noChangeShapeType="1"/>
              </p:cNvSpPr>
              <p:nvPr/>
            </p:nvSpPr>
            <p:spPr bwMode="auto">
              <a:xfrm flipV="1">
                <a:off x="1133" y="1632"/>
                <a:ext cx="0" cy="2086"/>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9715" name="Group 28"/>
            <p:cNvGrpSpPr>
              <a:grpSpLocks/>
            </p:cNvGrpSpPr>
            <p:nvPr/>
          </p:nvGrpSpPr>
          <p:grpSpPr bwMode="auto">
            <a:xfrm>
              <a:off x="1020" y="1858"/>
              <a:ext cx="2720" cy="1723"/>
              <a:chOff x="1020" y="1858"/>
              <a:chExt cx="2720" cy="1723"/>
            </a:xfrm>
          </p:grpSpPr>
          <p:sp>
            <p:nvSpPr>
              <p:cNvPr id="29720" name="Line 29"/>
              <p:cNvSpPr>
                <a:spLocks noChangeShapeType="1"/>
              </p:cNvSpPr>
              <p:nvPr/>
            </p:nvSpPr>
            <p:spPr bwMode="auto">
              <a:xfrm>
                <a:off x="1020" y="3581"/>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1" name="Line 30"/>
              <p:cNvSpPr>
                <a:spLocks noChangeShapeType="1"/>
              </p:cNvSpPr>
              <p:nvPr/>
            </p:nvSpPr>
            <p:spPr bwMode="auto">
              <a:xfrm>
                <a:off x="1020" y="3495"/>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2" name="Line 31"/>
              <p:cNvSpPr>
                <a:spLocks noChangeShapeType="1"/>
              </p:cNvSpPr>
              <p:nvPr/>
            </p:nvSpPr>
            <p:spPr bwMode="auto">
              <a:xfrm>
                <a:off x="1020" y="3409"/>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3" name="Line 32"/>
              <p:cNvSpPr>
                <a:spLocks noChangeShapeType="1"/>
              </p:cNvSpPr>
              <p:nvPr/>
            </p:nvSpPr>
            <p:spPr bwMode="auto">
              <a:xfrm>
                <a:off x="1020" y="3323"/>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4" name="Line 33"/>
              <p:cNvSpPr>
                <a:spLocks noChangeShapeType="1"/>
              </p:cNvSpPr>
              <p:nvPr/>
            </p:nvSpPr>
            <p:spPr bwMode="auto">
              <a:xfrm>
                <a:off x="1020" y="3237"/>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5" name="Line 34"/>
              <p:cNvSpPr>
                <a:spLocks noChangeShapeType="1"/>
              </p:cNvSpPr>
              <p:nvPr/>
            </p:nvSpPr>
            <p:spPr bwMode="auto">
              <a:xfrm>
                <a:off x="1020" y="3151"/>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6" name="Line 35"/>
              <p:cNvSpPr>
                <a:spLocks noChangeShapeType="1"/>
              </p:cNvSpPr>
              <p:nvPr/>
            </p:nvSpPr>
            <p:spPr bwMode="auto">
              <a:xfrm>
                <a:off x="1020" y="3064"/>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7" name="Line 36"/>
              <p:cNvSpPr>
                <a:spLocks noChangeShapeType="1"/>
              </p:cNvSpPr>
              <p:nvPr/>
            </p:nvSpPr>
            <p:spPr bwMode="auto">
              <a:xfrm>
                <a:off x="1020" y="2978"/>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8" name="Line 37"/>
              <p:cNvSpPr>
                <a:spLocks noChangeShapeType="1"/>
              </p:cNvSpPr>
              <p:nvPr/>
            </p:nvSpPr>
            <p:spPr bwMode="auto">
              <a:xfrm>
                <a:off x="1020" y="2892"/>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9" name="Line 38"/>
              <p:cNvSpPr>
                <a:spLocks noChangeShapeType="1"/>
              </p:cNvSpPr>
              <p:nvPr/>
            </p:nvSpPr>
            <p:spPr bwMode="auto">
              <a:xfrm>
                <a:off x="1020" y="2806"/>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0" name="Line 39"/>
              <p:cNvSpPr>
                <a:spLocks noChangeShapeType="1"/>
              </p:cNvSpPr>
              <p:nvPr/>
            </p:nvSpPr>
            <p:spPr bwMode="auto">
              <a:xfrm>
                <a:off x="1020" y="2720"/>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1" name="Line 40"/>
              <p:cNvSpPr>
                <a:spLocks noChangeShapeType="1"/>
              </p:cNvSpPr>
              <p:nvPr/>
            </p:nvSpPr>
            <p:spPr bwMode="auto">
              <a:xfrm>
                <a:off x="1020" y="2634"/>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2" name="Line 41"/>
              <p:cNvSpPr>
                <a:spLocks noChangeShapeType="1"/>
              </p:cNvSpPr>
              <p:nvPr/>
            </p:nvSpPr>
            <p:spPr bwMode="auto">
              <a:xfrm>
                <a:off x="1020" y="2548"/>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3" name="Line 42"/>
              <p:cNvSpPr>
                <a:spLocks noChangeShapeType="1"/>
              </p:cNvSpPr>
              <p:nvPr/>
            </p:nvSpPr>
            <p:spPr bwMode="auto">
              <a:xfrm>
                <a:off x="1020" y="2461"/>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4" name="Line 43"/>
              <p:cNvSpPr>
                <a:spLocks noChangeShapeType="1"/>
              </p:cNvSpPr>
              <p:nvPr/>
            </p:nvSpPr>
            <p:spPr bwMode="auto">
              <a:xfrm>
                <a:off x="1020" y="2375"/>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5" name="Line 44"/>
              <p:cNvSpPr>
                <a:spLocks noChangeShapeType="1"/>
              </p:cNvSpPr>
              <p:nvPr/>
            </p:nvSpPr>
            <p:spPr bwMode="auto">
              <a:xfrm>
                <a:off x="1020" y="2289"/>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6" name="Line 45"/>
              <p:cNvSpPr>
                <a:spLocks noChangeShapeType="1"/>
              </p:cNvSpPr>
              <p:nvPr/>
            </p:nvSpPr>
            <p:spPr bwMode="auto">
              <a:xfrm>
                <a:off x="1020" y="2203"/>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7" name="Line 46"/>
              <p:cNvSpPr>
                <a:spLocks noChangeShapeType="1"/>
              </p:cNvSpPr>
              <p:nvPr/>
            </p:nvSpPr>
            <p:spPr bwMode="auto">
              <a:xfrm>
                <a:off x="1020" y="2117"/>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8" name="Line 47"/>
              <p:cNvSpPr>
                <a:spLocks noChangeShapeType="1"/>
              </p:cNvSpPr>
              <p:nvPr/>
            </p:nvSpPr>
            <p:spPr bwMode="auto">
              <a:xfrm>
                <a:off x="1020" y="2031"/>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9" name="Line 48"/>
              <p:cNvSpPr>
                <a:spLocks noChangeShapeType="1"/>
              </p:cNvSpPr>
              <p:nvPr/>
            </p:nvSpPr>
            <p:spPr bwMode="auto">
              <a:xfrm>
                <a:off x="1020" y="1945"/>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0" name="Line 49"/>
              <p:cNvSpPr>
                <a:spLocks noChangeShapeType="1"/>
              </p:cNvSpPr>
              <p:nvPr/>
            </p:nvSpPr>
            <p:spPr bwMode="auto">
              <a:xfrm>
                <a:off x="1020" y="1858"/>
                <a:ext cx="2720" cy="0"/>
              </a:xfrm>
              <a:prstGeom prst="line">
                <a:avLst/>
              </a:prstGeom>
              <a:noFill/>
              <a:ln w="31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9716" name="AutoShape 51"/>
            <p:cNvSpPr>
              <a:spLocks noChangeArrowheads="1"/>
            </p:cNvSpPr>
            <p:nvPr/>
          </p:nvSpPr>
          <p:spPr bwMode="auto">
            <a:xfrm>
              <a:off x="1927" y="1071"/>
              <a:ext cx="1970" cy="314"/>
            </a:xfrm>
            <a:prstGeom prst="wedgeRoundRectCallout">
              <a:avLst>
                <a:gd name="adj1" fmla="val -54315"/>
                <a:gd name="adj2" fmla="val 275477"/>
                <a:gd name="adj3" fmla="val 16667"/>
              </a:avLst>
            </a:prstGeom>
            <a:gradFill rotWithShape="1">
              <a:gsLst>
                <a:gs pos="0">
                  <a:schemeClr val="bg2"/>
                </a:gs>
                <a:gs pos="100000">
                  <a:schemeClr val="tx2"/>
                </a:gs>
              </a:gsLst>
              <a:path path="rect">
                <a:fillToRect l="50000" t="50000" r="50000" b="50000"/>
              </a:path>
            </a:gradFill>
            <a:ln w="9525">
              <a:solidFill>
                <a:schemeClr val="tx1"/>
              </a:solidFill>
              <a:miter lim="800000"/>
              <a:headEnd/>
              <a:tailEnd/>
            </a:ln>
          </p:spPr>
          <p:txBody>
            <a:bodyPr wrap="none">
              <a:spAutoFit/>
            </a:bodyPr>
            <a:lstStyle/>
            <a:p>
              <a:r>
                <a:rPr lang="en-US" altLang="zh-CN" sz="2400" dirty="0">
                  <a:solidFill>
                    <a:srgbClr val="99FF33"/>
                  </a:solidFill>
                </a:rPr>
                <a:t>0010101100011000</a:t>
              </a:r>
            </a:p>
          </p:txBody>
        </p:sp>
        <p:grpSp>
          <p:nvGrpSpPr>
            <p:cNvPr id="29717" name="Group 2"/>
            <p:cNvGrpSpPr>
              <a:grpSpLocks/>
            </p:cNvGrpSpPr>
            <p:nvPr/>
          </p:nvGrpSpPr>
          <p:grpSpPr bwMode="auto">
            <a:xfrm>
              <a:off x="1020" y="1246"/>
              <a:ext cx="2607" cy="2721"/>
              <a:chOff x="1020" y="1246"/>
              <a:chExt cx="2607" cy="2721"/>
            </a:xfrm>
          </p:grpSpPr>
          <p:sp>
            <p:nvSpPr>
              <p:cNvPr id="29718" name="Freeform 3"/>
              <p:cNvSpPr>
                <a:spLocks/>
              </p:cNvSpPr>
              <p:nvPr/>
            </p:nvSpPr>
            <p:spPr bwMode="auto">
              <a:xfrm>
                <a:off x="1020" y="1246"/>
                <a:ext cx="2607" cy="1474"/>
              </a:xfrm>
              <a:custGeom>
                <a:avLst/>
                <a:gdLst>
                  <a:gd name="T0" fmla="*/ 0 w 2404"/>
                  <a:gd name="T1" fmla="*/ 0 h 2495"/>
                  <a:gd name="T2" fmla="*/ 0 w 2404"/>
                  <a:gd name="T3" fmla="*/ 871 h 2495"/>
                  <a:gd name="T4" fmla="*/ 2827 w 2404"/>
                  <a:gd name="T5" fmla="*/ 871 h 2495"/>
                  <a:gd name="T6" fmla="*/ 0 60000 65536"/>
                  <a:gd name="T7" fmla="*/ 0 60000 65536"/>
                  <a:gd name="T8" fmla="*/ 0 60000 65536"/>
                  <a:gd name="T9" fmla="*/ 0 w 2404"/>
                  <a:gd name="T10" fmla="*/ 0 h 2495"/>
                  <a:gd name="T11" fmla="*/ 2404 w 2404"/>
                  <a:gd name="T12" fmla="*/ 2495 h 2495"/>
                </a:gdLst>
                <a:ahLst/>
                <a:cxnLst>
                  <a:cxn ang="T6">
                    <a:pos x="T0" y="T1"/>
                  </a:cxn>
                  <a:cxn ang="T7">
                    <a:pos x="T2" y="T3"/>
                  </a:cxn>
                  <a:cxn ang="T8">
                    <a:pos x="T4" y="T5"/>
                  </a:cxn>
                </a:cxnLst>
                <a:rect l="T9" t="T10" r="T11" b="T12"/>
                <a:pathLst>
                  <a:path w="2404" h="2495">
                    <a:moveTo>
                      <a:pt x="0" y="0"/>
                    </a:moveTo>
                    <a:lnTo>
                      <a:pt x="0" y="2495"/>
                    </a:lnTo>
                    <a:lnTo>
                      <a:pt x="2404" y="2495"/>
                    </a:lnTo>
                  </a:path>
                </a:pathLst>
              </a:custGeom>
              <a:noFill/>
              <a:ln w="9525">
                <a:solidFill>
                  <a:srgbClr val="FF33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19" name="Line 4"/>
              <p:cNvSpPr>
                <a:spLocks noChangeShapeType="1"/>
              </p:cNvSpPr>
              <p:nvPr/>
            </p:nvSpPr>
            <p:spPr bwMode="auto">
              <a:xfrm>
                <a:off x="1020" y="2720"/>
                <a:ext cx="0" cy="1247"/>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 name="标题 1"/>
          <p:cNvSpPr>
            <a:spLocks noGrp="1"/>
          </p:cNvSpPr>
          <p:nvPr>
            <p:ph type="title"/>
          </p:nvPr>
        </p:nvSpPr>
        <p:spPr>
          <a:xfrm>
            <a:off x="138239" y="1134648"/>
            <a:ext cx="8229600" cy="703263"/>
          </a:xfrm>
        </p:spPr>
        <p:txBody>
          <a:bodyPr>
            <a:normAutofit fontScale="90000"/>
          </a:bodyPr>
          <a:lstStyle/>
          <a:p>
            <a:r>
              <a:rPr lang="zh-CN" altLang="en-US" dirty="0"/>
              <a:t>举例</a:t>
            </a:r>
          </a:p>
        </p:txBody>
      </p:sp>
      <p:sp>
        <p:nvSpPr>
          <p:cNvPr id="4" name="灯片编号占位符 3"/>
          <p:cNvSpPr>
            <a:spLocks noGrp="1"/>
          </p:cNvSpPr>
          <p:nvPr>
            <p:ph type="sldNum" sz="quarter" idx="12"/>
          </p:nvPr>
        </p:nvSpPr>
        <p:spPr/>
        <p:txBody>
          <a:bodyPr/>
          <a:lstStyle/>
          <a:p>
            <a:fld id="{F64BA984-46A0-4F46-990E-EC790E6934B4}" type="slidenum">
              <a:rPr lang="zh-CN" altLang="en-US" smtClean="0"/>
              <a:t>73</a:t>
            </a:fld>
            <a:endParaRPr lang="zh-CN" altLang="en-US"/>
          </a:p>
        </p:txBody>
      </p:sp>
      <p:sp>
        <p:nvSpPr>
          <p:cNvPr id="59"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存储</a:t>
            </a:r>
            <a:endParaRPr lang="en-US" dirty="0"/>
          </a:p>
        </p:txBody>
      </p:sp>
      <p:sp>
        <p:nvSpPr>
          <p:cNvPr id="60" name="Text Box 33" descr="横向砖形"/>
          <p:cNvSpPr txBox="1">
            <a:spLocks noChangeArrowheads="1"/>
          </p:cNvSpPr>
          <p:nvPr/>
        </p:nvSpPr>
        <p:spPr bwMode="auto">
          <a:xfrm>
            <a:off x="6358917" y="2407336"/>
            <a:ext cx="2577950" cy="1384995"/>
          </a:xfrm>
          <a:prstGeom prst="rect">
            <a:avLst/>
          </a:prstGeom>
          <a:noFill/>
          <a:ln>
            <a:noFill/>
          </a:ln>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lang="zh-CN" altLang="en-US" sz="2800" dirty="0">
                <a:solidFill>
                  <a:srgbClr val="00B050"/>
                </a:solidFill>
                <a:latin typeface="Monotype Corsiva" pitchFamily="66" charset="0"/>
              </a:rPr>
              <a:t>量化位数</a:t>
            </a:r>
            <a:r>
              <a:rPr lang="en-US" altLang="zh-CN" sz="2800" dirty="0">
                <a:solidFill>
                  <a:srgbClr val="00B050"/>
                </a:solidFill>
                <a:latin typeface="Monotype Corsiva" pitchFamily="66" charset="0"/>
              </a:rPr>
              <a:t>16 </a:t>
            </a:r>
            <a:r>
              <a:rPr lang="zh-CN" altLang="en-US" sz="2800" dirty="0">
                <a:solidFill>
                  <a:srgbClr val="00B050"/>
                </a:solidFill>
                <a:latin typeface="Monotype Corsiva" pitchFamily="66" charset="0"/>
              </a:rPr>
              <a:t>位</a:t>
            </a:r>
            <a:endParaRPr lang="en-US" altLang="zh-CN" sz="2800" dirty="0">
              <a:solidFill>
                <a:srgbClr val="00B050"/>
              </a:solidFill>
              <a:latin typeface="Monotype Corsiva" pitchFamily="66" charset="0"/>
            </a:endParaRPr>
          </a:p>
          <a:p>
            <a:pPr algn="l" eaLnBrk="1" hangingPunct="1"/>
            <a:endParaRPr lang="en-US" altLang="zh-CN" sz="2800" dirty="0">
              <a:solidFill>
                <a:srgbClr val="FF0066"/>
              </a:solidFill>
              <a:latin typeface="Monotype Corsiva" pitchFamily="66" charset="0"/>
            </a:endParaRPr>
          </a:p>
          <a:p>
            <a:pPr algn="l" eaLnBrk="1" hangingPunct="1"/>
            <a:r>
              <a:rPr lang="zh-CN" altLang="en-US" sz="2800" dirty="0">
                <a:solidFill>
                  <a:srgbClr val="0000FF"/>
                </a:solidFill>
                <a:latin typeface="Monotype Corsiva" pitchFamily="66" charset="0"/>
              </a:rPr>
              <a:t>采样频率</a:t>
            </a:r>
            <a:r>
              <a:rPr lang="en-US" altLang="zh-CN" sz="2800" dirty="0">
                <a:solidFill>
                  <a:srgbClr val="0000FF"/>
                </a:solidFill>
                <a:latin typeface="Monotype Corsiva" pitchFamily="66" charset="0"/>
              </a:rPr>
              <a:t>22KHz</a:t>
            </a:r>
          </a:p>
        </p:txBody>
      </p:sp>
      <p:sp>
        <p:nvSpPr>
          <p:cNvPr id="3" name="文本框 2">
            <a:extLst>
              <a:ext uri="{FF2B5EF4-FFF2-40B4-BE49-F238E27FC236}">
                <a16:creationId xmlns:a16="http://schemas.microsoft.com/office/drawing/2014/main" id="{66B1101F-5E48-D327-7D41-61396F778E12}"/>
              </a:ext>
            </a:extLst>
          </p:cNvPr>
          <p:cNvSpPr txBox="1"/>
          <p:nvPr/>
        </p:nvSpPr>
        <p:spPr>
          <a:xfrm>
            <a:off x="349040" y="6475426"/>
            <a:ext cx="6610464" cy="369332"/>
          </a:xfrm>
          <a:prstGeom prst="rect">
            <a:avLst/>
          </a:prstGeom>
          <a:noFill/>
        </p:spPr>
        <p:txBody>
          <a:bodyPr wrap="none" rtlCol="0">
            <a:spAutoFit/>
          </a:bodyPr>
          <a:lstStyle/>
          <a:p>
            <a:r>
              <a:rPr kumimoji="1" lang="zh-CN" altLang="en-US" b="1" i="1" dirty="0"/>
              <a:t>扩展阅读：音频数字化 </a:t>
            </a:r>
            <a:r>
              <a:rPr kumimoji="1" lang="en" altLang="zh-CN" b="1" i="1" dirty="0"/>
              <a:t>https://</a:t>
            </a:r>
            <a:r>
              <a:rPr kumimoji="1" lang="en" altLang="zh-CN" b="1" i="1" dirty="0" err="1"/>
              <a:t>zhuanlan.zhihu.com</a:t>
            </a:r>
            <a:r>
              <a:rPr kumimoji="1" lang="en" altLang="zh-CN" b="1" i="1" dirty="0"/>
              <a:t>/p/501250330</a:t>
            </a:r>
            <a:endParaRPr kumimoji="1" lang="zh-CN" altLang="en-US" b="1" i="1" dirty="0"/>
          </a:p>
        </p:txBody>
      </p:sp>
    </p:spTree>
    <p:extLst>
      <p:ext uri="{BB962C8B-B14F-4D97-AF65-F5344CB8AC3E}">
        <p14:creationId xmlns:p14="http://schemas.microsoft.com/office/powerpoint/2010/main" val="24756866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3514" y="1340768"/>
            <a:ext cx="8640960" cy="3785652"/>
          </a:xfrm>
          <a:prstGeom prst="rect">
            <a:avLst/>
          </a:prstGeom>
        </p:spPr>
        <p:txBody>
          <a:bodyPr wrap="square">
            <a:spAutoFit/>
          </a:bodyPr>
          <a:lstStyle/>
          <a:p>
            <a:pPr marL="285750" indent="-285750">
              <a:buFont typeface="Arial" pitchFamily="34" charset="0"/>
              <a:buChar char="•"/>
            </a:pPr>
            <a:r>
              <a:rPr lang="zh-CN" altLang="en-US" sz="2400" dirty="0"/>
              <a:t>一般获取音频数据的方法是：采用固定的时间间隔，对音频电压采样（</a:t>
            </a:r>
            <a:r>
              <a:rPr lang="zh-CN" altLang="en-US" sz="2400" dirty="0">
                <a:hlinkClick r:id="rId3" tooltip="量化 (信号处理)"/>
              </a:rPr>
              <a:t>量化</a:t>
            </a:r>
            <a:r>
              <a:rPr lang="zh-CN" altLang="en-US" sz="2400" dirty="0"/>
              <a:t>），并将结果以某种分辨率存储。采样的时间间隔可以有不同的标准，如</a:t>
            </a:r>
            <a:r>
              <a:rPr lang="en-US" altLang="zh-CN" sz="2400" dirty="0"/>
              <a:t>CDDA</a:t>
            </a:r>
            <a:r>
              <a:rPr lang="zh-CN" altLang="en-US" sz="2400" dirty="0"/>
              <a:t>采用每秒</a:t>
            </a:r>
            <a:r>
              <a:rPr lang="en-US" altLang="zh-CN" sz="2400" dirty="0"/>
              <a:t>44100</a:t>
            </a:r>
            <a:r>
              <a:rPr lang="zh-CN" altLang="en-US" sz="2400" dirty="0"/>
              <a:t>次；</a:t>
            </a:r>
            <a:r>
              <a:rPr lang="en-US" altLang="zh-CN" sz="2400" dirty="0"/>
              <a:t>DVD</a:t>
            </a:r>
            <a:r>
              <a:rPr lang="zh-CN" altLang="en-US" sz="2400" dirty="0"/>
              <a:t>采用每秒</a:t>
            </a:r>
            <a:r>
              <a:rPr lang="en-US" altLang="zh-CN" sz="2400" dirty="0"/>
              <a:t>48000</a:t>
            </a:r>
            <a:r>
              <a:rPr lang="zh-CN" altLang="en-US" sz="2400" dirty="0"/>
              <a:t>或</a:t>
            </a:r>
            <a:r>
              <a:rPr lang="en-US" altLang="zh-CN" sz="2400" dirty="0"/>
              <a:t>96000</a:t>
            </a:r>
            <a:r>
              <a:rPr lang="zh-CN" altLang="en-US" sz="2400" dirty="0"/>
              <a:t>次。因此，</a:t>
            </a:r>
            <a:r>
              <a:rPr lang="zh-CN" altLang="en-US" sz="2400" dirty="0">
                <a:hlinkClick r:id="rId4" tooltip="采样率"/>
              </a:rPr>
              <a:t>采样率</a:t>
            </a:r>
            <a:r>
              <a:rPr lang="zh-CN" altLang="en-US" sz="2400" dirty="0"/>
              <a:t>，</a:t>
            </a:r>
            <a:r>
              <a:rPr lang="zh-CN" altLang="en-US" sz="2400" dirty="0">
                <a:hlinkClick r:id="rId5" tooltip="分辨率"/>
              </a:rPr>
              <a:t>分辨率</a:t>
            </a:r>
            <a:r>
              <a:rPr lang="zh-CN" altLang="en-US" sz="2400" dirty="0"/>
              <a:t>和</a:t>
            </a:r>
            <a:r>
              <a:rPr lang="zh-CN" altLang="en-US" sz="2400" dirty="0">
                <a:hlinkClick r:id="rId6" tooltip="声道"/>
              </a:rPr>
              <a:t>声道</a:t>
            </a:r>
            <a:r>
              <a:rPr lang="zh-CN" altLang="en-US" sz="2400" dirty="0"/>
              <a:t>数目（例如立体声为</a:t>
            </a:r>
            <a:r>
              <a:rPr lang="en-US" altLang="zh-CN" sz="2400" dirty="0"/>
              <a:t>2</a:t>
            </a:r>
            <a:r>
              <a:rPr lang="zh-CN" altLang="en-US" sz="2400" dirty="0"/>
              <a:t>声道）是音频文件格式的关键参数。</a:t>
            </a:r>
          </a:p>
          <a:p>
            <a:pPr marL="285750" indent="-285750">
              <a:buFont typeface="Arial" pitchFamily="34" charset="0"/>
              <a:buChar char="•"/>
            </a:pPr>
            <a:r>
              <a:rPr lang="zh-CN" altLang="en-US" sz="2400" dirty="0"/>
              <a:t>有两类主要的音频文件格式：</a:t>
            </a:r>
          </a:p>
          <a:p>
            <a:pPr marL="742950" lvl="1" indent="-285750">
              <a:buFont typeface="Arial" pitchFamily="34" charset="0"/>
              <a:buChar char="•"/>
            </a:pPr>
            <a:r>
              <a:rPr lang="zh-CN" altLang="en-US" sz="2400" dirty="0"/>
              <a:t>无损格式，例如</a:t>
            </a:r>
            <a:r>
              <a:rPr lang="en-US" altLang="zh-CN" sz="2400" dirty="0">
                <a:hlinkClick r:id="rId7" tooltip="WAV"/>
              </a:rPr>
              <a:t>WAV</a:t>
            </a:r>
            <a:r>
              <a:rPr lang="zh-CN" altLang="en-US" sz="2400" dirty="0"/>
              <a:t>，</a:t>
            </a:r>
            <a:r>
              <a:rPr lang="en-US" altLang="zh-CN" sz="2400" dirty="0">
                <a:hlinkClick r:id="rId8" tooltip="PCM"/>
              </a:rPr>
              <a:t>PCM</a:t>
            </a:r>
            <a:r>
              <a:rPr lang="zh-CN" altLang="en-US" sz="2400" dirty="0"/>
              <a:t>，</a:t>
            </a:r>
            <a:r>
              <a:rPr lang="en-US" altLang="zh-CN" sz="2400" dirty="0">
                <a:hlinkClick r:id="rId9" tooltip="TTA"/>
              </a:rPr>
              <a:t>TTA</a:t>
            </a:r>
            <a:r>
              <a:rPr lang="zh-CN" altLang="en-US" sz="2400" dirty="0"/>
              <a:t>，</a:t>
            </a:r>
            <a:r>
              <a:rPr lang="en-US" altLang="zh-CN" sz="2400" dirty="0">
                <a:hlinkClick r:id="rId10" tooltip="FLAC"/>
              </a:rPr>
              <a:t>FLAC</a:t>
            </a:r>
            <a:r>
              <a:rPr lang="zh-CN" altLang="en-US" sz="2400" dirty="0"/>
              <a:t>，</a:t>
            </a:r>
            <a:r>
              <a:rPr lang="en-US" altLang="zh-CN" sz="2400" dirty="0">
                <a:hlinkClick r:id="rId11" tooltip="AU"/>
              </a:rPr>
              <a:t>AU</a:t>
            </a:r>
            <a:r>
              <a:rPr lang="zh-CN" altLang="en-US" sz="2400" dirty="0"/>
              <a:t>，</a:t>
            </a:r>
            <a:r>
              <a:rPr lang="en-US" altLang="zh-CN" sz="2400" dirty="0">
                <a:hlinkClick r:id="rId12" tooltip="APE"/>
              </a:rPr>
              <a:t>APE</a:t>
            </a:r>
            <a:r>
              <a:rPr lang="zh-CN" altLang="en-US" sz="2400" dirty="0"/>
              <a:t>，</a:t>
            </a:r>
            <a:r>
              <a:rPr lang="en-US" altLang="zh-CN" sz="2400" dirty="0">
                <a:hlinkClick r:id="rId13" tooltip="TAK"/>
              </a:rPr>
              <a:t>TAK</a:t>
            </a:r>
            <a:r>
              <a:rPr lang="zh-CN" altLang="en-US" sz="2400" dirty="0"/>
              <a:t>，</a:t>
            </a:r>
            <a:r>
              <a:rPr lang="en-US" altLang="zh-CN" sz="2400" dirty="0" err="1">
                <a:hlinkClick r:id="rId14" tooltip="WavPack"/>
              </a:rPr>
              <a:t>WavPack</a:t>
            </a:r>
            <a:r>
              <a:rPr lang="en-US" altLang="zh-CN" sz="2400" dirty="0"/>
              <a:t>(WV)</a:t>
            </a:r>
          </a:p>
          <a:p>
            <a:pPr marL="742950" lvl="1" indent="-285750">
              <a:buFont typeface="Arial" pitchFamily="34" charset="0"/>
              <a:buChar char="•"/>
            </a:pPr>
            <a:r>
              <a:rPr lang="zh-CN" altLang="en-US" sz="2400" dirty="0"/>
              <a:t>有损格式，例如</a:t>
            </a:r>
            <a:r>
              <a:rPr lang="en-US" altLang="zh-CN" sz="2400" dirty="0">
                <a:hlinkClick r:id="rId15" tooltip="MP3"/>
              </a:rPr>
              <a:t>MP3</a:t>
            </a:r>
            <a:r>
              <a:rPr lang="zh-CN" altLang="en-US" sz="2400" dirty="0"/>
              <a:t>，</a:t>
            </a:r>
            <a:r>
              <a:rPr lang="en-US" altLang="zh-CN" sz="2400" dirty="0"/>
              <a:t>Windows Media Audio</a:t>
            </a:r>
            <a:r>
              <a:rPr lang="zh-CN" altLang="en-US" sz="2400" dirty="0"/>
              <a:t>（</a:t>
            </a:r>
            <a:r>
              <a:rPr lang="en-US" altLang="zh-CN" sz="2400" dirty="0">
                <a:hlinkClick r:id="rId16" tooltip="WMA"/>
              </a:rPr>
              <a:t>WMA</a:t>
            </a:r>
            <a:r>
              <a:rPr lang="zh-CN" altLang="en-US" sz="2400" dirty="0"/>
              <a:t>），</a:t>
            </a:r>
            <a:r>
              <a:rPr lang="en-US" altLang="zh-CN" sz="2400" dirty="0" err="1"/>
              <a:t>Ogg</a:t>
            </a:r>
            <a:r>
              <a:rPr lang="en-US" altLang="zh-CN" sz="2400" dirty="0"/>
              <a:t> </a:t>
            </a:r>
            <a:r>
              <a:rPr lang="en-US" altLang="zh-CN" sz="2400" dirty="0" err="1"/>
              <a:t>Vorbis</a:t>
            </a:r>
            <a:r>
              <a:rPr lang="zh-CN" altLang="en-US" sz="2400" dirty="0"/>
              <a:t>（</a:t>
            </a:r>
            <a:r>
              <a:rPr lang="en-US" altLang="zh-CN" sz="2400" dirty="0">
                <a:hlinkClick r:id="rId17" tooltip="OGG"/>
              </a:rPr>
              <a:t>OGG</a:t>
            </a:r>
            <a:r>
              <a:rPr lang="zh-CN" altLang="en-US" sz="2400" dirty="0"/>
              <a:t>），</a:t>
            </a:r>
            <a:r>
              <a:rPr lang="en-US" altLang="zh-CN" sz="2400" dirty="0">
                <a:hlinkClick r:id="rId18" tooltip="AAC"/>
              </a:rPr>
              <a:t>AAC</a:t>
            </a:r>
            <a:endParaRPr lang="zh-CN" altLang="en-US" sz="2400" dirty="0"/>
          </a:p>
        </p:txBody>
      </p:sp>
      <p:sp>
        <p:nvSpPr>
          <p:cNvPr id="4" name="灯片编号占位符 3"/>
          <p:cNvSpPr>
            <a:spLocks noGrp="1"/>
          </p:cNvSpPr>
          <p:nvPr>
            <p:ph type="sldNum" sz="quarter" idx="12"/>
          </p:nvPr>
        </p:nvSpPr>
        <p:spPr/>
        <p:txBody>
          <a:bodyPr/>
          <a:lstStyle/>
          <a:p>
            <a:fld id="{F64BA984-46A0-4F46-990E-EC790E6934B4}" type="slidenum">
              <a:rPr lang="zh-CN" altLang="en-US" smtClean="0"/>
              <a:t>74</a:t>
            </a:fld>
            <a:endParaRPr lang="zh-CN" altLang="en-US"/>
          </a:p>
        </p:txBody>
      </p:sp>
      <p:sp>
        <p:nvSpPr>
          <p:cNvPr id="7"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文件格式</a:t>
            </a:r>
            <a:endParaRPr lang="en-US" dirty="0"/>
          </a:p>
        </p:txBody>
      </p:sp>
    </p:spTree>
    <p:extLst>
      <p:ext uri="{BB962C8B-B14F-4D97-AF65-F5344CB8AC3E}">
        <p14:creationId xmlns:p14="http://schemas.microsoft.com/office/powerpoint/2010/main" val="20734847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280F200-1146-46AA-91AF-1D846C908CD7}"/>
              </a:ext>
            </a:extLst>
          </p:cNvPr>
          <p:cNvSpPr>
            <a:spLocks noGrp="1"/>
          </p:cNvSpPr>
          <p:nvPr>
            <p:ph idx="1"/>
          </p:nvPr>
        </p:nvSpPr>
        <p:spPr>
          <a:xfrm>
            <a:off x="255014" y="1196751"/>
            <a:ext cx="8565457" cy="5661249"/>
          </a:xfrm>
        </p:spPr>
        <p:txBody>
          <a:bodyPr>
            <a:normAutofit fontScale="77500" lnSpcReduction="20000"/>
          </a:bodyPr>
          <a:lstStyle/>
          <a:p>
            <a:r>
              <a:rPr lang="en-US" altLang="zh-CN" dirty="0"/>
              <a:t>WAV</a:t>
            </a:r>
            <a:r>
              <a:rPr lang="zh-CN" altLang="en-US" dirty="0"/>
              <a:t>文件：</a:t>
            </a:r>
            <a:r>
              <a:rPr lang="zh-CN" altLang="en-US" dirty="0">
                <a:solidFill>
                  <a:schemeClr val="tx1"/>
                </a:solidFill>
              </a:rPr>
              <a:t>波形文件，文件大，适合存储简短的声音片段和旁白。</a:t>
            </a:r>
          </a:p>
          <a:p>
            <a:r>
              <a:rPr lang="en-US" altLang="zh-CN" dirty="0"/>
              <a:t>MP3</a:t>
            </a:r>
            <a:r>
              <a:rPr lang="zh-CN" altLang="en-US" dirty="0"/>
              <a:t>文件：</a:t>
            </a:r>
            <a:r>
              <a:rPr lang="zh-CN" altLang="en-US" dirty="0">
                <a:solidFill>
                  <a:schemeClr val="tx1"/>
                </a:solidFill>
              </a:rPr>
              <a:t>是</a:t>
            </a:r>
            <a:r>
              <a:rPr lang="en-US" altLang="zh-CN" dirty="0">
                <a:solidFill>
                  <a:schemeClr val="tx1"/>
                </a:solidFill>
              </a:rPr>
              <a:t>MPEG</a:t>
            </a:r>
            <a:r>
              <a:rPr lang="zh-CN" altLang="en-US" dirty="0">
                <a:solidFill>
                  <a:schemeClr val="tx1"/>
                </a:solidFill>
              </a:rPr>
              <a:t>音频第</a:t>
            </a:r>
            <a:r>
              <a:rPr lang="en-US" altLang="zh-CN" dirty="0">
                <a:solidFill>
                  <a:schemeClr val="tx1"/>
                </a:solidFill>
              </a:rPr>
              <a:t>3</a:t>
            </a:r>
            <a:r>
              <a:rPr lang="zh-CN" altLang="en-US" dirty="0">
                <a:solidFill>
                  <a:schemeClr val="tx1"/>
                </a:solidFill>
              </a:rPr>
              <a:t>层的简称，有损压缩，压缩比达</a:t>
            </a:r>
            <a:r>
              <a:rPr lang="en-US" altLang="zh-CN" dirty="0">
                <a:solidFill>
                  <a:schemeClr val="tx1"/>
                </a:solidFill>
              </a:rPr>
              <a:t>12:1</a:t>
            </a:r>
            <a:r>
              <a:rPr lang="zh-CN" altLang="en-US" dirty="0">
                <a:solidFill>
                  <a:schemeClr val="tx1"/>
                </a:solidFill>
              </a:rPr>
              <a:t>。</a:t>
            </a:r>
          </a:p>
          <a:p>
            <a:r>
              <a:rPr lang="en-US" altLang="zh-CN" dirty="0"/>
              <a:t>RA</a:t>
            </a:r>
            <a:r>
              <a:rPr lang="zh-CN" altLang="en-US" dirty="0"/>
              <a:t>文件：</a:t>
            </a:r>
            <a:r>
              <a:rPr lang="en-US" altLang="zh-CN" dirty="0">
                <a:solidFill>
                  <a:schemeClr val="tx1"/>
                </a:solidFill>
              </a:rPr>
              <a:t>Real Media</a:t>
            </a:r>
            <a:r>
              <a:rPr lang="zh-CN" altLang="en-US" dirty="0">
                <a:solidFill>
                  <a:schemeClr val="tx1"/>
                </a:solidFill>
              </a:rPr>
              <a:t>的音频部分，采用流式传输，适合在线聆听。</a:t>
            </a:r>
          </a:p>
          <a:p>
            <a:r>
              <a:rPr lang="en-US" altLang="zh-CN" dirty="0"/>
              <a:t>WMA </a:t>
            </a:r>
            <a:r>
              <a:rPr lang="zh-CN" altLang="en-US" dirty="0"/>
              <a:t>文件：</a:t>
            </a:r>
            <a:r>
              <a:rPr lang="zh-CN" altLang="en-US" dirty="0">
                <a:solidFill>
                  <a:schemeClr val="tx1"/>
                </a:solidFill>
              </a:rPr>
              <a:t>微软推出的流式音频格式。</a:t>
            </a:r>
          </a:p>
          <a:p>
            <a:r>
              <a:rPr lang="en-US" altLang="zh-CN" dirty="0"/>
              <a:t>AC3</a:t>
            </a:r>
            <a:r>
              <a:rPr lang="zh-CN" altLang="en-US" dirty="0"/>
              <a:t>文件：</a:t>
            </a:r>
            <a:r>
              <a:rPr lang="zh-CN" altLang="en-US" dirty="0">
                <a:solidFill>
                  <a:schemeClr val="tx1"/>
                </a:solidFill>
              </a:rPr>
              <a:t>又叫杜比数码环绕立体声，提供</a:t>
            </a:r>
            <a:r>
              <a:rPr lang="en-US" altLang="zh-CN" dirty="0">
                <a:solidFill>
                  <a:schemeClr val="tx1"/>
                </a:solidFill>
              </a:rPr>
              <a:t>5</a:t>
            </a:r>
            <a:r>
              <a:rPr lang="zh-CN" altLang="en-US" dirty="0">
                <a:solidFill>
                  <a:schemeClr val="tx1"/>
                </a:solidFill>
              </a:rPr>
              <a:t>个全频域声道和</a:t>
            </a:r>
            <a:r>
              <a:rPr lang="en-US" altLang="zh-CN" dirty="0">
                <a:solidFill>
                  <a:schemeClr val="tx1"/>
                </a:solidFill>
              </a:rPr>
              <a:t>1</a:t>
            </a:r>
            <a:r>
              <a:rPr lang="zh-CN" altLang="en-US" dirty="0">
                <a:solidFill>
                  <a:schemeClr val="tx1"/>
                </a:solidFill>
              </a:rPr>
              <a:t>个超低音声道，称为</a:t>
            </a:r>
            <a:r>
              <a:rPr lang="en-US" altLang="zh-CN" dirty="0">
                <a:solidFill>
                  <a:schemeClr val="tx1"/>
                </a:solidFill>
              </a:rPr>
              <a:t>5.1</a:t>
            </a:r>
            <a:r>
              <a:rPr lang="zh-CN" altLang="en-US" dirty="0">
                <a:solidFill>
                  <a:schemeClr val="tx1"/>
                </a:solidFill>
              </a:rPr>
              <a:t>声道，一般作为</a:t>
            </a:r>
            <a:r>
              <a:rPr lang="en-US" altLang="zh-CN" dirty="0">
                <a:solidFill>
                  <a:schemeClr val="tx1"/>
                </a:solidFill>
              </a:rPr>
              <a:t>DVD</a:t>
            </a:r>
            <a:r>
              <a:rPr lang="zh-CN" altLang="en-US" dirty="0">
                <a:solidFill>
                  <a:schemeClr val="tx1"/>
                </a:solidFill>
              </a:rPr>
              <a:t>的伴音。</a:t>
            </a:r>
          </a:p>
          <a:p>
            <a:r>
              <a:rPr lang="en-US" altLang="zh-CN" dirty="0"/>
              <a:t>AIFF </a:t>
            </a:r>
            <a:r>
              <a:rPr lang="zh-CN" altLang="en-US" dirty="0"/>
              <a:t>文件：</a:t>
            </a:r>
            <a:r>
              <a:rPr lang="en-US" altLang="zh-CN" dirty="0">
                <a:solidFill>
                  <a:schemeClr val="tx1"/>
                </a:solidFill>
              </a:rPr>
              <a:t>Apple</a:t>
            </a:r>
            <a:r>
              <a:rPr lang="zh-CN" altLang="en-US" dirty="0">
                <a:solidFill>
                  <a:schemeClr val="tx1"/>
                </a:solidFill>
              </a:rPr>
              <a:t>公司开发，被</a:t>
            </a:r>
            <a:r>
              <a:rPr lang="en-US" altLang="zh-CN" dirty="0">
                <a:solidFill>
                  <a:schemeClr val="tx1"/>
                </a:solidFill>
              </a:rPr>
              <a:t>Macintosh</a:t>
            </a:r>
            <a:r>
              <a:rPr lang="zh-CN" altLang="en-US" dirty="0">
                <a:solidFill>
                  <a:schemeClr val="tx1"/>
                </a:solidFill>
              </a:rPr>
              <a:t>平台及其应用程序所支持。</a:t>
            </a:r>
          </a:p>
          <a:p>
            <a:r>
              <a:rPr lang="en-US" altLang="zh-CN" dirty="0"/>
              <a:t>FLAC</a:t>
            </a:r>
            <a:r>
              <a:rPr lang="zh-CN" altLang="en-US" dirty="0"/>
              <a:t>文件</a:t>
            </a:r>
            <a:r>
              <a:rPr lang="en-US" altLang="zh-CN" dirty="0"/>
              <a:t>:</a:t>
            </a:r>
            <a:r>
              <a:rPr lang="zh-CN" altLang="en-US" dirty="0">
                <a:solidFill>
                  <a:schemeClr val="tx1"/>
                </a:solidFill>
              </a:rPr>
              <a:t>无损压缩，源码开放，支持所有操作系统平台。</a:t>
            </a:r>
          </a:p>
          <a:p>
            <a:r>
              <a:rPr lang="en-US" altLang="zh-CN" dirty="0"/>
              <a:t>AMR</a:t>
            </a:r>
            <a:r>
              <a:rPr lang="zh-CN" altLang="en-US" dirty="0"/>
              <a:t>文件：</a:t>
            </a:r>
            <a:r>
              <a:rPr lang="zh-CN" altLang="en-US" dirty="0">
                <a:solidFill>
                  <a:schemeClr val="tx1"/>
                </a:solidFill>
              </a:rPr>
              <a:t>移动通信中广泛使用的语音标准，用于保存手机录音。</a:t>
            </a:r>
          </a:p>
        </p:txBody>
      </p:sp>
      <p:sp>
        <p:nvSpPr>
          <p:cNvPr id="3" name="标题 2">
            <a:extLst>
              <a:ext uri="{FF2B5EF4-FFF2-40B4-BE49-F238E27FC236}">
                <a16:creationId xmlns:a16="http://schemas.microsoft.com/office/drawing/2014/main" id="{CD858EC7-10E2-4668-AFEE-FE5AD1F14A25}"/>
              </a:ext>
            </a:extLst>
          </p:cNvPr>
          <p:cNvSpPr>
            <a:spLocks noGrp="1"/>
          </p:cNvSpPr>
          <p:nvPr>
            <p:ph type="title"/>
          </p:nvPr>
        </p:nvSpPr>
        <p:spPr/>
        <p:txBody>
          <a:bodyPr>
            <a:normAutofit fontScale="90000"/>
          </a:bodyPr>
          <a:lstStyle/>
          <a:p>
            <a:r>
              <a:rPr lang="en-US" altLang="zh-CN" dirty="0"/>
              <a:t>2.6 </a:t>
            </a:r>
            <a:r>
              <a:rPr lang="zh-CN" altLang="en-US" dirty="0"/>
              <a:t>音频 文件格式</a:t>
            </a:r>
          </a:p>
        </p:txBody>
      </p:sp>
      <p:sp>
        <p:nvSpPr>
          <p:cNvPr id="4" name="灯片编号占位符 3">
            <a:extLst>
              <a:ext uri="{FF2B5EF4-FFF2-40B4-BE49-F238E27FC236}">
                <a16:creationId xmlns:a16="http://schemas.microsoft.com/office/drawing/2014/main" id="{EC9030FE-73C8-4623-8C8E-29A59E245E63}"/>
              </a:ext>
            </a:extLst>
          </p:cNvPr>
          <p:cNvSpPr>
            <a:spLocks noGrp="1"/>
          </p:cNvSpPr>
          <p:nvPr>
            <p:ph type="sldNum" sz="quarter" idx="12"/>
          </p:nvPr>
        </p:nvSpPr>
        <p:spPr/>
        <p:txBody>
          <a:bodyPr/>
          <a:lstStyle/>
          <a:p>
            <a:fld id="{F64BA984-46A0-4F46-990E-EC790E6934B4}" type="slidenum">
              <a:rPr lang="zh-CN" altLang="en-US" smtClean="0"/>
              <a:t>75</a:t>
            </a:fld>
            <a:endParaRPr lang="zh-CN" altLang="en-US"/>
          </a:p>
        </p:txBody>
      </p:sp>
    </p:spTree>
    <p:extLst>
      <p:ext uri="{BB962C8B-B14F-4D97-AF65-F5344CB8AC3E}">
        <p14:creationId xmlns:p14="http://schemas.microsoft.com/office/powerpoint/2010/main" val="998787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64BA984-46A0-4F46-990E-EC790E6934B4}" type="slidenum">
              <a:rPr lang="zh-CN" altLang="en-US" smtClean="0"/>
              <a:t>76</a:t>
            </a:fld>
            <a:endParaRPr lang="zh-CN" altLang="en-US"/>
          </a:p>
        </p:txBody>
      </p:sp>
      <p:sp>
        <p:nvSpPr>
          <p:cNvPr id="7"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文件格式</a:t>
            </a:r>
            <a:endParaRPr lang="en-US" dirty="0"/>
          </a:p>
        </p:txBody>
      </p:sp>
      <p:sp>
        <p:nvSpPr>
          <p:cNvPr id="29" name="内容占位符 1">
            <a:extLst>
              <a:ext uri="{FF2B5EF4-FFF2-40B4-BE49-F238E27FC236}">
                <a16:creationId xmlns:a16="http://schemas.microsoft.com/office/drawing/2014/main" id="{253557C3-2B56-4FB2-96C5-3B76EA255873}"/>
              </a:ext>
            </a:extLst>
          </p:cNvPr>
          <p:cNvSpPr>
            <a:spLocks noGrp="1"/>
          </p:cNvSpPr>
          <p:nvPr>
            <p:ph idx="1"/>
          </p:nvPr>
        </p:nvSpPr>
        <p:spPr>
          <a:xfrm>
            <a:off x="250824" y="1178423"/>
            <a:ext cx="8565457" cy="5000003"/>
          </a:xfrm>
        </p:spPr>
        <p:txBody>
          <a:bodyPr>
            <a:normAutofit/>
          </a:bodyPr>
          <a:lstStyle/>
          <a:p>
            <a:r>
              <a:rPr lang="en-US" altLang="zh-CN" dirty="0"/>
              <a:t>WAV</a:t>
            </a:r>
            <a:r>
              <a:rPr lang="zh-CN" altLang="en-US" dirty="0"/>
              <a:t>文件：</a:t>
            </a:r>
            <a:r>
              <a:rPr lang="en-US" altLang="zh-CN" dirty="0"/>
              <a:t>Waveform Audio File Format</a:t>
            </a:r>
          </a:p>
          <a:p>
            <a:pPr lvl="1"/>
            <a:r>
              <a:rPr lang="zh-CN" altLang="en-US" dirty="0"/>
              <a:t>是微软与</a:t>
            </a:r>
            <a:r>
              <a:rPr lang="en-US" altLang="zh-CN" dirty="0"/>
              <a:t>IBM</a:t>
            </a:r>
            <a:r>
              <a:rPr lang="zh-CN" altLang="en-US" dirty="0"/>
              <a:t>公司所开发在个人电脑存储音频流的编码格式，在</a:t>
            </a:r>
            <a:r>
              <a:rPr lang="en-US" altLang="zh-CN" dirty="0"/>
              <a:t>Windows</a:t>
            </a:r>
            <a:r>
              <a:rPr lang="zh-CN" altLang="en-US" dirty="0"/>
              <a:t>平台的应用软件受到广泛的支持</a:t>
            </a:r>
            <a:endParaRPr lang="en-US" altLang="zh-CN" dirty="0"/>
          </a:p>
          <a:p>
            <a:pPr lvl="1"/>
            <a:r>
              <a:rPr lang="en-US" altLang="zh-CN" b="0" dirty="0"/>
              <a:t>WAV</a:t>
            </a:r>
            <a:r>
              <a:rPr lang="zh-CN" altLang="en-US" b="0" dirty="0"/>
              <a:t>文件与无损文件是不完全相同的概念，</a:t>
            </a:r>
            <a:r>
              <a:rPr lang="en-US" altLang="zh-CN" b="0" dirty="0"/>
              <a:t>WAV</a:t>
            </a:r>
            <a:r>
              <a:rPr lang="zh-CN" altLang="en-US" b="0" dirty="0"/>
              <a:t>文件只是不去对原有文件去做压缩。</a:t>
            </a:r>
          </a:p>
          <a:p>
            <a:pPr lvl="1"/>
            <a:r>
              <a:rPr lang="zh-CN" altLang="en-US" b="0" dirty="0"/>
              <a:t>如果源文件案是无损的，那能称</a:t>
            </a:r>
            <a:r>
              <a:rPr lang="en-US" altLang="zh-CN" b="0" dirty="0"/>
              <a:t>WAV</a:t>
            </a:r>
            <a:r>
              <a:rPr lang="zh-CN" altLang="en-US" b="0" dirty="0"/>
              <a:t>就是无损文件。若是将有损压缩的文件（例如</a:t>
            </a:r>
            <a:r>
              <a:rPr lang="en-US" altLang="zh-CN" b="0" dirty="0"/>
              <a:t>: </a:t>
            </a:r>
            <a:r>
              <a:rPr lang="en-US" altLang="zh-CN" b="0" dirty="0">
                <a:hlinkClick r:id="rId3" tooltip="Mp3"/>
              </a:rPr>
              <a:t>mp3</a:t>
            </a:r>
            <a:r>
              <a:rPr lang="zh-CN" altLang="en-US" b="0" dirty="0"/>
              <a:t>档</a:t>
            </a:r>
            <a:r>
              <a:rPr lang="zh-CN" altLang="en-US" dirty="0"/>
              <a:t>）</a:t>
            </a:r>
            <a:r>
              <a:rPr lang="zh-CN" altLang="en-US" b="0" dirty="0"/>
              <a:t>转成</a:t>
            </a:r>
            <a:r>
              <a:rPr lang="en-US" altLang="zh-CN" b="0" dirty="0"/>
              <a:t>WAV</a:t>
            </a:r>
            <a:r>
              <a:rPr lang="zh-CN" altLang="en-US" b="0" dirty="0"/>
              <a:t>文件，那么</a:t>
            </a:r>
            <a:r>
              <a:rPr lang="en-US" altLang="zh-CN" b="0" dirty="0"/>
              <a:t>WAV</a:t>
            </a:r>
            <a:r>
              <a:rPr lang="zh-CN" altLang="en-US" b="0" dirty="0"/>
              <a:t>文件也只是忠实地呈现有损文件而已。</a:t>
            </a:r>
          </a:p>
          <a:p>
            <a:pPr lvl="1"/>
            <a:endParaRPr lang="zh-CN" altLang="en-US" dirty="0"/>
          </a:p>
          <a:p>
            <a:pPr marL="0" indent="0">
              <a:buNone/>
            </a:pPr>
            <a:endParaRPr lang="zh-CN" altLang="en-US" dirty="0"/>
          </a:p>
        </p:txBody>
      </p:sp>
    </p:spTree>
    <p:extLst>
      <p:ext uri="{BB962C8B-B14F-4D97-AF65-F5344CB8AC3E}">
        <p14:creationId xmlns:p14="http://schemas.microsoft.com/office/powerpoint/2010/main" val="17627474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64BA984-46A0-4F46-990E-EC790E6934B4}" type="slidenum">
              <a:rPr lang="zh-CN" altLang="en-US" smtClean="0"/>
              <a:t>77</a:t>
            </a:fld>
            <a:endParaRPr lang="zh-CN" altLang="en-US"/>
          </a:p>
        </p:txBody>
      </p:sp>
      <p:sp>
        <p:nvSpPr>
          <p:cNvPr id="7"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文件格式</a:t>
            </a:r>
            <a:endParaRPr lang="en-US" dirty="0"/>
          </a:p>
        </p:txBody>
      </p:sp>
      <p:sp>
        <p:nvSpPr>
          <p:cNvPr id="6" name="矩形 5">
            <a:extLst>
              <a:ext uri="{FF2B5EF4-FFF2-40B4-BE49-F238E27FC236}">
                <a16:creationId xmlns:a16="http://schemas.microsoft.com/office/drawing/2014/main" id="{6406ACE9-B972-484C-A905-A4DDF7ABFBB2}"/>
              </a:ext>
            </a:extLst>
          </p:cNvPr>
          <p:cNvSpPr/>
          <p:nvPr/>
        </p:nvSpPr>
        <p:spPr>
          <a:xfrm>
            <a:off x="791580" y="2595108"/>
            <a:ext cx="432048"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RIFF</a:t>
            </a:r>
            <a:endParaRPr lang="zh-CN" altLang="en-US" dirty="0">
              <a:solidFill>
                <a:schemeClr val="tx1"/>
              </a:solidFill>
              <a:latin typeface="Calibri (正文)"/>
            </a:endParaRPr>
          </a:p>
        </p:txBody>
      </p:sp>
      <p:sp>
        <p:nvSpPr>
          <p:cNvPr id="8" name="矩形 7">
            <a:extLst>
              <a:ext uri="{FF2B5EF4-FFF2-40B4-BE49-F238E27FC236}">
                <a16:creationId xmlns:a16="http://schemas.microsoft.com/office/drawing/2014/main" id="{BC7140AD-D885-432A-A8FA-81FAF1D9A648}"/>
              </a:ext>
            </a:extLst>
          </p:cNvPr>
          <p:cNvSpPr/>
          <p:nvPr/>
        </p:nvSpPr>
        <p:spPr>
          <a:xfrm>
            <a:off x="1223628" y="2595108"/>
            <a:ext cx="432048"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大小</a:t>
            </a:r>
          </a:p>
        </p:txBody>
      </p:sp>
      <p:sp>
        <p:nvSpPr>
          <p:cNvPr id="9" name="矩形 8">
            <a:extLst>
              <a:ext uri="{FF2B5EF4-FFF2-40B4-BE49-F238E27FC236}">
                <a16:creationId xmlns:a16="http://schemas.microsoft.com/office/drawing/2014/main" id="{A117D94D-C83C-424F-8362-CB5D8FBF4282}"/>
              </a:ext>
            </a:extLst>
          </p:cNvPr>
          <p:cNvSpPr/>
          <p:nvPr/>
        </p:nvSpPr>
        <p:spPr>
          <a:xfrm>
            <a:off x="1655676" y="2595108"/>
            <a:ext cx="511286"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WAVE</a:t>
            </a:r>
            <a:endParaRPr lang="zh-CN" altLang="en-US" dirty="0">
              <a:solidFill>
                <a:schemeClr val="tx1"/>
              </a:solidFill>
              <a:latin typeface="Calibri (正文)"/>
            </a:endParaRPr>
          </a:p>
        </p:txBody>
      </p:sp>
      <p:sp>
        <p:nvSpPr>
          <p:cNvPr id="10" name="矩形 9">
            <a:extLst>
              <a:ext uri="{FF2B5EF4-FFF2-40B4-BE49-F238E27FC236}">
                <a16:creationId xmlns:a16="http://schemas.microsoft.com/office/drawing/2014/main" id="{7B4A2042-0D03-4123-A217-6986CA0A60D2}"/>
              </a:ext>
            </a:extLst>
          </p:cNvPr>
          <p:cNvSpPr/>
          <p:nvPr/>
        </p:nvSpPr>
        <p:spPr>
          <a:xfrm>
            <a:off x="795776" y="2590397"/>
            <a:ext cx="6689514"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dirty="0">
              <a:solidFill>
                <a:schemeClr val="tx1"/>
              </a:solidFill>
              <a:latin typeface="Calibri (正文)"/>
            </a:endParaRPr>
          </a:p>
        </p:txBody>
      </p:sp>
      <p:sp>
        <p:nvSpPr>
          <p:cNvPr id="11" name="矩形 10">
            <a:extLst>
              <a:ext uri="{FF2B5EF4-FFF2-40B4-BE49-F238E27FC236}">
                <a16:creationId xmlns:a16="http://schemas.microsoft.com/office/drawing/2014/main" id="{F7770A9D-065C-4925-AB96-EB25CDAFEBD9}"/>
              </a:ext>
            </a:extLst>
          </p:cNvPr>
          <p:cNvSpPr/>
          <p:nvPr/>
        </p:nvSpPr>
        <p:spPr>
          <a:xfrm>
            <a:off x="2447764" y="2722449"/>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err="1">
                <a:solidFill>
                  <a:schemeClr val="tx1"/>
                </a:solidFill>
                <a:latin typeface="Calibri (正文)"/>
              </a:rPr>
              <a:t>fmt</a:t>
            </a:r>
            <a:endParaRPr lang="zh-CN" altLang="en-US" dirty="0">
              <a:solidFill>
                <a:schemeClr val="tx1"/>
              </a:solidFill>
              <a:latin typeface="Calibri (正文)"/>
            </a:endParaRPr>
          </a:p>
        </p:txBody>
      </p:sp>
      <p:sp>
        <p:nvSpPr>
          <p:cNvPr id="12" name="矩形 11">
            <a:extLst>
              <a:ext uri="{FF2B5EF4-FFF2-40B4-BE49-F238E27FC236}">
                <a16:creationId xmlns:a16="http://schemas.microsoft.com/office/drawing/2014/main" id="{8FFB550E-8A79-499C-BF14-452B8EDD5C32}"/>
              </a:ext>
            </a:extLst>
          </p:cNvPr>
          <p:cNvSpPr/>
          <p:nvPr/>
        </p:nvSpPr>
        <p:spPr>
          <a:xfrm>
            <a:off x="2814894" y="2713709"/>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大小</a:t>
            </a:r>
          </a:p>
        </p:txBody>
      </p:sp>
      <p:sp>
        <p:nvSpPr>
          <p:cNvPr id="13" name="矩形 12">
            <a:extLst>
              <a:ext uri="{FF2B5EF4-FFF2-40B4-BE49-F238E27FC236}">
                <a16:creationId xmlns:a16="http://schemas.microsoft.com/office/drawing/2014/main" id="{E55DEFC4-C57C-41EC-A41B-CF3C56D1028A}"/>
              </a:ext>
            </a:extLst>
          </p:cNvPr>
          <p:cNvSpPr/>
          <p:nvPr/>
        </p:nvSpPr>
        <p:spPr>
          <a:xfrm>
            <a:off x="3178870" y="2713708"/>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dirty="0">
              <a:solidFill>
                <a:schemeClr val="tx1"/>
              </a:solidFill>
              <a:latin typeface="Calibri (正文)"/>
            </a:endParaRPr>
          </a:p>
        </p:txBody>
      </p:sp>
      <p:sp>
        <p:nvSpPr>
          <p:cNvPr id="14" name="矩形 13">
            <a:extLst>
              <a:ext uri="{FF2B5EF4-FFF2-40B4-BE49-F238E27FC236}">
                <a16:creationId xmlns:a16="http://schemas.microsoft.com/office/drawing/2014/main" id="{D3979DDA-BD50-477E-BE38-46521DE5196E}"/>
              </a:ext>
            </a:extLst>
          </p:cNvPr>
          <p:cNvSpPr/>
          <p:nvPr/>
        </p:nvSpPr>
        <p:spPr>
          <a:xfrm>
            <a:off x="3538910" y="2722449"/>
            <a:ext cx="813912"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dirty="0">
              <a:solidFill>
                <a:schemeClr val="tx1"/>
              </a:solidFill>
              <a:latin typeface="Calibri (正文)"/>
            </a:endParaRPr>
          </a:p>
        </p:txBody>
      </p:sp>
      <p:sp>
        <p:nvSpPr>
          <p:cNvPr id="16" name="矩形 15">
            <a:extLst>
              <a:ext uri="{FF2B5EF4-FFF2-40B4-BE49-F238E27FC236}">
                <a16:creationId xmlns:a16="http://schemas.microsoft.com/office/drawing/2014/main" id="{A390CAEA-8B1E-4128-85C2-A71F427635AC}"/>
              </a:ext>
            </a:extLst>
          </p:cNvPr>
          <p:cNvSpPr/>
          <p:nvPr/>
        </p:nvSpPr>
        <p:spPr>
          <a:xfrm>
            <a:off x="4565812" y="2764680"/>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dirty="0">
                <a:solidFill>
                  <a:schemeClr val="tx1"/>
                </a:solidFill>
                <a:latin typeface="Calibri (正文)"/>
              </a:rPr>
              <a:t>data</a:t>
            </a:r>
            <a:endParaRPr lang="zh-CN" altLang="en-US" dirty="0">
              <a:solidFill>
                <a:schemeClr val="tx1"/>
              </a:solidFill>
              <a:latin typeface="Calibri (正文)"/>
            </a:endParaRPr>
          </a:p>
        </p:txBody>
      </p:sp>
      <p:sp>
        <p:nvSpPr>
          <p:cNvPr id="17" name="矩形 16">
            <a:extLst>
              <a:ext uri="{FF2B5EF4-FFF2-40B4-BE49-F238E27FC236}">
                <a16:creationId xmlns:a16="http://schemas.microsoft.com/office/drawing/2014/main" id="{45FCB6E4-76F8-472F-A1FA-839671468768}"/>
              </a:ext>
            </a:extLst>
          </p:cNvPr>
          <p:cNvSpPr/>
          <p:nvPr/>
        </p:nvSpPr>
        <p:spPr>
          <a:xfrm>
            <a:off x="4932942" y="2755940"/>
            <a:ext cx="36004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latin typeface="Calibri (正文)"/>
              </a:rPr>
              <a:t>大小</a:t>
            </a:r>
          </a:p>
        </p:txBody>
      </p:sp>
      <p:sp>
        <p:nvSpPr>
          <p:cNvPr id="19" name="矩形 18">
            <a:extLst>
              <a:ext uri="{FF2B5EF4-FFF2-40B4-BE49-F238E27FC236}">
                <a16:creationId xmlns:a16="http://schemas.microsoft.com/office/drawing/2014/main" id="{6C45C387-AFC8-4B63-8466-17560DA6CC53}"/>
              </a:ext>
            </a:extLst>
          </p:cNvPr>
          <p:cNvSpPr/>
          <p:nvPr/>
        </p:nvSpPr>
        <p:spPr>
          <a:xfrm>
            <a:off x="5289541" y="2764680"/>
            <a:ext cx="1540300" cy="1223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dirty="0">
              <a:solidFill>
                <a:schemeClr val="tx1"/>
              </a:solidFill>
              <a:latin typeface="Calibri (正文)"/>
            </a:endParaRPr>
          </a:p>
        </p:txBody>
      </p:sp>
      <p:cxnSp>
        <p:nvCxnSpPr>
          <p:cNvPr id="21" name="直接箭头连接符 20">
            <a:extLst>
              <a:ext uri="{FF2B5EF4-FFF2-40B4-BE49-F238E27FC236}">
                <a16:creationId xmlns:a16="http://schemas.microsoft.com/office/drawing/2014/main" id="{D0242096-28D7-46EA-9506-C7ED67F7E1EF}"/>
              </a:ext>
            </a:extLst>
          </p:cNvPr>
          <p:cNvCxnSpPr>
            <a:cxnSpLocks/>
          </p:cNvCxnSpPr>
          <p:nvPr/>
        </p:nvCxnSpPr>
        <p:spPr>
          <a:xfrm>
            <a:off x="2166962" y="2290260"/>
            <a:ext cx="2185860" cy="0"/>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9DFEF790-E22F-4C5F-8B8D-655F02E6894E}"/>
              </a:ext>
            </a:extLst>
          </p:cNvPr>
          <p:cNvSpPr txBox="1"/>
          <p:nvPr/>
        </p:nvSpPr>
        <p:spPr>
          <a:xfrm>
            <a:off x="3174934" y="1943370"/>
            <a:ext cx="1015523" cy="369332"/>
          </a:xfrm>
          <a:prstGeom prst="rect">
            <a:avLst/>
          </a:prstGeom>
          <a:noFill/>
        </p:spPr>
        <p:txBody>
          <a:bodyPr wrap="square" rtlCol="0">
            <a:spAutoFit/>
          </a:bodyPr>
          <a:lstStyle/>
          <a:p>
            <a:r>
              <a:rPr lang="en-US" altLang="zh-CN" dirty="0" err="1"/>
              <a:t>fmt</a:t>
            </a:r>
            <a:r>
              <a:rPr lang="zh-CN" altLang="en-US" dirty="0"/>
              <a:t>块</a:t>
            </a:r>
          </a:p>
        </p:txBody>
      </p:sp>
      <p:cxnSp>
        <p:nvCxnSpPr>
          <p:cNvPr id="23" name="直接连接符 22">
            <a:extLst>
              <a:ext uri="{FF2B5EF4-FFF2-40B4-BE49-F238E27FC236}">
                <a16:creationId xmlns:a16="http://schemas.microsoft.com/office/drawing/2014/main" id="{AC65EA9E-CD10-45E2-B1B1-BF7F81A773A2}"/>
              </a:ext>
            </a:extLst>
          </p:cNvPr>
          <p:cNvCxnSpPr/>
          <p:nvPr/>
        </p:nvCxnSpPr>
        <p:spPr>
          <a:xfrm flipV="1">
            <a:off x="2166962" y="2002228"/>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5065B4B-7872-44D2-B48C-83CD84EBEB49}"/>
              </a:ext>
            </a:extLst>
          </p:cNvPr>
          <p:cNvCxnSpPr/>
          <p:nvPr/>
        </p:nvCxnSpPr>
        <p:spPr>
          <a:xfrm flipV="1">
            <a:off x="4384081" y="2024670"/>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B9C4938-B4AC-48E9-B6F8-090102F45F92}"/>
              </a:ext>
            </a:extLst>
          </p:cNvPr>
          <p:cNvCxnSpPr>
            <a:cxnSpLocks/>
          </p:cNvCxnSpPr>
          <p:nvPr/>
        </p:nvCxnSpPr>
        <p:spPr>
          <a:xfrm flipV="1">
            <a:off x="4576216" y="2290260"/>
            <a:ext cx="2891145" cy="22442"/>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9BCC7050-A9DA-453F-880C-621C2792E6F9}"/>
              </a:ext>
            </a:extLst>
          </p:cNvPr>
          <p:cNvSpPr txBox="1"/>
          <p:nvPr/>
        </p:nvSpPr>
        <p:spPr>
          <a:xfrm>
            <a:off x="5584188" y="1965812"/>
            <a:ext cx="1015523" cy="369332"/>
          </a:xfrm>
          <a:prstGeom prst="rect">
            <a:avLst/>
          </a:prstGeom>
          <a:noFill/>
        </p:spPr>
        <p:txBody>
          <a:bodyPr wrap="square" rtlCol="0">
            <a:spAutoFit/>
          </a:bodyPr>
          <a:lstStyle/>
          <a:p>
            <a:r>
              <a:rPr lang="zh-CN" altLang="en-US" dirty="0"/>
              <a:t>数据块</a:t>
            </a:r>
          </a:p>
        </p:txBody>
      </p:sp>
      <p:cxnSp>
        <p:nvCxnSpPr>
          <p:cNvPr id="27" name="直接连接符 26">
            <a:extLst>
              <a:ext uri="{FF2B5EF4-FFF2-40B4-BE49-F238E27FC236}">
                <a16:creationId xmlns:a16="http://schemas.microsoft.com/office/drawing/2014/main" id="{81303209-6F8A-483F-ADF8-1A6765E7D8D7}"/>
              </a:ext>
            </a:extLst>
          </p:cNvPr>
          <p:cNvCxnSpPr/>
          <p:nvPr/>
        </p:nvCxnSpPr>
        <p:spPr>
          <a:xfrm flipV="1">
            <a:off x="4576216" y="2024670"/>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FB3C9109-1AC3-40B7-9468-8D3E1B478646}"/>
              </a:ext>
            </a:extLst>
          </p:cNvPr>
          <p:cNvCxnSpPr/>
          <p:nvPr/>
        </p:nvCxnSpPr>
        <p:spPr>
          <a:xfrm flipV="1">
            <a:off x="7467361" y="2024670"/>
            <a:ext cx="0" cy="592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07BA5E94-42F9-4E1E-80BC-B43D76A99B2E}"/>
              </a:ext>
            </a:extLst>
          </p:cNvPr>
          <p:cNvPicPr>
            <a:picLocks noChangeAspect="1"/>
          </p:cNvPicPr>
          <p:nvPr/>
        </p:nvPicPr>
        <p:blipFill>
          <a:blip r:embed="rId3"/>
          <a:stretch>
            <a:fillRect/>
          </a:stretch>
        </p:blipFill>
        <p:spPr>
          <a:xfrm>
            <a:off x="356809" y="4407412"/>
            <a:ext cx="8123615" cy="1789343"/>
          </a:xfrm>
          <a:prstGeom prst="rect">
            <a:avLst/>
          </a:prstGeom>
        </p:spPr>
      </p:pic>
      <p:sp>
        <p:nvSpPr>
          <p:cNvPr id="29" name="内容占位符 1">
            <a:extLst>
              <a:ext uri="{FF2B5EF4-FFF2-40B4-BE49-F238E27FC236}">
                <a16:creationId xmlns:a16="http://schemas.microsoft.com/office/drawing/2014/main" id="{253557C3-2B56-4FB2-96C5-3B76EA255873}"/>
              </a:ext>
            </a:extLst>
          </p:cNvPr>
          <p:cNvSpPr>
            <a:spLocks noGrp="1"/>
          </p:cNvSpPr>
          <p:nvPr>
            <p:ph idx="1"/>
          </p:nvPr>
        </p:nvSpPr>
        <p:spPr>
          <a:xfrm>
            <a:off x="255014" y="1196752"/>
            <a:ext cx="8565457" cy="5040558"/>
          </a:xfrm>
        </p:spPr>
        <p:txBody>
          <a:bodyPr/>
          <a:lstStyle/>
          <a:p>
            <a:r>
              <a:rPr lang="en-US" altLang="zh-CN" dirty="0"/>
              <a:t>WAV</a:t>
            </a:r>
            <a:r>
              <a:rPr lang="zh-CN" altLang="en-US" dirty="0"/>
              <a:t>文件：</a:t>
            </a:r>
            <a:r>
              <a:rPr lang="en-US" altLang="zh-CN" dirty="0"/>
              <a:t>Waveform Audio File Format</a:t>
            </a:r>
          </a:p>
          <a:p>
            <a:pPr marL="0" indent="0">
              <a:buNone/>
            </a:pPr>
            <a:endParaRPr lang="zh-CN" altLang="en-US" dirty="0"/>
          </a:p>
        </p:txBody>
      </p:sp>
    </p:spTree>
    <p:extLst>
      <p:ext uri="{BB962C8B-B14F-4D97-AF65-F5344CB8AC3E}">
        <p14:creationId xmlns:p14="http://schemas.microsoft.com/office/powerpoint/2010/main" val="10602902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9549" y="1124744"/>
            <a:ext cx="8640960" cy="3785652"/>
          </a:xfrm>
          <a:prstGeom prst="rect">
            <a:avLst/>
          </a:prstGeom>
        </p:spPr>
        <p:txBody>
          <a:bodyPr wrap="square">
            <a:spAutoFit/>
          </a:bodyPr>
          <a:lstStyle/>
          <a:p>
            <a:pPr marL="285750" indent="-285750">
              <a:buFont typeface="Arial" pitchFamily="34" charset="0"/>
              <a:buChar char="•"/>
            </a:pPr>
            <a:r>
              <a:rPr lang="zh-CN" altLang="en-US" sz="2400" b="1" dirty="0"/>
              <a:t>动态图像专家组</a:t>
            </a:r>
            <a:r>
              <a:rPr lang="en-US" altLang="zh-CN" sz="2400" b="1" dirty="0"/>
              <a:t>-1</a:t>
            </a:r>
            <a:r>
              <a:rPr lang="zh-CN" altLang="en-US" sz="2400" dirty="0"/>
              <a:t>或</a:t>
            </a:r>
            <a:r>
              <a:rPr lang="zh-CN" altLang="en-US" sz="2400" b="1" dirty="0"/>
              <a:t>动态图像专家组</a:t>
            </a:r>
            <a:r>
              <a:rPr lang="en-US" altLang="zh-CN" sz="2400" b="1" dirty="0"/>
              <a:t>-2</a:t>
            </a:r>
            <a:r>
              <a:rPr lang="zh-CN" altLang="en-US" sz="2400" dirty="0"/>
              <a:t> </a:t>
            </a:r>
            <a:r>
              <a:rPr lang="zh-CN" altLang="en-US" sz="2400" b="1" dirty="0"/>
              <a:t>音频层</a:t>
            </a:r>
            <a:r>
              <a:rPr lang="en-US" altLang="zh-CN" sz="2400" b="1" dirty="0"/>
              <a:t>III</a:t>
            </a:r>
            <a:r>
              <a:rPr lang="zh-CN" altLang="en-US" sz="2400" dirty="0"/>
              <a:t>，称为</a:t>
            </a:r>
            <a:r>
              <a:rPr lang="en-US" altLang="zh-CN" sz="2400" b="1" dirty="0"/>
              <a:t>MP3</a:t>
            </a:r>
            <a:r>
              <a:rPr lang="zh-CN" altLang="en-US" sz="2400" dirty="0"/>
              <a:t>，是当今相当流行的一种数字音频编码和有损压缩格式，它被设计来大幅降低音频数据量，而对于大多数用户的听觉感受来说，重放的音质与最初的不压缩音频相比没有明显的下降。</a:t>
            </a:r>
            <a:endParaRPr lang="en-US" altLang="zh-CN" sz="2400" dirty="0"/>
          </a:p>
          <a:p>
            <a:pPr marL="285750" indent="-285750">
              <a:buFont typeface="Arial" pitchFamily="34" charset="0"/>
              <a:buChar char="•"/>
            </a:pPr>
            <a:r>
              <a:rPr lang="zh-CN" altLang="en-US" sz="2400" dirty="0"/>
              <a:t>它丢弃掉脉冲编码调制（</a:t>
            </a:r>
            <a:r>
              <a:rPr lang="en-US" altLang="zh-CN" sz="2400" dirty="0"/>
              <a:t>PCM</a:t>
            </a:r>
            <a:r>
              <a:rPr lang="zh-CN" altLang="en-US" sz="2400" dirty="0"/>
              <a:t>）音频数据中对人类听觉不重要的数据从而达到了小得多的文件大小。</a:t>
            </a:r>
            <a:endParaRPr lang="en-US" altLang="zh-CN" sz="2400" dirty="0"/>
          </a:p>
          <a:p>
            <a:pPr marL="285750" indent="-285750">
              <a:buFont typeface="Arial" pitchFamily="34" charset="0"/>
              <a:buChar char="•"/>
            </a:pPr>
            <a:r>
              <a:rPr lang="en-US" altLang="zh-CN" sz="2400" dirty="0"/>
              <a:t>MP3</a:t>
            </a:r>
            <a:r>
              <a:rPr lang="zh-CN" altLang="en-US" sz="2400" dirty="0"/>
              <a:t>音频可以按照不同的位速（比特率）进行压缩，提供了在数据大小和声音质量之间进行权衡的一个范围。</a:t>
            </a:r>
            <a:endParaRPr lang="en-US" altLang="zh-CN" sz="2400" dirty="0"/>
          </a:p>
          <a:p>
            <a:pPr marL="285750" indent="-285750">
              <a:buFont typeface="Arial" pitchFamily="34" charset="0"/>
              <a:buChar char="•"/>
            </a:pPr>
            <a:r>
              <a:rPr lang="en-US" altLang="zh-CN" sz="2400" dirty="0"/>
              <a:t>MP3</a:t>
            </a:r>
            <a:r>
              <a:rPr lang="zh-CN" altLang="en-US" sz="2400" dirty="0"/>
              <a:t>不仅有广泛的用户端软件支持，也有很多的硬件支持比如便携式媒体播放器</a:t>
            </a:r>
          </a:p>
        </p:txBody>
      </p:sp>
      <p:pic>
        <p:nvPicPr>
          <p:cNvPr id="121858" name="Picture 2" descr="http://images.wisegeek.com/handheld-mp3-player-with-earbud-headphones.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775"/>
          <a:stretch/>
        </p:blipFill>
        <p:spPr bwMode="auto">
          <a:xfrm>
            <a:off x="5796136" y="4509120"/>
            <a:ext cx="2827458" cy="1715616"/>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F64BA984-46A0-4F46-990E-EC790E6934B4}" type="slidenum">
              <a:rPr lang="zh-CN" altLang="en-US" smtClean="0"/>
              <a:t>78</a:t>
            </a:fld>
            <a:endParaRPr lang="zh-CN" altLang="en-US"/>
          </a:p>
        </p:txBody>
      </p:sp>
      <p:sp>
        <p:nvSpPr>
          <p:cNvPr id="8"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dirty="0"/>
              <a:t>2.6 </a:t>
            </a:r>
            <a:r>
              <a:rPr lang="zh-CN" altLang="en-US" dirty="0"/>
              <a:t>音频 文件格式</a:t>
            </a:r>
            <a:endParaRPr lang="en-US" dirty="0"/>
          </a:p>
        </p:txBody>
      </p:sp>
    </p:spTree>
    <p:extLst>
      <p:ext uri="{BB962C8B-B14F-4D97-AF65-F5344CB8AC3E}">
        <p14:creationId xmlns:p14="http://schemas.microsoft.com/office/powerpoint/2010/main" val="108289323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21195</TotalTime>
  <Words>6149</Words>
  <Application>Microsoft Macintosh PowerPoint</Application>
  <PresentationFormat>全屏显示(4:3)</PresentationFormat>
  <Paragraphs>680</Paragraphs>
  <Slides>78</Slides>
  <Notes>38</Notes>
  <HiddenSlides>1</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78</vt:i4>
      </vt:variant>
    </vt:vector>
  </HeadingPairs>
  <TitlesOfParts>
    <vt:vector size="94" baseType="lpstr">
      <vt:lpstr>-apple-system</vt:lpstr>
      <vt:lpstr>隶书</vt:lpstr>
      <vt:lpstr>宋体</vt:lpstr>
      <vt:lpstr>微软雅黑</vt:lpstr>
      <vt:lpstr>Calibri (正文)</vt:lpstr>
      <vt:lpstr>Google Sans</vt:lpstr>
      <vt:lpstr>arial</vt:lpstr>
      <vt:lpstr>arial</vt:lpstr>
      <vt:lpstr>Calibri</vt:lpstr>
      <vt:lpstr>Monotype Corsiva</vt:lpstr>
      <vt:lpstr>open sans</vt:lpstr>
      <vt:lpstr>Symbol</vt:lpstr>
      <vt:lpstr>Tahoma</vt:lpstr>
      <vt:lpstr>Times New Roman</vt:lpstr>
      <vt:lpstr>Wingdings</vt:lpstr>
      <vt:lpstr>Office 主题​​</vt:lpstr>
      <vt:lpstr>多媒体信息处理基础</vt:lpstr>
      <vt:lpstr>PowerPoint 演示文稿</vt:lpstr>
      <vt:lpstr>第2章 多媒体信息的采集和存储</vt:lpstr>
      <vt:lpstr>2.1 基础知识 什么是信息？</vt:lpstr>
      <vt:lpstr>2.1 基础知识 多媒体信息存储</vt:lpstr>
      <vt:lpstr>2.2 数字</vt:lpstr>
      <vt:lpstr>2.3 文本 简介</vt:lpstr>
      <vt:lpstr>2.3 文本 简介</vt:lpstr>
      <vt:lpstr>2.3 文本  编码</vt:lpstr>
      <vt:lpstr>2.3 文本编码</vt:lpstr>
      <vt:lpstr>2.3 文本编码</vt:lpstr>
      <vt:lpstr>2.3 文本编码</vt:lpstr>
      <vt:lpstr>2.3 文本  汉字编码</vt:lpstr>
      <vt:lpstr>2.3 文本 汉字编码</vt:lpstr>
      <vt:lpstr>2.4 图像 基础</vt:lpstr>
      <vt:lpstr>2.4 图像 基础</vt:lpstr>
      <vt:lpstr>2.4 图像 基础</vt:lpstr>
      <vt:lpstr>三原色</vt:lpstr>
      <vt:lpstr>RGB色彩模型</vt:lpstr>
      <vt:lpstr>数码相机工作原理</vt:lpstr>
      <vt:lpstr>CCD成像原理</vt:lpstr>
      <vt:lpstr>PowerPoint 演示文稿</vt:lpstr>
      <vt:lpstr>PowerPoint 演示文稿</vt:lpstr>
      <vt:lpstr>PowerPoint 演示文稿</vt:lpstr>
      <vt:lpstr>PowerPoint 演示文稿</vt:lpstr>
      <vt:lpstr>影响图像视觉效果的要素</vt:lpstr>
      <vt:lpstr>分辨率</vt:lpstr>
      <vt:lpstr>图像深度</vt:lpstr>
      <vt:lpstr>颜色深度与显示的颜色数目</vt:lpstr>
      <vt:lpstr>图像文件大小</vt:lpstr>
      <vt:lpstr>PowerPoint 演示文稿</vt:lpstr>
      <vt:lpstr>灰度图像 </vt:lpstr>
      <vt:lpstr>伪彩色图像 </vt:lpstr>
      <vt:lpstr>24位真彩色图像 </vt:lpstr>
      <vt:lpstr>2.4 图像 BMP</vt:lpstr>
      <vt:lpstr>2.4 图像 Bitmap</vt:lpstr>
      <vt:lpstr>2.4 图像 Bitmap</vt:lpstr>
      <vt:lpstr>BMP文件头</vt:lpstr>
      <vt:lpstr>位图信息头 </vt:lpstr>
      <vt:lpstr>颜色表  </vt:lpstr>
      <vt:lpstr>位图信息-- BITMAPINFO结构</vt:lpstr>
      <vt:lpstr>实践环节—选做</vt:lpstr>
      <vt:lpstr>图像读取的流程图 </vt:lpstr>
      <vt:lpstr>图像显示的流程图 </vt:lpstr>
      <vt:lpstr>实践环节</vt:lpstr>
      <vt:lpstr>2.4 图像 其他图像文件格式</vt:lpstr>
      <vt:lpstr>2.4 图像 其他图像文件格式</vt:lpstr>
      <vt:lpstr>PowerPoint 演示文稿</vt:lpstr>
      <vt:lpstr>2.5 视频 文件格式</vt:lpstr>
      <vt:lpstr>2.5 视频 文件格式</vt:lpstr>
      <vt:lpstr>2.5 视频 文件格式</vt:lpstr>
      <vt:lpstr>2.5 视频 文件格式</vt:lpstr>
      <vt:lpstr>2.5 视频 文件格式</vt:lpstr>
      <vt:lpstr>2.5 视频 文件格式</vt:lpstr>
      <vt:lpstr>2.5 视频 文件格式</vt:lpstr>
      <vt:lpstr>2.5 视频 文件格式</vt:lpstr>
      <vt:lpstr>2.5 视频 文件格式</vt:lpstr>
      <vt:lpstr>2.5 视频 文件格式</vt:lpstr>
      <vt:lpstr>2.5 视频 文件格式</vt:lpstr>
      <vt:lpstr>2.5 视频 文件格式</vt:lpstr>
      <vt:lpstr>2.5 视频 文件格式</vt:lpstr>
      <vt:lpstr>2.5 视频 文件格式</vt:lpstr>
      <vt:lpstr>2.6 音频 信号</vt:lpstr>
      <vt:lpstr>2.6 音频 信号</vt:lpstr>
      <vt:lpstr>2.6 音频 信号</vt:lpstr>
      <vt:lpstr>2.6 音频 采集</vt:lpstr>
      <vt:lpstr>2.6 音频 采集</vt:lpstr>
      <vt:lpstr>2.6 音频 采集</vt:lpstr>
      <vt:lpstr>2.6 音频 采集</vt:lpstr>
      <vt:lpstr>量化和声道</vt:lpstr>
      <vt:lpstr>数字音频的存储量</vt:lpstr>
      <vt:lpstr>举例</vt:lpstr>
      <vt:lpstr>举例</vt:lpstr>
      <vt:lpstr>PowerPoint 演示文稿</vt:lpstr>
      <vt:lpstr>2.6 音频 文件格式</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多媒体技术</dc:title>
  <dc:creator>hfu</dc:creator>
  <cp:lastModifiedBy>Jia Li</cp:lastModifiedBy>
  <cp:revision>196</cp:revision>
  <dcterms:created xsi:type="dcterms:W3CDTF">2013-10-02T02:26:23Z</dcterms:created>
  <dcterms:modified xsi:type="dcterms:W3CDTF">2026-04-22T09:16:56Z</dcterms:modified>
</cp:coreProperties>
</file>