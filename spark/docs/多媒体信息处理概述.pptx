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377" r:id="rId3"/>
    <p:sldId id="258" r:id="rId4"/>
    <p:sldId id="388" r:id="rId5"/>
    <p:sldId id="394" r:id="rId6"/>
    <p:sldId id="395" r:id="rId7"/>
    <p:sldId id="396" r:id="rId8"/>
    <p:sldId id="382" r:id="rId9"/>
    <p:sldId id="390" r:id="rId10"/>
    <p:sldId id="389" r:id="rId11"/>
    <p:sldId id="378" r:id="rId12"/>
    <p:sldId id="397" r:id="rId13"/>
    <p:sldId id="398" r:id="rId14"/>
    <p:sldId id="406" r:id="rId15"/>
    <p:sldId id="399" r:id="rId16"/>
    <p:sldId id="400" r:id="rId17"/>
    <p:sldId id="401" r:id="rId18"/>
    <p:sldId id="383" r:id="rId19"/>
    <p:sldId id="262" r:id="rId20"/>
    <p:sldId id="307" r:id="rId21"/>
    <p:sldId id="305" r:id="rId22"/>
    <p:sldId id="309" r:id="rId23"/>
    <p:sldId id="310" r:id="rId24"/>
    <p:sldId id="402" r:id="rId25"/>
    <p:sldId id="404" r:id="rId26"/>
    <p:sldId id="403" r:id="rId27"/>
    <p:sldId id="405" r:id="rId28"/>
    <p:sldId id="345" r:id="rId29"/>
    <p:sldId id="356" r:id="rId30"/>
    <p:sldId id="315" r:id="rId31"/>
    <p:sldId id="352" r:id="rId32"/>
    <p:sldId id="317" r:id="rId33"/>
    <p:sldId id="316" r:id="rId34"/>
    <p:sldId id="387" r:id="rId35"/>
    <p:sldId id="347" r:id="rId36"/>
    <p:sldId id="357" r:id="rId37"/>
    <p:sldId id="318" r:id="rId38"/>
    <p:sldId id="358" r:id="rId39"/>
    <p:sldId id="319" r:id="rId40"/>
    <p:sldId id="359" r:id="rId41"/>
    <p:sldId id="360" r:id="rId42"/>
    <p:sldId id="361" r:id="rId43"/>
    <p:sldId id="381" r:id="rId44"/>
    <p:sldId id="362" r:id="rId45"/>
    <p:sldId id="363" r:id="rId46"/>
    <p:sldId id="364" r:id="rId47"/>
    <p:sldId id="365" r:id="rId48"/>
    <p:sldId id="366" r:id="rId49"/>
    <p:sldId id="391" r:id="rId50"/>
    <p:sldId id="392" r:id="rId51"/>
    <p:sldId id="393"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F0056CD-0EBF-48BE-B034-E8C5A66A6AC8}">
          <p14:sldIdLst>
            <p14:sldId id="256"/>
            <p14:sldId id="377"/>
            <p14:sldId id="258"/>
            <p14:sldId id="388"/>
            <p14:sldId id="394"/>
            <p14:sldId id="395"/>
            <p14:sldId id="396"/>
            <p14:sldId id="382"/>
            <p14:sldId id="390"/>
            <p14:sldId id="389"/>
            <p14:sldId id="378"/>
            <p14:sldId id="397"/>
            <p14:sldId id="398"/>
            <p14:sldId id="406"/>
            <p14:sldId id="399"/>
            <p14:sldId id="400"/>
            <p14:sldId id="401"/>
            <p14:sldId id="383"/>
            <p14:sldId id="262"/>
            <p14:sldId id="307"/>
            <p14:sldId id="305"/>
            <p14:sldId id="309"/>
            <p14:sldId id="310"/>
            <p14:sldId id="402"/>
            <p14:sldId id="404"/>
            <p14:sldId id="403"/>
            <p14:sldId id="405"/>
            <p14:sldId id="345"/>
            <p14:sldId id="356"/>
            <p14:sldId id="315"/>
            <p14:sldId id="352"/>
            <p14:sldId id="317"/>
            <p14:sldId id="316"/>
            <p14:sldId id="387"/>
            <p14:sldId id="347"/>
            <p14:sldId id="357"/>
            <p14:sldId id="318"/>
            <p14:sldId id="358"/>
            <p14:sldId id="319"/>
            <p14:sldId id="359"/>
            <p14:sldId id="360"/>
            <p14:sldId id="361"/>
            <p14:sldId id="381"/>
            <p14:sldId id="362"/>
            <p14:sldId id="363"/>
            <p14:sldId id="364"/>
            <p14:sldId id="365"/>
            <p14:sldId id="366"/>
            <p14:sldId id="391"/>
            <p14:sldId id="392"/>
            <p14:sldId id="3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87" autoAdjust="0"/>
    <p:restoredTop sz="86939" autoAdjust="0"/>
  </p:normalViewPr>
  <p:slideViewPr>
    <p:cSldViewPr>
      <p:cViewPr varScale="1">
        <p:scale>
          <a:sx n="110" d="100"/>
          <a:sy n="110" d="100"/>
        </p:scale>
        <p:origin x="1696" y="184"/>
      </p:cViewPr>
      <p:guideLst>
        <p:guide orient="horz" pos="2160"/>
        <p:guide pos="2880"/>
      </p:guideLst>
    </p:cSldViewPr>
  </p:slideViewPr>
  <p:notesTextViewPr>
    <p:cViewPr>
      <p:scale>
        <a:sx n="1" d="1"/>
        <a:sy n="1" d="1"/>
      </p:scale>
      <p:origin x="0" y="0"/>
    </p:cViewPr>
  </p:notesTextViewPr>
  <p:notesViewPr>
    <p:cSldViewPr>
      <p:cViewPr varScale="1">
        <p:scale>
          <a:sx n="96" d="100"/>
          <a:sy n="96" d="100"/>
        </p:scale>
        <p:origin x="4076" y="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佳" userId="e57d5a21-7935-4641-b1a9-5d59d95d9ff4" providerId="ADAL" clId="{918405E7-28C9-374A-A89D-2B10E00B68E4}"/>
    <pc:docChg chg="undo custSel addSld delSld modSld sldOrd modSection">
      <pc:chgData name="李佳" userId="e57d5a21-7935-4641-b1a9-5d59d95d9ff4" providerId="ADAL" clId="{918405E7-28C9-374A-A89D-2B10E00B68E4}" dt="2023-03-14T06:46:50.508" v="575" actId="207"/>
      <pc:docMkLst>
        <pc:docMk/>
      </pc:docMkLst>
      <pc:sldChg chg="modSp">
        <pc:chgData name="李佳" userId="e57d5a21-7935-4641-b1a9-5d59d95d9ff4" providerId="ADAL" clId="{918405E7-28C9-374A-A89D-2B10E00B68E4}" dt="2023-03-14T03:52:35.969" v="77" actId="20577"/>
        <pc:sldMkLst>
          <pc:docMk/>
          <pc:sldMk cId="699179032" sldId="262"/>
        </pc:sldMkLst>
      </pc:sldChg>
      <pc:sldChg chg="modSp">
        <pc:chgData name="李佳" userId="e57d5a21-7935-4641-b1a9-5d59d95d9ff4" providerId="ADAL" clId="{918405E7-28C9-374A-A89D-2B10E00B68E4}" dt="2023-03-14T03:58:21.678" v="173" actId="207"/>
        <pc:sldMkLst>
          <pc:docMk/>
          <pc:sldMk cId="1374996028" sldId="305"/>
        </pc:sldMkLst>
      </pc:sldChg>
      <pc:sldChg chg="modNotesTx">
        <pc:chgData name="李佳" userId="e57d5a21-7935-4641-b1a9-5d59d95d9ff4" providerId="ADAL" clId="{918405E7-28C9-374A-A89D-2B10E00B68E4}" dt="2023-03-14T04:05:48.050" v="211" actId="20577"/>
        <pc:sldMkLst>
          <pc:docMk/>
          <pc:sldMk cId="32864038" sldId="310"/>
        </pc:sldMkLst>
      </pc:sldChg>
      <pc:sldChg chg="addSp delSp modSp mod">
        <pc:chgData name="李佳" userId="e57d5a21-7935-4641-b1a9-5d59d95d9ff4" providerId="ADAL" clId="{918405E7-28C9-374A-A89D-2B10E00B68E4}" dt="2023-03-14T06:39:22.127" v="571" actId="1076"/>
        <pc:sldMkLst>
          <pc:docMk/>
          <pc:sldMk cId="1043930277" sldId="318"/>
        </pc:sldMkLst>
      </pc:sldChg>
      <pc:sldChg chg="addSp modSp mod">
        <pc:chgData name="李佳" userId="e57d5a21-7935-4641-b1a9-5d59d95d9ff4" providerId="ADAL" clId="{918405E7-28C9-374A-A89D-2B10E00B68E4}" dt="2023-03-14T06:18:55.978" v="508" actId="14100"/>
        <pc:sldMkLst>
          <pc:docMk/>
          <pc:sldMk cId="3805478995" sldId="319"/>
        </pc:sldMkLst>
      </pc:sldChg>
      <pc:sldChg chg="addSp modSp mod modNotesTx">
        <pc:chgData name="李佳" userId="e57d5a21-7935-4641-b1a9-5d59d95d9ff4" providerId="ADAL" clId="{918405E7-28C9-374A-A89D-2B10E00B68E4}" dt="2023-03-14T06:28:31.735" v="525" actId="1076"/>
        <pc:sldMkLst>
          <pc:docMk/>
          <pc:sldMk cId="2375534077" sldId="359"/>
        </pc:sldMkLst>
      </pc:sldChg>
      <pc:sldChg chg="modSp mod">
        <pc:chgData name="李佳" userId="e57d5a21-7935-4641-b1a9-5d59d95d9ff4" providerId="ADAL" clId="{918405E7-28C9-374A-A89D-2B10E00B68E4}" dt="2023-03-14T06:41:02.631" v="572" actId="207"/>
        <pc:sldMkLst>
          <pc:docMk/>
          <pc:sldMk cId="1609830732" sldId="360"/>
        </pc:sldMkLst>
      </pc:sldChg>
      <pc:sldChg chg="modSp mod">
        <pc:chgData name="李佳" userId="e57d5a21-7935-4641-b1a9-5d59d95d9ff4" providerId="ADAL" clId="{918405E7-28C9-374A-A89D-2B10E00B68E4}" dt="2023-03-14T06:43:08.129" v="573" actId="14100"/>
        <pc:sldMkLst>
          <pc:docMk/>
          <pc:sldMk cId="3529165433" sldId="363"/>
        </pc:sldMkLst>
      </pc:sldChg>
      <pc:sldChg chg="modSp">
        <pc:chgData name="李佳" userId="e57d5a21-7935-4641-b1a9-5d59d95d9ff4" providerId="ADAL" clId="{918405E7-28C9-374A-A89D-2B10E00B68E4}" dt="2023-03-14T06:46:50.508" v="575" actId="207"/>
        <pc:sldMkLst>
          <pc:docMk/>
          <pc:sldMk cId="100754289" sldId="366"/>
        </pc:sldMkLst>
      </pc:sldChg>
      <pc:sldChg chg="addSp delSp modSp mod">
        <pc:chgData name="李佳" userId="e57d5a21-7935-4641-b1a9-5d59d95d9ff4" providerId="ADAL" clId="{918405E7-28C9-374A-A89D-2B10E00B68E4}" dt="2023-03-14T03:40:48.941" v="8" actId="1076"/>
        <pc:sldMkLst>
          <pc:docMk/>
          <pc:sldMk cId="976593537" sldId="389"/>
        </pc:sldMkLst>
      </pc:sldChg>
      <pc:sldChg chg="addSp delSp modSp add mod">
        <pc:chgData name="李佳" userId="e57d5a21-7935-4641-b1a9-5d59d95d9ff4" providerId="ADAL" clId="{918405E7-28C9-374A-A89D-2B10E00B68E4}" dt="2023-03-14T03:44:15.145" v="68" actId="1076"/>
        <pc:sldMkLst>
          <pc:docMk/>
          <pc:sldMk cId="2509484421" sldId="397"/>
        </pc:sldMkLst>
      </pc:sldChg>
      <pc:sldChg chg="addSp delSp modSp add mod">
        <pc:chgData name="李佳" userId="e57d5a21-7935-4641-b1a9-5d59d95d9ff4" providerId="ADAL" clId="{918405E7-28C9-374A-A89D-2B10E00B68E4}" dt="2023-03-14T03:46:29.846" v="76" actId="1076"/>
        <pc:sldMkLst>
          <pc:docMk/>
          <pc:sldMk cId="3317366524" sldId="398"/>
        </pc:sldMkLst>
      </pc:sldChg>
      <pc:sldChg chg="add del">
        <pc:chgData name="李佳" userId="e57d5a21-7935-4641-b1a9-5d59d95d9ff4" providerId="ADAL" clId="{918405E7-28C9-374A-A89D-2B10E00B68E4}" dt="2023-03-14T03:42:50.565" v="14"/>
        <pc:sldMkLst>
          <pc:docMk/>
          <pc:sldMk cId="3324476158" sldId="398"/>
        </pc:sldMkLst>
      </pc:sldChg>
      <pc:sldChg chg="add del">
        <pc:chgData name="李佳" userId="e57d5a21-7935-4641-b1a9-5d59d95d9ff4" providerId="ADAL" clId="{918405E7-28C9-374A-A89D-2B10E00B68E4}" dt="2023-03-14T03:52:57.207" v="79" actId="2696"/>
        <pc:sldMkLst>
          <pc:docMk/>
          <pc:sldMk cId="224644803" sldId="399"/>
        </pc:sldMkLst>
      </pc:sldChg>
      <pc:sldChg chg="addSp delSp modSp add mod">
        <pc:chgData name="李佳" userId="e57d5a21-7935-4641-b1a9-5d59d95d9ff4" providerId="ADAL" clId="{918405E7-28C9-374A-A89D-2B10E00B68E4}" dt="2023-03-14T03:56:42.172" v="158" actId="20577"/>
        <pc:sldMkLst>
          <pc:docMk/>
          <pc:sldMk cId="1517032075" sldId="399"/>
        </pc:sldMkLst>
      </pc:sldChg>
      <pc:sldChg chg="addSp delSp modSp add del mod">
        <pc:chgData name="李佳" userId="e57d5a21-7935-4641-b1a9-5d59d95d9ff4" providerId="ADAL" clId="{918405E7-28C9-374A-A89D-2B10E00B68E4}" dt="2023-03-14T03:54:00.129" v="129" actId="2696"/>
        <pc:sldMkLst>
          <pc:docMk/>
          <pc:sldMk cId="2799443819" sldId="399"/>
        </pc:sldMkLst>
      </pc:sldChg>
      <pc:sldChg chg="addSp delSp modSp add mod">
        <pc:chgData name="李佳" userId="e57d5a21-7935-4641-b1a9-5d59d95d9ff4" providerId="ADAL" clId="{918405E7-28C9-374A-A89D-2B10E00B68E4}" dt="2023-03-14T03:57:06.614" v="164" actId="1076"/>
        <pc:sldMkLst>
          <pc:docMk/>
          <pc:sldMk cId="3079530160" sldId="400"/>
        </pc:sldMkLst>
      </pc:sldChg>
      <pc:sldChg chg="addSp delSp modSp add mod">
        <pc:chgData name="李佳" userId="e57d5a21-7935-4641-b1a9-5d59d95d9ff4" providerId="ADAL" clId="{918405E7-28C9-374A-A89D-2B10E00B68E4}" dt="2023-03-14T03:57:34.262" v="172" actId="1076"/>
        <pc:sldMkLst>
          <pc:docMk/>
          <pc:sldMk cId="2291821230" sldId="401"/>
        </pc:sldMkLst>
      </pc:sldChg>
      <pc:sldChg chg="addSp delSp modSp add mod modNotesTx">
        <pc:chgData name="李佳" userId="e57d5a21-7935-4641-b1a9-5d59d95d9ff4" providerId="ADAL" clId="{918405E7-28C9-374A-A89D-2B10E00B68E4}" dt="2023-03-14T04:09:04.919" v="255" actId="14100"/>
        <pc:sldMkLst>
          <pc:docMk/>
          <pc:sldMk cId="2039375523" sldId="402"/>
        </pc:sldMkLst>
      </pc:sldChg>
      <pc:sldChg chg="modSp add mod">
        <pc:chgData name="李佳" userId="e57d5a21-7935-4641-b1a9-5d59d95d9ff4" providerId="ADAL" clId="{918405E7-28C9-374A-A89D-2B10E00B68E4}" dt="2023-03-14T04:22:52.439" v="378" actId="20577"/>
        <pc:sldMkLst>
          <pc:docMk/>
          <pc:sldMk cId="2667798145" sldId="403"/>
        </pc:sldMkLst>
      </pc:sldChg>
      <pc:sldChg chg="addSp delSp modSp add mod">
        <pc:chgData name="李佳" userId="e57d5a21-7935-4641-b1a9-5d59d95d9ff4" providerId="ADAL" clId="{918405E7-28C9-374A-A89D-2B10E00B68E4}" dt="2023-03-14T04:09:38.780" v="267" actId="1076"/>
        <pc:sldMkLst>
          <pc:docMk/>
          <pc:sldMk cId="2681513173" sldId="404"/>
        </pc:sldMkLst>
      </pc:sldChg>
      <pc:sldChg chg="addSp delSp modSp add mod ord">
        <pc:chgData name="李佳" userId="e57d5a21-7935-4641-b1a9-5d59d95d9ff4" providerId="ADAL" clId="{918405E7-28C9-374A-A89D-2B10E00B68E4}" dt="2023-03-14T04:25:13.780" v="394" actId="20577"/>
        <pc:sldMkLst>
          <pc:docMk/>
          <pc:sldMk cId="1536497028" sldId="405"/>
        </pc:sldMkLst>
      </pc:sldChg>
    </pc:docChg>
  </pc:docChgLst>
  <pc:docChgLst>
    <pc:chgData name="LiJia" userId="dc2167eb-47af-4ce2-a4c9-47bebca37882" providerId="ADAL" clId="{4400A8FA-4D18-FB43-9E6D-5BBCAE500744}"/>
    <pc:docChg chg="undo custSel addSld delSld modSld modSection">
      <pc:chgData name="LiJia" userId="dc2167eb-47af-4ce2-a4c9-47bebca37882" providerId="ADAL" clId="{4400A8FA-4D18-FB43-9E6D-5BBCAE500744}" dt="2025-05-06T06:41:34.113" v="302" actId="14100"/>
      <pc:docMkLst>
        <pc:docMk/>
      </pc:docMkLst>
      <pc:sldChg chg="addSp modSp mod">
        <pc:chgData name="LiJia" userId="dc2167eb-47af-4ce2-a4c9-47bebca37882" providerId="ADAL" clId="{4400A8FA-4D18-FB43-9E6D-5BBCAE500744}" dt="2025-05-06T01:32:47.021" v="152" actId="1076"/>
        <pc:sldMkLst>
          <pc:docMk/>
          <pc:sldMk cId="1610442562" sldId="377"/>
        </pc:sldMkLst>
        <pc:spChg chg="add mod">
          <ac:chgData name="LiJia" userId="dc2167eb-47af-4ce2-a4c9-47bebca37882" providerId="ADAL" clId="{4400A8FA-4D18-FB43-9E6D-5BBCAE500744}" dt="2025-05-06T01:21:12.856" v="128" actId="20577"/>
          <ac:spMkLst>
            <pc:docMk/>
            <pc:sldMk cId="1610442562" sldId="377"/>
            <ac:spMk id="5" creationId="{16B6A476-6F60-3CD4-37AE-4DA5A87C09FC}"/>
          </ac:spMkLst>
        </pc:spChg>
        <pc:spChg chg="add mod">
          <ac:chgData name="LiJia" userId="dc2167eb-47af-4ce2-a4c9-47bebca37882" providerId="ADAL" clId="{4400A8FA-4D18-FB43-9E6D-5BBCAE500744}" dt="2025-05-06T01:32:47.021" v="152" actId="1076"/>
          <ac:spMkLst>
            <pc:docMk/>
            <pc:sldMk cId="1610442562" sldId="377"/>
            <ac:spMk id="6" creationId="{64300F63-11D6-3D45-B584-16D41B2B3984}"/>
          </ac:spMkLst>
        </pc:spChg>
        <pc:spChg chg="add mod">
          <ac:chgData name="LiJia" userId="dc2167eb-47af-4ce2-a4c9-47bebca37882" providerId="ADAL" clId="{4400A8FA-4D18-FB43-9E6D-5BBCAE500744}" dt="2025-05-06T01:32:47.021" v="152" actId="1076"/>
          <ac:spMkLst>
            <pc:docMk/>
            <pc:sldMk cId="1610442562" sldId="377"/>
            <ac:spMk id="7" creationId="{EC294458-A489-600D-2ABF-B85273F35159}"/>
          </ac:spMkLst>
        </pc:spChg>
        <pc:picChg chg="add mod modCrop">
          <ac:chgData name="LiJia" userId="dc2167eb-47af-4ce2-a4c9-47bebca37882" providerId="ADAL" clId="{4400A8FA-4D18-FB43-9E6D-5BBCAE500744}" dt="2025-05-06T01:32:37.492" v="150" actId="1076"/>
          <ac:picMkLst>
            <pc:docMk/>
            <pc:sldMk cId="1610442562" sldId="377"/>
            <ac:picMk id="4" creationId="{CC970CBE-8FA5-7523-9492-1090F560DBA4}"/>
          </ac:picMkLst>
        </pc:picChg>
      </pc:sldChg>
      <pc:sldChg chg="modSp mod">
        <pc:chgData name="LiJia" userId="dc2167eb-47af-4ce2-a4c9-47bebca37882" providerId="ADAL" clId="{4400A8FA-4D18-FB43-9E6D-5BBCAE500744}" dt="2025-05-06T02:01:35.266" v="212" actId="404"/>
        <pc:sldMkLst>
          <pc:docMk/>
          <pc:sldMk cId="1976075345" sldId="378"/>
        </pc:sldMkLst>
        <pc:spChg chg="mod">
          <ac:chgData name="LiJia" userId="dc2167eb-47af-4ce2-a4c9-47bebca37882" providerId="ADAL" clId="{4400A8FA-4D18-FB43-9E6D-5BBCAE500744}" dt="2025-05-06T02:01:35.266" v="212" actId="404"/>
          <ac:spMkLst>
            <pc:docMk/>
            <pc:sldMk cId="1976075345" sldId="378"/>
            <ac:spMk id="5" creationId="{00000000-0000-0000-0000-000000000000}"/>
          </ac:spMkLst>
        </pc:spChg>
      </pc:sldChg>
      <pc:sldChg chg="modSp mod">
        <pc:chgData name="LiJia" userId="dc2167eb-47af-4ce2-a4c9-47bebca37882" providerId="ADAL" clId="{4400A8FA-4D18-FB43-9E6D-5BBCAE500744}" dt="2025-05-06T01:33:08.675" v="155" actId="20577"/>
        <pc:sldMkLst>
          <pc:docMk/>
          <pc:sldMk cId="2158604403" sldId="388"/>
        </pc:sldMkLst>
        <pc:spChg chg="mod">
          <ac:chgData name="LiJia" userId="dc2167eb-47af-4ce2-a4c9-47bebca37882" providerId="ADAL" clId="{4400A8FA-4D18-FB43-9E6D-5BBCAE500744}" dt="2025-05-06T01:33:08.675" v="155" actId="20577"/>
          <ac:spMkLst>
            <pc:docMk/>
            <pc:sldMk cId="2158604403" sldId="388"/>
            <ac:spMk id="2" creationId="{552B3FA4-B958-410C-8631-536C665581B9}"/>
          </ac:spMkLst>
        </pc:spChg>
      </pc:sldChg>
      <pc:sldChg chg="modSp mod">
        <pc:chgData name="LiJia" userId="dc2167eb-47af-4ce2-a4c9-47bebca37882" providerId="ADAL" clId="{4400A8FA-4D18-FB43-9E6D-5BBCAE500744}" dt="2025-05-06T01:35:05.392" v="174" actId="20577"/>
        <pc:sldMkLst>
          <pc:docMk/>
          <pc:sldMk cId="1529621395" sldId="394"/>
        </pc:sldMkLst>
        <pc:spChg chg="mod">
          <ac:chgData name="LiJia" userId="dc2167eb-47af-4ce2-a4c9-47bebca37882" providerId="ADAL" clId="{4400A8FA-4D18-FB43-9E6D-5BBCAE500744}" dt="2025-05-06T01:35:05.392" v="174" actId="20577"/>
          <ac:spMkLst>
            <pc:docMk/>
            <pc:sldMk cId="1529621395" sldId="394"/>
            <ac:spMk id="4" creationId="{15D289CA-10F2-3ADB-5222-B44C9B058BF5}"/>
          </ac:spMkLst>
        </pc:spChg>
      </pc:sldChg>
      <pc:sldChg chg="modSp mod">
        <pc:chgData name="LiJia" userId="dc2167eb-47af-4ce2-a4c9-47bebca37882" providerId="ADAL" clId="{4400A8FA-4D18-FB43-9E6D-5BBCAE500744}" dt="2025-05-06T02:01:21.385" v="208" actId="2711"/>
        <pc:sldMkLst>
          <pc:docMk/>
          <pc:sldMk cId="2509484421" sldId="397"/>
        </pc:sldMkLst>
        <pc:spChg chg="mod">
          <ac:chgData name="LiJia" userId="dc2167eb-47af-4ce2-a4c9-47bebca37882" providerId="ADAL" clId="{4400A8FA-4D18-FB43-9E6D-5BBCAE500744}" dt="2025-05-06T01:56:31.174" v="185" actId="20577"/>
          <ac:spMkLst>
            <pc:docMk/>
            <pc:sldMk cId="2509484421" sldId="397"/>
            <ac:spMk id="3" creationId="{C932AAC6-C629-72B5-00B3-0670B1F30717}"/>
          </ac:spMkLst>
        </pc:spChg>
        <pc:spChg chg="mod">
          <ac:chgData name="LiJia" userId="dc2167eb-47af-4ce2-a4c9-47bebca37882" providerId="ADAL" clId="{4400A8FA-4D18-FB43-9E6D-5BBCAE500744}" dt="2025-05-06T02:01:21.385" v="208" actId="2711"/>
          <ac:spMkLst>
            <pc:docMk/>
            <pc:sldMk cId="2509484421" sldId="397"/>
            <ac:spMk id="5" creationId="{00000000-0000-0000-0000-000000000000}"/>
          </ac:spMkLst>
        </pc:spChg>
      </pc:sldChg>
      <pc:sldChg chg="modSp mod">
        <pc:chgData name="LiJia" userId="dc2167eb-47af-4ce2-a4c9-47bebca37882" providerId="ADAL" clId="{4400A8FA-4D18-FB43-9E6D-5BBCAE500744}" dt="2025-05-06T02:01:48.366" v="213" actId="2711"/>
        <pc:sldMkLst>
          <pc:docMk/>
          <pc:sldMk cId="3317366524" sldId="398"/>
        </pc:sldMkLst>
        <pc:spChg chg="mod">
          <ac:chgData name="LiJia" userId="dc2167eb-47af-4ce2-a4c9-47bebca37882" providerId="ADAL" clId="{4400A8FA-4D18-FB43-9E6D-5BBCAE500744}" dt="2025-05-06T02:01:48.366" v="213" actId="2711"/>
          <ac:spMkLst>
            <pc:docMk/>
            <pc:sldMk cId="3317366524" sldId="398"/>
            <ac:spMk id="5" creationId="{00000000-0000-0000-0000-000000000000}"/>
          </ac:spMkLst>
        </pc:spChg>
      </pc:sldChg>
      <pc:sldChg chg="addSp modSp mod">
        <pc:chgData name="LiJia" userId="dc2167eb-47af-4ce2-a4c9-47bebca37882" providerId="ADAL" clId="{4400A8FA-4D18-FB43-9E6D-5BBCAE500744}" dt="2025-05-06T06:41:34.113" v="302" actId="14100"/>
        <pc:sldMkLst>
          <pc:docMk/>
          <pc:sldMk cId="1517032075" sldId="399"/>
        </pc:sldMkLst>
        <pc:spChg chg="add mod">
          <ac:chgData name="LiJia" userId="dc2167eb-47af-4ce2-a4c9-47bebca37882" providerId="ADAL" clId="{4400A8FA-4D18-FB43-9E6D-5BBCAE500744}" dt="2025-05-06T02:03:34.829" v="230" actId="20577"/>
          <ac:spMkLst>
            <pc:docMk/>
            <pc:sldMk cId="1517032075" sldId="399"/>
            <ac:spMk id="2" creationId="{F1952180-718A-588D-0FFD-ACCE33FEA564}"/>
          </ac:spMkLst>
        </pc:spChg>
        <pc:spChg chg="add mod">
          <ac:chgData name="LiJia" userId="dc2167eb-47af-4ce2-a4c9-47bebca37882" providerId="ADAL" clId="{4400A8FA-4D18-FB43-9E6D-5BBCAE500744}" dt="2025-05-06T06:41:34.113" v="302" actId="14100"/>
          <ac:spMkLst>
            <pc:docMk/>
            <pc:sldMk cId="1517032075" sldId="399"/>
            <ac:spMk id="4" creationId="{41DA269B-EBFB-7BBA-5586-B20DBE92597A}"/>
          </ac:spMkLst>
        </pc:spChg>
        <pc:spChg chg="mod">
          <ac:chgData name="LiJia" userId="dc2167eb-47af-4ce2-a4c9-47bebca37882" providerId="ADAL" clId="{4400A8FA-4D18-FB43-9E6D-5BBCAE500744}" dt="2025-05-06T02:02:05.201" v="215" actId="2711"/>
          <ac:spMkLst>
            <pc:docMk/>
            <pc:sldMk cId="1517032075" sldId="399"/>
            <ac:spMk id="5" creationId="{00000000-0000-0000-0000-000000000000}"/>
          </ac:spMkLst>
        </pc:spChg>
      </pc:sldChg>
      <pc:sldChg chg="addSp modSp mod">
        <pc:chgData name="LiJia" userId="dc2167eb-47af-4ce2-a4c9-47bebca37882" providerId="ADAL" clId="{4400A8FA-4D18-FB43-9E6D-5BBCAE500744}" dt="2025-05-06T02:03:40.198" v="231"/>
        <pc:sldMkLst>
          <pc:docMk/>
          <pc:sldMk cId="3079530160" sldId="400"/>
        </pc:sldMkLst>
        <pc:spChg chg="add mod">
          <ac:chgData name="LiJia" userId="dc2167eb-47af-4ce2-a4c9-47bebca37882" providerId="ADAL" clId="{4400A8FA-4D18-FB43-9E6D-5BBCAE500744}" dt="2025-05-06T02:03:40.198" v="231"/>
          <ac:spMkLst>
            <pc:docMk/>
            <pc:sldMk cId="3079530160" sldId="400"/>
            <ac:spMk id="3" creationId="{E1806356-EE6C-9F3A-5959-650CAC981FFC}"/>
          </ac:spMkLst>
        </pc:spChg>
        <pc:spChg chg="mod">
          <ac:chgData name="LiJia" userId="dc2167eb-47af-4ce2-a4c9-47bebca37882" providerId="ADAL" clId="{4400A8FA-4D18-FB43-9E6D-5BBCAE500744}" dt="2025-05-06T02:02:10.455" v="216" actId="2711"/>
          <ac:spMkLst>
            <pc:docMk/>
            <pc:sldMk cId="3079530160" sldId="400"/>
            <ac:spMk id="5" creationId="{00000000-0000-0000-0000-000000000000}"/>
          </ac:spMkLst>
        </pc:spChg>
      </pc:sldChg>
      <pc:sldChg chg="addSp modSp mod">
        <pc:chgData name="LiJia" userId="dc2167eb-47af-4ce2-a4c9-47bebca37882" providerId="ADAL" clId="{4400A8FA-4D18-FB43-9E6D-5BBCAE500744}" dt="2025-05-06T02:03:41.804" v="232"/>
        <pc:sldMkLst>
          <pc:docMk/>
          <pc:sldMk cId="2291821230" sldId="401"/>
        </pc:sldMkLst>
        <pc:spChg chg="add mod">
          <ac:chgData name="LiJia" userId="dc2167eb-47af-4ce2-a4c9-47bebca37882" providerId="ADAL" clId="{4400A8FA-4D18-FB43-9E6D-5BBCAE500744}" dt="2025-05-06T02:03:41.804" v="232"/>
          <ac:spMkLst>
            <pc:docMk/>
            <pc:sldMk cId="2291821230" sldId="401"/>
            <ac:spMk id="2" creationId="{8D61D148-E234-457D-6F0E-5ED89BC0960D}"/>
          </ac:spMkLst>
        </pc:spChg>
        <pc:spChg chg="mod">
          <ac:chgData name="LiJia" userId="dc2167eb-47af-4ce2-a4c9-47bebca37882" providerId="ADAL" clId="{4400A8FA-4D18-FB43-9E6D-5BBCAE500744}" dt="2025-05-06T02:02:15.492" v="217" actId="2711"/>
          <ac:spMkLst>
            <pc:docMk/>
            <pc:sldMk cId="2291821230" sldId="401"/>
            <ac:spMk id="5" creationId="{00000000-0000-0000-0000-000000000000}"/>
          </ac:spMkLst>
        </pc:spChg>
      </pc:sldChg>
      <pc:sldChg chg="addSp delSp modSp add del mod">
        <pc:chgData name="LiJia" userId="dc2167eb-47af-4ce2-a4c9-47bebca37882" providerId="ADAL" clId="{4400A8FA-4D18-FB43-9E6D-5BBCAE500744}" dt="2025-05-06T02:01:55.595" v="214" actId="2711"/>
        <pc:sldMkLst>
          <pc:docMk/>
          <pc:sldMk cId="3025995889" sldId="406"/>
        </pc:sldMkLst>
        <pc:spChg chg="add mod">
          <ac:chgData name="LiJia" userId="dc2167eb-47af-4ce2-a4c9-47bebca37882" providerId="ADAL" clId="{4400A8FA-4D18-FB43-9E6D-5BBCAE500744}" dt="2025-05-06T02:00:43.872" v="206" actId="403"/>
          <ac:spMkLst>
            <pc:docMk/>
            <pc:sldMk cId="3025995889" sldId="406"/>
            <ac:spMk id="3" creationId="{26F7065F-1AEF-64B4-6CDA-EFE8A5168276}"/>
          </ac:spMkLst>
        </pc:spChg>
        <pc:spChg chg="mod">
          <ac:chgData name="LiJia" userId="dc2167eb-47af-4ce2-a4c9-47bebca37882" providerId="ADAL" clId="{4400A8FA-4D18-FB43-9E6D-5BBCAE500744}" dt="2025-05-06T02:01:55.595" v="214" actId="2711"/>
          <ac:spMkLst>
            <pc:docMk/>
            <pc:sldMk cId="3025995889" sldId="406"/>
            <ac:spMk id="5" creationId="{BEC413CC-7ACB-1FF3-A249-2C1BF8B9AAA0}"/>
          </ac:spMkLst>
        </pc:spChg>
        <pc:picChg chg="del">
          <ac:chgData name="LiJia" userId="dc2167eb-47af-4ce2-a4c9-47bebca37882" providerId="ADAL" clId="{4400A8FA-4D18-FB43-9E6D-5BBCAE500744}" dt="2025-05-06T01:57:03.949" v="187" actId="478"/>
          <ac:picMkLst>
            <pc:docMk/>
            <pc:sldMk cId="3025995889" sldId="406"/>
            <ac:picMk id="2" creationId="{13EFF316-03C6-3302-BD2E-5069F6A57505}"/>
          </ac:picMkLst>
        </pc:picChg>
      </pc:sldChg>
      <pc:sldChg chg="addSp delSp modSp new del mod">
        <pc:chgData name="LiJia" userId="dc2167eb-47af-4ce2-a4c9-47bebca37882" providerId="ADAL" clId="{4400A8FA-4D18-FB43-9E6D-5BBCAE500744}" dt="2025-05-06T01:32:48.487" v="153" actId="2696"/>
        <pc:sldMkLst>
          <pc:docMk/>
          <pc:sldMk cId="4032874220" sldId="406"/>
        </pc:sldMkLst>
        <pc:spChg chg="add mod">
          <ac:chgData name="LiJia" userId="dc2167eb-47af-4ce2-a4c9-47bebca37882" providerId="ADAL" clId="{4400A8FA-4D18-FB43-9E6D-5BBCAE500744}" dt="2025-05-06T01:27:02.074" v="144" actId="1076"/>
          <ac:spMkLst>
            <pc:docMk/>
            <pc:sldMk cId="4032874220" sldId="406"/>
            <ac:spMk id="4" creationId="{1CCDAA30-46CC-572D-F4DD-5128A94AE86F}"/>
          </ac:spMkLst>
        </pc:spChg>
        <pc:spChg chg="add mod">
          <ac:chgData name="LiJia" userId="dc2167eb-47af-4ce2-a4c9-47bebca37882" providerId="ADAL" clId="{4400A8FA-4D18-FB43-9E6D-5BBCAE500744}" dt="2025-05-06T01:27:05.348" v="145" actId="1076"/>
          <ac:spMkLst>
            <pc:docMk/>
            <pc:sldMk cId="4032874220" sldId="406"/>
            <ac:spMk id="5" creationId="{27697C91-1C5C-83A9-389F-68CD6AD65AF8}"/>
          </ac:spMkLst>
        </pc:spChg>
        <pc:picChg chg="add del mod">
          <ac:chgData name="LiJia" userId="dc2167eb-47af-4ce2-a4c9-47bebca37882" providerId="ADAL" clId="{4400A8FA-4D18-FB43-9E6D-5BBCAE500744}" dt="2025-05-06T01:32:24.402" v="146" actId="478"/>
          <ac:picMkLst>
            <pc:docMk/>
            <pc:sldMk cId="4032874220" sldId="406"/>
            <ac:picMk id="3" creationId="{FBDAB0AF-781B-4AED-115B-422ECFCB67B2}"/>
          </ac:picMkLst>
        </pc:picChg>
      </pc:sldChg>
    </pc:docChg>
  </pc:docChgLst>
  <pc:docChgLst>
    <pc:chgData name="李佳" userId="e57d5a21-7935-4641-b1a9-5d59d95d9ff4" providerId="ADAL" clId="{0C3CDA16-9B9E-3748-9EB9-E9CF018A004A}"/>
    <pc:docChg chg="undo custSel modSld">
      <pc:chgData name="李佳" userId="e57d5a21-7935-4641-b1a9-5d59d95d9ff4" providerId="ADAL" clId="{0C3CDA16-9B9E-3748-9EB9-E9CF018A004A}" dt="2024-03-10T12:23:41.181" v="22" actId="20577"/>
      <pc:docMkLst>
        <pc:docMk/>
      </pc:docMkLst>
      <pc:sldChg chg="modSp mod">
        <pc:chgData name="李佳" userId="e57d5a21-7935-4641-b1a9-5d59d95d9ff4" providerId="ADAL" clId="{0C3CDA16-9B9E-3748-9EB9-E9CF018A004A}" dt="2024-03-10T12:18:23.557" v="4" actId="27636"/>
        <pc:sldMkLst>
          <pc:docMk/>
          <pc:sldMk cId="1609830732" sldId="360"/>
        </pc:sldMkLst>
      </pc:sldChg>
      <pc:sldChg chg="addSp delSp modSp mod">
        <pc:chgData name="李佳" userId="e57d5a21-7935-4641-b1a9-5d59d95d9ff4" providerId="ADAL" clId="{0C3CDA16-9B9E-3748-9EB9-E9CF018A004A}" dt="2024-03-10T12:18:47.338" v="11" actId="1076"/>
        <pc:sldMkLst>
          <pc:docMk/>
          <pc:sldMk cId="1610442562" sldId="377"/>
        </pc:sldMkLst>
      </pc:sldChg>
      <pc:sldChg chg="modSp mod">
        <pc:chgData name="李佳" userId="e57d5a21-7935-4641-b1a9-5d59d95d9ff4" providerId="ADAL" clId="{0C3CDA16-9B9E-3748-9EB9-E9CF018A004A}" dt="2024-03-10T12:18:23.564" v="5" actId="27636"/>
        <pc:sldMkLst>
          <pc:docMk/>
          <pc:sldMk cId="3951410069" sldId="381"/>
        </pc:sldMkLst>
      </pc:sldChg>
      <pc:sldChg chg="modSp mod">
        <pc:chgData name="李佳" userId="e57d5a21-7935-4641-b1a9-5d59d95d9ff4" providerId="ADAL" clId="{0C3CDA16-9B9E-3748-9EB9-E9CF018A004A}" dt="2024-03-10T12:23:41.181" v="22" actId="20577"/>
        <pc:sldMkLst>
          <pc:docMk/>
          <pc:sldMk cId="2158604403" sldId="388"/>
        </pc:sldMkLst>
      </pc:sldChg>
    </pc:docChg>
  </pc:docChgLst>
  <pc:docChgLst>
    <pc:chgData name="李佳" userId="e57d5a21-7935-4641-b1a9-5d59d95d9ff4" providerId="ADAL" clId="{0688C8C6-0EAB-BA4C-A70C-4D79BEDFCBED}"/>
    <pc:docChg chg="custSel modSld">
      <pc:chgData name="李佳" userId="e57d5a21-7935-4641-b1a9-5d59d95d9ff4" providerId="ADAL" clId="{0688C8C6-0EAB-BA4C-A70C-4D79BEDFCBED}" dt="2024-03-11T01:48:43.995" v="4"/>
      <pc:docMkLst>
        <pc:docMk/>
      </pc:docMkLst>
      <pc:sldChg chg="delSp mod">
        <pc:chgData name="李佳" userId="e57d5a21-7935-4641-b1a9-5d59d95d9ff4" providerId="ADAL" clId="{0688C8C6-0EAB-BA4C-A70C-4D79BEDFCBED}" dt="2024-03-11T01:44:17.299" v="1" actId="478"/>
        <pc:sldMkLst>
          <pc:docMk/>
          <pc:sldMk cId="1610442562" sldId="377"/>
        </pc:sldMkLst>
      </pc:sldChg>
      <pc:sldChg chg="modSp mod">
        <pc:chgData name="李佳" userId="e57d5a21-7935-4641-b1a9-5d59d95d9ff4" providerId="ADAL" clId="{0688C8C6-0EAB-BA4C-A70C-4D79BEDFCBED}" dt="2024-03-11T01:46:00.826" v="2" actId="207"/>
        <pc:sldMkLst>
          <pc:docMk/>
          <pc:sldMk cId="2158604403" sldId="388"/>
        </pc:sldMkLst>
      </pc:sldChg>
      <pc:sldChg chg="addSp delSp modSp mod">
        <pc:chgData name="李佳" userId="e57d5a21-7935-4641-b1a9-5d59d95d9ff4" providerId="ADAL" clId="{0688C8C6-0EAB-BA4C-A70C-4D79BEDFCBED}" dt="2024-03-11T01:48:43.995" v="4"/>
        <pc:sldMkLst>
          <pc:docMk/>
          <pc:sldMk cId="1529621395" sldId="39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9506B-7C80-400C-8DA8-BC203845AE51}" type="doc">
      <dgm:prSet loTypeId="urn:microsoft.com/office/officeart/2005/8/layout/hProcess9" loCatId="process" qsTypeId="urn:microsoft.com/office/officeart/2005/8/quickstyle/simple1" qsCatId="simple" csTypeId="urn:microsoft.com/office/officeart/2005/8/colors/colorful4" csCatId="colorful" phldr="1"/>
      <dgm:spPr/>
    </dgm:pt>
    <dgm:pt modelId="{1B9758B4-0D57-47BA-95E8-0C196E150749}">
      <dgm:prSet phldrT="[文本]" custT="1"/>
      <dgm:spPr/>
      <dgm:t>
        <a:bodyPr/>
        <a:lstStyle/>
        <a:p>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采集</a:t>
          </a:r>
        </a:p>
      </dgm:t>
    </dgm:pt>
    <dgm:pt modelId="{EACE9943-4838-4C58-BAA9-1C83E8F5AE1B}" type="parTrans" cxnId="{8F800B0A-8696-404F-97E7-3E4BD9F7FCA3}">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4EF7D64C-B548-4B1B-9CF0-F0E6BE6231E7}" type="sibTrans" cxnId="{8F800B0A-8696-404F-97E7-3E4BD9F7FCA3}">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F05742C8-6B5E-4659-A3E0-C8FA234A8250}">
      <dgm:prSet phldrT="[文本]" custT="1"/>
      <dgm:spPr/>
      <dgm:t>
        <a:bodyPr/>
        <a:lstStyle/>
        <a:p>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存储</a:t>
          </a:r>
          <a:r>
            <a:rPr lang="en-US" altLang="zh-CN"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压缩</a:t>
          </a:r>
        </a:p>
      </dgm:t>
    </dgm:pt>
    <dgm:pt modelId="{3CA5F80B-26DC-41E6-95FE-D20B58195C7A}" type="parTrans" cxnId="{9A7765DA-5261-4DF7-AE4E-40EB2456F894}">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6F849B64-98AD-4359-8834-832BECFF4C2B}" type="sibTrans" cxnId="{9A7765DA-5261-4DF7-AE4E-40EB2456F894}">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6BD1C635-F5E6-406D-BBDE-5D4DA113C12A}">
      <dgm:prSet phldrT="[文本]" custT="1"/>
      <dgm:spPr/>
      <dgm:t>
        <a:bodyPr/>
        <a:lstStyle/>
        <a:p>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管理</a:t>
          </a:r>
        </a:p>
      </dgm:t>
    </dgm:pt>
    <dgm:pt modelId="{4DBBBAD2-8A27-4344-93C2-1CE8A699E761}" type="parTrans" cxnId="{DD1FE465-9D3C-4B1F-91B7-171CE41A0173}">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40764E2E-6E14-4772-8929-B89C62CC25C7}" type="sibTrans" cxnId="{DD1FE465-9D3C-4B1F-91B7-171CE41A0173}">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222B941-969D-4519-AC59-93D714B4C892}">
      <dgm:prSet phldrT="[文本]" custT="1"/>
      <dgm:spPr/>
      <dgm:t>
        <a:bodyPr/>
        <a:lstStyle/>
        <a:p>
          <a:r>
            <a:rPr lang="zh-CN" altLang="en-US" sz="20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传输</a:t>
          </a:r>
        </a:p>
      </dgm:t>
    </dgm:pt>
    <dgm:pt modelId="{8DE41D64-52B2-41C2-90F2-5512050B5052}" type="parTrans" cxnId="{56EC3B74-45EC-40FC-B198-E715354A945A}">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887C08F8-3723-48D9-A630-E8EE1C55D760}" type="sibTrans" cxnId="{56EC3B74-45EC-40FC-B198-E715354A945A}">
      <dgm:prSet/>
      <dgm:spPr/>
      <dgm:t>
        <a:bodyPr/>
        <a:lstStyle/>
        <a:p>
          <a:endParaRPr lang="zh-CN" altLang="en-US" sz="11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C1A187B-D54C-4583-8A4D-D1F57E685D2A}" type="pres">
      <dgm:prSet presAssocID="{6339506B-7C80-400C-8DA8-BC203845AE51}" presName="CompostProcess" presStyleCnt="0">
        <dgm:presLayoutVars>
          <dgm:dir/>
          <dgm:resizeHandles val="exact"/>
        </dgm:presLayoutVars>
      </dgm:prSet>
      <dgm:spPr/>
    </dgm:pt>
    <dgm:pt modelId="{E433FCAC-A3A1-4B66-BF81-063FC5AB2E5A}" type="pres">
      <dgm:prSet presAssocID="{6339506B-7C80-400C-8DA8-BC203845AE51}" presName="arrow" presStyleLbl="bgShp" presStyleIdx="0" presStyleCnt="1" custLinFactNeighborX="2362" custLinFactNeighborY="17143"/>
      <dgm:spPr/>
    </dgm:pt>
    <dgm:pt modelId="{DDB39F23-6090-4C18-9659-86A14DAED993}" type="pres">
      <dgm:prSet presAssocID="{6339506B-7C80-400C-8DA8-BC203845AE51}" presName="linearProcess" presStyleCnt="0"/>
      <dgm:spPr/>
    </dgm:pt>
    <dgm:pt modelId="{F11A7B95-0C8D-400A-92A7-1BD932A9BA77}" type="pres">
      <dgm:prSet presAssocID="{1B9758B4-0D57-47BA-95E8-0C196E150749}" presName="textNode" presStyleLbl="node1" presStyleIdx="0" presStyleCnt="4">
        <dgm:presLayoutVars>
          <dgm:bulletEnabled val="1"/>
        </dgm:presLayoutVars>
      </dgm:prSet>
      <dgm:spPr/>
    </dgm:pt>
    <dgm:pt modelId="{ABB55D23-8DA6-4E34-A346-B5047F6AD849}" type="pres">
      <dgm:prSet presAssocID="{4EF7D64C-B548-4B1B-9CF0-F0E6BE6231E7}" presName="sibTrans" presStyleCnt="0"/>
      <dgm:spPr/>
    </dgm:pt>
    <dgm:pt modelId="{A3368538-229C-4DA4-A3DD-4E948ED409AC}" type="pres">
      <dgm:prSet presAssocID="{F05742C8-6B5E-4659-A3E0-C8FA234A8250}" presName="textNode" presStyleLbl="node1" presStyleIdx="1" presStyleCnt="4">
        <dgm:presLayoutVars>
          <dgm:bulletEnabled val="1"/>
        </dgm:presLayoutVars>
      </dgm:prSet>
      <dgm:spPr/>
    </dgm:pt>
    <dgm:pt modelId="{DB5514CF-1948-4D0A-86FA-35C07F5C80E3}" type="pres">
      <dgm:prSet presAssocID="{6F849B64-98AD-4359-8834-832BECFF4C2B}" presName="sibTrans" presStyleCnt="0"/>
      <dgm:spPr/>
    </dgm:pt>
    <dgm:pt modelId="{5632F971-7098-4BEB-B6CA-6394B64746E7}" type="pres">
      <dgm:prSet presAssocID="{0222B941-969D-4519-AC59-93D714B4C892}" presName="textNode" presStyleLbl="node1" presStyleIdx="2" presStyleCnt="4">
        <dgm:presLayoutVars>
          <dgm:bulletEnabled val="1"/>
        </dgm:presLayoutVars>
      </dgm:prSet>
      <dgm:spPr/>
    </dgm:pt>
    <dgm:pt modelId="{2E8CF1B0-7778-4D26-A85C-730F88BE300B}" type="pres">
      <dgm:prSet presAssocID="{887C08F8-3723-48D9-A630-E8EE1C55D760}" presName="sibTrans" presStyleCnt="0"/>
      <dgm:spPr/>
    </dgm:pt>
    <dgm:pt modelId="{53AC6749-1C3E-4AC8-9308-E22391615D8C}" type="pres">
      <dgm:prSet presAssocID="{6BD1C635-F5E6-406D-BBDE-5D4DA113C12A}" presName="textNode" presStyleLbl="node1" presStyleIdx="3" presStyleCnt="4">
        <dgm:presLayoutVars>
          <dgm:bulletEnabled val="1"/>
        </dgm:presLayoutVars>
      </dgm:prSet>
      <dgm:spPr/>
    </dgm:pt>
  </dgm:ptLst>
  <dgm:cxnLst>
    <dgm:cxn modelId="{8F800B0A-8696-404F-97E7-3E4BD9F7FCA3}" srcId="{6339506B-7C80-400C-8DA8-BC203845AE51}" destId="{1B9758B4-0D57-47BA-95E8-0C196E150749}" srcOrd="0" destOrd="0" parTransId="{EACE9943-4838-4C58-BAA9-1C83E8F5AE1B}" sibTransId="{4EF7D64C-B548-4B1B-9CF0-F0E6BE6231E7}"/>
    <dgm:cxn modelId="{DD1FE465-9D3C-4B1F-91B7-171CE41A0173}" srcId="{6339506B-7C80-400C-8DA8-BC203845AE51}" destId="{6BD1C635-F5E6-406D-BBDE-5D4DA113C12A}" srcOrd="3" destOrd="0" parTransId="{4DBBBAD2-8A27-4344-93C2-1CE8A699E761}" sibTransId="{40764E2E-6E14-4772-8929-B89C62CC25C7}"/>
    <dgm:cxn modelId="{56EC3B74-45EC-40FC-B198-E715354A945A}" srcId="{6339506B-7C80-400C-8DA8-BC203845AE51}" destId="{0222B941-969D-4519-AC59-93D714B4C892}" srcOrd="2" destOrd="0" parTransId="{8DE41D64-52B2-41C2-90F2-5512050B5052}" sibTransId="{887C08F8-3723-48D9-A630-E8EE1C55D760}"/>
    <dgm:cxn modelId="{9DFFCE83-9E2F-4A79-9529-D4D859D85A0C}" type="presOf" srcId="{1B9758B4-0D57-47BA-95E8-0C196E150749}" destId="{F11A7B95-0C8D-400A-92A7-1BD932A9BA77}" srcOrd="0" destOrd="0" presId="urn:microsoft.com/office/officeart/2005/8/layout/hProcess9"/>
    <dgm:cxn modelId="{553731C9-20DC-443B-9925-04B2EB5FB89E}" type="presOf" srcId="{6339506B-7C80-400C-8DA8-BC203845AE51}" destId="{0C1A187B-D54C-4583-8A4D-D1F57E685D2A}" srcOrd="0" destOrd="0" presId="urn:microsoft.com/office/officeart/2005/8/layout/hProcess9"/>
    <dgm:cxn modelId="{0759A2CB-B81D-4013-B185-0CECECF188B9}" type="presOf" srcId="{F05742C8-6B5E-4659-A3E0-C8FA234A8250}" destId="{A3368538-229C-4DA4-A3DD-4E948ED409AC}" srcOrd="0" destOrd="0" presId="urn:microsoft.com/office/officeart/2005/8/layout/hProcess9"/>
    <dgm:cxn modelId="{5D0B31CF-AED2-499F-973D-3ED3D60E461C}" type="presOf" srcId="{6BD1C635-F5E6-406D-BBDE-5D4DA113C12A}" destId="{53AC6749-1C3E-4AC8-9308-E22391615D8C}" srcOrd="0" destOrd="0" presId="urn:microsoft.com/office/officeart/2005/8/layout/hProcess9"/>
    <dgm:cxn modelId="{C1822ED9-726C-4E0D-ACC9-EBB373B7894E}" type="presOf" srcId="{0222B941-969D-4519-AC59-93D714B4C892}" destId="{5632F971-7098-4BEB-B6CA-6394B64746E7}" srcOrd="0" destOrd="0" presId="urn:microsoft.com/office/officeart/2005/8/layout/hProcess9"/>
    <dgm:cxn modelId="{9A7765DA-5261-4DF7-AE4E-40EB2456F894}" srcId="{6339506B-7C80-400C-8DA8-BC203845AE51}" destId="{F05742C8-6B5E-4659-A3E0-C8FA234A8250}" srcOrd="1" destOrd="0" parTransId="{3CA5F80B-26DC-41E6-95FE-D20B58195C7A}" sibTransId="{6F849B64-98AD-4359-8834-832BECFF4C2B}"/>
    <dgm:cxn modelId="{943F61B0-65EE-49C1-A907-7BDA1986C224}" type="presParOf" srcId="{0C1A187B-D54C-4583-8A4D-D1F57E685D2A}" destId="{E433FCAC-A3A1-4B66-BF81-063FC5AB2E5A}" srcOrd="0" destOrd="0" presId="urn:microsoft.com/office/officeart/2005/8/layout/hProcess9"/>
    <dgm:cxn modelId="{D8434D81-56AE-477A-AC82-4D49C2B30659}" type="presParOf" srcId="{0C1A187B-D54C-4583-8A4D-D1F57E685D2A}" destId="{DDB39F23-6090-4C18-9659-86A14DAED993}" srcOrd="1" destOrd="0" presId="urn:microsoft.com/office/officeart/2005/8/layout/hProcess9"/>
    <dgm:cxn modelId="{42314113-F942-46AB-B8B5-7D419F5FDD10}" type="presParOf" srcId="{DDB39F23-6090-4C18-9659-86A14DAED993}" destId="{F11A7B95-0C8D-400A-92A7-1BD932A9BA77}" srcOrd="0" destOrd="0" presId="urn:microsoft.com/office/officeart/2005/8/layout/hProcess9"/>
    <dgm:cxn modelId="{074E216A-E687-4C1D-9134-A477A9629009}" type="presParOf" srcId="{DDB39F23-6090-4C18-9659-86A14DAED993}" destId="{ABB55D23-8DA6-4E34-A346-B5047F6AD849}" srcOrd="1" destOrd="0" presId="urn:microsoft.com/office/officeart/2005/8/layout/hProcess9"/>
    <dgm:cxn modelId="{8FBEE814-C078-40C8-A4A8-5FFB6871EA37}" type="presParOf" srcId="{DDB39F23-6090-4C18-9659-86A14DAED993}" destId="{A3368538-229C-4DA4-A3DD-4E948ED409AC}" srcOrd="2" destOrd="0" presId="urn:microsoft.com/office/officeart/2005/8/layout/hProcess9"/>
    <dgm:cxn modelId="{5C737C78-72CF-4AFF-BB41-6CCBCD47CBBE}" type="presParOf" srcId="{DDB39F23-6090-4C18-9659-86A14DAED993}" destId="{DB5514CF-1948-4D0A-86FA-35C07F5C80E3}" srcOrd="3" destOrd="0" presId="urn:microsoft.com/office/officeart/2005/8/layout/hProcess9"/>
    <dgm:cxn modelId="{9EC9D1D4-3888-4BE6-903D-D4F3BB420331}" type="presParOf" srcId="{DDB39F23-6090-4C18-9659-86A14DAED993}" destId="{5632F971-7098-4BEB-B6CA-6394B64746E7}" srcOrd="4" destOrd="0" presId="urn:microsoft.com/office/officeart/2005/8/layout/hProcess9"/>
    <dgm:cxn modelId="{7C9F77F2-E322-4383-A47B-067F334C3403}" type="presParOf" srcId="{DDB39F23-6090-4C18-9659-86A14DAED993}" destId="{2E8CF1B0-7778-4D26-A85C-730F88BE300B}" srcOrd="5" destOrd="0" presId="urn:microsoft.com/office/officeart/2005/8/layout/hProcess9"/>
    <dgm:cxn modelId="{82A1E086-5FB1-4671-9A96-C09474BA6390}" type="presParOf" srcId="{DDB39F23-6090-4C18-9659-86A14DAED993}" destId="{53AC6749-1C3E-4AC8-9308-E22391615D8C}"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3FCAC-A3A1-4B66-BF81-063FC5AB2E5A}">
      <dsp:nvSpPr>
        <dsp:cNvPr id="0" name=""/>
        <dsp:cNvSpPr/>
      </dsp:nvSpPr>
      <dsp:spPr>
        <a:xfrm>
          <a:off x="677784" y="0"/>
          <a:ext cx="6059473" cy="2520280"/>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1A7B95-0C8D-400A-92A7-1BD932A9BA77}">
      <dsp:nvSpPr>
        <dsp:cNvPr id="0" name=""/>
        <dsp:cNvSpPr/>
      </dsp:nvSpPr>
      <dsp:spPr>
        <a:xfrm>
          <a:off x="2436" y="756084"/>
          <a:ext cx="1583093" cy="1008112"/>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采集</a:t>
          </a:r>
        </a:p>
      </dsp:txBody>
      <dsp:txXfrm>
        <a:off x="51648" y="805296"/>
        <a:ext cx="1484669" cy="909688"/>
      </dsp:txXfrm>
    </dsp:sp>
    <dsp:sp modelId="{A3368538-229C-4DA4-A3DD-4E948ED409AC}">
      <dsp:nvSpPr>
        <dsp:cNvPr id="0" name=""/>
        <dsp:cNvSpPr/>
      </dsp:nvSpPr>
      <dsp:spPr>
        <a:xfrm>
          <a:off x="1849378" y="756084"/>
          <a:ext cx="1583093" cy="1008112"/>
        </a:xfrm>
        <a:prstGeom prst="round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存储</a:t>
          </a:r>
          <a:r>
            <a:rPr lang="en-US" altLang="zh-CN"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压缩</a:t>
          </a:r>
        </a:p>
      </dsp:txBody>
      <dsp:txXfrm>
        <a:off x="1898590" y="805296"/>
        <a:ext cx="1484669" cy="909688"/>
      </dsp:txXfrm>
    </dsp:sp>
    <dsp:sp modelId="{5632F971-7098-4BEB-B6CA-6394B64746E7}">
      <dsp:nvSpPr>
        <dsp:cNvPr id="0" name=""/>
        <dsp:cNvSpPr/>
      </dsp:nvSpPr>
      <dsp:spPr>
        <a:xfrm>
          <a:off x="3696320" y="756084"/>
          <a:ext cx="1583093" cy="1008112"/>
        </a:xfrm>
        <a:prstGeom prst="round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传输</a:t>
          </a:r>
        </a:p>
      </dsp:txBody>
      <dsp:txXfrm>
        <a:off x="3745532" y="805296"/>
        <a:ext cx="1484669" cy="909688"/>
      </dsp:txXfrm>
    </dsp:sp>
    <dsp:sp modelId="{53AC6749-1C3E-4AC8-9308-E22391615D8C}">
      <dsp:nvSpPr>
        <dsp:cNvPr id="0" name=""/>
        <dsp:cNvSpPr/>
      </dsp:nvSpPr>
      <dsp:spPr>
        <a:xfrm>
          <a:off x="5543262" y="756084"/>
          <a:ext cx="1583093" cy="1008112"/>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管理</a:t>
          </a:r>
        </a:p>
      </dsp:txBody>
      <dsp:txXfrm>
        <a:off x="5592474" y="805296"/>
        <a:ext cx="1484669" cy="90968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F5B45E-269A-4AAD-B652-7A68FBE04ADD}"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D2DC40-3959-47C6-9593-54FC440C069A}" type="slidenum">
              <a:rPr lang="zh-CN" altLang="en-US" smtClean="0"/>
              <a:t>‹#›</a:t>
            </a:fld>
            <a:endParaRPr lang="zh-CN" altLang="en-US"/>
          </a:p>
        </p:txBody>
      </p:sp>
    </p:spTree>
    <p:extLst>
      <p:ext uri="{BB962C8B-B14F-4D97-AF65-F5344CB8AC3E}">
        <p14:creationId xmlns:p14="http://schemas.microsoft.com/office/powerpoint/2010/main" val="2920166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baike.baidu.com/item/%E8%A7%86%E9%A2%91%E8%A7%A3%E7%A0%81%E5%99%A8/8437114" TargetMode="External"/><Relationship Id="rId13" Type="http://schemas.openxmlformats.org/officeDocument/2006/relationships/hyperlink" Target="https://zh.wikipedia.org/wiki/%E7%9F%A2%E9%87%8F%E5%9C%96%E5%BD%A2" TargetMode="External"/><Relationship Id="rId18" Type="http://schemas.openxmlformats.org/officeDocument/2006/relationships/hyperlink" Target="https://zh.wikipedia.org/zh-hans/%E8%99%9B%E6%93%AC%E5%AF%A6%E5%A2%83" TargetMode="External"/><Relationship Id="rId3" Type="http://schemas.openxmlformats.org/officeDocument/2006/relationships/hyperlink" Target="https://baike.baidu.com/item/Linux/27050" TargetMode="External"/><Relationship Id="rId7" Type="http://schemas.openxmlformats.org/officeDocument/2006/relationships/hyperlink" Target="https://baike.baidu.com/item/%E5%A4%9A%E5%AA%92%E4%BD%93%E6%92%AD%E6%94%BE%E5%99%A8/4273364" TargetMode="External"/><Relationship Id="rId12" Type="http://schemas.openxmlformats.org/officeDocument/2006/relationships/hyperlink" Target="https://zh.wikipedia.org/wiki/%E4%B8%89%E7%B6%AD%E8%A8%88%E7%AE%97%E6%A9%9F%E5%9C%96%E5%BD%A2" TargetMode="External"/><Relationship Id="rId17" Type="http://schemas.openxmlformats.org/officeDocument/2006/relationships/hyperlink" Target="https://zh.wikipedia.org/wiki/CAD" TargetMode="External"/><Relationship Id="rId2" Type="http://schemas.openxmlformats.org/officeDocument/2006/relationships/slide" Target="../slides/slide28.xml"/><Relationship Id="rId16" Type="http://schemas.openxmlformats.org/officeDocument/2006/relationships/hyperlink" Target="https://zh.wikipedia.org/wiki/%E5%BA%94%E7%94%A8%E7%A8%8B%E5%BA%8F%E7%BC%96%E7%A8%8B%E6%8E%A5%E5%8F%A3" TargetMode="External"/><Relationship Id="rId1" Type="http://schemas.openxmlformats.org/officeDocument/2006/relationships/notesMaster" Target="../notesMasters/notesMaster1.xml"/><Relationship Id="rId6" Type="http://schemas.openxmlformats.org/officeDocument/2006/relationships/hyperlink" Target="https://baike.baidu.com/item/GPU/105524" TargetMode="External"/><Relationship Id="rId11" Type="http://schemas.openxmlformats.org/officeDocument/2006/relationships/hyperlink" Target="https://zh.wikipedia.org/wiki/%E4%BA%8C%E7%BB%B4%E8%AE%A1%E7%AE%97%E6%9C%BA%E5%9B%BE%E5%BD%A2" TargetMode="External"/><Relationship Id="rId5" Type="http://schemas.openxmlformats.org/officeDocument/2006/relationships/hyperlink" Target="https://baike.baidu.com/item/%E8%A7%86%E9%A2%91%E7%BC%96%E7%A0%81%E6%A0%87%E5%87%86/3201394" TargetMode="External"/><Relationship Id="rId15" Type="http://schemas.openxmlformats.org/officeDocument/2006/relationships/hyperlink" Target="https://zh.wikipedia.org/wiki/%E8%B7%A8%E5%B9%B3%E5%8F%B0" TargetMode="External"/><Relationship Id="rId10" Type="http://schemas.openxmlformats.org/officeDocument/2006/relationships/hyperlink" Target="https://zh.wikipedia.org/wiki/%E6%B8%B2%E6%9F%93" TargetMode="External"/><Relationship Id="rId19" Type="http://schemas.openxmlformats.org/officeDocument/2006/relationships/hyperlink" Target="https://zh.wikipedia.org/wiki/%E7%94%B5%E5%AD%90%E6%B8%B8%E6%88%8F%E5%BC%80%E5%8F%91" TargetMode="External"/><Relationship Id="rId4" Type="http://schemas.openxmlformats.org/officeDocument/2006/relationships/hyperlink" Target="https://baike.baidu.com/item/MPlayer/3086899" TargetMode="External"/><Relationship Id="rId9" Type="http://schemas.openxmlformats.org/officeDocument/2006/relationships/hyperlink" Target="https://baike.baidu.com/item/FFmpeg/2665727" TargetMode="External"/><Relationship Id="rId14" Type="http://schemas.openxmlformats.org/officeDocument/2006/relationships/hyperlink" Target="https://zh.wikipedia.org/wiki/%E7%A8%8B%E5%BC%8F%E8%AA%9E%E8%A8%80"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23</a:t>
            </a:fld>
            <a:endParaRPr lang="zh-CN" altLang="en-US"/>
          </a:p>
        </p:txBody>
      </p:sp>
    </p:spTree>
    <p:extLst>
      <p:ext uri="{BB962C8B-B14F-4D97-AF65-F5344CB8AC3E}">
        <p14:creationId xmlns:p14="http://schemas.microsoft.com/office/powerpoint/2010/main" val="4013727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24</a:t>
            </a:fld>
            <a:endParaRPr lang="zh-CN" altLang="en-US"/>
          </a:p>
        </p:txBody>
      </p:sp>
    </p:spTree>
    <p:extLst>
      <p:ext uri="{BB962C8B-B14F-4D97-AF65-F5344CB8AC3E}">
        <p14:creationId xmlns:p14="http://schemas.microsoft.com/office/powerpoint/2010/main" val="982102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25</a:t>
            </a:fld>
            <a:endParaRPr lang="zh-CN" altLang="en-US"/>
          </a:p>
        </p:txBody>
      </p:sp>
    </p:spTree>
    <p:extLst>
      <p:ext uri="{BB962C8B-B14F-4D97-AF65-F5344CB8AC3E}">
        <p14:creationId xmlns:p14="http://schemas.microsoft.com/office/powerpoint/2010/main" val="681224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effectLst/>
                <a:latin typeface="宋体" panose="02010600030101010101" pitchFamily="2" charset="-122"/>
                <a:ea typeface="宋体" panose="02010600030101010101" pitchFamily="2" charset="-122"/>
              </a:rPr>
              <a:t>人们就已经注意到了任何颜色的光都可以用不超过三个适当选择的独立 </a:t>
            </a:r>
            <a:endParaRPr lang="zh-CN" altLang="en-US" dirty="0"/>
          </a:p>
          <a:p>
            <a:r>
              <a:rPr lang="zh-CN" altLang="en-US" sz="1800" dirty="0">
                <a:effectLst/>
                <a:latin typeface="宋体" panose="02010600030101010101" pitchFamily="2" charset="-122"/>
                <a:ea typeface="宋体" panose="02010600030101010101" pitchFamily="2" charset="-122"/>
              </a:rPr>
              <a:t>的光通过调节其强度来进行比配。这个过程称为配色。这就是所谓的视觉的三色性现象</a:t>
            </a:r>
            <a:endParaRPr lang="en-US" altLang="zh-CN" sz="1800" dirty="0">
              <a:effectLst/>
              <a:latin typeface="宋体" panose="02010600030101010101" pitchFamily="2" charset="-122"/>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a:effectLst/>
                <a:latin typeface="宋体" panose="02010600030101010101" pitchFamily="2" charset="-122"/>
                <a:ea typeface="宋体" panose="02010600030101010101" pitchFamily="2" charset="-122"/>
              </a:rPr>
              <a:t>当选 用红、绿、蓝三种色光为基色光时，相应的表色系统称为 </a:t>
            </a:r>
            <a:r>
              <a:rPr lang="en" altLang="zh-CN" sz="1800" dirty="0">
                <a:effectLst/>
                <a:latin typeface="宋体" panose="02010600030101010101" pitchFamily="2" charset="-122"/>
                <a:ea typeface="宋体" panose="02010600030101010101" pitchFamily="2" charset="-122"/>
              </a:rPr>
              <a:t>RGB </a:t>
            </a:r>
            <a:r>
              <a:rPr lang="zh-CN" altLang="en-US" sz="1800" dirty="0">
                <a:effectLst/>
                <a:latin typeface="宋体" panose="02010600030101010101" pitchFamily="2" charset="-122"/>
                <a:ea typeface="宋体" panose="02010600030101010101" pitchFamily="2" charset="-122"/>
              </a:rPr>
              <a:t>表色系统。</a:t>
            </a:r>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26</a:t>
            </a:fld>
            <a:endParaRPr lang="zh-CN" altLang="en-US"/>
          </a:p>
        </p:txBody>
      </p:sp>
    </p:spTree>
    <p:extLst>
      <p:ext uri="{BB962C8B-B14F-4D97-AF65-F5344CB8AC3E}">
        <p14:creationId xmlns:p14="http://schemas.microsoft.com/office/powerpoint/2010/main" val="601849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27</a:t>
            </a:fld>
            <a:endParaRPr lang="zh-CN" altLang="en-US"/>
          </a:p>
        </p:txBody>
      </p:sp>
    </p:spTree>
    <p:extLst>
      <p:ext uri="{BB962C8B-B14F-4D97-AF65-F5344CB8AC3E}">
        <p14:creationId xmlns:p14="http://schemas.microsoft.com/office/powerpoint/2010/main" val="345192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kern="1200" dirty="0">
                <a:solidFill>
                  <a:schemeClr val="tx1"/>
                </a:solidFill>
                <a:effectLst/>
                <a:latin typeface="+mn-lt"/>
                <a:ea typeface="+mn-ea"/>
                <a:cs typeface="+mn-cs"/>
              </a:rPr>
              <a:t>DirectX</a:t>
            </a:r>
            <a:r>
              <a:rPr lang="zh-CN" altLang="en-US" sz="1200" b="0" i="0" u="none" kern="1200" dirty="0">
                <a:solidFill>
                  <a:schemeClr val="tx1"/>
                </a:solidFill>
                <a:effectLst/>
                <a:latin typeface="+mn-lt"/>
                <a:ea typeface="+mn-ea"/>
                <a:cs typeface="+mn-cs"/>
              </a:rPr>
              <a:t>（</a:t>
            </a:r>
            <a:r>
              <a:rPr lang="en-US" altLang="zh-CN" sz="1200" b="0" i="0" u="none" kern="1200" dirty="0">
                <a:solidFill>
                  <a:schemeClr val="tx1"/>
                </a:solidFill>
                <a:effectLst/>
                <a:latin typeface="+mn-lt"/>
                <a:ea typeface="+mn-ea"/>
                <a:cs typeface="+mn-cs"/>
              </a:rPr>
              <a:t>Direct </a:t>
            </a:r>
            <a:r>
              <a:rPr lang="en-US" altLang="zh-CN" sz="1200" b="0" i="0" u="none" kern="1200" dirty="0" err="1">
                <a:solidFill>
                  <a:schemeClr val="tx1"/>
                </a:solidFill>
                <a:effectLst/>
                <a:latin typeface="+mn-lt"/>
                <a:ea typeface="+mn-ea"/>
                <a:cs typeface="+mn-cs"/>
              </a:rPr>
              <a:t>eXtension</a:t>
            </a:r>
            <a:r>
              <a:rPr lang="zh-CN" altLang="en-US" sz="1200" b="0" i="0" u="none" kern="1200" dirty="0">
                <a:solidFill>
                  <a:schemeClr val="tx1"/>
                </a:solidFill>
                <a:effectLst/>
                <a:latin typeface="+mn-lt"/>
                <a:ea typeface="+mn-ea"/>
                <a:cs typeface="+mn-cs"/>
              </a:rPr>
              <a:t>，简称</a:t>
            </a:r>
            <a:r>
              <a:rPr lang="en-US" altLang="zh-CN" sz="1200" b="0" i="0" u="none" kern="1200" dirty="0">
                <a:solidFill>
                  <a:schemeClr val="tx1"/>
                </a:solidFill>
                <a:effectLst/>
                <a:latin typeface="+mn-lt"/>
                <a:ea typeface="+mn-ea"/>
                <a:cs typeface="+mn-cs"/>
              </a:rPr>
              <a:t>DX</a:t>
            </a:r>
            <a:r>
              <a:rPr lang="zh-CN" altLang="en-US" sz="1200" b="0" i="0" u="none" kern="1200" dirty="0">
                <a:solidFill>
                  <a:schemeClr val="tx1"/>
                </a:solidFill>
                <a:effectLst/>
                <a:latin typeface="+mn-lt"/>
                <a:ea typeface="+mn-ea"/>
                <a:cs typeface="+mn-cs"/>
              </a:rPr>
              <a:t>）是由微软公司创建的多媒体编程接口，是一种应用程序接口（</a:t>
            </a:r>
            <a:r>
              <a:rPr lang="en-US" altLang="zh-CN" sz="1200" b="0" i="0" u="none" kern="1200" dirty="0">
                <a:solidFill>
                  <a:schemeClr val="tx1"/>
                </a:solidFill>
                <a:effectLst/>
                <a:latin typeface="+mn-lt"/>
                <a:ea typeface="+mn-ea"/>
                <a:cs typeface="+mn-cs"/>
              </a:rPr>
              <a:t>API</a:t>
            </a:r>
            <a:r>
              <a:rPr lang="zh-CN" altLang="en-US" sz="1200" b="0" i="0" u="none" kern="1200" dirty="0">
                <a:solidFill>
                  <a:schemeClr val="tx1"/>
                </a:solidFill>
                <a:effectLst/>
                <a:latin typeface="+mn-lt"/>
                <a:ea typeface="+mn-ea"/>
                <a:cs typeface="+mn-cs"/>
              </a:rPr>
              <a:t>）。</a:t>
            </a:r>
            <a:r>
              <a:rPr lang="en-US" altLang="zh-CN" sz="1200" b="0" i="0" u="none" kern="1200" dirty="0">
                <a:solidFill>
                  <a:schemeClr val="tx1"/>
                </a:solidFill>
                <a:effectLst/>
                <a:latin typeface="+mn-lt"/>
                <a:ea typeface="+mn-ea"/>
                <a:cs typeface="+mn-cs"/>
              </a:rPr>
              <a:t>DirectX</a:t>
            </a:r>
            <a:r>
              <a:rPr lang="zh-CN" altLang="en-US" sz="1200" b="0" i="0" u="none" kern="1200" dirty="0">
                <a:solidFill>
                  <a:schemeClr val="tx1"/>
                </a:solidFill>
                <a:effectLst/>
                <a:latin typeface="+mn-lt"/>
                <a:ea typeface="+mn-ea"/>
                <a:cs typeface="+mn-cs"/>
              </a:rPr>
              <a:t>可以让以</a:t>
            </a:r>
            <a:r>
              <a:rPr lang="en-US" altLang="zh-CN" sz="1200" b="0" i="0" u="none" kern="1200" dirty="0">
                <a:solidFill>
                  <a:schemeClr val="tx1"/>
                </a:solidFill>
                <a:effectLst/>
                <a:latin typeface="+mn-lt"/>
                <a:ea typeface="+mn-ea"/>
                <a:cs typeface="+mn-cs"/>
              </a:rPr>
              <a:t>windows</a:t>
            </a:r>
            <a:r>
              <a:rPr lang="zh-CN" altLang="en-US" sz="1200" b="0" i="0" u="none" kern="1200" dirty="0">
                <a:solidFill>
                  <a:schemeClr val="tx1"/>
                </a:solidFill>
                <a:effectLst/>
                <a:latin typeface="+mn-lt"/>
                <a:ea typeface="+mn-ea"/>
                <a:cs typeface="+mn-cs"/>
              </a:rPr>
              <a:t>为平台的游戏或多媒体程序获得更高的执行效率，加强</a:t>
            </a:r>
            <a:r>
              <a:rPr lang="en-US" altLang="zh-CN" sz="1200" b="0" i="0" u="none" kern="1200" dirty="0">
                <a:solidFill>
                  <a:schemeClr val="tx1"/>
                </a:solidFill>
                <a:effectLst/>
                <a:latin typeface="+mn-lt"/>
                <a:ea typeface="+mn-ea"/>
                <a:cs typeface="+mn-cs"/>
              </a:rPr>
              <a:t>3D</a:t>
            </a:r>
            <a:r>
              <a:rPr lang="zh-CN" altLang="en-US" sz="1200" b="0" i="0" u="none" kern="1200" dirty="0">
                <a:solidFill>
                  <a:schemeClr val="tx1"/>
                </a:solidFill>
                <a:effectLst/>
                <a:latin typeface="+mn-lt"/>
                <a:ea typeface="+mn-ea"/>
                <a:cs typeface="+mn-cs"/>
              </a:rPr>
              <a:t>图形和声音效果，</a:t>
            </a:r>
            <a:endParaRPr lang="en-US" altLang="zh-CN" sz="1200" b="0" i="0" u="none" kern="1200" dirty="0">
              <a:solidFill>
                <a:schemeClr val="tx1"/>
              </a:solidFill>
              <a:effectLst/>
              <a:latin typeface="+mn-lt"/>
              <a:ea typeface="+mn-ea"/>
              <a:cs typeface="+mn-cs"/>
            </a:endParaRPr>
          </a:p>
          <a:p>
            <a:endParaRPr lang="en-US" altLang="zh-CN" sz="1200" b="0" i="0" u="none" kern="1200" dirty="0">
              <a:solidFill>
                <a:schemeClr val="tx1"/>
              </a:solidFill>
              <a:effectLst/>
              <a:latin typeface="+mn-lt"/>
              <a:ea typeface="+mn-ea"/>
              <a:cs typeface="+mn-cs"/>
            </a:endParaRPr>
          </a:p>
          <a:p>
            <a:r>
              <a:rPr lang="en-US" altLang="zh-CN" sz="1200" b="0" i="0" u="none" kern="1200" dirty="0" err="1">
                <a:solidFill>
                  <a:schemeClr val="tx1"/>
                </a:solidFill>
                <a:effectLst/>
                <a:latin typeface="+mn-lt"/>
                <a:ea typeface="+mn-ea"/>
                <a:cs typeface="+mn-cs"/>
              </a:rPr>
              <a:t>FFmpeg</a:t>
            </a:r>
            <a:r>
              <a:rPr lang="zh-CN" altLang="en-US" sz="1200" b="0" i="0" u="none" kern="1200" dirty="0">
                <a:solidFill>
                  <a:schemeClr val="tx1"/>
                </a:solidFill>
                <a:effectLst/>
                <a:latin typeface="+mn-lt"/>
                <a:ea typeface="+mn-ea"/>
                <a:cs typeface="+mn-cs"/>
              </a:rPr>
              <a:t>在</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Linux</a:t>
            </a:r>
            <a:r>
              <a:rPr lang="zh-CN" altLang="en-US" sz="1200" b="0" i="0" u="none" kern="1200" dirty="0">
                <a:solidFill>
                  <a:schemeClr val="tx1"/>
                </a:solidFill>
                <a:effectLst/>
                <a:latin typeface="+mn-lt"/>
                <a:ea typeface="+mn-ea"/>
                <a:cs typeface="+mn-cs"/>
              </a:rPr>
              <a:t>平台下开发，可以用来记录、转换数字音频、视频，并能将其转化为流的开源计算机程序。同样也可以在其它操作系统环境中编译运行，许多</a:t>
            </a:r>
            <a:r>
              <a:rPr lang="en-US" altLang="zh-CN" sz="1200" b="0" i="0" u="none" kern="1200" dirty="0" err="1">
                <a:solidFill>
                  <a:schemeClr val="tx1"/>
                </a:solidFill>
                <a:effectLst/>
                <a:latin typeface="+mn-lt"/>
                <a:ea typeface="+mn-ea"/>
                <a:cs typeface="+mn-cs"/>
              </a:rPr>
              <a:t>FFmpeg</a:t>
            </a:r>
            <a:r>
              <a:rPr lang="zh-CN" altLang="en-US" sz="1200" b="0" i="0" u="none" kern="1200" dirty="0">
                <a:solidFill>
                  <a:schemeClr val="tx1"/>
                </a:solidFill>
                <a:effectLst/>
                <a:latin typeface="+mn-lt"/>
                <a:ea typeface="+mn-ea"/>
                <a:cs typeface="+mn-cs"/>
              </a:rPr>
              <a:t>的开发人员都来自</a:t>
            </a:r>
            <a:r>
              <a:rPr lang="en-US" altLang="zh-CN" sz="1200" b="0" i="0" u="none" kern="1200" dirty="0" err="1">
                <a:solidFill>
                  <a:schemeClr val="tx1"/>
                </a:solidFill>
                <a:effectLst/>
                <a:latin typeface="+mn-lt"/>
                <a:ea typeface="+mn-ea"/>
                <a:cs typeface="+mn-cs"/>
                <a:hlinkClick r:id="rId4">
                  <a:extLst>
                    <a:ext uri="{A12FA001-AC4F-418D-AE19-62706E023703}">
                      <ahyp:hlinkClr xmlns:ahyp="http://schemas.microsoft.com/office/drawing/2018/hyperlinkcolor" val="tx"/>
                    </a:ext>
                  </a:extLst>
                </a:hlinkClick>
              </a:rPr>
              <a:t>MPlayer</a:t>
            </a:r>
            <a:r>
              <a:rPr lang="zh-CN" altLang="en-US" sz="1200" b="0" i="0" u="none" kern="1200" dirty="0">
                <a:solidFill>
                  <a:schemeClr val="tx1"/>
                </a:solidFill>
                <a:effectLst/>
                <a:latin typeface="+mn-lt"/>
                <a:ea typeface="+mn-ea"/>
                <a:cs typeface="+mn-cs"/>
              </a:rPr>
              <a:t>项目，而且当前</a:t>
            </a:r>
            <a:r>
              <a:rPr lang="en-US" altLang="zh-CN" sz="1200" b="0" i="0" u="none" kern="1200" dirty="0" err="1">
                <a:solidFill>
                  <a:schemeClr val="tx1"/>
                </a:solidFill>
                <a:effectLst/>
                <a:latin typeface="+mn-lt"/>
                <a:ea typeface="+mn-ea"/>
                <a:cs typeface="+mn-cs"/>
              </a:rPr>
              <a:t>FFmpeg</a:t>
            </a:r>
            <a:r>
              <a:rPr lang="zh-CN" altLang="en-US" sz="1200" b="0" i="0" u="none" kern="1200" dirty="0">
                <a:solidFill>
                  <a:schemeClr val="tx1"/>
                </a:solidFill>
                <a:effectLst/>
                <a:latin typeface="+mn-lt"/>
                <a:ea typeface="+mn-ea"/>
                <a:cs typeface="+mn-cs"/>
              </a:rPr>
              <a:t>也是放在</a:t>
            </a:r>
            <a:r>
              <a:rPr lang="en-US" altLang="zh-CN" sz="1200" b="0" i="0" u="none" kern="1200" dirty="0" err="1">
                <a:solidFill>
                  <a:schemeClr val="tx1"/>
                </a:solidFill>
                <a:effectLst/>
                <a:latin typeface="+mn-lt"/>
                <a:ea typeface="+mn-ea"/>
                <a:cs typeface="+mn-cs"/>
              </a:rPr>
              <a:t>MPlayer</a:t>
            </a:r>
            <a:r>
              <a:rPr lang="zh-CN" altLang="en-US" sz="1200" b="0" i="0" u="none" kern="1200" dirty="0">
                <a:solidFill>
                  <a:schemeClr val="tx1"/>
                </a:solidFill>
                <a:effectLst/>
                <a:latin typeface="+mn-lt"/>
                <a:ea typeface="+mn-ea"/>
                <a:cs typeface="+mn-cs"/>
              </a:rPr>
              <a:t>项目组的服务器上。项目的名称来自</a:t>
            </a:r>
            <a:r>
              <a:rPr lang="en-US" altLang="zh-CN" sz="1200" b="0" i="0" u="none" kern="1200" dirty="0">
                <a:solidFill>
                  <a:schemeClr val="tx1"/>
                </a:solidFill>
                <a:effectLst/>
                <a:latin typeface="+mn-lt"/>
                <a:ea typeface="+mn-ea"/>
                <a:cs typeface="+mn-cs"/>
              </a:rPr>
              <a:t>MPEG</a:t>
            </a:r>
            <a:r>
              <a:rPr lang="zh-CN" altLang="en-US" sz="1200" b="0" i="0" u="none" kern="1200" dirty="0">
                <a:solidFill>
                  <a:schemeClr val="tx1"/>
                </a:solidFill>
                <a:effectLst/>
                <a:latin typeface="+mn-lt"/>
                <a:ea typeface="+mn-ea"/>
                <a:cs typeface="+mn-cs"/>
                <a:hlinkClick r:id="rId5">
                  <a:extLst>
                    <a:ext uri="{A12FA001-AC4F-418D-AE19-62706E023703}">
                      <ahyp:hlinkClr xmlns:ahyp="http://schemas.microsoft.com/office/drawing/2018/hyperlinkcolor" val="tx"/>
                    </a:ext>
                  </a:extLst>
                </a:hlinkClick>
              </a:rPr>
              <a:t>视频编码标准</a:t>
            </a:r>
            <a:r>
              <a:rPr lang="zh-CN" altLang="en-US" sz="1200" b="0" i="0" u="none" kern="1200" dirty="0">
                <a:solidFill>
                  <a:schemeClr val="tx1"/>
                </a:solidFill>
                <a:effectLst/>
                <a:latin typeface="+mn-lt"/>
                <a:ea typeface="+mn-ea"/>
                <a:cs typeface="+mn-cs"/>
              </a:rPr>
              <a:t>，前面的</a:t>
            </a:r>
            <a:r>
              <a:rPr lang="en-US" altLang="zh-CN" sz="1200" b="0" i="0" u="none" kern="1200" dirty="0">
                <a:solidFill>
                  <a:schemeClr val="tx1"/>
                </a:solidFill>
                <a:effectLst/>
                <a:latin typeface="+mn-lt"/>
                <a:ea typeface="+mn-ea"/>
                <a:cs typeface="+mn-cs"/>
              </a:rPr>
              <a:t>"FF"</a:t>
            </a:r>
            <a:r>
              <a:rPr lang="zh-CN" altLang="en-US" sz="1200" b="0" i="0" u="none" kern="1200" dirty="0">
                <a:solidFill>
                  <a:schemeClr val="tx1"/>
                </a:solidFill>
                <a:effectLst/>
                <a:latin typeface="+mn-lt"/>
                <a:ea typeface="+mn-ea"/>
                <a:cs typeface="+mn-cs"/>
              </a:rPr>
              <a:t>代表</a:t>
            </a:r>
            <a:r>
              <a:rPr lang="en-US" altLang="zh-CN" sz="1200" b="0" i="0" u="none" kern="1200" dirty="0">
                <a:solidFill>
                  <a:schemeClr val="tx1"/>
                </a:solidFill>
                <a:effectLst/>
                <a:latin typeface="+mn-lt"/>
                <a:ea typeface="+mn-ea"/>
                <a:cs typeface="+mn-cs"/>
              </a:rPr>
              <a:t>"Fast Forward"</a:t>
            </a:r>
            <a:r>
              <a:rPr lang="zh-CN" altLang="en-US" sz="1200" b="0" i="0" u="none" kern="1200" dirty="0">
                <a:solidFill>
                  <a:schemeClr val="tx1"/>
                </a:solidFill>
                <a:effectLst/>
                <a:latin typeface="+mn-lt"/>
                <a:ea typeface="+mn-ea"/>
                <a:cs typeface="+mn-cs"/>
              </a:rPr>
              <a:t>。  </a:t>
            </a:r>
            <a:r>
              <a:rPr lang="en-US" altLang="zh-CN" sz="1200" b="0" i="0" u="none" kern="1200" dirty="0" err="1">
                <a:solidFill>
                  <a:schemeClr val="tx1"/>
                </a:solidFill>
                <a:effectLst/>
                <a:latin typeface="+mn-lt"/>
                <a:ea typeface="+mn-ea"/>
                <a:cs typeface="+mn-cs"/>
              </a:rPr>
              <a:t>FFmpeg</a:t>
            </a:r>
            <a:r>
              <a:rPr lang="zh-CN" altLang="en-US" sz="1200" b="0" i="0" u="none" kern="1200" dirty="0">
                <a:solidFill>
                  <a:schemeClr val="tx1"/>
                </a:solidFill>
                <a:effectLst/>
                <a:latin typeface="+mn-lt"/>
                <a:ea typeface="+mn-ea"/>
                <a:cs typeface="+mn-cs"/>
              </a:rPr>
              <a:t>编码库可以使用</a:t>
            </a:r>
            <a:r>
              <a:rPr lang="en-US" altLang="zh-CN" sz="1200" b="0" i="0" u="none" kern="1200" dirty="0">
                <a:solidFill>
                  <a:schemeClr val="tx1"/>
                </a:solidFill>
                <a:effectLst/>
                <a:latin typeface="+mn-lt"/>
                <a:ea typeface="+mn-ea"/>
                <a:cs typeface="+mn-cs"/>
                <a:hlinkClick r:id="rId6">
                  <a:extLst>
                    <a:ext uri="{A12FA001-AC4F-418D-AE19-62706E023703}">
                      <ahyp:hlinkClr xmlns:ahyp="http://schemas.microsoft.com/office/drawing/2018/hyperlinkcolor" val="tx"/>
                    </a:ext>
                  </a:extLst>
                </a:hlinkClick>
              </a:rPr>
              <a:t>GPU</a:t>
            </a:r>
            <a:r>
              <a:rPr lang="zh-CN" altLang="en-US" sz="1200" b="0" i="0" u="none" kern="1200" dirty="0">
                <a:solidFill>
                  <a:schemeClr val="tx1"/>
                </a:solidFill>
                <a:effectLst/>
                <a:latin typeface="+mn-lt"/>
                <a:ea typeface="+mn-ea"/>
                <a:cs typeface="+mn-cs"/>
              </a:rPr>
              <a:t>加速。</a:t>
            </a:r>
            <a:endParaRPr lang="en-US" altLang="zh-CN" sz="1200" b="0" i="0" u="none" kern="1200" dirty="0">
              <a:solidFill>
                <a:schemeClr val="tx1"/>
              </a:solidFill>
              <a:effectLst/>
              <a:latin typeface="+mn-lt"/>
              <a:ea typeface="+mn-ea"/>
              <a:cs typeface="+mn-cs"/>
            </a:endParaRPr>
          </a:p>
          <a:p>
            <a:endParaRPr lang="en-US" altLang="zh-CN" sz="1200" b="0" i="0" u="none" kern="1200" dirty="0">
              <a:solidFill>
                <a:schemeClr val="tx1"/>
              </a:solidFill>
              <a:effectLst/>
              <a:latin typeface="+mn-lt"/>
              <a:ea typeface="+mn-ea"/>
              <a:cs typeface="+mn-cs"/>
            </a:endParaRPr>
          </a:p>
          <a:p>
            <a:r>
              <a:rPr lang="en-US" altLang="zh-CN" sz="1200" b="0" i="0" u="none" kern="1200" dirty="0">
                <a:solidFill>
                  <a:schemeClr val="tx1"/>
                </a:solidFill>
                <a:effectLst/>
                <a:latin typeface="+mn-lt"/>
                <a:ea typeface="+mn-ea"/>
                <a:cs typeface="+mn-cs"/>
              </a:rPr>
              <a:t>VLC Media Player</a:t>
            </a:r>
            <a:r>
              <a:rPr lang="zh-CN" altLang="en-US" sz="1200" b="0" i="0" u="none" kern="1200" dirty="0">
                <a:solidFill>
                  <a:schemeClr val="tx1"/>
                </a:solidFill>
                <a:effectLst/>
                <a:latin typeface="+mn-lt"/>
                <a:ea typeface="+mn-ea"/>
                <a:cs typeface="+mn-cs"/>
              </a:rPr>
              <a:t>（</a:t>
            </a:r>
            <a:r>
              <a:rPr lang="en-US" altLang="zh-CN" sz="1200" b="0" i="0" u="none" kern="1200" dirty="0">
                <a:solidFill>
                  <a:schemeClr val="tx1"/>
                </a:solidFill>
                <a:effectLst/>
                <a:latin typeface="+mn-lt"/>
                <a:ea typeface="+mn-ea"/>
                <a:cs typeface="+mn-cs"/>
              </a:rPr>
              <a:t>VLC</a:t>
            </a:r>
            <a:r>
              <a:rPr lang="zh-CN" altLang="en-US" sz="1200" b="0" i="0" u="none" kern="1200" dirty="0">
                <a:solidFill>
                  <a:schemeClr val="tx1"/>
                </a:solidFill>
                <a:effectLst/>
                <a:latin typeface="+mn-lt"/>
                <a:ea typeface="+mn-ea"/>
                <a:cs typeface="+mn-cs"/>
                <a:hlinkClick r:id="rId7">
                  <a:extLst>
                    <a:ext uri="{A12FA001-AC4F-418D-AE19-62706E023703}">
                      <ahyp:hlinkClr xmlns:ahyp="http://schemas.microsoft.com/office/drawing/2018/hyperlinkcolor" val="tx"/>
                    </a:ext>
                  </a:extLst>
                </a:hlinkClick>
              </a:rPr>
              <a:t>多媒体播放器</a:t>
            </a:r>
            <a:r>
              <a:rPr lang="zh-CN" altLang="en-US" sz="1200" b="0" i="0" u="none" kern="1200" dirty="0">
                <a:solidFill>
                  <a:schemeClr val="tx1"/>
                </a:solidFill>
                <a:effectLst/>
                <a:latin typeface="+mn-lt"/>
                <a:ea typeface="+mn-ea"/>
                <a:cs typeface="+mn-cs"/>
              </a:rPr>
              <a:t>），是</a:t>
            </a:r>
            <a:r>
              <a:rPr lang="en-US" altLang="zh-CN" sz="1200" b="0" i="0" u="none" kern="1200" dirty="0" err="1">
                <a:solidFill>
                  <a:schemeClr val="tx1"/>
                </a:solidFill>
                <a:effectLst/>
                <a:latin typeface="+mn-lt"/>
                <a:ea typeface="+mn-ea"/>
                <a:cs typeface="+mn-cs"/>
              </a:rPr>
              <a:t>VideoLAN</a:t>
            </a:r>
            <a:r>
              <a:rPr lang="zh-CN" altLang="en-US" sz="1200" b="0" i="0" u="none" kern="1200" dirty="0">
                <a:solidFill>
                  <a:schemeClr val="tx1"/>
                </a:solidFill>
                <a:effectLst/>
                <a:latin typeface="+mn-lt"/>
                <a:ea typeface="+mn-ea"/>
                <a:cs typeface="+mn-cs"/>
              </a:rPr>
              <a:t>品牌产品，支持众多音频与</a:t>
            </a:r>
            <a:r>
              <a:rPr lang="zh-CN" altLang="en-US" sz="1200" b="0" i="0" u="none" kern="1200" dirty="0">
                <a:solidFill>
                  <a:schemeClr val="tx1"/>
                </a:solidFill>
                <a:effectLst/>
                <a:latin typeface="+mn-lt"/>
                <a:ea typeface="+mn-ea"/>
                <a:cs typeface="+mn-cs"/>
                <a:hlinkClick r:id="rId8">
                  <a:extLst>
                    <a:ext uri="{A12FA001-AC4F-418D-AE19-62706E023703}">
                      <ahyp:hlinkClr xmlns:ahyp="http://schemas.microsoft.com/office/drawing/2018/hyperlinkcolor" val="tx"/>
                    </a:ext>
                  </a:extLst>
                </a:hlinkClick>
              </a:rPr>
              <a:t>视频解码器</a:t>
            </a:r>
            <a:r>
              <a:rPr lang="zh-CN" altLang="en-US" sz="1200" b="0" i="0" u="none" kern="1200" dirty="0">
                <a:solidFill>
                  <a:schemeClr val="tx1"/>
                </a:solidFill>
                <a:effectLst/>
                <a:latin typeface="+mn-lt"/>
                <a:ea typeface="+mn-ea"/>
                <a:cs typeface="+mn-cs"/>
              </a:rPr>
              <a:t>及文件格式，并支持</a:t>
            </a:r>
            <a:r>
              <a:rPr lang="en-US" altLang="zh-CN" sz="1200" b="0" i="0" u="none" kern="1200" dirty="0">
                <a:solidFill>
                  <a:schemeClr val="tx1"/>
                </a:solidFill>
                <a:effectLst/>
                <a:latin typeface="+mn-lt"/>
                <a:ea typeface="+mn-ea"/>
                <a:cs typeface="+mn-cs"/>
              </a:rPr>
              <a:t>DVD</a:t>
            </a:r>
            <a:r>
              <a:rPr lang="zh-CN" altLang="en-US" sz="1200" b="0" i="0" u="none" kern="1200" dirty="0">
                <a:solidFill>
                  <a:schemeClr val="tx1"/>
                </a:solidFill>
                <a:effectLst/>
                <a:latin typeface="+mn-lt"/>
                <a:ea typeface="+mn-ea"/>
                <a:cs typeface="+mn-cs"/>
              </a:rPr>
              <a:t>影音光盘，</a:t>
            </a:r>
            <a:r>
              <a:rPr lang="en-US" altLang="zh-CN" sz="1200" b="0" i="0" u="none" kern="1200" dirty="0">
                <a:solidFill>
                  <a:schemeClr val="tx1"/>
                </a:solidFill>
                <a:effectLst/>
                <a:latin typeface="+mn-lt"/>
                <a:ea typeface="+mn-ea"/>
                <a:cs typeface="+mn-cs"/>
              </a:rPr>
              <a:t>VCD</a:t>
            </a:r>
            <a:r>
              <a:rPr lang="zh-CN" altLang="en-US" sz="1200" b="0" i="0" u="none" kern="1200" dirty="0">
                <a:solidFill>
                  <a:schemeClr val="tx1"/>
                </a:solidFill>
                <a:effectLst/>
                <a:latin typeface="+mn-lt"/>
                <a:ea typeface="+mn-ea"/>
                <a:cs typeface="+mn-cs"/>
              </a:rPr>
              <a:t>影音光盘及各类流式协议。它融合了</a:t>
            </a:r>
            <a:r>
              <a:rPr lang="en-US" altLang="zh-CN" sz="1200" b="0" i="0" u="none" kern="1200" dirty="0" err="1">
                <a:solidFill>
                  <a:schemeClr val="tx1"/>
                </a:solidFill>
                <a:effectLst/>
                <a:latin typeface="+mn-lt"/>
                <a:ea typeface="+mn-ea"/>
                <a:cs typeface="+mn-cs"/>
                <a:hlinkClick r:id="rId9">
                  <a:extLst>
                    <a:ext uri="{A12FA001-AC4F-418D-AE19-62706E023703}">
                      <ahyp:hlinkClr xmlns:ahyp="http://schemas.microsoft.com/office/drawing/2018/hyperlinkcolor" val="tx"/>
                    </a:ext>
                  </a:extLst>
                </a:hlinkClick>
              </a:rPr>
              <a:t>FFmpeg</a:t>
            </a:r>
            <a:r>
              <a:rPr lang="zh-CN" altLang="en-US" sz="1200" b="0" i="0" u="none" kern="1200" dirty="0">
                <a:solidFill>
                  <a:schemeClr val="tx1"/>
                </a:solidFill>
                <a:effectLst/>
                <a:latin typeface="+mn-lt"/>
                <a:ea typeface="+mn-ea"/>
                <a:cs typeface="+mn-cs"/>
              </a:rPr>
              <a:t>计划的解码器与</a:t>
            </a:r>
            <a:r>
              <a:rPr lang="en-US" altLang="zh-CN" sz="1200" b="0" i="0" u="none" kern="1200" dirty="0" err="1">
                <a:solidFill>
                  <a:schemeClr val="tx1"/>
                </a:solidFill>
                <a:effectLst/>
                <a:latin typeface="+mn-lt"/>
                <a:ea typeface="+mn-ea"/>
                <a:cs typeface="+mn-cs"/>
              </a:rPr>
              <a:t>libdvdcss</a:t>
            </a:r>
            <a:r>
              <a:rPr lang="zh-CN" altLang="en-US" sz="1200" b="0" i="0" u="none" kern="1200" dirty="0">
                <a:solidFill>
                  <a:schemeClr val="tx1"/>
                </a:solidFill>
                <a:effectLst/>
                <a:latin typeface="+mn-lt"/>
                <a:ea typeface="+mn-ea"/>
                <a:cs typeface="+mn-cs"/>
              </a:rPr>
              <a:t>程序库使其有播放多媒体文件及加密</a:t>
            </a:r>
            <a:r>
              <a:rPr lang="en-US" altLang="zh-CN" sz="1200" b="0" i="0" u="none" kern="1200" dirty="0">
                <a:solidFill>
                  <a:schemeClr val="tx1"/>
                </a:solidFill>
                <a:effectLst/>
                <a:latin typeface="+mn-lt"/>
                <a:ea typeface="+mn-ea"/>
                <a:cs typeface="+mn-cs"/>
              </a:rPr>
              <a:t>DVD</a:t>
            </a:r>
            <a:r>
              <a:rPr lang="zh-CN" altLang="en-US" sz="1200" b="0" i="0" u="none" kern="1200" dirty="0">
                <a:solidFill>
                  <a:schemeClr val="tx1"/>
                </a:solidFill>
                <a:effectLst/>
                <a:latin typeface="+mn-lt"/>
                <a:ea typeface="+mn-ea"/>
                <a:cs typeface="+mn-cs"/>
              </a:rPr>
              <a:t>影碟的功能。</a:t>
            </a:r>
            <a:endParaRPr lang="en-US" altLang="zh-CN" sz="1200" b="0" i="0" u="none" kern="1200" dirty="0">
              <a:solidFill>
                <a:schemeClr val="tx1"/>
              </a:solidFill>
              <a:effectLst/>
              <a:latin typeface="+mn-lt"/>
              <a:ea typeface="+mn-ea"/>
              <a:cs typeface="+mn-cs"/>
            </a:endParaRPr>
          </a:p>
          <a:p>
            <a:endParaRPr lang="en-US" altLang="zh-CN" sz="1200" b="0" i="0" u="none" kern="1200" dirty="0">
              <a:solidFill>
                <a:schemeClr val="tx1"/>
              </a:solidFill>
              <a:effectLst/>
              <a:latin typeface="+mn-lt"/>
              <a:ea typeface="+mn-ea"/>
              <a:cs typeface="+mn-cs"/>
            </a:endParaRPr>
          </a:p>
          <a:p>
            <a:r>
              <a:rPr lang="en-US" altLang="zh-CN" sz="1200" b="0" i="0" u="none" kern="1200" dirty="0" err="1">
                <a:solidFill>
                  <a:schemeClr val="tx1"/>
                </a:solidFill>
                <a:effectLst/>
                <a:latin typeface="+mn-lt"/>
                <a:ea typeface="+mn-ea"/>
                <a:cs typeface="+mn-cs"/>
              </a:rPr>
              <a:t>OpenGLOpen</a:t>
            </a:r>
            <a:r>
              <a:rPr lang="en-US" altLang="zh-CN" sz="1200" b="0" i="0" u="none" kern="1200" dirty="0">
                <a:solidFill>
                  <a:schemeClr val="tx1"/>
                </a:solidFill>
                <a:effectLst/>
                <a:latin typeface="+mn-lt"/>
                <a:ea typeface="+mn-ea"/>
                <a:cs typeface="+mn-cs"/>
              </a:rPr>
              <a:t> Graphics Library</a:t>
            </a:r>
            <a:r>
              <a:rPr lang="zh-CN" altLang="en-US" sz="1200" b="0" i="0" u="none" kern="1200" dirty="0">
                <a:solidFill>
                  <a:schemeClr val="tx1"/>
                </a:solidFill>
                <a:effectLst/>
                <a:latin typeface="+mn-lt"/>
                <a:ea typeface="+mn-ea"/>
                <a:cs typeface="+mn-cs"/>
              </a:rPr>
              <a:t>是用于</a:t>
            </a:r>
            <a:r>
              <a:rPr lang="zh-CN" altLang="en-US" sz="1200" b="0" i="0" u="none" kern="1200" dirty="0">
                <a:solidFill>
                  <a:schemeClr val="tx1"/>
                </a:solidFill>
                <a:effectLst/>
                <a:latin typeface="+mn-lt"/>
                <a:ea typeface="+mn-ea"/>
                <a:cs typeface="+mn-cs"/>
                <a:hlinkClick r:id="rId10" tooltip="渲染">
                  <a:extLst>
                    <a:ext uri="{A12FA001-AC4F-418D-AE19-62706E023703}">
                      <ahyp:hlinkClr xmlns:ahyp="http://schemas.microsoft.com/office/drawing/2018/hyperlinkcolor" val="tx"/>
                    </a:ext>
                  </a:extLst>
                </a:hlinkClick>
              </a:rPr>
              <a:t>渲染</a:t>
            </a:r>
            <a:r>
              <a:rPr lang="en-US" altLang="zh-CN" sz="1200" b="0" i="0" u="none" kern="1200" dirty="0">
                <a:solidFill>
                  <a:schemeClr val="tx1"/>
                </a:solidFill>
                <a:effectLst/>
                <a:latin typeface="+mn-lt"/>
                <a:ea typeface="+mn-ea"/>
                <a:cs typeface="+mn-cs"/>
                <a:hlinkClick r:id="rId11" tooltip="二维计算机图形">
                  <a:extLst>
                    <a:ext uri="{A12FA001-AC4F-418D-AE19-62706E023703}">
                      <ahyp:hlinkClr xmlns:ahyp="http://schemas.microsoft.com/office/drawing/2018/hyperlinkcolor" val="tx"/>
                    </a:ext>
                  </a:extLst>
                </a:hlinkClick>
              </a:rPr>
              <a:t>2D</a:t>
            </a:r>
            <a:r>
              <a:rPr lang="zh-CN" altLang="en-US" sz="1200" b="0" i="0" u="none" kern="1200" dirty="0">
                <a:solidFill>
                  <a:schemeClr val="tx1"/>
                </a:solidFill>
                <a:effectLst/>
                <a:latin typeface="+mn-lt"/>
                <a:ea typeface="+mn-ea"/>
                <a:cs typeface="+mn-cs"/>
              </a:rPr>
              <a:t>、</a:t>
            </a:r>
            <a:r>
              <a:rPr lang="en-US" altLang="zh-CN" sz="1200" b="0" i="0" u="none" kern="1200" dirty="0">
                <a:solidFill>
                  <a:schemeClr val="tx1"/>
                </a:solidFill>
                <a:effectLst/>
                <a:latin typeface="+mn-lt"/>
                <a:ea typeface="+mn-ea"/>
                <a:cs typeface="+mn-cs"/>
                <a:hlinkClick r:id="rId12" tooltip="三维计算机图形">
                  <a:extLst>
                    <a:ext uri="{A12FA001-AC4F-418D-AE19-62706E023703}">
                      <ahyp:hlinkClr xmlns:ahyp="http://schemas.microsoft.com/office/drawing/2018/hyperlinkcolor" val="tx"/>
                    </a:ext>
                  </a:extLst>
                </a:hlinkClick>
              </a:rPr>
              <a:t>3D</a:t>
            </a:r>
            <a:r>
              <a:rPr lang="zh-CN" altLang="en-US" sz="1200" b="0" i="0" u="none" kern="1200" dirty="0">
                <a:solidFill>
                  <a:schemeClr val="tx1"/>
                </a:solidFill>
                <a:effectLst/>
                <a:latin typeface="+mn-lt"/>
                <a:ea typeface="+mn-ea"/>
                <a:cs typeface="+mn-cs"/>
                <a:hlinkClick r:id="rId13" tooltip="矢量图形">
                  <a:extLst>
                    <a:ext uri="{A12FA001-AC4F-418D-AE19-62706E023703}">
                      <ahyp:hlinkClr xmlns:ahyp="http://schemas.microsoft.com/office/drawing/2018/hyperlinkcolor" val="tx"/>
                    </a:ext>
                  </a:extLst>
                </a:hlinkClick>
              </a:rPr>
              <a:t>矢量图形</a:t>
            </a:r>
            <a:r>
              <a:rPr lang="zh-CN" altLang="en-US" sz="1200" b="0" i="0" u="none" kern="1200" dirty="0">
                <a:solidFill>
                  <a:schemeClr val="tx1"/>
                </a:solidFill>
                <a:effectLst/>
                <a:latin typeface="+mn-lt"/>
                <a:ea typeface="+mn-ea"/>
                <a:cs typeface="+mn-cs"/>
              </a:rPr>
              <a:t>的跨</a:t>
            </a:r>
            <a:r>
              <a:rPr lang="zh-CN" altLang="en-US" sz="1200" b="0" i="0" u="none" kern="1200" dirty="0">
                <a:solidFill>
                  <a:schemeClr val="tx1"/>
                </a:solidFill>
                <a:effectLst/>
                <a:latin typeface="+mn-lt"/>
                <a:ea typeface="+mn-ea"/>
                <a:cs typeface="+mn-cs"/>
                <a:hlinkClick r:id="rId14" tooltip="程式语言">
                  <a:extLst>
                    <a:ext uri="{A12FA001-AC4F-418D-AE19-62706E023703}">
                      <ahyp:hlinkClr xmlns:ahyp="http://schemas.microsoft.com/office/drawing/2018/hyperlinkcolor" val="tx"/>
                    </a:ext>
                  </a:extLst>
                </a:hlinkClick>
              </a:rPr>
              <a:t>语言</a:t>
            </a:r>
            <a:r>
              <a:rPr lang="zh-CN" altLang="en-US" sz="1200" b="0" i="0" u="none" kern="1200" dirty="0">
                <a:solidFill>
                  <a:schemeClr val="tx1"/>
                </a:solidFill>
                <a:effectLst/>
                <a:latin typeface="+mn-lt"/>
                <a:ea typeface="+mn-ea"/>
                <a:cs typeface="+mn-cs"/>
              </a:rPr>
              <a:t>、</a:t>
            </a:r>
            <a:r>
              <a:rPr lang="zh-CN" altLang="en-US" sz="1200" b="0" i="0" u="none" kern="1200" dirty="0">
                <a:solidFill>
                  <a:schemeClr val="tx1"/>
                </a:solidFill>
                <a:effectLst/>
                <a:latin typeface="+mn-lt"/>
                <a:ea typeface="+mn-ea"/>
                <a:cs typeface="+mn-cs"/>
                <a:hlinkClick r:id="rId15" tooltip="跨平台">
                  <a:extLst>
                    <a:ext uri="{A12FA001-AC4F-418D-AE19-62706E023703}">
                      <ahyp:hlinkClr xmlns:ahyp="http://schemas.microsoft.com/office/drawing/2018/hyperlinkcolor" val="tx"/>
                    </a:ext>
                  </a:extLst>
                </a:hlinkClick>
              </a:rPr>
              <a:t>跨平台</a:t>
            </a:r>
            <a:r>
              <a:rPr lang="zh-CN" altLang="en-US" sz="1200" b="0" i="0" u="none" kern="1200" dirty="0">
                <a:solidFill>
                  <a:schemeClr val="tx1"/>
                </a:solidFill>
                <a:effectLst/>
                <a:latin typeface="+mn-lt"/>
                <a:ea typeface="+mn-ea"/>
                <a:cs typeface="+mn-cs"/>
              </a:rPr>
              <a:t>的</a:t>
            </a:r>
            <a:r>
              <a:rPr lang="zh-CN" altLang="en-US" sz="1200" b="0" i="0" u="none" kern="1200" dirty="0">
                <a:solidFill>
                  <a:schemeClr val="tx1"/>
                </a:solidFill>
                <a:effectLst/>
                <a:latin typeface="+mn-lt"/>
                <a:ea typeface="+mn-ea"/>
                <a:cs typeface="+mn-cs"/>
                <a:hlinkClick r:id="rId16" tooltip="应用程序编程接口">
                  <a:extLst>
                    <a:ext uri="{A12FA001-AC4F-418D-AE19-62706E023703}">
                      <ahyp:hlinkClr xmlns:ahyp="http://schemas.microsoft.com/office/drawing/2018/hyperlinkcolor" val="tx"/>
                    </a:ext>
                  </a:extLst>
                </a:hlinkClick>
              </a:rPr>
              <a:t>应用程序编程接口</a:t>
            </a:r>
            <a:r>
              <a:rPr lang="zh-CN" altLang="en-US" sz="1200" b="0" i="0" u="none" kern="1200" dirty="0">
                <a:solidFill>
                  <a:schemeClr val="tx1"/>
                </a:solidFill>
                <a:effectLst/>
                <a:latin typeface="+mn-lt"/>
                <a:ea typeface="+mn-ea"/>
                <a:cs typeface="+mn-cs"/>
              </a:rPr>
              <a:t>（</a:t>
            </a:r>
            <a:r>
              <a:rPr lang="en-US" altLang="zh-CN" sz="1200" b="0" i="0" u="none" kern="1200" dirty="0">
                <a:solidFill>
                  <a:schemeClr val="tx1"/>
                </a:solidFill>
                <a:effectLst/>
                <a:latin typeface="+mn-lt"/>
                <a:ea typeface="+mn-ea"/>
                <a:cs typeface="+mn-cs"/>
              </a:rPr>
              <a:t>API</a:t>
            </a:r>
            <a:r>
              <a:rPr lang="zh-CN" altLang="en-US" sz="1200" b="0" i="0" u="none" kern="1200" dirty="0">
                <a:solidFill>
                  <a:schemeClr val="tx1"/>
                </a:solidFill>
                <a:effectLst/>
                <a:latin typeface="+mn-lt"/>
                <a:ea typeface="+mn-ea"/>
                <a:cs typeface="+mn-cs"/>
              </a:rPr>
              <a:t>）。这个接口由近</a:t>
            </a:r>
            <a:r>
              <a:rPr lang="en-US" altLang="zh-CN" sz="1200" b="0" i="0" u="none" kern="1200" dirty="0">
                <a:solidFill>
                  <a:schemeClr val="tx1"/>
                </a:solidFill>
                <a:effectLst/>
                <a:latin typeface="+mn-lt"/>
                <a:ea typeface="+mn-ea"/>
                <a:cs typeface="+mn-cs"/>
              </a:rPr>
              <a:t>350</a:t>
            </a:r>
            <a:r>
              <a:rPr lang="zh-CN" altLang="en-US" sz="1200" b="0" i="0" u="none" kern="1200" dirty="0">
                <a:solidFill>
                  <a:schemeClr val="tx1"/>
                </a:solidFill>
                <a:effectLst/>
                <a:latin typeface="+mn-lt"/>
                <a:ea typeface="+mn-ea"/>
                <a:cs typeface="+mn-cs"/>
              </a:rPr>
              <a:t>个不同的函数调用组成，用来从简单的图形位元绘制复杂的三维景象。常用于</a:t>
            </a:r>
            <a:r>
              <a:rPr lang="en-US" altLang="zh-CN" sz="1200" b="0" i="0" u="none" kern="1200" dirty="0">
                <a:solidFill>
                  <a:schemeClr val="tx1"/>
                </a:solidFill>
                <a:effectLst/>
                <a:latin typeface="+mn-lt"/>
                <a:ea typeface="+mn-ea"/>
                <a:cs typeface="+mn-cs"/>
                <a:hlinkClick r:id="rId17" tooltip="CAD">
                  <a:extLst>
                    <a:ext uri="{A12FA001-AC4F-418D-AE19-62706E023703}">
                      <ahyp:hlinkClr xmlns:ahyp="http://schemas.microsoft.com/office/drawing/2018/hyperlinkcolor" val="tx"/>
                    </a:ext>
                  </a:extLst>
                </a:hlinkClick>
              </a:rPr>
              <a:t>CAD</a:t>
            </a:r>
            <a:r>
              <a:rPr lang="zh-CN" altLang="en-US" sz="1200" b="0" i="0" u="none" kern="1200" dirty="0">
                <a:solidFill>
                  <a:schemeClr val="tx1"/>
                </a:solidFill>
                <a:effectLst/>
                <a:latin typeface="+mn-lt"/>
                <a:ea typeface="+mn-ea"/>
                <a:cs typeface="+mn-cs"/>
              </a:rPr>
              <a:t>、</a:t>
            </a:r>
            <a:r>
              <a:rPr lang="zh-CN" altLang="en-US" sz="1200" b="0" i="0" u="none" kern="1200" dirty="0">
                <a:solidFill>
                  <a:schemeClr val="tx1"/>
                </a:solidFill>
                <a:effectLst/>
                <a:latin typeface="+mn-lt"/>
                <a:ea typeface="+mn-ea"/>
                <a:cs typeface="+mn-cs"/>
                <a:hlinkClick r:id="rId18" tooltip="虚拟实境">
                  <a:extLst>
                    <a:ext uri="{A12FA001-AC4F-418D-AE19-62706E023703}">
                      <ahyp:hlinkClr xmlns:ahyp="http://schemas.microsoft.com/office/drawing/2018/hyperlinkcolor" val="tx"/>
                    </a:ext>
                  </a:extLst>
                </a:hlinkClick>
              </a:rPr>
              <a:t>虚拟实境</a:t>
            </a:r>
            <a:r>
              <a:rPr lang="zh-CN" altLang="en-US" sz="1200" b="0" i="0" u="none" kern="1200" dirty="0">
                <a:solidFill>
                  <a:schemeClr val="tx1"/>
                </a:solidFill>
                <a:effectLst/>
                <a:latin typeface="+mn-lt"/>
                <a:ea typeface="+mn-ea"/>
                <a:cs typeface="+mn-cs"/>
              </a:rPr>
              <a:t>、科学视觉化程式和</a:t>
            </a:r>
            <a:r>
              <a:rPr lang="zh-CN" altLang="en-US" sz="1200" b="0" i="0" u="none" kern="1200" dirty="0">
                <a:solidFill>
                  <a:schemeClr val="tx1"/>
                </a:solidFill>
                <a:effectLst/>
                <a:latin typeface="+mn-lt"/>
                <a:ea typeface="+mn-ea"/>
                <a:cs typeface="+mn-cs"/>
                <a:hlinkClick r:id="rId19" tooltip="电子游戏开发">
                  <a:extLst>
                    <a:ext uri="{A12FA001-AC4F-418D-AE19-62706E023703}">
                      <ahyp:hlinkClr xmlns:ahyp="http://schemas.microsoft.com/office/drawing/2018/hyperlinkcolor" val="tx"/>
                    </a:ext>
                  </a:extLst>
                </a:hlinkClick>
              </a:rPr>
              <a:t>电子游戏开发</a:t>
            </a:r>
            <a:endParaRPr lang="zh-CN" altLang="en-US" sz="1200" b="0" i="0" u="none"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DBD2DC40-3959-47C6-9593-54FC440C069A}" type="slidenum">
              <a:rPr lang="zh-CN" altLang="en-US" smtClean="0"/>
              <a:t>28</a:t>
            </a:fld>
            <a:endParaRPr lang="zh-CN" altLang="en-US"/>
          </a:p>
        </p:txBody>
      </p:sp>
    </p:spTree>
    <p:extLst>
      <p:ext uri="{BB962C8B-B14F-4D97-AF65-F5344CB8AC3E}">
        <p14:creationId xmlns:p14="http://schemas.microsoft.com/office/powerpoint/2010/main" val="1534090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91BF5D47-D7A9-474D-B1C6-FED0C255DB17}" type="slidenum">
              <a:rPr lang="en-US" altLang="zh-CN"/>
              <a:pPr eaLnBrk="1" hangingPunct="1"/>
              <a:t>34</a:t>
            </a:fld>
            <a:endParaRPr lang="en-US" altLang="zh-CN"/>
          </a:p>
        </p:txBody>
      </p:sp>
      <p:sp>
        <p:nvSpPr>
          <p:cNvPr id="431107" name="Rectangle 2"/>
          <p:cNvSpPr>
            <a:spLocks noGrp="1" noRot="1" noChangeAspect="1" noChangeArrowheads="1" noTextEdit="1"/>
          </p:cNvSpPr>
          <p:nvPr>
            <p:ph type="sldImg"/>
          </p:nvPr>
        </p:nvSpPr>
        <p:spPr>
          <a:ln/>
        </p:spPr>
      </p:sp>
      <p:sp>
        <p:nvSpPr>
          <p:cNvPr id="431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539940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4963" eaLnBrk="0" hangingPunct="0">
              <a:defRPr>
                <a:solidFill>
                  <a:schemeClr val="tx1"/>
                </a:solidFill>
                <a:latin typeface="Arial" charset="0"/>
              </a:defRPr>
            </a:lvl1pPr>
            <a:lvl2pPr marL="702756" indent="-270291" defTabSz="894963" eaLnBrk="0" hangingPunct="0">
              <a:defRPr>
                <a:solidFill>
                  <a:schemeClr val="tx1"/>
                </a:solidFill>
                <a:latin typeface="Arial" charset="0"/>
              </a:defRPr>
            </a:lvl2pPr>
            <a:lvl3pPr marL="1081164" indent="-216233" defTabSz="894963" eaLnBrk="0" hangingPunct="0">
              <a:defRPr>
                <a:solidFill>
                  <a:schemeClr val="tx1"/>
                </a:solidFill>
                <a:latin typeface="Arial" charset="0"/>
              </a:defRPr>
            </a:lvl3pPr>
            <a:lvl4pPr marL="1513629" indent="-216233" defTabSz="894963" eaLnBrk="0" hangingPunct="0">
              <a:defRPr>
                <a:solidFill>
                  <a:schemeClr val="tx1"/>
                </a:solidFill>
                <a:latin typeface="Arial" charset="0"/>
              </a:defRPr>
            </a:lvl4pPr>
            <a:lvl5pPr marL="1946095" indent="-216233" defTabSz="894963" eaLnBrk="0" hangingPunct="0">
              <a:defRPr>
                <a:solidFill>
                  <a:schemeClr val="tx1"/>
                </a:solidFill>
                <a:latin typeface="Arial" charset="0"/>
              </a:defRPr>
            </a:lvl5pPr>
            <a:lvl6pPr marL="2378560" indent="-216233" algn="ctr" defTabSz="894963" eaLnBrk="0" fontAlgn="base" hangingPunct="0">
              <a:spcBef>
                <a:spcPct val="0"/>
              </a:spcBef>
              <a:spcAft>
                <a:spcPct val="0"/>
              </a:spcAft>
              <a:defRPr>
                <a:solidFill>
                  <a:schemeClr val="tx1"/>
                </a:solidFill>
                <a:latin typeface="Arial" charset="0"/>
              </a:defRPr>
            </a:lvl6pPr>
            <a:lvl7pPr marL="2811026" indent="-216233" algn="ctr" defTabSz="894963" eaLnBrk="0" fontAlgn="base" hangingPunct="0">
              <a:spcBef>
                <a:spcPct val="0"/>
              </a:spcBef>
              <a:spcAft>
                <a:spcPct val="0"/>
              </a:spcAft>
              <a:defRPr>
                <a:solidFill>
                  <a:schemeClr val="tx1"/>
                </a:solidFill>
                <a:latin typeface="Arial" charset="0"/>
              </a:defRPr>
            </a:lvl7pPr>
            <a:lvl8pPr marL="3243491" indent="-216233" algn="ctr" defTabSz="894963" eaLnBrk="0" fontAlgn="base" hangingPunct="0">
              <a:spcBef>
                <a:spcPct val="0"/>
              </a:spcBef>
              <a:spcAft>
                <a:spcPct val="0"/>
              </a:spcAft>
              <a:defRPr>
                <a:solidFill>
                  <a:schemeClr val="tx1"/>
                </a:solidFill>
                <a:latin typeface="Arial" charset="0"/>
              </a:defRPr>
            </a:lvl8pPr>
            <a:lvl9pPr marL="3675957" indent="-216233" algn="ctr" defTabSz="894963" eaLnBrk="0" fontAlgn="base" hangingPunct="0">
              <a:spcBef>
                <a:spcPct val="0"/>
              </a:spcBef>
              <a:spcAft>
                <a:spcPct val="0"/>
              </a:spcAft>
              <a:defRPr>
                <a:solidFill>
                  <a:schemeClr val="tx1"/>
                </a:solidFill>
                <a:latin typeface="Arial" charset="0"/>
              </a:defRPr>
            </a:lvl9pPr>
          </a:lstStyle>
          <a:p>
            <a:pPr eaLnBrk="1" hangingPunct="1"/>
            <a:fld id="{91BF5D47-D7A9-474D-B1C6-FED0C255DB17}" type="slidenum">
              <a:rPr lang="en-US" altLang="zh-CN"/>
              <a:pPr eaLnBrk="1" hangingPunct="1"/>
              <a:t>35</a:t>
            </a:fld>
            <a:endParaRPr lang="en-US" altLang="zh-CN"/>
          </a:p>
        </p:txBody>
      </p:sp>
      <p:sp>
        <p:nvSpPr>
          <p:cNvPr id="431107" name="Rectangle 2"/>
          <p:cNvSpPr>
            <a:spLocks noGrp="1" noRot="1" noChangeAspect="1" noChangeArrowheads="1" noTextEdit="1"/>
          </p:cNvSpPr>
          <p:nvPr>
            <p:ph type="sldImg"/>
          </p:nvPr>
        </p:nvSpPr>
        <p:spPr>
          <a:ln/>
        </p:spPr>
      </p:sp>
      <p:sp>
        <p:nvSpPr>
          <p:cNvPr id="431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18036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39</a:t>
            </a:fld>
            <a:endParaRPr lang="zh-CN" altLang="en-US"/>
          </a:p>
        </p:txBody>
      </p:sp>
    </p:spTree>
    <p:extLst>
      <p:ext uri="{BB962C8B-B14F-4D97-AF65-F5344CB8AC3E}">
        <p14:creationId xmlns:p14="http://schemas.microsoft.com/office/powerpoint/2010/main" val="3190308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u="none" strike="noStrike" dirty="0">
                <a:solidFill>
                  <a:srgbClr val="EA4335"/>
                </a:solidFill>
                <a:effectLst/>
                <a:latin typeface="arial" panose="020B0604020202020204" pitchFamily="34" charset="0"/>
              </a:rPr>
              <a:t>CCD</a:t>
            </a:r>
            <a:r>
              <a:rPr lang="zh-CN" altLang="en" b="0" i="0" u="none" strike="noStrike" dirty="0">
                <a:solidFill>
                  <a:srgbClr val="4D5156"/>
                </a:solidFill>
                <a:effectLst/>
                <a:latin typeface="arial" panose="020B0604020202020204" pitchFamily="34" charset="0"/>
              </a:rPr>
              <a:t>，</a:t>
            </a:r>
            <a:r>
              <a:rPr lang="zh-CN" altLang="en-US" b="0" i="0" u="none" strike="noStrike" dirty="0">
                <a:solidFill>
                  <a:srgbClr val="4D5156"/>
                </a:solidFill>
                <a:effectLst/>
                <a:latin typeface="arial" panose="020B0604020202020204" pitchFamily="34" charset="0"/>
              </a:rPr>
              <a:t>英文全称：</a:t>
            </a:r>
            <a:r>
              <a:rPr lang="en" altLang="zh-CN" b="0" i="0" u="none" strike="noStrike" dirty="0">
                <a:solidFill>
                  <a:srgbClr val="4D5156"/>
                </a:solidFill>
                <a:effectLst/>
                <a:latin typeface="arial" panose="020B0604020202020204" pitchFamily="34" charset="0"/>
              </a:rPr>
              <a:t>Charge coupled Device</a:t>
            </a:r>
            <a:r>
              <a:rPr lang="zh-CN" altLang="en" b="0" i="0" u="none" strike="noStrike" dirty="0">
                <a:solidFill>
                  <a:srgbClr val="4D5156"/>
                </a:solidFill>
                <a:effectLst/>
                <a:latin typeface="arial" panose="020B0604020202020204" pitchFamily="34" charset="0"/>
              </a:rPr>
              <a:t>，</a:t>
            </a:r>
            <a:r>
              <a:rPr lang="zh-CN" altLang="en-US" b="0" i="0" u="none" strike="noStrike" dirty="0">
                <a:solidFill>
                  <a:srgbClr val="4D5156"/>
                </a:solidFill>
                <a:effectLst/>
                <a:latin typeface="arial" panose="020B0604020202020204" pitchFamily="34" charset="0"/>
              </a:rPr>
              <a:t>中文全称：电荷耦合元件。</a:t>
            </a:r>
            <a:r>
              <a:rPr lang="en" altLang="zh-CN" b="0" i="0" u="none" strike="noStrike" dirty="0">
                <a:solidFill>
                  <a:srgbClr val="EA4335"/>
                </a:solidFill>
                <a:effectLst/>
                <a:latin typeface="arial" panose="020B0604020202020204" pitchFamily="34" charset="0"/>
              </a:rPr>
              <a:t>CCD</a:t>
            </a:r>
            <a:r>
              <a:rPr lang="zh-CN" altLang="en-US" b="0" i="0" u="none" strike="noStrike" dirty="0">
                <a:solidFill>
                  <a:srgbClr val="4D5156"/>
                </a:solidFill>
                <a:effectLst/>
                <a:latin typeface="arial" panose="020B0604020202020204" pitchFamily="34" charset="0"/>
              </a:rPr>
              <a:t>是一种半导体器件，能够把光学影像转化为数字信号。</a:t>
            </a:r>
            <a:endParaRPr lang="en-US" altLang="zh-CN" b="0" i="0" u="none" strike="noStrike" dirty="0">
              <a:solidFill>
                <a:srgbClr val="4D5156"/>
              </a:solidFill>
              <a:effectLst/>
              <a:latin typeface="arial" panose="020B0604020202020204" pitchFamily="34" charset="0"/>
            </a:endParaRPr>
          </a:p>
          <a:p>
            <a:r>
              <a:rPr lang="zh-CN" altLang="en-US" b="0" i="0" u="none" strike="noStrike" dirty="0">
                <a:solidFill>
                  <a:srgbClr val="3A3A3A"/>
                </a:solidFill>
                <a:effectLst/>
                <a:latin typeface="PingFangSC-Regular" panose="020B0400000000000000" pitchFamily="34" charset="-122"/>
                <a:ea typeface="PingFangSC-Regular" panose="020B0400000000000000" pitchFamily="34" charset="-122"/>
              </a:rPr>
              <a:t>可以被称为 </a:t>
            </a:r>
            <a:r>
              <a:rPr lang="en" altLang="zh-CN" b="0" i="0" u="none" strike="noStrike" dirty="0">
                <a:solidFill>
                  <a:srgbClr val="3A3A3A"/>
                </a:solidFill>
                <a:effectLst/>
                <a:latin typeface="PingFangSC-Regular" panose="020B0400000000000000" pitchFamily="34" charset="-122"/>
                <a:ea typeface="PingFangSC-Regular" panose="020B0400000000000000" pitchFamily="34" charset="-122"/>
              </a:rPr>
              <a:t>CCD </a:t>
            </a:r>
            <a:r>
              <a:rPr lang="zh-CN" altLang="en-US" b="0" i="0" u="none" strike="noStrike" dirty="0">
                <a:solidFill>
                  <a:srgbClr val="3A3A3A"/>
                </a:solidFill>
                <a:effectLst/>
                <a:latin typeface="PingFangSC-Regular" panose="020B0400000000000000" pitchFamily="34" charset="-122"/>
                <a:ea typeface="PingFangSC-Regular" panose="020B0400000000000000" pitchFamily="34" charset="-122"/>
              </a:rPr>
              <a:t>图像传感器。在它上面有许多排列整齐的电容，能感应光线，把影像转化为数字信号，从而拍摄出照片。</a:t>
            </a:r>
            <a:endParaRPr lang="en-US" altLang="zh-CN" b="0" i="0" u="none" strike="noStrike" dirty="0">
              <a:solidFill>
                <a:srgbClr val="4D5156"/>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DBD2DC40-3959-47C6-9593-54FC440C069A}" type="slidenum">
              <a:rPr lang="zh-CN" altLang="en-US" smtClean="0"/>
              <a:t>40</a:t>
            </a:fld>
            <a:endParaRPr lang="zh-CN" altLang="en-US"/>
          </a:p>
        </p:txBody>
      </p:sp>
    </p:spTree>
    <p:extLst>
      <p:ext uri="{BB962C8B-B14F-4D97-AF65-F5344CB8AC3E}">
        <p14:creationId xmlns:p14="http://schemas.microsoft.com/office/powerpoint/2010/main" val="2765440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BD2DC40-3959-47C6-9593-54FC440C069A}" type="slidenum">
              <a:rPr lang="zh-CN" altLang="en-US" smtClean="0"/>
              <a:t>51</a:t>
            </a:fld>
            <a:endParaRPr lang="zh-CN" altLang="en-US"/>
          </a:p>
        </p:txBody>
      </p:sp>
    </p:spTree>
    <p:extLst>
      <p:ext uri="{BB962C8B-B14F-4D97-AF65-F5344CB8AC3E}">
        <p14:creationId xmlns:p14="http://schemas.microsoft.com/office/powerpoint/2010/main" val="554212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print">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000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Rectangle 5"/>
          <p:cNvSpPr>
            <a:spLocks noChangeArrowheads="1"/>
          </p:cNvSpPr>
          <p:nvPr userDrawn="1"/>
        </p:nvSpPr>
        <p:spPr bwMode="auto">
          <a:xfrm rot="16200000" flipV="1">
            <a:off x="4662486" y="-3503613"/>
            <a:ext cx="69851" cy="8893175"/>
          </a:xfrm>
          <a:prstGeom prst="rect">
            <a:avLst/>
          </a:prstGeom>
          <a:gradFill rotWithShape="1">
            <a:gsLst>
              <a:gs pos="0">
                <a:schemeClr val="bg1">
                  <a:lumMod val="91000"/>
                  <a:alpha val="74000"/>
                </a:schemeClr>
              </a:gs>
              <a:gs pos="100000">
                <a:srgbClr val="0099CC"/>
              </a:gs>
            </a:gsLst>
            <a:lin ang="5400000" scaled="1"/>
          </a:gradFill>
          <a:ln>
            <a:noFill/>
          </a:ln>
        </p:spPr>
        <p:txBody>
          <a:bodyPr wrap="none" anchor="ctr"/>
          <a:lstStyle/>
          <a:p>
            <a:endParaRPr lang="zh-CN" altLang="zh-CN"/>
          </a:p>
        </p:txBody>
      </p:sp>
      <p:sp>
        <p:nvSpPr>
          <p:cNvPr id="8" name="Line 8"/>
          <p:cNvSpPr>
            <a:spLocks noChangeShapeType="1"/>
          </p:cNvSpPr>
          <p:nvPr userDrawn="1"/>
        </p:nvSpPr>
        <p:spPr bwMode="auto">
          <a:xfrm>
            <a:off x="0" y="6357938"/>
            <a:ext cx="9144000" cy="0"/>
          </a:xfrm>
          <a:prstGeom prst="line">
            <a:avLst/>
          </a:prstGeom>
          <a:noFill/>
          <a:ln w="19050">
            <a:solidFill>
              <a:srgbClr val="0099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 name="图片 8"/>
          <p:cNvPicPr>
            <a:picLocks noChangeAspect="1"/>
          </p:cNvPicPr>
          <p:nvPr userDrawn="1"/>
        </p:nvPicPr>
        <p:blipFill rotWithShape="1">
          <a:blip r:embed="rId2" cstate="print">
            <a:clrChange>
              <a:clrFrom>
                <a:srgbClr val="F0F0F0"/>
              </a:clrFrom>
              <a:clrTo>
                <a:srgbClr val="F0F0F0">
                  <a:alpha val="0"/>
                </a:srgbClr>
              </a:clrTo>
            </a:clrChange>
            <a:extLst>
              <a:ext uri="{28A0092B-C50C-407E-A947-70E740481C1C}">
                <a14:useLocalDpi xmlns:a14="http://schemas.microsoft.com/office/drawing/2010/main" val="0"/>
              </a:ext>
            </a:extLst>
          </a:blip>
          <a:srcRect/>
          <a:stretch/>
        </p:blipFill>
        <p:spPr>
          <a:xfrm>
            <a:off x="7596336" y="6393704"/>
            <a:ext cx="1476670" cy="464296"/>
          </a:xfrm>
          <a:prstGeom prst="rect">
            <a:avLst/>
          </a:prstGeom>
        </p:spPr>
      </p:pic>
      <p:sp>
        <p:nvSpPr>
          <p:cNvPr id="12" name="文本占位符 2"/>
          <p:cNvSpPr>
            <a:spLocks noGrp="1"/>
          </p:cNvSpPr>
          <p:nvPr>
            <p:ph idx="1"/>
          </p:nvPr>
        </p:nvSpPr>
        <p:spPr>
          <a:xfrm>
            <a:off x="255015" y="1196752"/>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标题占位符 1"/>
          <p:cNvSpPr>
            <a:spLocks noGrp="1"/>
          </p:cNvSpPr>
          <p:nvPr>
            <p:ph type="title"/>
          </p:nvPr>
        </p:nvSpPr>
        <p:spPr>
          <a:xfrm>
            <a:off x="250824" y="204785"/>
            <a:ext cx="8229600" cy="7032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10" name="灯片编号占位符 5">
            <a:extLst>
              <a:ext uri="{FF2B5EF4-FFF2-40B4-BE49-F238E27FC236}">
                <a16:creationId xmlns:a16="http://schemas.microsoft.com/office/drawing/2014/main" id="{B8168379-8216-4C9D-847E-B92D3087C44B}"/>
              </a:ext>
            </a:extLst>
          </p:cNvPr>
          <p:cNvSpPr>
            <a:spLocks noGrp="1"/>
          </p:cNvSpPr>
          <p:nvPr>
            <p:ph type="sldNum" sz="quarter" idx="12"/>
          </p:nvPr>
        </p:nvSpPr>
        <p:spPr>
          <a:xfrm>
            <a:off x="250824" y="6381688"/>
            <a:ext cx="2133600" cy="365125"/>
          </a:xfrm>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19606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491006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844399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643950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3358556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176876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6262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42777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540892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4BA984-46A0-4F46-990E-EC790E6934B4}" type="slidenum">
              <a:rPr lang="zh-CN" altLang="en-US" smtClean="0"/>
              <a:t>‹#›</a:t>
            </a:fld>
            <a:endParaRPr lang="zh-CN" altLang="en-US"/>
          </a:p>
        </p:txBody>
      </p:sp>
    </p:spTree>
    <p:extLst>
      <p:ext uri="{BB962C8B-B14F-4D97-AF65-F5344CB8AC3E}">
        <p14:creationId xmlns:p14="http://schemas.microsoft.com/office/powerpoint/2010/main" val="252490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3A8815D7-9B1B-40A7-B662-1633FA5EF7F7}" type="slidenum">
              <a:rPr lang="zh-CN" altLang="en-US"/>
              <a:pPr/>
              <a:t>‹#›</a:t>
            </a:fld>
            <a:endParaRPr lang="zh-CN" altLang="en-US"/>
          </a:p>
        </p:txBody>
      </p:sp>
    </p:spTree>
    <p:extLst>
      <p:ext uri="{BB962C8B-B14F-4D97-AF65-F5344CB8AC3E}">
        <p14:creationId xmlns:p14="http://schemas.microsoft.com/office/powerpoint/2010/main" val="421214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066800"/>
            <a:ext cx="3810000" cy="5065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13"/>
          <p:cNvSpPr>
            <a:spLocks noGrp="1" noChangeArrowheads="1"/>
          </p:cNvSpPr>
          <p:nvPr>
            <p:ph type="sldNum" sz="quarter" idx="12"/>
          </p:nvPr>
        </p:nvSpPr>
        <p:spPr>
          <a:ln/>
        </p:spPr>
        <p:txBody>
          <a:bodyPr/>
          <a:lstStyle>
            <a:lvl1pPr>
              <a:defRPr/>
            </a:lvl1pPr>
          </a:lstStyle>
          <a:p>
            <a:pPr>
              <a:defRPr/>
            </a:pPr>
            <a:fld id="{BAA072B4-608F-4AF7-AD44-B5B6A1ABDE76}" type="slidenum">
              <a:rPr lang="en-US" altLang="zh-CN"/>
              <a:pPr>
                <a:defRPr/>
              </a:pPr>
              <a:t>‹#›</a:t>
            </a:fld>
            <a:r>
              <a:rPr lang="en-US" altLang="zh-CN"/>
              <a:t>/47 </a:t>
            </a:r>
          </a:p>
        </p:txBody>
      </p:sp>
    </p:spTree>
    <p:extLst>
      <p:ext uri="{BB962C8B-B14F-4D97-AF65-F5344CB8AC3E}">
        <p14:creationId xmlns:p14="http://schemas.microsoft.com/office/powerpoint/2010/main" val="1197731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027113" y="152400"/>
            <a:ext cx="7793037" cy="776288"/>
          </a:xfrm>
        </p:spPr>
        <p:txBody>
          <a:bodyPr/>
          <a:lstStyle/>
          <a:p>
            <a:r>
              <a:rPr lang="en-US"/>
              <a:t>Click to edit Master title style</a:t>
            </a:r>
          </a:p>
        </p:txBody>
      </p:sp>
      <p:sp>
        <p:nvSpPr>
          <p:cNvPr id="3" name="Text Placeholder 2"/>
          <p:cNvSpPr>
            <a:spLocks noGrp="1"/>
          </p:cNvSpPr>
          <p:nvPr>
            <p:ph type="body" sz="half" idx="1"/>
          </p:nvPr>
        </p:nvSpPr>
        <p:spPr>
          <a:xfrm>
            <a:off x="914400" y="1066800"/>
            <a:ext cx="7772400" cy="2455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14400" y="3675063"/>
            <a:ext cx="7772400" cy="2457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zh-CN" altLang="en-US"/>
          </a:p>
        </p:txBody>
      </p:sp>
      <p:sp>
        <p:nvSpPr>
          <p:cNvPr id="7" name="Rectangle 13"/>
          <p:cNvSpPr>
            <a:spLocks noGrp="1" noChangeArrowheads="1"/>
          </p:cNvSpPr>
          <p:nvPr>
            <p:ph type="sldNum" sz="quarter" idx="12"/>
          </p:nvPr>
        </p:nvSpPr>
        <p:spPr>
          <a:ln/>
        </p:spPr>
        <p:txBody>
          <a:bodyPr/>
          <a:lstStyle>
            <a:lvl1pPr>
              <a:defRPr/>
            </a:lvl1pPr>
          </a:lstStyle>
          <a:p>
            <a:pPr>
              <a:defRPr/>
            </a:pPr>
            <a:fld id="{C0541810-B9F3-4006-B9A7-CD6B20166980}" type="slidenum">
              <a:rPr lang="en-US" altLang="zh-CN"/>
              <a:pPr>
                <a:defRPr/>
              </a:pPr>
              <a:t>‹#›</a:t>
            </a:fld>
            <a:r>
              <a:rPr lang="en-US" altLang="zh-CN"/>
              <a:t>/47 </a:t>
            </a:r>
          </a:p>
        </p:txBody>
      </p:sp>
    </p:spTree>
    <p:extLst>
      <p:ext uri="{BB962C8B-B14F-4D97-AF65-F5344CB8AC3E}">
        <p14:creationId xmlns:p14="http://schemas.microsoft.com/office/powerpoint/2010/main" val="321785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457200" y="634823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BA984-46A0-4F46-990E-EC790E6934B4}" type="slidenum">
              <a:rPr lang="zh-CN" altLang="en-US" smtClean="0"/>
              <a:pPr/>
              <a:t>‹#›</a:t>
            </a:fld>
            <a:endParaRPr lang="zh-CN" altLang="en-US" dirty="0"/>
          </a:p>
        </p:txBody>
      </p:sp>
    </p:spTree>
    <p:extLst>
      <p:ext uri="{BB962C8B-B14F-4D97-AF65-F5344CB8AC3E}">
        <p14:creationId xmlns:p14="http://schemas.microsoft.com/office/powerpoint/2010/main" val="2094195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spcBef>
          <a:spcPct val="0"/>
        </a:spcBef>
        <a:buNone/>
        <a:defRPr sz="4400" b="1" kern="1200">
          <a:solidFill>
            <a:schemeClr val="tx1"/>
          </a:solidFill>
          <a:latin typeface="+mj-ea"/>
          <a:ea typeface="+mj-ea"/>
          <a:cs typeface="+mj-cs"/>
        </a:defRPr>
      </a:lvl1pPr>
    </p:titleStyle>
    <p:body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gif"/><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jpeg"/><Relationship Id="rId7"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gif"/></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emf"/><Relationship Id="rId1" Type="http://schemas.openxmlformats.org/officeDocument/2006/relationships/slideLayout" Target="../slideLayouts/slideLayout2.xml"/><Relationship Id="rId4" Type="http://schemas.openxmlformats.org/officeDocument/2006/relationships/image" Target="../media/image49.emf"/></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36.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image" Target="../media/image55.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gif"/><Relationship Id="rId7" Type="http://schemas.openxmlformats.org/officeDocument/2006/relationships/image" Target="../media/image62.png"/><Relationship Id="rId2" Type="http://schemas.openxmlformats.org/officeDocument/2006/relationships/image" Target="../media/image57.gif"/><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3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audio" Target="../media/audio1.wav"/><Relationship Id="rId7" Type="http://schemas.openxmlformats.org/officeDocument/2006/relationships/audio" Target="../media/audio3.wav"/><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8.emf"/><Relationship Id="rId11" Type="http://schemas.openxmlformats.org/officeDocument/2006/relationships/image" Target="../media/image71.jpeg"/><Relationship Id="rId5" Type="http://schemas.openxmlformats.org/officeDocument/2006/relationships/audio" Target="../media/audio2.wav"/><Relationship Id="rId10" Type="http://schemas.openxmlformats.org/officeDocument/2006/relationships/image" Target="../media/image70.emf"/><Relationship Id="rId4" Type="http://schemas.openxmlformats.org/officeDocument/2006/relationships/image" Target="../media/image67.png"/><Relationship Id="rId9" Type="http://schemas.openxmlformats.org/officeDocument/2006/relationships/audio" Target="../media/audio4.wav"/></Relationships>
</file>

<file path=ppt/slides/_rels/slide4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3.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4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jpeg"/><Relationship Id="rId4" Type="http://schemas.openxmlformats.org/officeDocument/2006/relationships/image" Target="../media/image79.jpeg"/></Relationships>
</file>

<file path=ppt/slides/_rels/slide4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48.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idx="4294967295"/>
          </p:nvPr>
        </p:nvSpPr>
        <p:spPr>
          <a:xfrm>
            <a:off x="539552" y="1653952"/>
            <a:ext cx="7772400" cy="1470025"/>
          </a:xfrm>
        </p:spPr>
        <p:txBody>
          <a:bodyPr>
            <a:normAutofit/>
          </a:bodyPr>
          <a:lstStyle/>
          <a:p>
            <a:pPr algn="ctr"/>
            <a:r>
              <a:rPr lang="zh-CN" altLang="en-US" sz="5500" b="1" dirty="0">
                <a:solidFill>
                  <a:srgbClr val="0000FF"/>
                </a:solidFill>
                <a:latin typeface="微软雅黑" panose="020B0503020204020204" pitchFamily="34" charset="-122"/>
                <a:ea typeface="微软雅黑" panose="020B0503020204020204" pitchFamily="34" charset="-122"/>
              </a:rPr>
              <a:t>多媒体信息处理基础</a:t>
            </a:r>
          </a:p>
        </p:txBody>
      </p:sp>
      <p:sp>
        <p:nvSpPr>
          <p:cNvPr id="3" name="副标题 2"/>
          <p:cNvSpPr>
            <a:spLocks noGrp="1"/>
          </p:cNvSpPr>
          <p:nvPr>
            <p:ph type="subTitle" idx="4294967295"/>
          </p:nvPr>
        </p:nvSpPr>
        <p:spPr>
          <a:xfrm>
            <a:off x="1331640" y="3789040"/>
            <a:ext cx="5885792" cy="1584176"/>
          </a:xfrm>
        </p:spPr>
        <p:txBody>
          <a:bodyPr>
            <a:normAutofit/>
          </a:bodyPr>
          <a:lstStyle/>
          <a:p>
            <a:pPr marL="0" indent="0" algn="ctr">
              <a:buNone/>
            </a:pPr>
            <a:r>
              <a:rPr lang="zh-CN" altLang="en-US" dirty="0">
                <a:latin typeface="微软雅黑" panose="020B0503020204020204" pitchFamily="34" charset="-122"/>
                <a:ea typeface="微软雅黑" panose="020B0503020204020204" pitchFamily="34" charset="-122"/>
              </a:rPr>
              <a:t>李佳</a:t>
            </a:r>
            <a:endParaRPr lang="en-US" altLang="zh-CN" dirty="0">
              <a:latin typeface="微软雅黑" panose="020B0503020204020204" pitchFamily="34" charset="-122"/>
              <a:ea typeface="微软雅黑" panose="020B0503020204020204" pitchFamily="34" charset="-122"/>
            </a:endParaRPr>
          </a:p>
          <a:p>
            <a:pPr marL="0" indent="0" algn="ctr">
              <a:buNone/>
            </a:pPr>
            <a:r>
              <a:rPr lang="zh-CN" altLang="en-US" sz="2400" dirty="0">
                <a:solidFill>
                  <a:schemeClr val="accent4">
                    <a:lumMod val="75000"/>
                  </a:schemeClr>
                </a:solidFill>
                <a:latin typeface="微软雅黑" panose="020B0503020204020204" pitchFamily="34" charset="-122"/>
                <a:ea typeface="微软雅黑" panose="020B0503020204020204" pitchFamily="34" charset="-122"/>
              </a:rPr>
              <a:t>媒体计算实验室</a:t>
            </a:r>
            <a:r>
              <a:rPr lang="en-US" altLang="zh-CN" sz="2400" dirty="0">
                <a:solidFill>
                  <a:schemeClr val="accent4">
                    <a:lumMod val="75000"/>
                  </a:schemeClr>
                </a:solidFill>
                <a:latin typeface="微软雅黑" panose="020B0503020204020204" pitchFamily="34" charset="-122"/>
                <a:ea typeface="微软雅黑" panose="020B0503020204020204" pitchFamily="34" charset="-122"/>
              </a:rPr>
              <a:t>  </a:t>
            </a:r>
            <a:r>
              <a:rPr lang="zh-CN" altLang="en-US" sz="2400" dirty="0">
                <a:solidFill>
                  <a:schemeClr val="accent4">
                    <a:lumMod val="75000"/>
                  </a:schemeClr>
                </a:solidFill>
                <a:latin typeface="微软雅黑" panose="020B0503020204020204" pitchFamily="34" charset="-122"/>
                <a:ea typeface="微软雅黑" panose="020B0503020204020204" pitchFamily="34" charset="-122"/>
              </a:rPr>
              <a:t>老人福祉科技实验室</a:t>
            </a:r>
            <a:endParaRPr lang="en-US" altLang="zh-CN" sz="2400" dirty="0">
              <a:solidFill>
                <a:schemeClr val="accent4">
                  <a:lumMod val="75000"/>
                </a:schemeClr>
              </a:solidFill>
              <a:latin typeface="微软雅黑" panose="020B0503020204020204" pitchFamily="34" charset="-122"/>
              <a:ea typeface="微软雅黑" panose="020B0503020204020204" pitchFamily="34" charset="-122"/>
            </a:endParaRPr>
          </a:p>
          <a:p>
            <a:pPr marL="0" indent="0" algn="ctr">
              <a:buNone/>
            </a:pPr>
            <a:r>
              <a:rPr lang="en-US" altLang="zh-CN" sz="2400" dirty="0" err="1">
                <a:solidFill>
                  <a:schemeClr val="accent4">
                    <a:lumMod val="75000"/>
                  </a:schemeClr>
                </a:solidFill>
                <a:latin typeface="微软雅黑" panose="020B0503020204020204" pitchFamily="34" charset="-122"/>
                <a:ea typeface="微软雅黑" panose="020B0503020204020204" pitchFamily="34" charset="-122"/>
              </a:rPr>
              <a:t>lijia@hfut.edu.cn</a:t>
            </a:r>
            <a:endParaRPr lang="zh-CN" altLang="en-US" sz="2400" dirty="0">
              <a:solidFill>
                <a:schemeClr val="accent4">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5170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t>加入课程</a:t>
            </a:r>
            <a:r>
              <a:rPr lang="en-US" altLang="zh-CN" dirty="0"/>
              <a:t>QQ</a:t>
            </a:r>
            <a:r>
              <a:rPr lang="zh-CN" altLang="en-US" dirty="0"/>
              <a:t>群：</a:t>
            </a:r>
          </a:p>
        </p:txBody>
      </p:sp>
      <p:sp>
        <p:nvSpPr>
          <p:cNvPr id="2" name="灯片编号占位符 1">
            <a:extLst>
              <a:ext uri="{FF2B5EF4-FFF2-40B4-BE49-F238E27FC236}">
                <a16:creationId xmlns:a16="http://schemas.microsoft.com/office/drawing/2014/main" id="{2B345E3E-2AD5-4714-AC57-BE3059C0EFED}"/>
              </a:ext>
            </a:extLst>
          </p:cNvPr>
          <p:cNvSpPr>
            <a:spLocks noGrp="1"/>
          </p:cNvSpPr>
          <p:nvPr>
            <p:ph type="sldNum" sz="quarter" idx="12"/>
          </p:nvPr>
        </p:nvSpPr>
        <p:spPr/>
        <p:txBody>
          <a:bodyPr/>
          <a:lstStyle/>
          <a:p>
            <a:fld id="{F64BA984-46A0-4F46-990E-EC790E6934B4}" type="slidenum">
              <a:rPr lang="zh-CN" altLang="en-US" smtClean="0"/>
              <a:t>2</a:t>
            </a:fld>
            <a:endParaRPr lang="zh-CN" altLang="en-US"/>
          </a:p>
        </p:txBody>
      </p:sp>
      <p:sp>
        <p:nvSpPr>
          <p:cNvPr id="5" name="文本框 4">
            <a:extLst>
              <a:ext uri="{FF2B5EF4-FFF2-40B4-BE49-F238E27FC236}">
                <a16:creationId xmlns:a16="http://schemas.microsoft.com/office/drawing/2014/main" id="{16B6A476-6F60-3CD4-37AE-4DA5A87C09FC}"/>
              </a:ext>
            </a:extLst>
          </p:cNvPr>
          <p:cNvSpPr txBox="1"/>
          <p:nvPr/>
        </p:nvSpPr>
        <p:spPr>
          <a:xfrm>
            <a:off x="369558" y="2348880"/>
            <a:ext cx="1896131" cy="646331"/>
          </a:xfrm>
          <a:prstGeom prst="rect">
            <a:avLst/>
          </a:prstGeom>
          <a:noFill/>
        </p:spPr>
        <p:txBody>
          <a:bodyPr wrap="square" rtlCol="0">
            <a:spAutoFit/>
          </a:bodyPr>
          <a:lstStyle/>
          <a:p>
            <a:r>
              <a:rPr lang="en-US" altLang="zh-CN" b="0" i="0" dirty="0">
                <a:solidFill>
                  <a:srgbClr val="000000"/>
                </a:solidFill>
                <a:effectLst/>
                <a:latin typeface="Color Emoji"/>
              </a:rPr>
              <a:t>2025</a:t>
            </a:r>
            <a:r>
              <a:rPr lang="zh-CN" altLang="en-US" b="0" i="0" dirty="0">
                <a:solidFill>
                  <a:srgbClr val="000000"/>
                </a:solidFill>
                <a:effectLst/>
                <a:latin typeface="Color Emoji"/>
              </a:rPr>
              <a:t>多媒体信息处理基础</a:t>
            </a:r>
            <a:r>
              <a:rPr lang="en-US" altLang="zh-CN" b="0" i="0" dirty="0">
                <a:solidFill>
                  <a:srgbClr val="000000"/>
                </a:solidFill>
                <a:effectLst/>
                <a:latin typeface="Color Emoji"/>
              </a:rPr>
              <a:t>QQ</a:t>
            </a:r>
            <a:r>
              <a:rPr lang="zh-CN" altLang="en-US" b="0" i="0" dirty="0">
                <a:solidFill>
                  <a:srgbClr val="000000"/>
                </a:solidFill>
                <a:effectLst/>
                <a:latin typeface="Color Emoji"/>
              </a:rPr>
              <a:t>群</a:t>
            </a:r>
            <a:endParaRPr kumimoji="1" lang="zh-CN" altLang="en-US" dirty="0"/>
          </a:p>
        </p:txBody>
      </p:sp>
      <p:sp>
        <p:nvSpPr>
          <p:cNvPr id="6" name="文本框 5">
            <a:extLst>
              <a:ext uri="{FF2B5EF4-FFF2-40B4-BE49-F238E27FC236}">
                <a16:creationId xmlns:a16="http://schemas.microsoft.com/office/drawing/2014/main" id="{64300F63-11D6-3D45-B584-16D41B2B3984}"/>
              </a:ext>
            </a:extLst>
          </p:cNvPr>
          <p:cNvSpPr txBox="1"/>
          <p:nvPr/>
        </p:nvSpPr>
        <p:spPr>
          <a:xfrm>
            <a:off x="316470" y="5338785"/>
            <a:ext cx="8178393" cy="369332"/>
          </a:xfrm>
          <a:prstGeom prst="rect">
            <a:avLst/>
          </a:prstGeom>
          <a:noFill/>
        </p:spPr>
        <p:txBody>
          <a:bodyPr wrap="none" rtlCol="0">
            <a:spAutoFit/>
          </a:bodyPr>
          <a:lstStyle/>
          <a:p>
            <a:r>
              <a:rPr kumimoji="1" lang="en" altLang="zh-CN" dirty="0"/>
              <a:t>AI</a:t>
            </a:r>
            <a:r>
              <a:rPr kumimoji="1" lang="zh-CN" altLang="en-US" dirty="0"/>
              <a:t>课程和科研软件推荐：</a:t>
            </a:r>
            <a:r>
              <a:rPr kumimoji="1" lang="en" altLang="zh-CN" dirty="0"/>
              <a:t> https://</a:t>
            </a:r>
            <a:r>
              <a:rPr kumimoji="1" lang="en" altLang="zh-CN" dirty="0" err="1"/>
              <a:t>hellojialee.github.io</a:t>
            </a:r>
            <a:r>
              <a:rPr kumimoji="1" lang="en" altLang="zh-CN" dirty="0"/>
              <a:t>/2023/10/12/Tutorial4DL&amp;CV/</a:t>
            </a:r>
            <a:endParaRPr kumimoji="1" lang="zh-CN" altLang="en-US" dirty="0"/>
          </a:p>
        </p:txBody>
      </p:sp>
      <p:sp>
        <p:nvSpPr>
          <p:cNvPr id="7" name="文本框 6">
            <a:extLst>
              <a:ext uri="{FF2B5EF4-FFF2-40B4-BE49-F238E27FC236}">
                <a16:creationId xmlns:a16="http://schemas.microsoft.com/office/drawing/2014/main" id="{EC294458-A489-600D-2ABF-B85273F35159}"/>
              </a:ext>
            </a:extLst>
          </p:cNvPr>
          <p:cNvSpPr txBox="1"/>
          <p:nvPr/>
        </p:nvSpPr>
        <p:spPr>
          <a:xfrm>
            <a:off x="316470" y="5931148"/>
            <a:ext cx="6294737" cy="369332"/>
          </a:xfrm>
          <a:prstGeom prst="rect">
            <a:avLst/>
          </a:prstGeom>
          <a:noFill/>
        </p:spPr>
        <p:txBody>
          <a:bodyPr wrap="none" rtlCol="0">
            <a:spAutoFit/>
          </a:bodyPr>
          <a:lstStyle/>
          <a:p>
            <a:r>
              <a:rPr kumimoji="1" lang="zh-CN" altLang="en-US" dirty="0"/>
              <a:t>研究小组学生分享： </a:t>
            </a:r>
            <a:r>
              <a:rPr kumimoji="1" lang="en" altLang="zh-CN" dirty="0"/>
              <a:t>https://</a:t>
            </a:r>
            <a:r>
              <a:rPr kumimoji="1" lang="en" altLang="zh-CN" dirty="0" err="1"/>
              <a:t>github.com</a:t>
            </a:r>
            <a:r>
              <a:rPr kumimoji="1" lang="en" altLang="zh-CN" dirty="0"/>
              <a:t>/</a:t>
            </a:r>
            <a:r>
              <a:rPr kumimoji="1" lang="en" altLang="zh-CN" dirty="0" err="1"/>
              <a:t>ReadingPapers</a:t>
            </a:r>
            <a:r>
              <a:rPr kumimoji="1" lang="en" altLang="zh-CN" dirty="0"/>
              <a:t>/Report</a:t>
            </a:r>
            <a:endParaRPr kumimoji="1" lang="zh-CN" altLang="en-US" dirty="0"/>
          </a:p>
        </p:txBody>
      </p:sp>
      <p:pic>
        <p:nvPicPr>
          <p:cNvPr id="8" name="图片 7">
            <a:extLst>
              <a:ext uri="{FF2B5EF4-FFF2-40B4-BE49-F238E27FC236}">
                <a16:creationId xmlns:a16="http://schemas.microsoft.com/office/drawing/2014/main" id="{2FB86825-F17D-781D-2B1A-61DD4FAE1EA4}"/>
              </a:ext>
            </a:extLst>
          </p:cNvPr>
          <p:cNvPicPr>
            <a:picLocks noChangeAspect="1"/>
          </p:cNvPicPr>
          <p:nvPr/>
        </p:nvPicPr>
        <p:blipFill>
          <a:blip r:embed="rId2"/>
          <a:stretch>
            <a:fillRect/>
          </a:stretch>
        </p:blipFill>
        <p:spPr>
          <a:xfrm>
            <a:off x="2771799" y="1360297"/>
            <a:ext cx="3839407" cy="3839407"/>
          </a:xfrm>
          <a:prstGeom prst="rect">
            <a:avLst/>
          </a:prstGeom>
        </p:spPr>
      </p:pic>
    </p:spTree>
    <p:extLst>
      <p:ext uri="{BB962C8B-B14F-4D97-AF65-F5344CB8AC3E}">
        <p14:creationId xmlns:p14="http://schemas.microsoft.com/office/powerpoint/2010/main" val="161044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251520" y="116632"/>
            <a:ext cx="5364088" cy="864096"/>
          </a:xfrm>
        </p:spPr>
        <p:txBody>
          <a:bodyPr>
            <a:normAutofit/>
          </a:bodyPr>
          <a:lstStyle/>
          <a:p>
            <a:pPr algn="l"/>
            <a:r>
              <a:rPr lang="zh-CN" altLang="en-US" dirty="0"/>
              <a:t>教程与参考书</a:t>
            </a:r>
          </a:p>
        </p:txBody>
      </p:sp>
      <p:sp>
        <p:nvSpPr>
          <p:cNvPr id="1027" name="Rectangle 3"/>
          <p:cNvSpPr>
            <a:spLocks noGrp="1" noChangeArrowheads="1"/>
          </p:cNvSpPr>
          <p:nvPr>
            <p:ph type="body" idx="4294967295"/>
          </p:nvPr>
        </p:nvSpPr>
        <p:spPr>
          <a:xfrm>
            <a:off x="457200" y="1268760"/>
            <a:ext cx="8229600" cy="5184576"/>
          </a:xfrm>
        </p:spPr>
        <p:txBody>
          <a:bodyPr>
            <a:normAutofit/>
          </a:bodyPr>
          <a:lstStyle/>
          <a:p>
            <a:r>
              <a:rPr lang="zh-CN" altLang="en-US" dirty="0"/>
              <a:t>教材：</a:t>
            </a:r>
            <a:r>
              <a:rPr lang="en-US" altLang="zh-CN" dirty="0"/>
              <a:t>《</a:t>
            </a:r>
            <a:r>
              <a:rPr lang="zh-CN" altLang="en-US" dirty="0"/>
              <a:t>多媒体技术基础</a:t>
            </a:r>
            <a:r>
              <a:rPr lang="en-US" altLang="zh-CN" dirty="0"/>
              <a:t>》</a:t>
            </a:r>
            <a:r>
              <a:rPr lang="zh-CN" altLang="en-US" dirty="0"/>
              <a:t>，林福宗编，清华大学出版社，</a:t>
            </a:r>
            <a:endParaRPr lang="en-US" altLang="zh-CN" dirty="0"/>
          </a:p>
          <a:p>
            <a:r>
              <a:rPr lang="zh-CN" altLang="en-US" dirty="0"/>
              <a:t>参考书目：</a:t>
            </a:r>
          </a:p>
          <a:p>
            <a:pPr lvl="1">
              <a:lnSpc>
                <a:spcPct val="120000"/>
              </a:lnSpc>
              <a:spcBef>
                <a:spcPts val="0"/>
              </a:spcBef>
            </a:pPr>
            <a:r>
              <a:rPr lang="en-US" altLang="zh-CN" dirty="0"/>
              <a:t> [1] Ze-</a:t>
            </a:r>
            <a:r>
              <a:rPr lang="en-US" altLang="zh-CN" dirty="0" err="1"/>
              <a:t>Nian</a:t>
            </a:r>
            <a:r>
              <a:rPr lang="en-US" altLang="zh-CN" dirty="0"/>
              <a:t> Li, Mark S. Drew. </a:t>
            </a:r>
            <a:r>
              <a:rPr lang="zh-CN" altLang="en-US" dirty="0"/>
              <a:t>多媒体技术教程。 机械工业出版社；</a:t>
            </a:r>
            <a:r>
              <a:rPr lang="en-US" altLang="zh-CN" dirty="0"/>
              <a:t>2004</a:t>
            </a:r>
          </a:p>
          <a:p>
            <a:pPr lvl="1">
              <a:lnSpc>
                <a:spcPct val="120000"/>
              </a:lnSpc>
              <a:spcBef>
                <a:spcPts val="0"/>
              </a:spcBef>
            </a:pPr>
            <a:r>
              <a:rPr lang="en-US" altLang="zh-CN" dirty="0"/>
              <a:t>[2]《</a:t>
            </a:r>
            <a:r>
              <a:rPr lang="zh-CN" altLang="en-US" dirty="0"/>
              <a:t>多媒体技术</a:t>
            </a:r>
            <a:r>
              <a:rPr lang="en-US" altLang="zh-CN" dirty="0"/>
              <a:t>》</a:t>
            </a:r>
            <a:r>
              <a:rPr lang="zh-CN" altLang="en-US" dirty="0"/>
              <a:t>李小平等编著，北京理工大学出版社，</a:t>
            </a:r>
            <a:r>
              <a:rPr lang="en-US" altLang="zh-CN" dirty="0"/>
              <a:t>2008.</a:t>
            </a:r>
          </a:p>
          <a:p>
            <a:pPr lvl="1">
              <a:lnSpc>
                <a:spcPct val="120000"/>
              </a:lnSpc>
              <a:spcBef>
                <a:spcPts val="0"/>
              </a:spcBef>
            </a:pPr>
            <a:r>
              <a:rPr lang="en-US" altLang="zh-CN" dirty="0"/>
              <a:t>[3] 《</a:t>
            </a:r>
            <a:r>
              <a:rPr lang="zh-CN" altLang="en-US" dirty="0"/>
              <a:t>信息检索：实现和评价搜索引擎</a:t>
            </a:r>
            <a:r>
              <a:rPr lang="en-US" altLang="zh-CN" dirty="0"/>
              <a:t>》</a:t>
            </a:r>
            <a:r>
              <a:rPr lang="zh-CN" altLang="en-US" dirty="0"/>
              <a:t>机械工业出版社</a:t>
            </a:r>
            <a:endParaRPr lang="en-US" altLang="zh-CN" dirty="0"/>
          </a:p>
        </p:txBody>
      </p:sp>
      <p:sp>
        <p:nvSpPr>
          <p:cNvPr id="2" name="灯片编号占位符 1">
            <a:extLst>
              <a:ext uri="{FF2B5EF4-FFF2-40B4-BE49-F238E27FC236}">
                <a16:creationId xmlns:a16="http://schemas.microsoft.com/office/drawing/2014/main" id="{53510C0C-8D89-42A5-B15D-55FE75A62E7C}"/>
              </a:ext>
            </a:extLst>
          </p:cNvPr>
          <p:cNvSpPr>
            <a:spLocks noGrp="1"/>
          </p:cNvSpPr>
          <p:nvPr>
            <p:ph type="sldNum" sz="quarter" idx="12"/>
          </p:nvPr>
        </p:nvSpPr>
        <p:spPr/>
        <p:txBody>
          <a:bodyPr/>
          <a:lstStyle/>
          <a:p>
            <a:fld id="{F64BA984-46A0-4F46-990E-EC790E6934B4}" type="slidenum">
              <a:rPr lang="zh-CN" altLang="en-US" smtClean="0"/>
              <a:t>3</a:t>
            </a:fld>
            <a:endParaRPr lang="zh-CN" altLang="en-US"/>
          </a:p>
        </p:txBody>
      </p:sp>
    </p:spTree>
    <p:extLst>
      <p:ext uri="{BB962C8B-B14F-4D97-AF65-F5344CB8AC3E}">
        <p14:creationId xmlns:p14="http://schemas.microsoft.com/office/powerpoint/2010/main" val="256591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fade">
                                      <p:cBhvr>
                                        <p:cTn id="7" dur="500"/>
                                        <p:tgtEl>
                                          <p:spTgt spid="1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fade">
                                      <p:cBhvr>
                                        <p:cTn id="12" dur="500"/>
                                        <p:tgtEl>
                                          <p:spTgt spid="102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27">
                                            <p:txEl>
                                              <p:pRg st="2" end="2"/>
                                            </p:txEl>
                                          </p:spTgt>
                                        </p:tgtEl>
                                        <p:attrNameLst>
                                          <p:attrName>style.visibility</p:attrName>
                                        </p:attrNameLst>
                                      </p:cBhvr>
                                      <p:to>
                                        <p:strVal val="visible"/>
                                      </p:to>
                                    </p:set>
                                    <p:animEffect transition="in" filter="fade">
                                      <p:cBhvr>
                                        <p:cTn id="15" dur="500"/>
                                        <p:tgtEl>
                                          <p:spTgt spid="102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27">
                                            <p:txEl>
                                              <p:pRg st="3" end="3"/>
                                            </p:txEl>
                                          </p:spTgt>
                                        </p:tgtEl>
                                        <p:attrNameLst>
                                          <p:attrName>style.visibility</p:attrName>
                                        </p:attrNameLst>
                                      </p:cBhvr>
                                      <p:to>
                                        <p:strVal val="visible"/>
                                      </p:to>
                                    </p:set>
                                    <p:animEffect transition="in" filter="fade">
                                      <p:cBhvr>
                                        <p:cTn id="18" dur="500"/>
                                        <p:tgtEl>
                                          <p:spTgt spid="1027">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27">
                                            <p:txEl>
                                              <p:pRg st="4" end="4"/>
                                            </p:txEl>
                                          </p:spTgt>
                                        </p:tgtEl>
                                        <p:attrNameLst>
                                          <p:attrName>style.visibility</p:attrName>
                                        </p:attrNameLst>
                                      </p:cBhvr>
                                      <p:to>
                                        <p:strVal val="visible"/>
                                      </p:to>
                                    </p:set>
                                    <p:animEffect transition="in" filter="fade">
                                      <p:cBhvr>
                                        <p:cTn id="21"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52B3FA4-B958-410C-8631-536C665581B9}"/>
              </a:ext>
            </a:extLst>
          </p:cNvPr>
          <p:cNvSpPr>
            <a:spLocks noGrp="1"/>
          </p:cNvSpPr>
          <p:nvPr>
            <p:ph idx="1"/>
          </p:nvPr>
        </p:nvSpPr>
        <p:spPr/>
        <p:txBody>
          <a:bodyPr/>
          <a:lstStyle/>
          <a:p>
            <a:r>
              <a:rPr lang="zh-CN" altLang="en-US" dirty="0"/>
              <a:t>平时作业（</a:t>
            </a:r>
            <a:r>
              <a:rPr lang="en-US" altLang="zh-CN" dirty="0"/>
              <a:t>20%</a:t>
            </a:r>
            <a:r>
              <a:rPr lang="zh-CN" altLang="en-US" dirty="0"/>
              <a:t>）</a:t>
            </a:r>
            <a:endParaRPr lang="en-US" altLang="zh-CN" dirty="0"/>
          </a:p>
          <a:p>
            <a:r>
              <a:rPr lang="en-US" altLang="zh-CN" sz="2400" dirty="0">
                <a:solidFill>
                  <a:schemeClr val="tx1"/>
                </a:solidFill>
              </a:rPr>
              <a:t>2-3</a:t>
            </a:r>
            <a:r>
              <a:rPr lang="zh-CN" altLang="en-US" sz="2400" dirty="0">
                <a:solidFill>
                  <a:schemeClr val="tx1"/>
                </a:solidFill>
              </a:rPr>
              <a:t>次， 准备一个作业本</a:t>
            </a:r>
            <a:endParaRPr lang="en-US" altLang="zh-CN" sz="2400" dirty="0">
              <a:solidFill>
                <a:schemeClr val="tx1"/>
              </a:solidFill>
            </a:endParaRPr>
          </a:p>
          <a:p>
            <a:r>
              <a:rPr lang="zh-CN" altLang="en-US" sz="2400" dirty="0">
                <a:solidFill>
                  <a:schemeClr val="tx1"/>
                </a:solidFill>
              </a:rPr>
              <a:t>考勤， </a:t>
            </a:r>
            <a:r>
              <a:rPr lang="en-US" altLang="zh-CN" sz="2400" dirty="0">
                <a:solidFill>
                  <a:schemeClr val="tx1"/>
                </a:solidFill>
              </a:rPr>
              <a:t>3</a:t>
            </a:r>
            <a:r>
              <a:rPr lang="zh-CN" altLang="en-US" sz="2400" dirty="0">
                <a:solidFill>
                  <a:schemeClr val="tx1"/>
                </a:solidFill>
              </a:rPr>
              <a:t>次旷课即</a:t>
            </a:r>
            <a:r>
              <a:rPr lang="zh-CN" altLang="en-US" sz="2400" dirty="0">
                <a:solidFill>
                  <a:srgbClr val="FF0000"/>
                </a:solidFill>
              </a:rPr>
              <a:t>取消考试资格</a:t>
            </a:r>
            <a:endParaRPr lang="en-US" altLang="zh-CN" sz="2400" dirty="0">
              <a:solidFill>
                <a:srgbClr val="FF0000"/>
              </a:solidFill>
            </a:endParaRPr>
          </a:p>
          <a:p>
            <a:r>
              <a:rPr lang="zh-CN" altLang="en-US" dirty="0"/>
              <a:t>课堂测试（</a:t>
            </a:r>
            <a:r>
              <a:rPr lang="en-US" altLang="zh-CN" dirty="0"/>
              <a:t>20%</a:t>
            </a:r>
            <a:r>
              <a:rPr lang="zh-CN" altLang="en-US" dirty="0"/>
              <a:t>）</a:t>
            </a:r>
            <a:endParaRPr lang="en-US" altLang="zh-CN" dirty="0"/>
          </a:p>
          <a:p>
            <a:r>
              <a:rPr lang="zh-CN" altLang="en-US" dirty="0"/>
              <a:t>实验报告（</a:t>
            </a:r>
            <a:r>
              <a:rPr lang="en-US" altLang="zh-CN" dirty="0"/>
              <a:t>20%</a:t>
            </a:r>
            <a:r>
              <a:rPr lang="zh-CN" altLang="en-US" dirty="0"/>
              <a:t>）</a:t>
            </a:r>
            <a:endParaRPr lang="en-US" altLang="zh-CN" dirty="0"/>
          </a:p>
          <a:p>
            <a:r>
              <a:rPr lang="zh-CN" altLang="en-US" sz="2400" dirty="0">
                <a:solidFill>
                  <a:schemeClr val="tx1"/>
                </a:solidFill>
              </a:rPr>
              <a:t>两次上机实验，按时参加、完成，并撰写实验报告实验报告。禁止抄袭或片段雷同</a:t>
            </a:r>
            <a:endParaRPr lang="en-US" altLang="zh-CN" dirty="0">
              <a:solidFill>
                <a:schemeClr val="tx1"/>
              </a:solidFill>
            </a:endParaRPr>
          </a:p>
          <a:p>
            <a:r>
              <a:rPr lang="zh-CN" altLang="en-US" dirty="0"/>
              <a:t>期末考试（</a:t>
            </a:r>
            <a:r>
              <a:rPr lang="en-US" altLang="zh-CN" dirty="0"/>
              <a:t>40%</a:t>
            </a:r>
            <a:r>
              <a:rPr lang="zh-CN" altLang="en-US" dirty="0"/>
              <a:t>）</a:t>
            </a:r>
          </a:p>
        </p:txBody>
      </p:sp>
      <p:sp>
        <p:nvSpPr>
          <p:cNvPr id="3" name="标题 2">
            <a:extLst>
              <a:ext uri="{FF2B5EF4-FFF2-40B4-BE49-F238E27FC236}">
                <a16:creationId xmlns:a16="http://schemas.microsoft.com/office/drawing/2014/main" id="{5581BC0F-5CE0-4AC5-878A-E80A5CF8F528}"/>
              </a:ext>
            </a:extLst>
          </p:cNvPr>
          <p:cNvSpPr>
            <a:spLocks noGrp="1"/>
          </p:cNvSpPr>
          <p:nvPr>
            <p:ph type="title"/>
          </p:nvPr>
        </p:nvSpPr>
        <p:spPr/>
        <p:txBody>
          <a:bodyPr>
            <a:normAutofit fontScale="90000"/>
          </a:bodyPr>
          <a:lstStyle/>
          <a:p>
            <a:r>
              <a:rPr lang="zh-CN" altLang="en-US" dirty="0"/>
              <a:t>考核方式</a:t>
            </a:r>
            <a:r>
              <a:rPr lang="en-US" altLang="zh-CN" dirty="0"/>
              <a:t>:</a:t>
            </a:r>
            <a:endParaRPr lang="zh-CN" altLang="en-US" dirty="0"/>
          </a:p>
        </p:txBody>
      </p:sp>
      <p:sp>
        <p:nvSpPr>
          <p:cNvPr id="4" name="灯片编号占位符 3">
            <a:extLst>
              <a:ext uri="{FF2B5EF4-FFF2-40B4-BE49-F238E27FC236}">
                <a16:creationId xmlns:a16="http://schemas.microsoft.com/office/drawing/2014/main" id="{730E3D53-3508-4D30-85E3-13E01611009A}"/>
              </a:ext>
            </a:extLst>
          </p:cNvPr>
          <p:cNvSpPr>
            <a:spLocks noGrp="1"/>
          </p:cNvSpPr>
          <p:nvPr>
            <p:ph type="sldNum" sz="quarter" idx="12"/>
          </p:nvPr>
        </p:nvSpPr>
        <p:spPr/>
        <p:txBody>
          <a:bodyPr/>
          <a:lstStyle/>
          <a:p>
            <a:fld id="{F64BA984-46A0-4F46-990E-EC790E6934B4}" type="slidenum">
              <a:rPr lang="zh-CN" altLang="en-US" smtClean="0"/>
              <a:t>4</a:t>
            </a:fld>
            <a:endParaRPr lang="zh-CN" altLang="en-US"/>
          </a:p>
        </p:txBody>
      </p:sp>
    </p:spTree>
    <p:extLst>
      <p:ext uri="{BB962C8B-B14F-4D97-AF65-F5344CB8AC3E}">
        <p14:creationId xmlns:p14="http://schemas.microsoft.com/office/powerpoint/2010/main" val="2158604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BDAFDA5-58E1-47C6-AC5D-32C175AE4DFA}"/>
              </a:ext>
            </a:extLst>
          </p:cNvPr>
          <p:cNvSpPr>
            <a:spLocks noGrp="1"/>
          </p:cNvSpPr>
          <p:nvPr>
            <p:ph type="title"/>
          </p:nvPr>
        </p:nvSpPr>
        <p:spPr/>
        <p:txBody>
          <a:bodyPr>
            <a:normAutofit fontScale="90000"/>
          </a:bodyPr>
          <a:lstStyle/>
          <a:p>
            <a:r>
              <a:rPr lang="zh-CN" altLang="en-US" dirty="0"/>
              <a:t>关于实验</a:t>
            </a:r>
          </a:p>
        </p:txBody>
      </p:sp>
      <p:sp>
        <p:nvSpPr>
          <p:cNvPr id="2" name="灯片编号占位符 1">
            <a:extLst>
              <a:ext uri="{FF2B5EF4-FFF2-40B4-BE49-F238E27FC236}">
                <a16:creationId xmlns:a16="http://schemas.microsoft.com/office/drawing/2014/main" id="{0F5E56B0-1EC2-4252-8F90-D03111F6A3BB}"/>
              </a:ext>
            </a:extLst>
          </p:cNvPr>
          <p:cNvSpPr>
            <a:spLocks noGrp="1"/>
          </p:cNvSpPr>
          <p:nvPr>
            <p:ph type="sldNum" sz="quarter" idx="12"/>
          </p:nvPr>
        </p:nvSpPr>
        <p:spPr/>
        <p:txBody>
          <a:bodyPr/>
          <a:lstStyle/>
          <a:p>
            <a:fld id="{F64BA984-46A0-4F46-990E-EC790E6934B4}" type="slidenum">
              <a:rPr lang="zh-CN" altLang="en-US" smtClean="0"/>
              <a:t>5</a:t>
            </a:fld>
            <a:endParaRPr lang="zh-CN" altLang="en-US"/>
          </a:p>
        </p:txBody>
      </p:sp>
      <p:sp>
        <p:nvSpPr>
          <p:cNvPr id="4" name="文本框 3">
            <a:extLst>
              <a:ext uri="{FF2B5EF4-FFF2-40B4-BE49-F238E27FC236}">
                <a16:creationId xmlns:a16="http://schemas.microsoft.com/office/drawing/2014/main" id="{15D289CA-10F2-3ADB-5222-B44C9B058BF5}"/>
              </a:ext>
            </a:extLst>
          </p:cNvPr>
          <p:cNvSpPr txBox="1"/>
          <p:nvPr/>
        </p:nvSpPr>
        <p:spPr>
          <a:xfrm>
            <a:off x="387436" y="1042897"/>
            <a:ext cx="8092988" cy="2251065"/>
          </a:xfrm>
          <a:prstGeom prst="rect">
            <a:avLst/>
          </a:prstGeom>
          <a:noFill/>
        </p:spPr>
        <p:txBody>
          <a:bodyPr wrap="square">
            <a:spAutoFit/>
          </a:bodyPr>
          <a:lstStyle/>
          <a:p>
            <a:pPr>
              <a:lnSpc>
                <a:spcPct val="150000"/>
              </a:lnSpc>
            </a:pPr>
            <a:r>
              <a:rPr lang="zh-CN" altLang="en-US" sz="2400" dirty="0"/>
              <a:t>实验基础代码需要使用</a:t>
            </a:r>
            <a:r>
              <a:rPr lang="en-US" altLang="zh-CN" sz="2400" dirty="0"/>
              <a:t>Python</a:t>
            </a:r>
            <a:r>
              <a:rPr lang="zh-CN" altLang="en-US" sz="2400" dirty="0"/>
              <a:t>（相关课程已于</a:t>
            </a:r>
            <a:r>
              <a:rPr lang="en-US" altLang="zh-CN" sz="2400" dirty="0"/>
              <a:t>2023</a:t>
            </a:r>
            <a:r>
              <a:rPr lang="zh-CN" altLang="en-US" sz="2400" dirty="0"/>
              <a:t>版教学计划安排在了第</a:t>
            </a:r>
            <a:r>
              <a:rPr lang="en-US" altLang="zh-CN" sz="2400" dirty="0"/>
              <a:t>3</a:t>
            </a:r>
            <a:r>
              <a:rPr lang="zh-CN" altLang="en-US" sz="2400" dirty="0"/>
              <a:t>个学期），请提前学习基本语法和使用。网上资料很多</a:t>
            </a:r>
            <a:endParaRPr lang="en-US" altLang="zh-CN" sz="2400" dirty="0"/>
          </a:p>
          <a:p>
            <a:pPr>
              <a:lnSpc>
                <a:spcPct val="150000"/>
              </a:lnSpc>
            </a:pPr>
            <a:r>
              <a:rPr lang="en-US" altLang="zh-CN" sz="2400" dirty="0"/>
              <a:t>https://www.w3school.com.cn/python/index.asp</a:t>
            </a:r>
            <a:endParaRPr lang="zh-CN" altLang="en-US" sz="2400" dirty="0"/>
          </a:p>
        </p:txBody>
      </p:sp>
    </p:spTree>
    <p:extLst>
      <p:ext uri="{BB962C8B-B14F-4D97-AF65-F5344CB8AC3E}">
        <p14:creationId xmlns:p14="http://schemas.microsoft.com/office/powerpoint/2010/main" val="1529621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51520" y="116632"/>
            <a:ext cx="5364088"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dirty="0"/>
              <a:t>教学内容</a:t>
            </a:r>
          </a:p>
        </p:txBody>
      </p:sp>
      <p:sp>
        <p:nvSpPr>
          <p:cNvPr id="3" name="矩形 2"/>
          <p:cNvSpPr/>
          <p:nvPr/>
        </p:nvSpPr>
        <p:spPr>
          <a:xfrm>
            <a:off x="614378" y="1439198"/>
            <a:ext cx="7558022" cy="584775"/>
          </a:xfrm>
          <a:prstGeom prst="rect">
            <a:avLst/>
          </a:prstGeom>
        </p:spPr>
        <p:txBody>
          <a:bodyPr wrap="square">
            <a:spAutoFit/>
          </a:bodyPr>
          <a:lstStyle/>
          <a:p>
            <a:pPr marL="457200" indent="-457200">
              <a:buFont typeface="Arial" pitchFamily="34" charset="0"/>
              <a:buChar char="•"/>
            </a:pPr>
            <a:r>
              <a:rPr lang="zh-CN" altLang="zh-CN" sz="3200" dirty="0"/>
              <a:t>第一</a:t>
            </a:r>
            <a:r>
              <a:rPr lang="zh-CN" altLang="en-US" sz="3200" dirty="0"/>
              <a:t>部分：</a:t>
            </a:r>
            <a:r>
              <a:rPr lang="zh-CN" altLang="zh-CN" sz="3200" dirty="0"/>
              <a:t> 多媒体技术</a:t>
            </a:r>
            <a:r>
              <a:rPr lang="zh-CN" altLang="en-US" sz="3200" dirty="0"/>
              <a:t>基础</a:t>
            </a:r>
            <a:endParaRPr lang="en-US" altLang="zh-CN" sz="3200" dirty="0"/>
          </a:p>
        </p:txBody>
      </p:sp>
      <p:sp>
        <p:nvSpPr>
          <p:cNvPr id="6" name="矩形 5"/>
          <p:cNvSpPr/>
          <p:nvPr/>
        </p:nvSpPr>
        <p:spPr>
          <a:xfrm>
            <a:off x="539552" y="3015740"/>
            <a:ext cx="7488832" cy="584775"/>
          </a:xfrm>
          <a:prstGeom prst="rect">
            <a:avLst/>
          </a:prstGeom>
        </p:spPr>
        <p:txBody>
          <a:bodyPr wrap="square">
            <a:spAutoFit/>
          </a:bodyPr>
          <a:lstStyle/>
          <a:p>
            <a:pPr marL="457200" indent="-457200">
              <a:buFont typeface="Arial" pitchFamily="34" charset="0"/>
              <a:buChar char="•"/>
            </a:pPr>
            <a:r>
              <a:rPr lang="zh-CN" altLang="zh-CN" sz="3200" dirty="0"/>
              <a:t>第</a:t>
            </a:r>
            <a:r>
              <a:rPr lang="zh-CN" altLang="en-US" sz="3200" dirty="0"/>
              <a:t>二部分</a:t>
            </a:r>
            <a:r>
              <a:rPr lang="zh-CN" altLang="zh-CN" sz="3200" dirty="0"/>
              <a:t>：多媒体数据</a:t>
            </a:r>
            <a:r>
              <a:rPr lang="zh-CN" altLang="en-US" sz="3200" dirty="0"/>
              <a:t>分析与管理</a:t>
            </a:r>
          </a:p>
        </p:txBody>
      </p:sp>
      <p:sp>
        <p:nvSpPr>
          <p:cNvPr id="7" name="矩形 6"/>
          <p:cNvSpPr/>
          <p:nvPr/>
        </p:nvSpPr>
        <p:spPr>
          <a:xfrm>
            <a:off x="538865" y="4609366"/>
            <a:ext cx="6594429" cy="584775"/>
          </a:xfrm>
          <a:prstGeom prst="rect">
            <a:avLst/>
          </a:prstGeom>
        </p:spPr>
        <p:txBody>
          <a:bodyPr wrap="square">
            <a:spAutoFit/>
          </a:bodyPr>
          <a:lstStyle/>
          <a:p>
            <a:pPr marL="457200" indent="-457200">
              <a:buFont typeface="Arial" pitchFamily="34" charset="0"/>
              <a:buChar char="•"/>
            </a:pPr>
            <a:r>
              <a:rPr lang="zh-CN" altLang="zh-CN" sz="3200" dirty="0"/>
              <a:t>第</a:t>
            </a:r>
            <a:r>
              <a:rPr lang="zh-CN" altLang="en-US" sz="3200" dirty="0"/>
              <a:t>三部分</a:t>
            </a:r>
            <a:r>
              <a:rPr lang="zh-CN" altLang="zh-CN" sz="3200" dirty="0"/>
              <a:t>：多媒体</a:t>
            </a:r>
            <a:r>
              <a:rPr lang="zh-CN" altLang="en-US" sz="3200" dirty="0"/>
              <a:t>处理</a:t>
            </a:r>
            <a:r>
              <a:rPr lang="zh-CN" altLang="zh-CN" sz="3200" dirty="0"/>
              <a:t>新技术</a:t>
            </a:r>
            <a:endParaRPr lang="zh-CN" altLang="en-US" sz="3200" dirty="0"/>
          </a:p>
        </p:txBody>
      </p:sp>
      <p:sp>
        <p:nvSpPr>
          <p:cNvPr id="8" name="文本框 7">
            <a:extLst>
              <a:ext uri="{FF2B5EF4-FFF2-40B4-BE49-F238E27FC236}">
                <a16:creationId xmlns:a16="http://schemas.microsoft.com/office/drawing/2014/main" id="{CBBCE4B3-69B5-47A9-BC31-DE8A5AC1D7AE}"/>
              </a:ext>
            </a:extLst>
          </p:cNvPr>
          <p:cNvSpPr txBox="1"/>
          <p:nvPr/>
        </p:nvSpPr>
        <p:spPr>
          <a:xfrm>
            <a:off x="1871309" y="2030094"/>
            <a:ext cx="3923928" cy="400110"/>
          </a:xfrm>
          <a:prstGeom prst="rect">
            <a:avLst/>
          </a:prstGeom>
          <a:noFill/>
        </p:spPr>
        <p:txBody>
          <a:bodyPr wrap="square" rtlCol="0">
            <a:spAutoFit/>
          </a:bodyPr>
          <a:lstStyle/>
          <a:p>
            <a:r>
              <a:rPr lang="zh-CN" altLang="en-US" sz="2000" dirty="0">
                <a:solidFill>
                  <a:srgbClr val="FF0000"/>
                </a:solidFill>
                <a:latin typeface="华文楷体" panose="02010600040101010101" pitchFamily="2" charset="-122"/>
                <a:ea typeface="华文楷体" panose="02010600040101010101" pitchFamily="2" charset="-122"/>
              </a:rPr>
              <a:t>采集、存储、压缩、传输</a:t>
            </a:r>
          </a:p>
        </p:txBody>
      </p:sp>
      <p:sp>
        <p:nvSpPr>
          <p:cNvPr id="9" name="文本框 8">
            <a:extLst>
              <a:ext uri="{FF2B5EF4-FFF2-40B4-BE49-F238E27FC236}">
                <a16:creationId xmlns:a16="http://schemas.microsoft.com/office/drawing/2014/main" id="{6EC6100B-A8D0-47A3-9629-C632EFF1369F}"/>
              </a:ext>
            </a:extLst>
          </p:cNvPr>
          <p:cNvSpPr txBox="1"/>
          <p:nvPr/>
        </p:nvSpPr>
        <p:spPr>
          <a:xfrm>
            <a:off x="1904835" y="3658875"/>
            <a:ext cx="3923928" cy="400110"/>
          </a:xfrm>
          <a:prstGeom prst="rect">
            <a:avLst/>
          </a:prstGeom>
          <a:noFill/>
        </p:spPr>
        <p:txBody>
          <a:bodyPr wrap="square" rtlCol="0">
            <a:spAutoFit/>
          </a:bodyPr>
          <a:lstStyle/>
          <a:p>
            <a:r>
              <a:rPr lang="zh-CN" altLang="en-US" sz="2000" dirty="0">
                <a:solidFill>
                  <a:srgbClr val="FF0000"/>
                </a:solidFill>
                <a:latin typeface="华文楷体" panose="02010600040101010101" pitchFamily="2" charset="-122"/>
                <a:ea typeface="华文楷体" panose="02010600040101010101" pitchFamily="2" charset="-122"/>
              </a:rPr>
              <a:t>内容分析、检索</a:t>
            </a:r>
          </a:p>
        </p:txBody>
      </p:sp>
      <p:sp>
        <p:nvSpPr>
          <p:cNvPr id="10" name="文本框 9">
            <a:extLst>
              <a:ext uri="{FF2B5EF4-FFF2-40B4-BE49-F238E27FC236}">
                <a16:creationId xmlns:a16="http://schemas.microsoft.com/office/drawing/2014/main" id="{8836098A-6FE5-4658-BB01-A6F6F60E7E29}"/>
              </a:ext>
            </a:extLst>
          </p:cNvPr>
          <p:cNvSpPr txBox="1"/>
          <p:nvPr/>
        </p:nvSpPr>
        <p:spPr>
          <a:xfrm>
            <a:off x="1904835" y="5368194"/>
            <a:ext cx="3923928" cy="400110"/>
          </a:xfrm>
          <a:prstGeom prst="rect">
            <a:avLst/>
          </a:prstGeom>
          <a:noFill/>
        </p:spPr>
        <p:txBody>
          <a:bodyPr wrap="square" rtlCol="0">
            <a:spAutoFit/>
          </a:bodyPr>
          <a:lstStyle/>
          <a:p>
            <a:r>
              <a:rPr lang="zh-CN" altLang="en-US" sz="2000" dirty="0">
                <a:solidFill>
                  <a:srgbClr val="FF0000"/>
                </a:solidFill>
                <a:latin typeface="华文楷体" panose="02010600040101010101" pitchFamily="2" charset="-122"/>
                <a:ea typeface="华文楷体" panose="02010600040101010101" pitchFamily="2" charset="-122"/>
              </a:rPr>
              <a:t>基于深度学习的多媒体处理</a:t>
            </a:r>
          </a:p>
        </p:txBody>
      </p:sp>
      <p:sp>
        <p:nvSpPr>
          <p:cNvPr id="4" name="灯片编号占位符 3">
            <a:extLst>
              <a:ext uri="{FF2B5EF4-FFF2-40B4-BE49-F238E27FC236}">
                <a16:creationId xmlns:a16="http://schemas.microsoft.com/office/drawing/2014/main" id="{3632501F-F165-475B-BDF5-1C0BE9866292}"/>
              </a:ext>
            </a:extLst>
          </p:cNvPr>
          <p:cNvSpPr>
            <a:spLocks noGrp="1"/>
          </p:cNvSpPr>
          <p:nvPr>
            <p:ph type="sldNum" sz="quarter" idx="12"/>
          </p:nvPr>
        </p:nvSpPr>
        <p:spPr/>
        <p:txBody>
          <a:bodyPr/>
          <a:lstStyle/>
          <a:p>
            <a:fld id="{F64BA984-46A0-4F46-990E-EC790E6934B4}" type="slidenum">
              <a:rPr lang="zh-CN" altLang="en-US" smtClean="0"/>
              <a:t>6</a:t>
            </a:fld>
            <a:endParaRPr lang="zh-CN" altLang="en-US"/>
          </a:p>
        </p:txBody>
      </p:sp>
    </p:spTree>
    <p:extLst>
      <p:ext uri="{BB962C8B-B14F-4D97-AF65-F5344CB8AC3E}">
        <p14:creationId xmlns:p14="http://schemas.microsoft.com/office/powerpoint/2010/main" val="4175121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51520" y="116632"/>
            <a:ext cx="5364088" cy="86409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dirty="0"/>
              <a:t>教学内容</a:t>
            </a:r>
          </a:p>
        </p:txBody>
      </p:sp>
      <p:sp>
        <p:nvSpPr>
          <p:cNvPr id="3" name="矩形 2"/>
          <p:cNvSpPr/>
          <p:nvPr/>
        </p:nvSpPr>
        <p:spPr>
          <a:xfrm>
            <a:off x="614378" y="1439198"/>
            <a:ext cx="7558022" cy="584775"/>
          </a:xfrm>
          <a:prstGeom prst="rect">
            <a:avLst/>
          </a:prstGeom>
        </p:spPr>
        <p:txBody>
          <a:bodyPr wrap="square">
            <a:spAutoFit/>
          </a:bodyPr>
          <a:lstStyle/>
          <a:p>
            <a:pPr marL="457200" indent="-457200">
              <a:buFont typeface="Arial" pitchFamily="34" charset="0"/>
              <a:buChar char="•"/>
            </a:pPr>
            <a:r>
              <a:rPr lang="zh-CN" altLang="zh-CN" sz="3200" b="1" dirty="0">
                <a:solidFill>
                  <a:srgbClr val="0000FF"/>
                </a:solidFill>
              </a:rPr>
              <a:t>第一</a:t>
            </a:r>
            <a:r>
              <a:rPr lang="zh-CN" altLang="en-US" sz="3200" b="1" dirty="0">
                <a:solidFill>
                  <a:srgbClr val="0000FF"/>
                </a:solidFill>
              </a:rPr>
              <a:t>部分：</a:t>
            </a:r>
            <a:r>
              <a:rPr lang="zh-CN" altLang="zh-CN" sz="3200" b="1" dirty="0">
                <a:solidFill>
                  <a:srgbClr val="0000FF"/>
                </a:solidFill>
              </a:rPr>
              <a:t> 多媒体技术</a:t>
            </a:r>
            <a:r>
              <a:rPr lang="zh-CN" altLang="en-US" sz="3200" b="1" dirty="0">
                <a:solidFill>
                  <a:srgbClr val="0000FF"/>
                </a:solidFill>
              </a:rPr>
              <a:t>基础</a:t>
            </a:r>
          </a:p>
        </p:txBody>
      </p:sp>
      <p:sp>
        <p:nvSpPr>
          <p:cNvPr id="8" name="矩形 7">
            <a:extLst>
              <a:ext uri="{FF2B5EF4-FFF2-40B4-BE49-F238E27FC236}">
                <a16:creationId xmlns:a16="http://schemas.microsoft.com/office/drawing/2014/main" id="{A7FE4917-136F-4277-884C-7145F77F5051}"/>
              </a:ext>
            </a:extLst>
          </p:cNvPr>
          <p:cNvSpPr/>
          <p:nvPr/>
        </p:nvSpPr>
        <p:spPr>
          <a:xfrm>
            <a:off x="1115616" y="2348880"/>
            <a:ext cx="7558022" cy="584775"/>
          </a:xfrm>
          <a:prstGeom prst="rect">
            <a:avLst/>
          </a:prstGeom>
        </p:spPr>
        <p:txBody>
          <a:bodyPr wrap="square">
            <a:spAutoFit/>
          </a:bodyPr>
          <a:lstStyle/>
          <a:p>
            <a:pPr marL="457200" indent="-457200">
              <a:buFont typeface="Arial" pitchFamily="34" charset="0"/>
              <a:buChar char="•"/>
            </a:pPr>
            <a:r>
              <a:rPr lang="zh-CN" altLang="zh-CN" sz="3200" dirty="0"/>
              <a:t>第一</a:t>
            </a:r>
            <a:r>
              <a:rPr lang="zh-CN" altLang="en-US" sz="3200" dirty="0"/>
              <a:t>章：</a:t>
            </a:r>
            <a:r>
              <a:rPr lang="zh-CN" altLang="zh-CN" sz="3200" dirty="0"/>
              <a:t> 多媒体技术概述</a:t>
            </a:r>
            <a:endParaRPr lang="zh-CN" altLang="en-US" sz="3200" dirty="0"/>
          </a:p>
        </p:txBody>
      </p:sp>
      <p:sp>
        <p:nvSpPr>
          <p:cNvPr id="9" name="矩形 8">
            <a:extLst>
              <a:ext uri="{FF2B5EF4-FFF2-40B4-BE49-F238E27FC236}">
                <a16:creationId xmlns:a16="http://schemas.microsoft.com/office/drawing/2014/main" id="{1F66223D-AA75-4543-946B-5DAE9979542A}"/>
              </a:ext>
            </a:extLst>
          </p:cNvPr>
          <p:cNvSpPr/>
          <p:nvPr/>
        </p:nvSpPr>
        <p:spPr>
          <a:xfrm>
            <a:off x="1115615" y="3104964"/>
            <a:ext cx="7039999" cy="584775"/>
          </a:xfrm>
          <a:prstGeom prst="rect">
            <a:avLst/>
          </a:prstGeom>
        </p:spPr>
        <p:txBody>
          <a:bodyPr wrap="square">
            <a:spAutoFit/>
          </a:bodyPr>
          <a:lstStyle/>
          <a:p>
            <a:pPr marL="457200" indent="-457200">
              <a:buFont typeface="Arial" pitchFamily="34" charset="0"/>
              <a:buChar char="•"/>
            </a:pPr>
            <a:r>
              <a:rPr lang="zh-CN" altLang="zh-CN" sz="3200" dirty="0"/>
              <a:t>第二</a:t>
            </a:r>
            <a:r>
              <a:rPr lang="zh-CN" altLang="en-US" sz="3200" dirty="0"/>
              <a:t>章</a:t>
            </a:r>
            <a:r>
              <a:rPr lang="zh-CN" altLang="zh-CN" sz="3200" dirty="0"/>
              <a:t>：多媒体数据</a:t>
            </a:r>
            <a:r>
              <a:rPr lang="zh-CN" altLang="en-US" sz="3200" dirty="0"/>
              <a:t>存储与压缩</a:t>
            </a:r>
          </a:p>
        </p:txBody>
      </p:sp>
      <p:sp>
        <p:nvSpPr>
          <p:cNvPr id="10" name="矩形 9">
            <a:extLst>
              <a:ext uri="{FF2B5EF4-FFF2-40B4-BE49-F238E27FC236}">
                <a16:creationId xmlns:a16="http://schemas.microsoft.com/office/drawing/2014/main" id="{BABF9C6F-1707-4D3C-8120-6D354F5673BB}"/>
              </a:ext>
            </a:extLst>
          </p:cNvPr>
          <p:cNvSpPr/>
          <p:nvPr/>
        </p:nvSpPr>
        <p:spPr>
          <a:xfrm>
            <a:off x="1115616" y="3861048"/>
            <a:ext cx="6594429" cy="584775"/>
          </a:xfrm>
          <a:prstGeom prst="rect">
            <a:avLst/>
          </a:prstGeom>
        </p:spPr>
        <p:txBody>
          <a:bodyPr wrap="square">
            <a:spAutoFit/>
          </a:bodyPr>
          <a:lstStyle/>
          <a:p>
            <a:pPr marL="457200" indent="-457200">
              <a:buFont typeface="Arial" pitchFamily="34" charset="0"/>
              <a:buChar char="•"/>
            </a:pPr>
            <a:r>
              <a:rPr lang="zh-CN" altLang="zh-CN" sz="3200" dirty="0"/>
              <a:t>第三</a:t>
            </a:r>
            <a:r>
              <a:rPr lang="zh-CN" altLang="en-US" sz="3200" dirty="0"/>
              <a:t>章</a:t>
            </a:r>
            <a:r>
              <a:rPr lang="zh-CN" altLang="zh-CN" sz="3200" dirty="0"/>
              <a:t>：多媒体通信与</a:t>
            </a:r>
            <a:r>
              <a:rPr lang="zh-CN" altLang="en-US" sz="3200" dirty="0"/>
              <a:t>传输</a:t>
            </a:r>
          </a:p>
        </p:txBody>
      </p:sp>
      <p:sp>
        <p:nvSpPr>
          <p:cNvPr id="4" name="灯片编号占位符 3">
            <a:extLst>
              <a:ext uri="{FF2B5EF4-FFF2-40B4-BE49-F238E27FC236}">
                <a16:creationId xmlns:a16="http://schemas.microsoft.com/office/drawing/2014/main" id="{45C8DE90-2846-4065-88A9-74C7F19FE66D}"/>
              </a:ext>
            </a:extLst>
          </p:cNvPr>
          <p:cNvSpPr>
            <a:spLocks noGrp="1"/>
          </p:cNvSpPr>
          <p:nvPr>
            <p:ph type="sldNum" sz="quarter" idx="12"/>
          </p:nvPr>
        </p:nvSpPr>
        <p:spPr/>
        <p:txBody>
          <a:bodyPr/>
          <a:lstStyle/>
          <a:p>
            <a:fld id="{F64BA984-46A0-4F46-990E-EC790E6934B4}" type="slidenum">
              <a:rPr lang="zh-CN" altLang="en-US" smtClean="0"/>
              <a:t>7</a:t>
            </a:fld>
            <a:endParaRPr lang="zh-CN" altLang="en-US"/>
          </a:p>
        </p:txBody>
      </p:sp>
    </p:spTree>
    <p:extLst>
      <p:ext uri="{BB962C8B-B14F-4D97-AF65-F5344CB8AC3E}">
        <p14:creationId xmlns:p14="http://schemas.microsoft.com/office/powerpoint/2010/main" val="2545771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0924" y="188640"/>
            <a:ext cx="7558022" cy="646331"/>
          </a:xfrm>
          <a:prstGeom prst="rect">
            <a:avLst/>
          </a:prstGeom>
        </p:spPr>
        <p:txBody>
          <a:bodyPr wrap="square">
            <a:spAutoFit/>
          </a:bodyPr>
          <a:lstStyle/>
          <a:p>
            <a:r>
              <a:rPr lang="zh-CN" altLang="zh-CN" sz="3600" b="1" dirty="0">
                <a:solidFill>
                  <a:srgbClr val="0000FF"/>
                </a:solidFill>
                <a:latin typeface="+mj-lt"/>
                <a:ea typeface="+mj-ea"/>
              </a:rPr>
              <a:t>第</a:t>
            </a:r>
            <a:r>
              <a:rPr lang="en-US" altLang="zh-CN" sz="3600" b="1" dirty="0">
                <a:solidFill>
                  <a:srgbClr val="0000FF"/>
                </a:solidFill>
                <a:latin typeface="+mj-lt"/>
                <a:ea typeface="+mj-ea"/>
              </a:rPr>
              <a:t>1</a:t>
            </a:r>
            <a:r>
              <a:rPr lang="zh-CN" altLang="en-US" sz="3600" b="1" dirty="0">
                <a:solidFill>
                  <a:srgbClr val="0000FF"/>
                </a:solidFill>
                <a:latin typeface="+mj-lt"/>
                <a:ea typeface="+mj-ea"/>
              </a:rPr>
              <a:t>章：</a:t>
            </a:r>
            <a:r>
              <a:rPr lang="zh-CN" altLang="zh-CN" sz="3600" b="1" dirty="0">
                <a:solidFill>
                  <a:srgbClr val="0000FF"/>
                </a:solidFill>
                <a:latin typeface="+mj-lt"/>
                <a:ea typeface="+mj-ea"/>
              </a:rPr>
              <a:t> 多媒体技术概述</a:t>
            </a:r>
            <a:endParaRPr lang="zh-CN" altLang="en-US" sz="3600" b="1" dirty="0">
              <a:solidFill>
                <a:srgbClr val="0000FF"/>
              </a:solidFill>
              <a:latin typeface="+mj-lt"/>
              <a:ea typeface="+mj-ea"/>
            </a:endParaRPr>
          </a:p>
        </p:txBody>
      </p:sp>
      <p:sp>
        <p:nvSpPr>
          <p:cNvPr id="8" name="内容占位符 1">
            <a:extLst>
              <a:ext uri="{FF2B5EF4-FFF2-40B4-BE49-F238E27FC236}">
                <a16:creationId xmlns:a16="http://schemas.microsoft.com/office/drawing/2014/main" id="{1A3E9B42-2579-4238-9974-5B6301ABB19F}"/>
              </a:ext>
            </a:extLst>
          </p:cNvPr>
          <p:cNvSpPr>
            <a:spLocks noGrp="1"/>
          </p:cNvSpPr>
          <p:nvPr>
            <p:ph idx="1"/>
          </p:nvPr>
        </p:nvSpPr>
        <p:spPr>
          <a:xfrm>
            <a:off x="683568" y="1268760"/>
            <a:ext cx="6840760" cy="3816424"/>
          </a:xfrm>
        </p:spPr>
        <p:txBody>
          <a:bodyPr>
            <a:normAutofit/>
          </a:bodyPr>
          <a:lstStyle/>
          <a:p>
            <a:pPr marL="0" indent="0">
              <a:lnSpc>
                <a:spcPct val="150000"/>
              </a:lnSpc>
              <a:buNone/>
            </a:pPr>
            <a:r>
              <a:rPr lang="en-US" altLang="zh-CN" sz="3600" b="0" dirty="0">
                <a:solidFill>
                  <a:schemeClr val="tx1"/>
                </a:solidFill>
              </a:rPr>
              <a:t>1.1 </a:t>
            </a:r>
            <a:r>
              <a:rPr lang="zh-CN" altLang="en-US" sz="3600" b="0" dirty="0">
                <a:solidFill>
                  <a:schemeClr val="tx1"/>
                </a:solidFill>
              </a:rPr>
              <a:t>多媒体技术简介</a:t>
            </a:r>
            <a:endParaRPr lang="en-US" altLang="zh-CN" sz="3600" b="0" dirty="0">
              <a:solidFill>
                <a:schemeClr val="tx1"/>
              </a:solidFill>
            </a:endParaRPr>
          </a:p>
          <a:p>
            <a:pPr marL="0" indent="0">
              <a:lnSpc>
                <a:spcPct val="150000"/>
              </a:lnSpc>
              <a:buNone/>
            </a:pPr>
            <a:r>
              <a:rPr lang="en-US" altLang="zh-CN" sz="3600" b="0" dirty="0">
                <a:solidFill>
                  <a:schemeClr val="tx1"/>
                </a:solidFill>
              </a:rPr>
              <a:t>1.2 </a:t>
            </a:r>
            <a:r>
              <a:rPr lang="zh-CN" altLang="en-US" sz="3600" b="0" dirty="0">
                <a:solidFill>
                  <a:schemeClr val="tx1"/>
                </a:solidFill>
              </a:rPr>
              <a:t>多媒体软硬件系统</a:t>
            </a:r>
            <a:endParaRPr lang="en-US" altLang="zh-CN" sz="3600" b="0" dirty="0">
              <a:solidFill>
                <a:schemeClr val="tx1"/>
              </a:solidFill>
            </a:endParaRPr>
          </a:p>
          <a:p>
            <a:pPr marL="0" indent="0">
              <a:lnSpc>
                <a:spcPct val="150000"/>
              </a:lnSpc>
              <a:buNone/>
            </a:pPr>
            <a:r>
              <a:rPr lang="en-US" altLang="zh-CN" sz="3600" b="0" dirty="0">
                <a:solidFill>
                  <a:schemeClr val="tx1"/>
                </a:solidFill>
              </a:rPr>
              <a:t>1.3 </a:t>
            </a:r>
            <a:r>
              <a:rPr lang="zh-CN" altLang="en-US" sz="3600" b="0" dirty="0">
                <a:solidFill>
                  <a:schemeClr val="tx1"/>
                </a:solidFill>
              </a:rPr>
              <a:t>多媒体研究对象</a:t>
            </a:r>
            <a:endParaRPr lang="en-US" altLang="zh-CN" sz="3600" b="0" dirty="0">
              <a:solidFill>
                <a:schemeClr val="tx1"/>
              </a:solidFill>
            </a:endParaRPr>
          </a:p>
          <a:p>
            <a:pPr marL="0" indent="0">
              <a:lnSpc>
                <a:spcPct val="150000"/>
              </a:lnSpc>
              <a:buNone/>
            </a:pPr>
            <a:r>
              <a:rPr lang="en-US" altLang="zh-CN" sz="3600" b="0" dirty="0">
                <a:solidFill>
                  <a:schemeClr val="tx1"/>
                </a:solidFill>
              </a:rPr>
              <a:t>1.4 </a:t>
            </a:r>
            <a:r>
              <a:rPr lang="zh-CN" altLang="en-US" sz="3600" b="0" dirty="0">
                <a:solidFill>
                  <a:schemeClr val="tx1"/>
                </a:solidFill>
              </a:rPr>
              <a:t>多媒体技术发展的关键技术</a:t>
            </a:r>
          </a:p>
        </p:txBody>
      </p:sp>
      <p:sp>
        <p:nvSpPr>
          <p:cNvPr id="2" name="灯片编号占位符 1">
            <a:extLst>
              <a:ext uri="{FF2B5EF4-FFF2-40B4-BE49-F238E27FC236}">
                <a16:creationId xmlns:a16="http://schemas.microsoft.com/office/drawing/2014/main" id="{5B8832CA-AB43-4F19-B185-DDC3546EA642}"/>
              </a:ext>
            </a:extLst>
          </p:cNvPr>
          <p:cNvSpPr>
            <a:spLocks noGrp="1"/>
          </p:cNvSpPr>
          <p:nvPr>
            <p:ph type="sldNum" sz="quarter" idx="12"/>
          </p:nvPr>
        </p:nvSpPr>
        <p:spPr/>
        <p:txBody>
          <a:bodyPr/>
          <a:lstStyle/>
          <a:p>
            <a:fld id="{F64BA984-46A0-4F46-990E-EC790E6934B4}" type="slidenum">
              <a:rPr lang="zh-CN" altLang="en-US" smtClean="0"/>
              <a:t>8</a:t>
            </a:fld>
            <a:endParaRPr lang="zh-CN" altLang="en-US" dirty="0"/>
          </a:p>
        </p:txBody>
      </p:sp>
    </p:spTree>
    <p:extLst>
      <p:ext uri="{BB962C8B-B14F-4D97-AF65-F5344CB8AC3E}">
        <p14:creationId xmlns:p14="http://schemas.microsoft.com/office/powerpoint/2010/main" val="1052541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8E40B59-3FAA-445F-BE98-5A7C28CBF472}"/>
              </a:ext>
            </a:extLst>
          </p:cNvPr>
          <p:cNvSpPr>
            <a:spLocks noGrp="1"/>
          </p:cNvSpPr>
          <p:nvPr>
            <p:ph type="title"/>
          </p:nvPr>
        </p:nvSpPr>
        <p:spPr/>
        <p:txBody>
          <a:bodyPr>
            <a:normAutofit fontScale="90000"/>
          </a:bodyPr>
          <a:lstStyle/>
          <a:p>
            <a:r>
              <a:rPr lang="en-US" altLang="zh-CN" dirty="0"/>
              <a:t>1.1</a:t>
            </a:r>
            <a:r>
              <a:rPr lang="zh-CN" altLang="en-US" dirty="0"/>
              <a:t>多媒体技术简介</a:t>
            </a:r>
          </a:p>
        </p:txBody>
      </p:sp>
      <p:pic>
        <p:nvPicPr>
          <p:cNvPr id="4" name="图片 3">
            <a:extLst>
              <a:ext uri="{FF2B5EF4-FFF2-40B4-BE49-F238E27FC236}">
                <a16:creationId xmlns:a16="http://schemas.microsoft.com/office/drawing/2014/main" id="{F2B5CDB6-D58E-4E42-A153-7B22F2D0D1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0375" y="1042297"/>
            <a:ext cx="2416170" cy="5229200"/>
          </a:xfrm>
          <a:prstGeom prst="rect">
            <a:avLst/>
          </a:prstGeom>
        </p:spPr>
      </p:pic>
      <p:pic>
        <p:nvPicPr>
          <p:cNvPr id="5" name="图片 4">
            <a:extLst>
              <a:ext uri="{FF2B5EF4-FFF2-40B4-BE49-F238E27FC236}">
                <a16:creationId xmlns:a16="http://schemas.microsoft.com/office/drawing/2014/main" id="{022B16BB-226F-446F-8658-52785D43ED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3888" y="1042297"/>
            <a:ext cx="2416170" cy="5229200"/>
          </a:xfrm>
          <a:prstGeom prst="rect">
            <a:avLst/>
          </a:prstGeom>
        </p:spPr>
      </p:pic>
      <p:pic>
        <p:nvPicPr>
          <p:cNvPr id="6" name="图片 5">
            <a:extLst>
              <a:ext uri="{FF2B5EF4-FFF2-40B4-BE49-F238E27FC236}">
                <a16:creationId xmlns:a16="http://schemas.microsoft.com/office/drawing/2014/main" id="{63FFF151-72F5-4D11-B55C-F2F2387A45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44208" y="1042297"/>
            <a:ext cx="2416170" cy="5229199"/>
          </a:xfrm>
          <a:prstGeom prst="rect">
            <a:avLst/>
          </a:prstGeom>
        </p:spPr>
      </p:pic>
      <p:sp>
        <p:nvSpPr>
          <p:cNvPr id="2" name="灯片编号占位符 1">
            <a:extLst>
              <a:ext uri="{FF2B5EF4-FFF2-40B4-BE49-F238E27FC236}">
                <a16:creationId xmlns:a16="http://schemas.microsoft.com/office/drawing/2014/main" id="{EA4335F5-B7EC-4EC5-AF5B-A38F42482644}"/>
              </a:ext>
            </a:extLst>
          </p:cNvPr>
          <p:cNvSpPr>
            <a:spLocks noGrp="1"/>
          </p:cNvSpPr>
          <p:nvPr>
            <p:ph type="sldNum" sz="quarter" idx="12"/>
          </p:nvPr>
        </p:nvSpPr>
        <p:spPr/>
        <p:txBody>
          <a:bodyPr/>
          <a:lstStyle/>
          <a:p>
            <a:fld id="{F64BA984-46A0-4F46-990E-EC790E6934B4}" type="slidenum">
              <a:rPr lang="zh-CN" altLang="en-US" smtClean="0"/>
              <a:t>9</a:t>
            </a:fld>
            <a:endParaRPr lang="zh-CN" altLang="en-US"/>
          </a:p>
        </p:txBody>
      </p:sp>
    </p:spTree>
    <p:extLst>
      <p:ext uri="{BB962C8B-B14F-4D97-AF65-F5344CB8AC3E}">
        <p14:creationId xmlns:p14="http://schemas.microsoft.com/office/powerpoint/2010/main" val="345654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4E1FD2-975E-4580-AEA3-2F39189502A1}"/>
              </a:ext>
            </a:extLst>
          </p:cNvPr>
          <p:cNvSpPr>
            <a:spLocks noGrp="1"/>
          </p:cNvSpPr>
          <p:nvPr>
            <p:ph type="title"/>
          </p:nvPr>
        </p:nvSpPr>
        <p:spPr/>
        <p:txBody>
          <a:bodyPr>
            <a:normAutofit fontScale="90000"/>
          </a:bodyPr>
          <a:lstStyle/>
          <a:p>
            <a:r>
              <a:rPr lang="en-US" altLang="zh-CN" dirty="0"/>
              <a:t>1.1 </a:t>
            </a:r>
            <a:r>
              <a:rPr lang="zh-CN" altLang="en-US" dirty="0"/>
              <a:t>多媒体技术简介</a:t>
            </a:r>
          </a:p>
        </p:txBody>
      </p:sp>
      <p:pic>
        <p:nvPicPr>
          <p:cNvPr id="2050" name="Picture 2" descr="File:Instagram logo 2016.svg - Wikipedia">
            <a:extLst>
              <a:ext uri="{FF2B5EF4-FFF2-40B4-BE49-F238E27FC236}">
                <a16:creationId xmlns:a16="http://schemas.microsoft.com/office/drawing/2014/main" id="{76E67EDF-9624-4D59-B3E5-7BADEE6D65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73500" y="3799783"/>
            <a:ext cx="1471010" cy="14710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小红书- 维基百科，自由的百科全书">
            <a:extLst>
              <a:ext uri="{FF2B5EF4-FFF2-40B4-BE49-F238E27FC236}">
                <a16:creationId xmlns:a16="http://schemas.microsoft.com/office/drawing/2014/main" id="{6EE3E25D-DDB7-49F7-B277-2C39C9FB41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170" y="3828322"/>
            <a:ext cx="1442471" cy="144247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抖音矢量LOGO（.EPS和.ai格式）但是不包含抖音两字- 原创作品- 站酷（ZCOOL)">
            <a:extLst>
              <a:ext uri="{FF2B5EF4-FFF2-40B4-BE49-F238E27FC236}">
                <a16:creationId xmlns:a16="http://schemas.microsoft.com/office/drawing/2014/main" id="{34185AC1-4051-4492-9C02-A4C69F7B30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89306" y="2034106"/>
            <a:ext cx="1442471" cy="144247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快手logo中的“摄像机”变了！ - 设计文章- 站酷（ZCOOL）">
            <a:extLst>
              <a:ext uri="{FF2B5EF4-FFF2-40B4-BE49-F238E27FC236}">
                <a16:creationId xmlns:a16="http://schemas.microsoft.com/office/drawing/2014/main" id="{3C8F5B78-3488-453D-91AD-F8E8B0BE8D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170" y="2026537"/>
            <a:ext cx="1442471" cy="144247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ilibili哔哩哔哩logo标志矢量图- 设计之家">
            <a:extLst>
              <a:ext uri="{FF2B5EF4-FFF2-40B4-BE49-F238E27FC236}">
                <a16:creationId xmlns:a16="http://schemas.microsoft.com/office/drawing/2014/main" id="{223F3027-9963-4BF0-82E5-781BD455152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626" t="32545" r="9051" b="32546"/>
          <a:stretch/>
        </p:blipFill>
        <p:spPr bwMode="auto">
          <a:xfrm>
            <a:off x="4211960" y="2060848"/>
            <a:ext cx="4176464" cy="1310263"/>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Weibo APK MOD Download 3.8.5 For Android">
            <a:extLst>
              <a:ext uri="{FF2B5EF4-FFF2-40B4-BE49-F238E27FC236}">
                <a16:creationId xmlns:a16="http://schemas.microsoft.com/office/drawing/2014/main" id="{DE00DB2A-7088-41B9-87CD-CD6A00E8DF9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4865" y="3781391"/>
            <a:ext cx="1471010" cy="147101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D25E39D0-D873-40D6-982F-17B4CD57AD4C}"/>
              </a:ext>
            </a:extLst>
          </p:cNvPr>
          <p:cNvSpPr>
            <a:spLocks noGrp="1"/>
          </p:cNvSpPr>
          <p:nvPr>
            <p:ph type="sldNum" sz="quarter" idx="12"/>
          </p:nvPr>
        </p:nvSpPr>
        <p:spPr/>
        <p:txBody>
          <a:bodyPr/>
          <a:lstStyle/>
          <a:p>
            <a:fld id="{F64BA984-46A0-4F46-990E-EC790E6934B4}" type="slidenum">
              <a:rPr lang="zh-CN" altLang="en-US" smtClean="0"/>
              <a:t>10</a:t>
            </a:fld>
            <a:endParaRPr lang="zh-CN" altLang="en-US"/>
          </a:p>
        </p:txBody>
      </p:sp>
      <p:pic>
        <p:nvPicPr>
          <p:cNvPr id="4" name="图片 3">
            <a:extLst>
              <a:ext uri="{FF2B5EF4-FFF2-40B4-BE49-F238E27FC236}">
                <a16:creationId xmlns:a16="http://schemas.microsoft.com/office/drawing/2014/main" id="{12D7F0B9-1AEB-7C41-0071-88DFBBCADA03}"/>
              </a:ext>
            </a:extLst>
          </p:cNvPr>
          <p:cNvPicPr>
            <a:picLocks noChangeAspect="1"/>
          </p:cNvPicPr>
          <p:nvPr/>
        </p:nvPicPr>
        <p:blipFill>
          <a:blip r:embed="rId8"/>
          <a:stretch>
            <a:fillRect/>
          </a:stretch>
        </p:blipFill>
        <p:spPr>
          <a:xfrm>
            <a:off x="6248091" y="3753782"/>
            <a:ext cx="1522533" cy="1498619"/>
          </a:xfrm>
          <a:prstGeom prst="rect">
            <a:avLst/>
          </a:prstGeom>
        </p:spPr>
      </p:pic>
    </p:spTree>
    <p:extLst>
      <p:ext uri="{BB962C8B-B14F-4D97-AF65-F5344CB8AC3E}">
        <p14:creationId xmlns:p14="http://schemas.microsoft.com/office/powerpoint/2010/main" val="976593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upload.wikimedia.org/wikipedia/en/b/bc/Wik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240" y="902225"/>
            <a:ext cx="2016224" cy="231492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307974" y="1140420"/>
            <a:ext cx="6208241" cy="2000548"/>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a:t>
            </a:r>
            <a:r>
              <a:rPr lang="zh-CN" altLang="en-US" sz="4000" b="1" dirty="0">
                <a:solidFill>
                  <a:srgbClr val="FF0000"/>
                </a:solidFill>
                <a:latin typeface="+mj-ea"/>
                <a:ea typeface="+mj-ea"/>
              </a:rPr>
              <a:t>媒</a:t>
            </a:r>
            <a:r>
              <a:rPr lang="zh-CN" altLang="en-US" sz="4000" b="1" dirty="0">
                <a:solidFill>
                  <a:schemeClr val="tx1">
                    <a:lumMod val="95000"/>
                    <a:lumOff val="5000"/>
                  </a:schemeClr>
                </a:solidFill>
                <a:latin typeface="+mj-ea"/>
                <a:ea typeface="+mj-ea"/>
              </a:rPr>
              <a:t>体（</a:t>
            </a:r>
            <a:r>
              <a:rPr lang="en-US" altLang="zh-CN" sz="4000" b="1" dirty="0">
                <a:solidFill>
                  <a:schemeClr val="tx1">
                    <a:lumMod val="95000"/>
                    <a:lumOff val="5000"/>
                  </a:schemeClr>
                </a:solidFill>
                <a:latin typeface="+mj-ea"/>
                <a:ea typeface="+mj-ea"/>
              </a:rPr>
              <a:t>multimedia</a:t>
            </a:r>
            <a:r>
              <a:rPr lang="zh-CN" altLang="en-US" sz="4000" b="1" dirty="0">
                <a:solidFill>
                  <a:schemeClr val="tx1">
                    <a:lumMod val="95000"/>
                    <a:lumOff val="5000"/>
                  </a:schemeClr>
                </a:solidFill>
                <a:latin typeface="+mj-ea"/>
                <a:ea typeface="+mj-ea"/>
              </a:rPr>
              <a:t>）</a:t>
            </a:r>
            <a:r>
              <a:rPr lang="zh-CN" altLang="en-US" sz="4000" dirty="0">
                <a:solidFill>
                  <a:schemeClr val="tx1">
                    <a:lumMod val="95000"/>
                    <a:lumOff val="5000"/>
                  </a:schemeClr>
                </a:solidFill>
              </a:rPr>
              <a:t>：</a:t>
            </a:r>
            <a:r>
              <a:rPr lang="zh-CN" altLang="en-US" sz="2800" dirty="0"/>
              <a:t>在计算机系统中，组合两种或两种以上</a:t>
            </a:r>
            <a:r>
              <a:rPr lang="zh-CN" altLang="en-US" sz="2800" dirty="0">
                <a:solidFill>
                  <a:srgbClr val="FF0000"/>
                </a:solidFill>
              </a:rPr>
              <a:t>信息传递载体</a:t>
            </a:r>
            <a:r>
              <a:rPr lang="zh-CN" altLang="en-US" sz="2800" dirty="0"/>
              <a:t>的综合，是一种人机交互式信息交流和传播媒体的形式。</a:t>
            </a: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2" name="Picture 8" descr="File:Blocksatz-Beispiel deutsch, German text sample with fully justified text.sv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0940" y="3364875"/>
            <a:ext cx="1271274" cy="101701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upload.wikimedia.org/wikipedia/commons/thumb/8/87/H%C3%B6rlurar.jpg/500px-H%C3%B6rlurar.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5856" y="3429000"/>
            <a:ext cx="1368152" cy="1048004"/>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8104" y="3140968"/>
            <a:ext cx="1714500" cy="1285875"/>
          </a:xfrm>
          <a:prstGeom prst="rect">
            <a:avLst/>
          </a:prstGeom>
        </p:spPr>
      </p:pic>
      <p:pic>
        <p:nvPicPr>
          <p:cNvPr id="1038" name="Picture 14" descr="http://upload.wikimedia.org/wikipedia/commons/thumb/b/b3/Praktica.jpg/180px-Praktica.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473" y="5013176"/>
            <a:ext cx="1373741" cy="103030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ttp://upload.wikimedia.org/wikipedia/commons/thumb/4/47/Scroll_switch_mouse.jpg/180px-Scroll_switch_mouse.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0047" y="4949343"/>
            <a:ext cx="1270614" cy="109414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http://t0.gstatic.com/images?q=tbn:ANd9GcQUWXb9MgXviPlZGzzXQnhBhJgVjif0wMcNI2D74-ldy57aayd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4234" y="5013176"/>
            <a:ext cx="1111395" cy="1030307"/>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3412618" y="5949280"/>
            <a:ext cx="1231390" cy="430887"/>
          </a:xfrm>
          <a:prstGeom prst="rect">
            <a:avLst/>
          </a:prstGeom>
        </p:spPr>
        <p:txBody>
          <a:bodyPr wrap="square">
            <a:spAutoFit/>
          </a:bodyPr>
          <a:lstStyle/>
          <a:p>
            <a:pPr algn="ctr"/>
            <a:r>
              <a:rPr lang="zh-CN" altLang="en-US" sz="2200" dirty="0">
                <a:solidFill>
                  <a:srgbClr val="0000FF"/>
                </a:solidFill>
              </a:rPr>
              <a:t>显示</a:t>
            </a:r>
            <a:r>
              <a:rPr lang="en-US" altLang="zh-CN" sz="2200" dirty="0">
                <a:solidFill>
                  <a:srgbClr val="0000FF"/>
                </a:solidFill>
              </a:rPr>
              <a:t> </a:t>
            </a:r>
          </a:p>
        </p:txBody>
      </p:sp>
      <p:sp>
        <p:nvSpPr>
          <p:cNvPr id="18" name="矩形 17"/>
          <p:cNvSpPr/>
          <p:nvPr/>
        </p:nvSpPr>
        <p:spPr>
          <a:xfrm>
            <a:off x="1083492" y="4487678"/>
            <a:ext cx="1231390" cy="430887"/>
          </a:xfrm>
          <a:prstGeom prst="rect">
            <a:avLst/>
          </a:prstGeom>
        </p:spPr>
        <p:txBody>
          <a:bodyPr wrap="square">
            <a:spAutoFit/>
          </a:bodyPr>
          <a:lstStyle/>
          <a:p>
            <a:pPr algn="ctr"/>
            <a:r>
              <a:rPr lang="zh-CN" altLang="en-US" sz="2200" dirty="0">
                <a:solidFill>
                  <a:srgbClr val="0000FF"/>
                </a:solidFill>
              </a:rPr>
              <a:t>文本</a:t>
            </a:r>
            <a:endParaRPr lang="en-US" altLang="zh-CN" sz="2200" dirty="0">
              <a:solidFill>
                <a:srgbClr val="0000FF"/>
              </a:solidFill>
            </a:endParaRPr>
          </a:p>
        </p:txBody>
      </p:sp>
      <p:sp>
        <p:nvSpPr>
          <p:cNvPr id="19" name="矩形 18"/>
          <p:cNvSpPr/>
          <p:nvPr/>
        </p:nvSpPr>
        <p:spPr>
          <a:xfrm>
            <a:off x="3412618" y="4446019"/>
            <a:ext cx="1231390" cy="430887"/>
          </a:xfrm>
          <a:prstGeom prst="rect">
            <a:avLst/>
          </a:prstGeom>
        </p:spPr>
        <p:txBody>
          <a:bodyPr wrap="square">
            <a:spAutoFit/>
          </a:bodyPr>
          <a:lstStyle/>
          <a:p>
            <a:pPr algn="ctr"/>
            <a:r>
              <a:rPr lang="zh-CN" altLang="en-US" sz="2200" dirty="0">
                <a:solidFill>
                  <a:srgbClr val="0000FF"/>
                </a:solidFill>
              </a:rPr>
              <a:t>语音</a:t>
            </a:r>
            <a:endParaRPr lang="en-US" altLang="zh-CN" sz="2200" dirty="0">
              <a:solidFill>
                <a:srgbClr val="0000FF"/>
              </a:solidFill>
            </a:endParaRPr>
          </a:p>
        </p:txBody>
      </p:sp>
      <p:sp>
        <p:nvSpPr>
          <p:cNvPr id="20" name="矩形 19"/>
          <p:cNvSpPr/>
          <p:nvPr/>
        </p:nvSpPr>
        <p:spPr>
          <a:xfrm>
            <a:off x="5730047" y="4437112"/>
            <a:ext cx="1663438" cy="430887"/>
          </a:xfrm>
          <a:prstGeom prst="rect">
            <a:avLst/>
          </a:prstGeom>
        </p:spPr>
        <p:txBody>
          <a:bodyPr wrap="square">
            <a:spAutoFit/>
          </a:bodyPr>
          <a:lstStyle/>
          <a:p>
            <a:pPr algn="ctr"/>
            <a:r>
              <a:rPr lang="zh-CN" altLang="en-US" sz="2200" dirty="0">
                <a:solidFill>
                  <a:srgbClr val="0000FF"/>
                </a:solidFill>
              </a:rPr>
              <a:t>动画</a:t>
            </a:r>
            <a:endParaRPr lang="en-US" altLang="zh-CN" sz="2200" dirty="0">
              <a:solidFill>
                <a:srgbClr val="0000FF"/>
              </a:solidFill>
            </a:endParaRPr>
          </a:p>
        </p:txBody>
      </p:sp>
      <p:sp>
        <p:nvSpPr>
          <p:cNvPr id="21" name="矩形 20"/>
          <p:cNvSpPr/>
          <p:nvPr/>
        </p:nvSpPr>
        <p:spPr>
          <a:xfrm>
            <a:off x="1010538" y="5949279"/>
            <a:ext cx="1656260" cy="430887"/>
          </a:xfrm>
          <a:prstGeom prst="rect">
            <a:avLst/>
          </a:prstGeom>
        </p:spPr>
        <p:txBody>
          <a:bodyPr wrap="square">
            <a:spAutoFit/>
          </a:bodyPr>
          <a:lstStyle/>
          <a:p>
            <a:pPr algn="ctr"/>
            <a:r>
              <a:rPr lang="zh-CN" altLang="en-US" sz="2200" dirty="0">
                <a:solidFill>
                  <a:srgbClr val="0000FF"/>
                </a:solidFill>
              </a:rPr>
              <a:t>图像</a:t>
            </a:r>
            <a:endParaRPr lang="en-US" altLang="zh-CN" sz="2200" dirty="0">
              <a:solidFill>
                <a:srgbClr val="0000FF"/>
              </a:solidFill>
            </a:endParaRPr>
          </a:p>
        </p:txBody>
      </p:sp>
      <p:sp>
        <p:nvSpPr>
          <p:cNvPr id="22" name="矩形 21"/>
          <p:cNvSpPr/>
          <p:nvPr/>
        </p:nvSpPr>
        <p:spPr>
          <a:xfrm>
            <a:off x="5739285" y="5949280"/>
            <a:ext cx="1654200" cy="430887"/>
          </a:xfrm>
          <a:prstGeom prst="rect">
            <a:avLst/>
          </a:prstGeom>
        </p:spPr>
        <p:txBody>
          <a:bodyPr wrap="square">
            <a:spAutoFit/>
          </a:bodyPr>
          <a:lstStyle/>
          <a:p>
            <a:pPr algn="ctr"/>
            <a:r>
              <a:rPr lang="zh-CN" altLang="en-US" sz="2200" dirty="0">
                <a:solidFill>
                  <a:srgbClr val="0000FF"/>
                </a:solidFill>
              </a:rPr>
              <a:t>交互</a:t>
            </a:r>
            <a:r>
              <a:rPr lang="en-US" altLang="zh-CN" sz="2200" dirty="0">
                <a:solidFill>
                  <a:srgbClr val="0000FF"/>
                </a:solidFill>
              </a:rPr>
              <a:t> </a:t>
            </a:r>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sp>
        <p:nvSpPr>
          <p:cNvPr id="2" name="灯片编号占位符 1">
            <a:extLst>
              <a:ext uri="{FF2B5EF4-FFF2-40B4-BE49-F238E27FC236}">
                <a16:creationId xmlns:a16="http://schemas.microsoft.com/office/drawing/2014/main" id="{5C78153C-B7B6-4D50-91B9-4949EAAE922E}"/>
              </a:ext>
            </a:extLst>
          </p:cNvPr>
          <p:cNvSpPr>
            <a:spLocks noGrp="1"/>
          </p:cNvSpPr>
          <p:nvPr>
            <p:ph type="sldNum" sz="quarter" idx="12"/>
          </p:nvPr>
        </p:nvSpPr>
        <p:spPr/>
        <p:txBody>
          <a:bodyPr/>
          <a:lstStyle/>
          <a:p>
            <a:fld id="{F64BA984-46A0-4F46-990E-EC790E6934B4}" type="slidenum">
              <a:rPr lang="zh-CN" altLang="en-US" smtClean="0"/>
              <a:t>11</a:t>
            </a:fld>
            <a:endParaRPr lang="zh-CN" altLang="en-US"/>
          </a:p>
        </p:txBody>
      </p:sp>
    </p:spTree>
    <p:extLst>
      <p:ext uri="{BB962C8B-B14F-4D97-AF65-F5344CB8AC3E}">
        <p14:creationId xmlns:p14="http://schemas.microsoft.com/office/powerpoint/2010/main" val="197607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974" y="1140420"/>
            <a:ext cx="8080450" cy="1323439"/>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a:t>
            </a:r>
            <a:r>
              <a:rPr lang="zh-CN" altLang="en-US" sz="4000" b="1" dirty="0">
                <a:solidFill>
                  <a:srgbClr val="FF0000"/>
                </a:solidFill>
                <a:latin typeface="+mj-ea"/>
                <a:ea typeface="+mj-ea"/>
              </a:rPr>
              <a:t>媒</a:t>
            </a:r>
            <a:r>
              <a:rPr lang="zh-CN" altLang="en-US" sz="4000" b="1" dirty="0">
                <a:solidFill>
                  <a:schemeClr val="tx1">
                    <a:lumMod val="95000"/>
                    <a:lumOff val="5000"/>
                  </a:schemeClr>
                </a:solidFill>
                <a:latin typeface="+mj-ea"/>
                <a:ea typeface="+mj-ea"/>
              </a:rPr>
              <a:t>体和多模态的区别（</a:t>
            </a:r>
            <a:r>
              <a:rPr lang="en" altLang="zh-CN" sz="4000" b="1" dirty="0">
                <a:solidFill>
                  <a:schemeClr val="tx1">
                    <a:lumMod val="95000"/>
                    <a:lumOff val="5000"/>
                  </a:schemeClr>
                </a:solidFill>
                <a:latin typeface="+mj-ea"/>
                <a:ea typeface="+mj-ea"/>
              </a:rPr>
              <a:t>multimedia </a:t>
            </a:r>
            <a:r>
              <a:rPr lang="en-US" altLang="zh-CN" sz="4000" b="1" dirty="0">
                <a:solidFill>
                  <a:schemeClr val="tx1">
                    <a:lumMod val="95000"/>
                    <a:lumOff val="5000"/>
                  </a:schemeClr>
                </a:solidFill>
                <a:latin typeface="+mj-ea"/>
                <a:ea typeface="+mj-ea"/>
              </a:rPr>
              <a:t>vs </a:t>
            </a:r>
            <a:r>
              <a:rPr lang="en" altLang="zh-CN" sz="4000" b="1" dirty="0">
                <a:solidFill>
                  <a:schemeClr val="tx1">
                    <a:lumMod val="95000"/>
                    <a:lumOff val="5000"/>
                  </a:schemeClr>
                </a:solidFill>
                <a:latin typeface="+mj-ea"/>
                <a:ea typeface="+mj-ea"/>
              </a:rPr>
              <a:t>multimodal</a:t>
            </a:r>
            <a:r>
              <a:rPr lang="zh-CN" altLang="en-US" sz="4000" b="1" dirty="0">
                <a:solidFill>
                  <a:schemeClr val="tx1">
                    <a:lumMod val="95000"/>
                    <a:lumOff val="5000"/>
                  </a:schemeClr>
                </a:solidFill>
                <a:latin typeface="+mj-ea"/>
                <a:ea typeface="+mj-ea"/>
              </a:rPr>
              <a:t>）</a:t>
            </a:r>
            <a:r>
              <a:rPr lang="zh-CN" altLang="en-US" sz="4000" dirty="0">
                <a:solidFill>
                  <a:schemeClr val="tx1">
                    <a:lumMod val="95000"/>
                    <a:lumOff val="5000"/>
                  </a:schemeClr>
                </a:solidFill>
                <a:latin typeface="+mj-ea"/>
                <a:ea typeface="+mj-ea"/>
              </a:rPr>
              <a:t>：</a:t>
            </a:r>
            <a:endParaRPr lang="zh-CN" altLang="en-US" sz="2800" dirty="0">
              <a:latin typeface="+mj-ea"/>
              <a:ea typeface="+mj-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sp>
        <p:nvSpPr>
          <p:cNvPr id="3" name="文本框 2">
            <a:extLst>
              <a:ext uri="{FF2B5EF4-FFF2-40B4-BE49-F238E27FC236}">
                <a16:creationId xmlns:a16="http://schemas.microsoft.com/office/drawing/2014/main" id="{C932AAC6-C629-72B5-00B3-0670B1F30717}"/>
              </a:ext>
            </a:extLst>
          </p:cNvPr>
          <p:cNvSpPr txBox="1"/>
          <p:nvPr/>
        </p:nvSpPr>
        <p:spPr>
          <a:xfrm>
            <a:off x="307974" y="2636912"/>
            <a:ext cx="8008442" cy="2585323"/>
          </a:xfrm>
          <a:prstGeom prst="rect">
            <a:avLst/>
          </a:prstGeom>
          <a:noFill/>
        </p:spPr>
        <p:txBody>
          <a:bodyPr wrap="square" rtlCol="0">
            <a:spAutoFit/>
          </a:bodyPr>
          <a:lstStyle/>
          <a:p>
            <a:r>
              <a:rPr kumimoji="1" lang="zh-CN" altLang="en-US" dirty="0"/>
              <a:t>这两个概念的区分目前仍在讨论中，并没有公论。相对一致的看法是：两者的区分主要是视角的不同，“多模态”突显的是语篇建构的方式或模式；“多媒体”突显的是技术手段或工具。</a:t>
            </a:r>
            <a:endParaRPr kumimoji="1" lang="en-US" altLang="zh-CN" dirty="0"/>
          </a:p>
          <a:p>
            <a:endParaRPr kumimoji="1" lang="en-US" altLang="zh-CN" dirty="0"/>
          </a:p>
          <a:p>
            <a:r>
              <a:rPr kumimoji="1" lang="zh-CN" altLang="en-US" dirty="0"/>
              <a:t>多媒体是从视频和计算机两个领域的需求出发，按照各自的技术思路和商业目的，殊途同归地发展而形成的。因此很难形成对多媒体的共识。</a:t>
            </a:r>
            <a:endParaRPr kumimoji="1" lang="en-US" altLang="zh-CN" dirty="0"/>
          </a:p>
          <a:p>
            <a:endParaRPr kumimoji="1" lang="en-US" altLang="zh-CN" dirty="0"/>
          </a:p>
          <a:p>
            <a:r>
              <a:rPr kumimoji="1" lang="zh-CN" altLang="en-US" dirty="0"/>
              <a:t>多媒体技术从问世之日起，便一直伴随着一些相关的技术在不断地发展和完善，因而使得当时有不少业内专家担心</a:t>
            </a:r>
            <a:r>
              <a:rPr kumimoji="1" lang="zh-CN" altLang="en-US" dirty="0">
                <a:solidFill>
                  <a:srgbClr val="FF0000"/>
                </a:solidFill>
              </a:rPr>
              <a:t>给出的定义跟不上其内涵的变化。</a:t>
            </a:r>
          </a:p>
        </p:txBody>
      </p:sp>
    </p:spTree>
    <p:extLst>
      <p:ext uri="{BB962C8B-B14F-4D97-AF65-F5344CB8AC3E}">
        <p14:creationId xmlns:p14="http://schemas.microsoft.com/office/powerpoint/2010/main" val="2509484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974" y="1140420"/>
            <a:ext cx="8080450" cy="1323439"/>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a:t>
            </a:r>
            <a:r>
              <a:rPr lang="zh-CN" altLang="en-US" sz="4000" b="1" dirty="0">
                <a:solidFill>
                  <a:srgbClr val="FF0000"/>
                </a:solidFill>
                <a:latin typeface="+mj-ea"/>
                <a:ea typeface="+mj-ea"/>
              </a:rPr>
              <a:t>媒</a:t>
            </a:r>
            <a:r>
              <a:rPr lang="zh-CN" altLang="en-US" sz="4000" b="1" dirty="0">
                <a:solidFill>
                  <a:schemeClr val="tx1">
                    <a:lumMod val="95000"/>
                    <a:lumOff val="5000"/>
                  </a:schemeClr>
                </a:solidFill>
                <a:latin typeface="+mj-ea"/>
                <a:ea typeface="+mj-ea"/>
              </a:rPr>
              <a:t>体和多模态的区别（</a:t>
            </a:r>
            <a:r>
              <a:rPr lang="en" altLang="zh-CN" sz="4000" b="1" dirty="0">
                <a:solidFill>
                  <a:schemeClr val="tx1">
                    <a:lumMod val="95000"/>
                    <a:lumOff val="5000"/>
                  </a:schemeClr>
                </a:solidFill>
                <a:latin typeface="+mj-ea"/>
                <a:ea typeface="+mj-ea"/>
              </a:rPr>
              <a:t>multimedia </a:t>
            </a:r>
            <a:r>
              <a:rPr lang="en-US" altLang="zh-CN" sz="4000" b="1" dirty="0">
                <a:solidFill>
                  <a:schemeClr val="tx1">
                    <a:lumMod val="95000"/>
                    <a:lumOff val="5000"/>
                  </a:schemeClr>
                </a:solidFill>
                <a:latin typeface="+mj-ea"/>
                <a:ea typeface="+mj-ea"/>
              </a:rPr>
              <a:t>vs </a:t>
            </a:r>
            <a:r>
              <a:rPr lang="en" altLang="zh-CN" sz="4000" b="1" dirty="0">
                <a:solidFill>
                  <a:schemeClr val="tx1">
                    <a:lumMod val="95000"/>
                    <a:lumOff val="5000"/>
                  </a:schemeClr>
                </a:solidFill>
                <a:latin typeface="+mj-ea"/>
                <a:ea typeface="+mj-ea"/>
              </a:rPr>
              <a:t>multimodal</a:t>
            </a:r>
            <a:r>
              <a:rPr lang="zh-CN" altLang="en-US" sz="4000" b="1" dirty="0">
                <a:solidFill>
                  <a:schemeClr val="tx1">
                    <a:lumMod val="95000"/>
                    <a:lumOff val="5000"/>
                  </a:schemeClr>
                </a:solidFill>
                <a:latin typeface="+mj-ea"/>
                <a:ea typeface="+mj-ea"/>
              </a:rPr>
              <a:t>）</a:t>
            </a:r>
            <a:r>
              <a:rPr lang="zh-CN" altLang="en-US" sz="4000" dirty="0">
                <a:solidFill>
                  <a:schemeClr val="tx1">
                    <a:lumMod val="95000"/>
                    <a:lumOff val="5000"/>
                  </a:schemeClr>
                </a:solidFill>
                <a:latin typeface="+mj-ea"/>
                <a:ea typeface="+mj-ea"/>
              </a:rPr>
              <a:t>：</a:t>
            </a:r>
            <a:endParaRPr lang="zh-CN" altLang="en-US" sz="2800" dirty="0">
              <a:latin typeface="+mj-ea"/>
              <a:ea typeface="+mj-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pic>
        <p:nvPicPr>
          <p:cNvPr id="2" name="图片 1">
            <a:extLst>
              <a:ext uri="{FF2B5EF4-FFF2-40B4-BE49-F238E27FC236}">
                <a16:creationId xmlns:a16="http://schemas.microsoft.com/office/drawing/2014/main" id="{AD818836-53AB-D3AB-E58D-3C6B7FA56EEB}"/>
              </a:ext>
            </a:extLst>
          </p:cNvPr>
          <p:cNvPicPr>
            <a:picLocks noChangeAspect="1"/>
          </p:cNvPicPr>
          <p:nvPr/>
        </p:nvPicPr>
        <p:blipFill>
          <a:blip r:embed="rId2"/>
          <a:stretch>
            <a:fillRect/>
          </a:stretch>
        </p:blipFill>
        <p:spPr>
          <a:xfrm>
            <a:off x="1547664" y="2564904"/>
            <a:ext cx="5612787" cy="3428779"/>
          </a:xfrm>
          <a:prstGeom prst="rect">
            <a:avLst/>
          </a:prstGeom>
        </p:spPr>
      </p:pic>
    </p:spTree>
    <p:extLst>
      <p:ext uri="{BB962C8B-B14F-4D97-AF65-F5344CB8AC3E}">
        <p14:creationId xmlns:p14="http://schemas.microsoft.com/office/powerpoint/2010/main" val="3317366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B92BE-062F-E21A-FD35-6635AE7FA792}"/>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BEC413CC-7ACB-1FF3-A249-2C1BF8B9AAA0}"/>
              </a:ext>
            </a:extLst>
          </p:cNvPr>
          <p:cNvSpPr/>
          <p:nvPr/>
        </p:nvSpPr>
        <p:spPr>
          <a:xfrm>
            <a:off x="307974" y="1140420"/>
            <a:ext cx="8080450" cy="1323439"/>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a:t>
            </a:r>
            <a:r>
              <a:rPr lang="zh-CN" altLang="en-US" sz="4000" b="1" dirty="0">
                <a:solidFill>
                  <a:srgbClr val="FF0000"/>
                </a:solidFill>
                <a:latin typeface="+mj-ea"/>
                <a:ea typeface="+mj-ea"/>
              </a:rPr>
              <a:t>媒</a:t>
            </a:r>
            <a:r>
              <a:rPr lang="zh-CN" altLang="en-US" sz="4000" b="1" dirty="0">
                <a:solidFill>
                  <a:schemeClr val="tx1">
                    <a:lumMod val="95000"/>
                    <a:lumOff val="5000"/>
                  </a:schemeClr>
                </a:solidFill>
                <a:latin typeface="+mj-ea"/>
                <a:ea typeface="+mj-ea"/>
              </a:rPr>
              <a:t>体和多模态的区别（</a:t>
            </a:r>
            <a:r>
              <a:rPr lang="en" altLang="zh-CN" sz="4000" b="1" dirty="0">
                <a:solidFill>
                  <a:schemeClr val="tx1">
                    <a:lumMod val="95000"/>
                    <a:lumOff val="5000"/>
                  </a:schemeClr>
                </a:solidFill>
                <a:latin typeface="+mj-ea"/>
                <a:ea typeface="+mj-ea"/>
              </a:rPr>
              <a:t>multimedia </a:t>
            </a:r>
            <a:r>
              <a:rPr lang="en-US" altLang="zh-CN" sz="4000" b="1" dirty="0">
                <a:solidFill>
                  <a:schemeClr val="tx1">
                    <a:lumMod val="95000"/>
                    <a:lumOff val="5000"/>
                  </a:schemeClr>
                </a:solidFill>
                <a:latin typeface="+mj-ea"/>
                <a:ea typeface="+mj-ea"/>
              </a:rPr>
              <a:t>vs </a:t>
            </a:r>
            <a:r>
              <a:rPr lang="en" altLang="zh-CN" sz="4000" b="1" dirty="0">
                <a:solidFill>
                  <a:schemeClr val="tx1">
                    <a:lumMod val="95000"/>
                    <a:lumOff val="5000"/>
                  </a:schemeClr>
                </a:solidFill>
                <a:latin typeface="+mj-ea"/>
                <a:ea typeface="+mj-ea"/>
              </a:rPr>
              <a:t>multimodal</a:t>
            </a:r>
            <a:r>
              <a:rPr lang="zh-CN" altLang="en-US" sz="4000" b="1" dirty="0">
                <a:solidFill>
                  <a:schemeClr val="tx1">
                    <a:lumMod val="95000"/>
                    <a:lumOff val="5000"/>
                  </a:schemeClr>
                </a:solidFill>
                <a:latin typeface="+mj-ea"/>
                <a:ea typeface="+mj-ea"/>
              </a:rPr>
              <a:t>）</a:t>
            </a:r>
            <a:r>
              <a:rPr lang="zh-CN" altLang="en-US" sz="4000" dirty="0">
                <a:solidFill>
                  <a:schemeClr val="tx1">
                    <a:lumMod val="95000"/>
                    <a:lumOff val="5000"/>
                  </a:schemeClr>
                </a:solidFill>
                <a:latin typeface="+mj-ea"/>
                <a:ea typeface="+mj-ea"/>
              </a:rPr>
              <a:t>：</a:t>
            </a:r>
            <a:endParaRPr lang="zh-CN" altLang="en-US" sz="2800" dirty="0">
              <a:latin typeface="+mj-ea"/>
              <a:ea typeface="+mj-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a:extLst>
              <a:ext uri="{FF2B5EF4-FFF2-40B4-BE49-F238E27FC236}">
                <a16:creationId xmlns:a16="http://schemas.microsoft.com/office/drawing/2014/main" id="{26078BD3-4266-FE1B-1E6E-A1767C5A6FB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D4D1B5D3-2D26-A724-0586-990A83DFCAA2}"/>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sp>
        <p:nvSpPr>
          <p:cNvPr id="3" name="文本框 2">
            <a:extLst>
              <a:ext uri="{FF2B5EF4-FFF2-40B4-BE49-F238E27FC236}">
                <a16:creationId xmlns:a16="http://schemas.microsoft.com/office/drawing/2014/main" id="{26F7065F-1AEF-64B4-6CDA-EFE8A5168276}"/>
              </a:ext>
            </a:extLst>
          </p:cNvPr>
          <p:cNvSpPr txBox="1"/>
          <p:nvPr/>
        </p:nvSpPr>
        <p:spPr>
          <a:xfrm>
            <a:off x="763675" y="3114989"/>
            <a:ext cx="8143576" cy="1569660"/>
          </a:xfrm>
          <a:prstGeom prst="rect">
            <a:avLst/>
          </a:prstGeom>
          <a:noFill/>
        </p:spPr>
        <p:txBody>
          <a:bodyPr wrap="none" rtlCol="0">
            <a:spAutoFit/>
          </a:bodyPr>
          <a:lstStyle/>
          <a:p>
            <a:r>
              <a:rPr kumimoji="1" lang="zh-CN" altLang="en-US" sz="2400" dirty="0"/>
              <a:t>对“多媒体”概念的普遍认识：</a:t>
            </a:r>
          </a:p>
          <a:p>
            <a:endParaRPr kumimoji="1" lang="zh-CN" altLang="en-US" dirty="0"/>
          </a:p>
          <a:p>
            <a:pPr marL="285750" indent="-285750">
              <a:buFont typeface="Arial" panose="020B0604020202020204" pitchFamily="34" charset="0"/>
              <a:buChar char="•"/>
            </a:pPr>
            <a:r>
              <a:rPr kumimoji="1" lang="zh-CN" altLang="en-US" dirty="0"/>
              <a:t> 多媒体必须是由计算机领域中的媒体与电视领域中的媒体互相结合的产物；</a:t>
            </a:r>
          </a:p>
          <a:p>
            <a:pPr marL="285750" indent="-285750">
              <a:buFont typeface="Arial" panose="020B0604020202020204" pitchFamily="34" charset="0"/>
              <a:buChar char="•"/>
            </a:pPr>
            <a:endParaRPr kumimoji="1" lang="zh-CN" altLang="en-US" dirty="0"/>
          </a:p>
          <a:p>
            <a:pPr marL="285750" indent="-285750">
              <a:buFont typeface="Arial" panose="020B0604020202020204" pitchFamily="34" charset="0"/>
              <a:buChar char="•"/>
            </a:pPr>
            <a:r>
              <a:rPr kumimoji="1" lang="zh-CN" altLang="en-US" dirty="0"/>
              <a:t> 多媒体必须具有交互功能。</a:t>
            </a:r>
          </a:p>
        </p:txBody>
      </p:sp>
    </p:spTree>
    <p:extLst>
      <p:ext uri="{BB962C8B-B14F-4D97-AF65-F5344CB8AC3E}">
        <p14:creationId xmlns:p14="http://schemas.microsoft.com/office/powerpoint/2010/main" val="3025995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974" y="1140420"/>
            <a:ext cx="8080450" cy="707886"/>
          </a:xfrm>
          <a:prstGeom prst="rect">
            <a:avLst/>
          </a:prstGeom>
        </p:spPr>
        <p:txBody>
          <a:bodyPr wrap="square">
            <a:spAutoFit/>
          </a:bodyPr>
          <a:lstStyle/>
          <a:p>
            <a:r>
              <a:rPr lang="zh-CN" altLang="en-US" sz="4000" b="1" dirty="0">
                <a:solidFill>
                  <a:schemeClr val="tx1">
                    <a:lumMod val="95000"/>
                    <a:lumOff val="5000"/>
                  </a:schemeClr>
                </a:solidFill>
                <a:latin typeface="+mn-ea"/>
              </a:rPr>
              <a:t>多模态学习（</a:t>
            </a:r>
            <a:r>
              <a:rPr lang="en-US" altLang="zh-CN" sz="4000" b="1" dirty="0">
                <a:solidFill>
                  <a:schemeClr val="tx1">
                    <a:lumMod val="95000"/>
                    <a:lumOff val="5000"/>
                  </a:schemeClr>
                </a:solidFill>
                <a:latin typeface="+mn-ea"/>
              </a:rPr>
              <a:t>5</a:t>
            </a:r>
            <a:r>
              <a:rPr lang="zh-CN" altLang="en-US" sz="4000" b="1" dirty="0">
                <a:solidFill>
                  <a:schemeClr val="tx1">
                    <a:lumMod val="95000"/>
                    <a:lumOff val="5000"/>
                  </a:schemeClr>
                </a:solidFill>
                <a:latin typeface="+mn-ea"/>
              </a:rPr>
              <a:t>个方面）</a:t>
            </a:r>
            <a:endParaRPr lang="zh-CN" altLang="en-US" sz="2800" dirty="0">
              <a:latin typeface="+mn-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pic>
        <p:nvPicPr>
          <p:cNvPr id="3" name="图片 2">
            <a:extLst>
              <a:ext uri="{FF2B5EF4-FFF2-40B4-BE49-F238E27FC236}">
                <a16:creationId xmlns:a16="http://schemas.microsoft.com/office/drawing/2014/main" id="{19BA6E41-368F-143E-7EC8-B47EBF276447}"/>
              </a:ext>
            </a:extLst>
          </p:cNvPr>
          <p:cNvPicPr>
            <a:picLocks noChangeAspect="1"/>
          </p:cNvPicPr>
          <p:nvPr/>
        </p:nvPicPr>
        <p:blipFill>
          <a:blip r:embed="rId2"/>
          <a:stretch>
            <a:fillRect/>
          </a:stretch>
        </p:blipFill>
        <p:spPr>
          <a:xfrm>
            <a:off x="284289" y="2147887"/>
            <a:ext cx="8704890" cy="2562225"/>
          </a:xfrm>
          <a:prstGeom prst="rect">
            <a:avLst/>
          </a:prstGeom>
        </p:spPr>
      </p:pic>
      <p:sp>
        <p:nvSpPr>
          <p:cNvPr id="2" name="文本框 1">
            <a:extLst>
              <a:ext uri="{FF2B5EF4-FFF2-40B4-BE49-F238E27FC236}">
                <a16:creationId xmlns:a16="http://schemas.microsoft.com/office/drawing/2014/main" id="{F1952180-718A-588D-0FFD-ACCE33FEA564}"/>
              </a:ext>
            </a:extLst>
          </p:cNvPr>
          <p:cNvSpPr txBox="1"/>
          <p:nvPr/>
        </p:nvSpPr>
        <p:spPr>
          <a:xfrm>
            <a:off x="226277" y="6359383"/>
            <a:ext cx="6780126" cy="369332"/>
          </a:xfrm>
          <a:prstGeom prst="rect">
            <a:avLst/>
          </a:prstGeom>
          <a:noFill/>
        </p:spPr>
        <p:txBody>
          <a:bodyPr wrap="none" rtlCol="0">
            <a:spAutoFit/>
          </a:bodyPr>
          <a:lstStyle/>
          <a:p>
            <a:r>
              <a:rPr kumimoji="1" lang="en-US" altLang="zh-CN" i="1" dirty="0"/>
              <a:t>[R] </a:t>
            </a:r>
            <a:r>
              <a:rPr kumimoji="1" lang="en" altLang="zh-CN" i="1" dirty="0"/>
              <a:t>Multimodal machine learning: A survey and taxonomy, TPAMI 2018</a:t>
            </a:r>
            <a:endParaRPr kumimoji="1" lang="zh-CN" altLang="en-US" i="1" dirty="0"/>
          </a:p>
        </p:txBody>
      </p:sp>
      <p:sp>
        <p:nvSpPr>
          <p:cNvPr id="4" name="文本框 3">
            <a:extLst>
              <a:ext uri="{FF2B5EF4-FFF2-40B4-BE49-F238E27FC236}">
                <a16:creationId xmlns:a16="http://schemas.microsoft.com/office/drawing/2014/main" id="{41DA269B-EBFB-7BBA-5586-B20DBE92597A}"/>
              </a:ext>
            </a:extLst>
          </p:cNvPr>
          <p:cNvSpPr txBox="1"/>
          <p:nvPr/>
        </p:nvSpPr>
        <p:spPr>
          <a:xfrm>
            <a:off x="510952" y="5165415"/>
            <a:ext cx="4925144" cy="369332"/>
          </a:xfrm>
          <a:prstGeom prst="rect">
            <a:avLst/>
          </a:prstGeom>
          <a:noFill/>
        </p:spPr>
        <p:txBody>
          <a:bodyPr wrap="square" rtlCol="0">
            <a:spAutoFit/>
          </a:bodyPr>
          <a:lstStyle/>
          <a:p>
            <a:r>
              <a:rPr kumimoji="1" lang="zh-CN" altLang="en-US" dirty="0"/>
              <a:t>课后了解：</a:t>
            </a:r>
            <a:r>
              <a:rPr kumimoji="1" lang="en-US" altLang="zh-CN" dirty="0"/>
              <a:t>CLIP vs Chameleon(</a:t>
            </a:r>
            <a:r>
              <a:rPr kumimoji="1" lang="zh-CN" altLang="en-US" dirty="0"/>
              <a:t>原生多模态模型</a:t>
            </a:r>
            <a:r>
              <a:rPr kumimoji="1" lang="en-US" altLang="zh-CN" dirty="0"/>
              <a:t>)</a:t>
            </a:r>
            <a:endParaRPr kumimoji="1" lang="zh-CN" altLang="en-US" dirty="0"/>
          </a:p>
        </p:txBody>
      </p:sp>
    </p:spTree>
    <p:extLst>
      <p:ext uri="{BB962C8B-B14F-4D97-AF65-F5344CB8AC3E}">
        <p14:creationId xmlns:p14="http://schemas.microsoft.com/office/powerpoint/2010/main" val="1517032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974" y="1140420"/>
            <a:ext cx="8080450" cy="707886"/>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多模态学习（</a:t>
            </a:r>
            <a:r>
              <a:rPr lang="en-US" altLang="zh-CN" sz="4000" b="1" dirty="0">
                <a:solidFill>
                  <a:schemeClr val="tx1">
                    <a:lumMod val="95000"/>
                    <a:lumOff val="5000"/>
                  </a:schemeClr>
                </a:solidFill>
                <a:latin typeface="+mj-ea"/>
                <a:ea typeface="+mj-ea"/>
              </a:rPr>
              <a:t>5</a:t>
            </a:r>
            <a:r>
              <a:rPr lang="zh-CN" altLang="en-US" sz="4000" b="1" dirty="0">
                <a:solidFill>
                  <a:schemeClr val="tx1">
                    <a:lumMod val="95000"/>
                    <a:lumOff val="5000"/>
                  </a:schemeClr>
                </a:solidFill>
                <a:latin typeface="+mj-ea"/>
                <a:ea typeface="+mj-ea"/>
              </a:rPr>
              <a:t>个方面）</a:t>
            </a:r>
            <a:endParaRPr lang="zh-CN" altLang="en-US" sz="2800" dirty="0">
              <a:latin typeface="+mj-ea"/>
              <a:ea typeface="+mj-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pic>
        <p:nvPicPr>
          <p:cNvPr id="2" name="图片 1">
            <a:extLst>
              <a:ext uri="{FF2B5EF4-FFF2-40B4-BE49-F238E27FC236}">
                <a16:creationId xmlns:a16="http://schemas.microsoft.com/office/drawing/2014/main" id="{C3CAE234-8EF4-1E00-3FE4-841465C7DB11}"/>
              </a:ext>
            </a:extLst>
          </p:cNvPr>
          <p:cNvPicPr>
            <a:picLocks noChangeAspect="1"/>
          </p:cNvPicPr>
          <p:nvPr/>
        </p:nvPicPr>
        <p:blipFill>
          <a:blip r:embed="rId2"/>
          <a:stretch>
            <a:fillRect/>
          </a:stretch>
        </p:blipFill>
        <p:spPr>
          <a:xfrm>
            <a:off x="416530" y="2010785"/>
            <a:ext cx="8122464" cy="3030770"/>
          </a:xfrm>
          <a:prstGeom prst="rect">
            <a:avLst/>
          </a:prstGeom>
        </p:spPr>
      </p:pic>
      <p:sp>
        <p:nvSpPr>
          <p:cNvPr id="3" name="文本框 2">
            <a:extLst>
              <a:ext uri="{FF2B5EF4-FFF2-40B4-BE49-F238E27FC236}">
                <a16:creationId xmlns:a16="http://schemas.microsoft.com/office/drawing/2014/main" id="{E1806356-EE6C-9F3A-5959-650CAC981FFC}"/>
              </a:ext>
            </a:extLst>
          </p:cNvPr>
          <p:cNvSpPr txBox="1"/>
          <p:nvPr/>
        </p:nvSpPr>
        <p:spPr>
          <a:xfrm>
            <a:off x="226277" y="6359383"/>
            <a:ext cx="6780126" cy="369332"/>
          </a:xfrm>
          <a:prstGeom prst="rect">
            <a:avLst/>
          </a:prstGeom>
          <a:noFill/>
        </p:spPr>
        <p:txBody>
          <a:bodyPr wrap="none" rtlCol="0">
            <a:spAutoFit/>
          </a:bodyPr>
          <a:lstStyle/>
          <a:p>
            <a:r>
              <a:rPr kumimoji="1" lang="en-US" altLang="zh-CN" i="1" dirty="0"/>
              <a:t>[R] </a:t>
            </a:r>
            <a:r>
              <a:rPr kumimoji="1" lang="en" altLang="zh-CN" i="1" dirty="0"/>
              <a:t>Multimodal machine learning: A survey and taxonomy, TPAMI 2018</a:t>
            </a:r>
            <a:endParaRPr kumimoji="1" lang="zh-CN" altLang="en-US" i="1" dirty="0"/>
          </a:p>
        </p:txBody>
      </p:sp>
    </p:spTree>
    <p:extLst>
      <p:ext uri="{BB962C8B-B14F-4D97-AF65-F5344CB8AC3E}">
        <p14:creationId xmlns:p14="http://schemas.microsoft.com/office/powerpoint/2010/main" val="3079530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974" y="1140420"/>
            <a:ext cx="8080450" cy="707886"/>
          </a:xfrm>
          <a:prstGeom prst="rect">
            <a:avLst/>
          </a:prstGeom>
        </p:spPr>
        <p:txBody>
          <a:bodyPr wrap="square">
            <a:spAutoFit/>
          </a:bodyPr>
          <a:lstStyle/>
          <a:p>
            <a:r>
              <a:rPr lang="zh-CN" altLang="en-US" sz="4000" b="1" dirty="0">
                <a:solidFill>
                  <a:schemeClr val="tx1">
                    <a:lumMod val="95000"/>
                    <a:lumOff val="5000"/>
                  </a:schemeClr>
                </a:solidFill>
                <a:latin typeface="+mj-ea"/>
                <a:ea typeface="+mj-ea"/>
              </a:rPr>
              <a:t>多模态学习（</a:t>
            </a:r>
            <a:r>
              <a:rPr lang="en-US" altLang="zh-CN" sz="4000" b="1" dirty="0">
                <a:solidFill>
                  <a:schemeClr val="tx1">
                    <a:lumMod val="95000"/>
                    <a:lumOff val="5000"/>
                  </a:schemeClr>
                </a:solidFill>
                <a:latin typeface="+mj-ea"/>
                <a:ea typeface="+mj-ea"/>
              </a:rPr>
              <a:t>5</a:t>
            </a:r>
            <a:r>
              <a:rPr lang="zh-CN" altLang="en-US" sz="4000" b="1" dirty="0">
                <a:solidFill>
                  <a:schemeClr val="tx1">
                    <a:lumMod val="95000"/>
                    <a:lumOff val="5000"/>
                  </a:schemeClr>
                </a:solidFill>
                <a:latin typeface="+mj-ea"/>
                <a:ea typeface="+mj-ea"/>
              </a:rPr>
              <a:t>个方面）</a:t>
            </a:r>
            <a:endParaRPr lang="zh-CN" altLang="en-US" sz="2800" dirty="0">
              <a:latin typeface="+mj-ea"/>
              <a:ea typeface="+mj-ea"/>
            </a:endParaRP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文本框 6">
            <a:extLst>
              <a:ext uri="{FF2B5EF4-FFF2-40B4-BE49-F238E27FC236}">
                <a16:creationId xmlns:a16="http://schemas.microsoft.com/office/drawing/2014/main" id="{9161E513-6935-41ED-8402-19520BBF84E9}"/>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pic>
        <p:nvPicPr>
          <p:cNvPr id="3" name="图片 2">
            <a:extLst>
              <a:ext uri="{FF2B5EF4-FFF2-40B4-BE49-F238E27FC236}">
                <a16:creationId xmlns:a16="http://schemas.microsoft.com/office/drawing/2014/main" id="{2AF3F7D4-6033-987E-A4ED-82FE6D7B5D2E}"/>
              </a:ext>
            </a:extLst>
          </p:cNvPr>
          <p:cNvPicPr>
            <a:picLocks noChangeAspect="1"/>
          </p:cNvPicPr>
          <p:nvPr/>
        </p:nvPicPr>
        <p:blipFill>
          <a:blip r:embed="rId2"/>
          <a:stretch>
            <a:fillRect/>
          </a:stretch>
        </p:blipFill>
        <p:spPr>
          <a:xfrm>
            <a:off x="124994" y="2085164"/>
            <a:ext cx="8765986" cy="3354556"/>
          </a:xfrm>
          <a:prstGeom prst="rect">
            <a:avLst/>
          </a:prstGeom>
        </p:spPr>
      </p:pic>
      <p:sp>
        <p:nvSpPr>
          <p:cNvPr id="2" name="文本框 1">
            <a:extLst>
              <a:ext uri="{FF2B5EF4-FFF2-40B4-BE49-F238E27FC236}">
                <a16:creationId xmlns:a16="http://schemas.microsoft.com/office/drawing/2014/main" id="{8D61D148-E234-457D-6F0E-5ED89BC0960D}"/>
              </a:ext>
            </a:extLst>
          </p:cNvPr>
          <p:cNvSpPr txBox="1"/>
          <p:nvPr/>
        </p:nvSpPr>
        <p:spPr>
          <a:xfrm>
            <a:off x="226277" y="6359383"/>
            <a:ext cx="6780126" cy="369332"/>
          </a:xfrm>
          <a:prstGeom prst="rect">
            <a:avLst/>
          </a:prstGeom>
          <a:noFill/>
        </p:spPr>
        <p:txBody>
          <a:bodyPr wrap="none" rtlCol="0">
            <a:spAutoFit/>
          </a:bodyPr>
          <a:lstStyle/>
          <a:p>
            <a:r>
              <a:rPr kumimoji="1" lang="en-US" altLang="zh-CN" i="1" dirty="0"/>
              <a:t>[R] </a:t>
            </a:r>
            <a:r>
              <a:rPr kumimoji="1" lang="en" altLang="zh-CN" i="1" dirty="0"/>
              <a:t>Multimodal machine learning: A survey and taxonomy, TPAMI 2018</a:t>
            </a:r>
            <a:endParaRPr kumimoji="1" lang="zh-CN" altLang="en-US" i="1" dirty="0"/>
          </a:p>
        </p:txBody>
      </p:sp>
    </p:spTree>
    <p:extLst>
      <p:ext uri="{BB962C8B-B14F-4D97-AF65-F5344CB8AC3E}">
        <p14:creationId xmlns:p14="http://schemas.microsoft.com/office/powerpoint/2010/main" val="2291821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89787" y="1104175"/>
            <a:ext cx="8229600" cy="703263"/>
          </a:xfrm>
        </p:spPr>
        <p:txBody>
          <a:bodyPr>
            <a:normAutofit fontScale="90000"/>
          </a:bodyPr>
          <a:lstStyle/>
          <a:p>
            <a:r>
              <a:rPr lang="zh-CN" altLang="en-US" dirty="0"/>
              <a:t>什么是多媒体信息处理？</a:t>
            </a:r>
          </a:p>
        </p:txBody>
      </p:sp>
      <p:sp>
        <p:nvSpPr>
          <p:cNvPr id="6" name="AutoShape 6" descr="data:image/jpeg;base64,/9j/4AAQSkZJRgABAQAAAQABAAD/2wCEAAkGBxQTEhUUExQWFhQWGB0aFxgXGB4gIBwgHhwhHx4hHh0eHyggHx4lHxshITEhJykrLi4vGh8zODMtNyguMSsBCgoKBQUFDgUFDisZExkrKysrKysrKysrKysrKysrKysrKysrKysrKysrKysrKysrKysrKysrKysrKysrKysrK//AABEIAMkA+wMBIgACEQEDEQH/xAAbAAACAwEBAQAAAAAAAAAAAAAFBgIDBAABB//EAD4QAAICAQMDAwMCBQMDAgQHAAECAxESAAQhBRMxBiJBFDJRI2EVQlJxgTNikSSCoRZDU3JzsSU0RJKiwfD/xAAUAQEAAAAAAAAAAAAAAAAAAAAA/8QAFBEBAAAAAAAAAAAAAAAAAAAAAP/aAAwDAQACEQMRAD8A+mq8sm/3MPfkSNIIXQKI/a0jzBjbIb4jXg2POs0fqKRRJHKT3IN5Dt2eNAQyzNGYyVZhjayhWK3RsgVQBX+ESDcy7hJUBkjjjKtGSAsZcjkSDm5Gs/24/OfcemAYyqyHN9xHuJJHXIu8bIyCgVAUdpEofyr+SW0Fg9VbfvCENbGUw2GQjMA2tZZ8FSt41Yq9aui9YTcqHjVxGyqyO2NMGvxTEgiuVYAixxd1T03orQPJ25j2ZJHl7ZUEqznJwr39hYlqKkjI0QKr3pHRBDLJKWBkkVFcomAYpfvZQSDIcqLfgAfGgof1AkbbnuF8YpYowCqijKEC02XILODbY1dfGvJOvv8AVbeAbeQLNHM7FsAV7bon/wATwM8iRdgrjfNWjojCTcOJF/XZWKtHYpVCYkZe4FR+3PP7ao2PpcQttmjkI7AmXHEYlZnVyii/YqlFVBzSiufOg3dX65Ftyiufe4YquSKSFrI27KvBZR5/mH71h23qRJGV482ifa/UIAqjIWObLAhqNYkAfvrZ1TpDSTRbiKXtyxK6crkro+JZWWwfKKwIYEFfkWNV7rorvKZO6L7DQ8x39xBLcMPkeK8f86Dul+okmeNBHKndh78RcKA6DDLgMWBXuJYYD7uLo1h67v3j3sMfdmWJ9vO7LFGHOSPCFIAjdvEjceCa1r2PQTHJtn7oP0+3aADCsgxjJN5cH9JPj+r8irt70p23Me4SRVMcbxhWjLCpGRmJIcc3Etf3Pn4AHs+qSSjpchktpJ5I5cDQatvOcZFHtDho1yX+VlIGt209TqEjLLM5l3U23WkQEPG0ntIDkUBEyh75xs1epw+mAjQssnMe4k3LFlvN5VdG8EBVCyEAV8LZPNwg9Lsva/WB7W7l3X+n5aXuZL9/AHeevn7fNGw1Q+pI2VfZIsjTNCsJC5l0DMw4YpWCF7yqv3NaB9O69LGo/SlkMm/khxdkLIoBYLZkrwvHJH50Sb0wchIJgJU3D7iNu3wC6Mjqy5e5SrHwVING9SHplgOJzmN0dyrFBwTYK0CLFMQOb8HnQWy+rNus3av3dwRGinDsOFrLI8kLYUgE+eDUun+o1mOKQzdxWdZEPbDRFP6/1KAewUonIEN451PY9GeGSQxzVFLIZSjICQ5rLFrFKxFlSCbJoj4r2nQnScTib9RgVn9nEoytOMvaYxaqeeGN3oLvS/VX3O3WV4zGWJ4OPjIgVizeAKN/N/GtPWeoLBC0jFRVBcjQLMQqAn4BZgL+L1k6V0iSCOONZ/ZHIxrAe5DlSE2eQWByFXgBXJ1p3mxZ5YnzASIlsMSbYqVvLIeAxoUeTfPFAI9NdeLbSVpH78m1Z45Wjx/UwGSuKIW3jKtQNAkj41v6d19JZVj7ciGSHvRlwoDpag0AxYFS62GA+4VfNU7roLNNuJFlCjcQrE6dux7QwD3kPdTkfigo+L1PadDKTQSmQHs7doKwrIMUJN5cG4l//l+RQR6pvj3ngt1vaySCgAPayiw4bMMMhxVfvrL6W68Xh2sbpKZX2izK7Y/q4qgeiWsNlIv3hbz4vmt+/wCjtJP3hIF/QeEKUvhyCTeQ5BUf+f8AGfY+nmiO2IlU/Tbdtutxn3Bu37jT+R2U4H+78jEK9j6uSUQlINwfqITNDYjGYGOQ5kpWGY+6lPwTot03epuYElXIJKgIB9rCx4NHhh44PkcHQnpnplofpMZgRtIGhW4/uDBBbe/yBGvj/d+RRHovTW2+3WEOGKAhWK1/a1y5/wAEf40C103rci9M20zySk/Rd2VxGH5wQ5lmIBYe44AktZ44GmQ9aTvdlVd2CozY4+1ZCQrEFgxW1NkAgfPg0FX0XUMcHftI9sdtzGDSkY5pZpZa4LUQaHA1ul9OF+z3JFJhaN1ZY6dSlWEbI4o+NMvNhnF88Bm6z6tx2W53METP2o5GRjjgWQlTlThhiRZU4tV0LBAObvqKxQPPKrIsaM7g0SAos/aSvgfnQTdej1lTcB5KfcbcwO6IFLA+HkFkPIPg8Vbfng9JA5ix7gElfeF4u7+2/t+Kvx8/OgG7nrPug9skYkn7fKowb9NnHIesT5yW+VIIGuPWklBVEmKOZUWZRS5R5BvcGzUWrAOQASvB5W88XpUJhg6oF3P1GCx0gPb7eKKG9imy55NuzH5rWjpvQ3gR4o5v0S0jIrJZUyMzFS2QyQMxIFBuAMiByGL0Z14yQbKKUS92XZpKJHoiTFIxIbyLWGkU+4C8rF6aNL/S/TZhOzIlBG027bdRh9yt2+ScuGqFPj+r8imDQD36zCDKCWuJlVwI3JBesQAF912PtvyNQg6wh7mTD2zGJQquWJCBqxxstRLe0EYi74NVbjoxbdrOGAUoFlX+sxsWh/YBTJIT83h+NCd56amdzJUDFd2Z1jckq6tB2SrHD2N/MGAajxXzoCA60DuUqRfpm20kpJAAUo6Akk0RQYgg+K5qtbf43D/UQ2QXAo4ckqXACY5n2qzcDwrfg0D6r6WeYMiiGGNtrNBUY4VpWVrCYgMoK88jKyaHjV79BZ46bb7ZHLAt2XdD7VYB1lVA6sC3FDgFhkb0BjfdTRNuZgwxKgqxDEe77ScQWC2RZrgaEdZ626RsQwDxbrbI4VWPslljQj3LySrsQVvwP3Gtu86XLJsTt2lDzGEIZWWgzhR7io8AsLIH50P3fRNxJ3mbshpJdrKqhmIHYkRypbEXlhQbEVfjjQF4uuQMuQcn3mPHFs8wMivbrPLH3VV4+7xzqH/qHb5IoclpArIFRzYZgoPCmgGIBJ+2+a0H3fpd2k79RPK247zxSWYyOwsGIbEkEKitnj5yFUeCOy6U8e4SQJEkSwmPGOxRL5cLjVcVdi/NDxoN/UN8kdKzEMwbEKpdqFWwVQSQtizVcrfkaD+nfUBkh2hmdA0uyXcyE2v8seTDjAIM+ebFrxWtfUOmyndRbmIocYpIXVyRw7I2SkA8gx1jwGB8itAT6OmbbwwO8aiPp0mzZ1JJycRAOFKgFR2Raki8j4rkG3Z79JSwQm1rJWVlIsWDTAGj8HxwfwdCek9baeZ0DxK0UsiywMCJFRSwjce7kPSuDjji9A2vOzoexMYYvDt4pGADdgcNjfJJVTXJpecbPJvWHd9Ek3EkLTiMGB3ZZYyc2VkePGiowsOC1FgSnjngIda9Sx9kvBMMlMT2V9rRvKqFlLCmQgn3qSPBv8kW9QbcKzFyAkqxPkjgq7Y4hgVsZZrRIo5DnnQlOibn6KPanskxCFVfJhmImQ5EYewkJ9oyFt545lv+hTuZyO1+rudtMtu3AgaJiD7PLdmv2y/bkJ9V9VLHDuZUGQh2onVCkquSe5WalBihwAvyKewMdX9K6v8A9QduzSyMUEqs0DpiDYxPsC+UYgmvIXk8nL1/oE053uJjC7nZjbLbNakGW2ICnj9bx/s/fgmmyl+rE/sxaERuMjalWLDH20wORFnGq8G+A0brqsMbYO4DeyxRNdxiiZEClDMCoJqyCPjQrpnXgJ9xFM/27ntREoQKaGJwpcDHLJyACQTx51X6i6LuJ3fB0MZSLBWZlxeOQu1hQQ4cYiz9mNgGzfP6ekd5QxQRS7qLckgnIdpYaSitctACWvwSKvnQX9C6zcLNOxZhuNxGuKEsRFPIg9qAknFBZA0Rh6xC5QI+XcClSoJUhlLL7wMRaixZ54/I0tJ6WmDRyFdvI0c26YxuSUZNzL3fuwJV0IABxIIDeMuN8np0mRCgSFVUITCzLcfbK9sxgYEKxtWJtfiubDe/qLbBWcyUiqGLYtWLGg4Ne5Cf5xY8c8617HqEcuYQklGxYFWUg0COGANEEEHwfjSzt/TEq7QwdvaiURpGJUBUyBCptqT2XjeAyFnyK0TMG4jmlkRY27rwgDJrCilkJ9oAIWyOa4A+dBv6hvu28C2o7shT3Zc1G7UtAjL23TECg3NitU7P1Bt5WVUckuXVbRwC0ZIdbKgZjFvZd0pNVzrzrWwklk2rJhUM3cbIkWO1JHQoHn9S+f6a+bAnY+n50+lvtfo7vcbhqZuRN3qA9nkfUHzX2f7uAO9T6gkYxLEOysVCqXalq2CqCaUstmqBZR8jQ3oXqFW2e1lncCSXbwyyEKaGaj3NQIRS10WocH8HV/UOnSncpPEUP6TxOrkigzKwZaBsgrRXi7HIrkF0z0e8QiDptp1G0g20glBOJhDAOlqcgwfmM48j7udAz7brEMkrRIxMiFgwwalKhSQWxxBp1IF8g2Lo6nN1SJXCM1MWC+DQZvtUsBirHigSCbX8i8/RtjJHJuWfGppu4uJJIHbRKNqOf074v7q+LI+L08V3U0pjglSaVJg0g/UiZERaUYkMP0gynJSpJ4OgK9N6xDOWETFsbs4OACGZCLZQMgyEFfIoWORcZOtwhxHkxZnwGKOwLCrGQUr7bs8+0A3VGqvTPT3ghMcmORlmk9hJFSzPLXKjkZ4/vV/NBY2jZSkiOOSL6qZVwnqWNndoncQGLyAWLHufaWcCzjoHHZdUilNRvZxDDggMp8MpIp1P9S2OR+RrZpa9O+mhFCsM8O2OEaxdyNaaULVFhiMPtBKgsL+eNMG226xqEQBVHgD40HjbtA4Quoc+FLDI+fA8nwf+DqqbqcKhy0sY7QLSW6+wD5bngf30Em6bN9W0kSsivKplyMbRyARBRIovuJKtBBXBw5BvIYfTfQXWKJJ4HG4gheITGfKN8lAZkGZb3lVYh0WiD+BYMOy6/t5Io5RKirKoZcnUHwCQefIyFj4vXsfXtu04gWVDIyCQAMpsE0Pm+fI/YHS4uw3L7Pabdtu8f6Sx7kh4swiKoaNGEnHcYfcDwoPhiMSm028o3UUnYKRttu2QrJURD5BWAb+k17AwsH4o6AvLvKmSKrzVmvJRWNV7ScjdnkAgYm64vN1Hr+3hjeR5UxQgNTrdk0B58k/H7HWTq20kbe7aVIyyRxzKzWoAMmGI5OVezmgfjQP+BbhdrNFHG3bEUIgjkMXcXBrMQkU00aqAFLm7LW1HQO8UqsAykMp8EGwf7EaH+our/SwNKI2lYA4xoRk5ALELfyFVmr8Ka1p2+4dnpomRcFYMWU+4k2lKSbUAEnx7uCaOh0m1ebdEyJIkUSVEwcAMzH3khXvwFC2B5f8AI0BKPfxMsbCRMZQDGch77FjH82DfGsHXPUEW3gaXNGqRYgMxWbuqAE/FFrb5ABOl3a9I3Me3SEQMV2m7V4BnHbwB7VRb0HRWK+4gEIDdmhLedL3LR7sCBrm323nQZx/ZH9MWv3im/QYV+SKJHOgbenyuULSNGRdq8ZOLLVg83R/YEji75oYem9cEu6nhVo2jiiikDo1/6hlBDUaFdq/+7XnqzYyT7R0iHvJjbBjWYSRXaMnke9VKfj3c8aA9Z6Tutw27ZITF39vtlUSOnuMU0ryRvgzY5o4TIZCm8/Ggb06jEQGEsZUtiCHFFj4W78/tqe13ccgJjdXANEowIBHkGvn9tKPU+jtLCzLtJhJLNtWkSWVHJWGZZG8ysgGAZeDbEgEUAdGek7WRd3u3aMrHJ2yjWtHFMTwGJHx5A4GgKvu0DhC6h28KWGR8+B5Pg/8AB1WvUYSaEsZNE1mvhfuPnwLFn4vS1D0R/qJ1nhklSTcruI5VmCoMcMA6ZhskMYqlYEBf31LZdIbs7tZNs1yzyMAHRWZJHHKurcMALokcgc6AxvfUW2iMWUyfrOUQh1q1Us1m/AC0T8EgfOt53cYcRl0zIsLkMiPyB5rj/wAaU36bux2HZDMYt73L/SWVojt3iykorEXDP/LVoq8ZcalsOiSCaVZ4ZJAd0dxHMs1JWQZAyZhsowAlYlWCrzRIAM0fUoWZVWWMs94gOpLV5oXzVG68VrH6h6s23WIrGr9yaOLlytGRgoPCNYF8+NLu16POsMY+nYOOoybhqaK8GmkcG86vBwtXfBHjRf1nsXmjhVIjKF3EMji0rFHDN97AEkeB/wDbQQ6l6kePb75+0ol2aliMskf9MSCmABvE0QQCD+QQSZj3tzNFX2orFsl8kkVjeYoAGyKOQonmlDqfp6Yxb8beExR7jamJNuGQAzNnlJiG7aAhlBINtiSRYF6Ov9H3G4fdiNDF39iIUkZk4e5DTYsWA94FgH5/yBbrvX1igMsLRy4ywxsA113ZUj/lPBGd8/jRaHdIxZVdWZOGAYEr/cDx4+fxpU9Q7CXcbY9vZtFMW2wPuhyxhnWWgQxUqoDY38t9vnRj01FNGjxTrZRjjNa/rKeQzAGxJzTcAEixwaAbv4pB/wDGi+7H71+78efP7ar3fVY0+1ldg6IyiRARk1c5MPAs15OJABOl7rfpuaSWdYiqRS47gNfKbmKghx/pYrG5qv8ARYc58XdX6dPJs1/SvcSbiCeVFZfbhNG7DJiobFI8AR92IPFnQMX18WQTuJmTiFyF2BZFXd0Lr8aGSdeH1sW2QxuHjldirWyGNoxRAPz3Pn+k6wjpEjS9QITtNOoEMxwJBEPbDe1iwINkWPGqOlbCfv7Bm2xiTb7aWFwHjIUnshccW5T9I1wDVWo0DRvd0sa27ol8AuwAuv3I0M6D1tJdnBupe3EZ40c2wAtlurNXX/8AWqt7tZl36zrGZYmgMNBlBibPItTkWjjEHGzcacHyF7o3QtzCmx7kEjiPZ/TyRxyorRtaksD3FVkbEA+6/avB+AeJd/EpxaRFNgUWANsaUUT5J4H51p0r9M6J292lbeoI9pFDGSytjgxYLZYuaGIuvI/zpo0GCbqgDtHGjyugBcJj7chags7KuRHOIJIBBIAYE3dP3glQOoYC2BDCiCrFWBH7MpFjg+RY0F6dlttxu1kRyk8veilRGcG4kRlbEEqymPixRUrRsEAWdtLM21G6WZw0+5Dewj9EiRYu521AXJcGIajbHgVQB312kuN5Du4j2pVX6iaOS4pGtCj4FpKxMTFUKgCltQTdjVfRYmMmzjeKakh3EUxaNwt5JiGYimBAYq3Iq6PPIPGu18/2XTdyjIpiYqofYsxAJZPuj3JJ8gIAp+S7OOaB1t+hY7ySOTvoqyQttWijJURoseSdwKQlyK4dWILK/wAjwDdudwsa5OaWwL/ckAf8kgf51br53L0kNsZmaCRpF3hbF45C3aXfdxcEYWV7PICjwSBySNM3qfMbRewrYiSEuiKcuyJEMqqgGV9vIYgXVgC+NBv6d1MSybiPEqdvII2uubjSQEV8YyD/AM636+dyQuj7kxQzJt230TyKkDW0J2iKSsZW3AmC5KoJpW4+Nbk6UPqdolbiSDtbosXR1ALyxPGrUoCqvvCK1YhR+2ga97vhGUXFndyQqLVmhZPuIAAH5PyPzq3Z7juIGxZb8qwFgjgg0SLBHwSPwToV6kgik7SSpN5Zo5YRJlE4FA5RglbVmFn2miDd0QMcMzNGu/WaSNoJUR0R7Dd04u6xj9OVoe2Q9DBhIAVJog19O6kJXnTEqYJRGbI5uNJARXxjIP8Ag607mYIjOQxCqWIVSzGhdBVBLH8ACzpE3u2YPu5Fin7n8Q2jRsI5CcFXbLKy0CCMUlVmHkCjYI1Lf7BjB1hhHN3SZRtvbJZy20QHaFc3Mp5X5F+NA1bzrASRo1QuURJJeQuCSMyhvdwa7bsRYNIfJIB93vV8SiRoZZJI3lRAQuSJhlRbjImRAAaBLckAEha3/TRNNvz2Cxl2ESoWhYZOPqMgGZQMqeOx58D44u6dtEO82Trt2VV2coJO3dcXMkBUHJBi3tkIBo+fzyBradfV4e6Y5R+pNGVVGcgwNIrfYD5MRr8kqByQNFwdIMCuYhGYZaebfm2hlIGe5Z47jABydHyWQkBab5Nau6eHlZPq49yVfa7ftEJICkqlu9ZCgxSFinubGx80raBs6V1DvBziVwkeMgkGyhq+Pg+dbdI8UJDrII5g/wDEHN9uXiNgwJ+3iMgiz9pNHyNafSm1cyB5jOu5TurKDGQj5PeXcxxkUUMKYlQxHHuABv1VtZw6hgGAN8MpU8GvDAH4/wAijpf38b/Wq6qXXJVZWjf2jFjnFKPbXJVoz91eQaDBtjG3/TrNFOdqU3KsvalJWQygxlkxzA7eeL1QJ82RoHDZ9QzlmixIMJUWSKbJcgRX/HOquqdaSJJHALmN0R1UgFS5WvPHAcN/Y6Veo7Qg7tlj3BdDtu0SkrNaBbKkA5MOQzC75BNHUd90/nqYWB8pJ4JFKwt7kw2+WLBeTmjkqDkCCSOb0D/rtJUkTo7lIZPppNwgRSjlVqFs3MKjIxM+K4Uoz9/jk09P2rS/RpNHOQv1EclxyqKDVGGNfbQGJJI+QT50DxM+KkhS1C6FWf7WQP8Ak6D7L1LHIkEjJJHHuAhidwuJMgtASrNgWsAZUCSF8kDRGPeBou5jIAQTi0bB/wD9lZX+1aTYNs8vR9vsljlWc7eCNso3QRFQmTFnUC0okAckgV+dA+a7SS80v1kTCKZVG6lSX9KRiYzDJixkrExM4jIUAheLINgQ6JBgdm3bmBJ3Cylo5ScDkVD2thbxxB4/HzoHnXaRvS+3ZG6eTHMrHbyrMWSTzceIkLDiirY5eOa88vOgy7fqCPLJEt5xY52pA9wJFE+fB8a1aQupdWWPqE4ZwkBO2WeVJKaInMIGH8qOxCF74yHHOS2y+ov+qhwm9n1jwSh3A9ohkIHb+FzCFZCQzEjyrCweNdpB6d1hqgc7otl1GeCmdaaMPMFWvk0qEHzwOaNH3Y9XbGOQ7ok/xGWCi64lO5IoUiufaFIPngc0TYPuu0v+q92UfZqJjF3NyEaioyUxyGvcD/MF8c6BbXqxXtN9WWrqL7emkUgpk4CH+ogUQT7vaOfNg+67SP071BluYR3/ANOU7pGzdQ1o/sGAFRlQrBReRUEuMgaj6d6uxHTWbcmQ7lZFfJ1IbFCwoChYI8jnkg/FA9a7Sz17c473bxvO0UMm33DOA4QExtDicjyCA7Hgjx+L0M6ZvZpZdlFNuHRpdrO7AYozlJYRE5UrasyMzEAD+YVQI0DeOoxZ9vuJ3MscMhllgHqvN4ENX4N6gvVEMvbUOxDYMyqSqthnixH2+0g2eLIF2QNKj9bwIRtxTr1AxsrOLEbG1Vgf5aK0T+V555zL1Hsxbt45OP4gElcuWEcZKBmPJxH8pb+UEmxXAfQddpKm3brJs0+sDJNu5E/TYf6f08jBCzElyJFHu8+4Dzzrf6R60rxlJJlZ/qtzDFbAswjlfEf7iI1BvyQL0DNrxmAFngDyTpe9U7h4XhmBkMRJhlRGI5kFRMK/m7mMY/8ArWftFYvTm4leMieR1k2iPDO2RCvJ5D88f6eMo+AJwP5aANe3nWRFdGDI4DKymwQRYII8gjm9Wa+c7HrsssW1R90sPd6dFJHMzVnOQRIb4VmjpW7Z4ObWDXDT6o3rxbUOJAp7kAduFtWmRZACxpSykqCSKJHIPIA7qLuBySALA5PyTQH9yTX+dJEm8aOH6gbglTvYVy72YSEyquLkM0Y4c2RzRTIki9YOq9SWWPcZTXHD1XahT3KCxk7ZuSCPZkzkE8AjjwKD6RoenWoSZQXC9mRYpC/tAdwpUWfOXcWq85DWL1T1AwbdHV8YzLEskvnCNnAZiT4FcFz4vL40rP1FIv4i0W4xre7Wm7gJKtHtlPua7UjIX+x540H0bWfd71I6yJtrpVVmY15pVBYgWLNfI/OlbbdSkl3UqHcJFJFuVAia7aGlqksBhIMmEnNG/hSNb/U0MbTQkbr6XdKkhhc4lWUlO4rI/DrYjJAIYUCGHOgO7XcLIiuhtWFg/sf2PI/tqra9QSSSWNbyiID2pH3DIUT5FfI0n7brUsrRJun+kEm2kZXRgivKJCpZS34QLKqEmxKcg2PGfqu/7X8SlXcVJCkLD3KvuEY5da+fBU8c+L0H0LWB+sRYRujdwS8x9v3ZgKWJWuKoE3f4HkgENtdx3N/uU+pbtxRwyBFdaGQlDE8XjQU+fwfxoP0TfLM3SnknzkeCUk9yixpL4UgHng0P20D3tdwsih1uiL5BBH7FSAVI8EEAg8HVulj0FgIp1VyzrutyHUuWK/8AUy42CSQSvN/PnnWbYb9Zd2yjct21aSJR3PdNKQWfFQfakSgqKAtg39ALA4a7SN6Y6+0knTVacM8uykM65DmVOx5Hw4LSWOD5vxw86DPDu42d0V1Z46zUEErlyMh8XXzq+tJ/Vuqtttxu5FALH6KMX4HdlaPI8jgZ35F1Vi71q3e/3canJCQJCf08Gm7QjHuwsKxWQ0QtkrjQyOgZsRrsRpS2nX59w7jbdtliaCySArpIkcrvycwDG5wr+ZebHAknV9wCGZ0K/Wnb4iOrQsVBJyPuHBsccHjngGs67EaC+pJCr7P2owO5Ue9MiLjk9yG/a3xfPBI+dLnqbrEx2m+RnMUg2u4kjxUFXReFeKRSeMWUMGpgzAihVg+1rq0M69uJIdnPIjXJFDI6kqOSqlhYHxxWhHVOuTINwUZP09gNwoK3T+/zyLU4Dj+/P4A1uOmZbmLcZf6UckYXHyJChY3fkGJa/wC7zYrUm6jMjRh1MiAMygjJQ14kjyAaNf2OljqPqCfbLO7lJAm0E6jEqA1kEE2Th4J+RTfmhf0yNh1TcZvmfo9tzQH/ALu54ofF/wD+PnQM1a6tKfqPrG4gkljjIZ3iEm0QKLkKNU0fJFkKUYH4DE0cTfnVuqGXatuI2jlgaXbCIOgZWBljBb+4ZuPwyXzxQNtark26kqSOVNr+xqrrweD/AOdL+06tuJppO0q9uHc9lwxA9oVciecs7bJeKK0Pmxb6r6pLtwHU4wrHI0rhQ5jIxwdksM0IGeeFtwtULIBg12k7ddYaGXdYrHk+628SsFAJ7kacub9zV7VJofYP7sPSZJsH+oCgq5xNiylAgvXAbkg1xwDxdAN9aydU2JlVQHKFXVwaBBK/DKfuU/jg+CCCBpZ2/qKZkYhgwbZHcxuEpSy1ygJyMTZCg4DceTfF+76pK4dA4AbYGawOQ/ix+37aAp0YQGSVo5EeVgncwoe33YHEfyn3Uxu+RZCgAgd5H3OzmvdKl8LGWIIBavNWQL/fQnabj6bpwlIMnZ22eKgAkJHkFFf2oaX+pdUeCZd27CYp0zcTBVGK2GgYhTycDxV2QAeToH3XlaVOodS3kcTSXHiW24jYgNZkmCScK1YYspU3fm740W6Pu5DNuYpGDdpkxYLjwyBiDybo3R/BA5qyG+LdRsxVXRmXyAwJHNGwORzq4jQDozBd11BjQAkiJJ/bbpyT/bVOx6xPPK5jC9qLcmFwxH2KBZ85CQkhxxRUgVzloGUjXVpL/wDU06JjKAJ2bboUKjFe67KXjkDYvE1UgPuBAz+4AbNzvt4rbeMmNDNuZIgxXM4DbySqzAEKHDJVDgijxdaBorXY6E+otxNDtjLGQWixeT2/cikGXFeabDIqOeaHOhXTuuyTTSQLIMjIrwsFFNtyDb+efejoGH5iNU3INY1TFu42keNXUyIFLqCLUNeNjyLo1/bSuu+lRX7XaRjv+2xEfBDY2SAwt+eWvmvj4yz76SHqDxs/vlg2UbT4DAN3N15XL2mQjBfgMw5ugwPAGvdL3RGf6vfZylkV4wqkABQYUbyB+Sf+dMOgxSdJgYyFoY2Mq4ykoDmo8B7HuHPg/k68HR4AoUQx4i6GI+RR/wCQKP5ArQWHao/U90rqCo223YA/DM84Zh+GIVbI59o/Gh8fU5IhNCxeVNvv9tCjmV1bCYwkBnFmQoZaIY+5QAxJskGx+kwGQSGGMyKAofAWAptRdXQPIHwdV/wTbVXYirud2sB/qec/H33zl50O2vqJ5ZKihZohO8LNTCsCys9440JFxxu691/y6v8ATvWzuCwZVjdVUvEchJGzZWrqwFgY+2Qe1/dXAsgS3exjlKGSNXKNkmQBxb8rfg8+R+dV/wAKgpl7UeLqVcYiirXkpH9Js2PBs6CSdYeN96RE7mKWEEK7ye11TJxHVqEVixjQHLEny2oQdbll3WzCNE0MsO4c4MSG7ckSgg15xf7fglgTxegZYtsipgqKEArEAVX4rxrCnp3aAEDbQgFO2R215T+jx9v+3xwNVdX612pooFUtJIkkl4sQqxlAbCgkktIo/FWb4AI+LrEpkVngMch2RlMbTNSsGGSFQMbBNdwCyPgeNAbHSYLy7Md4du8B9n9Hj7P9vjXmy6Nt4mDRQRIwUIGVFBxHhbAvEfjQ3pHXpJJNukkaqNxtmnXFySuJiBVvaBz3gbHjE+fOsvXI76jtwIxJltdwShIAJV4ApN/IDEA+RkdAzSQqWVioLLeJIFixzR+LGqJelwtGImijMQqkKjEUbFLVcHkfvpL6bKH/AIUWyaaLdzQyGTl0ZdtuMkLWSwFKMrOQCtZvRHZ+oZFSELECZt9uNuc5mOJRpjkGZScT2TS8YggDxoGL+FQdzu9qPumrfAZHHhbNXwDQ/F6nudjFIbeNHIBW2APBokf2NAkeDQ/GgkXqRiY4iiieTcybcUxw/TRpC91dYL9v9RAuvdoL0yeWFQkQjTPqcqOBdUQzcccWVs8f8+dA4S9H27d0NDEwmru2gPcrxnY91UPP4GtO22yRriiqq/hRQ0Dj9Qu8hWKFnRZ+yxAbiuGe6xpW4K3ZAJHwD70vrcss0kBRFlhJ7wyJAVuYWU0MhILP+3FgeRyBDbdE20ZVo4IkKqVUqighTVqKHC8DjxxqMfp/ar9u2hHsKcRr9h8r4+00BXjgfjWf0hu5ZdqkkxUs2RsX/Ufz4rx/jWnru9MUXtvuORHHQyOTfIUctgtuR+EOg2bfbqiBEUKiigoFAD8AfA1k23Q9tGVMe3hQqCqlY1GKnyBQ4BrwOONAvTvUmi225i9zybMvgJSys8RBeEsSC32/p5EcmJjrf0zrjvNFFJGq97bmdSrE1i0YKtYHP6qkV+CP3IbF6BtQnbG3hEdqcBGuPtNrxVe08j8fGtO32USO8iIivJWbKBbUKGR+aHAvQXrMobcvC6ZI2zlbl2KmmUEGIjAn3fdyfI8HWT0j1ORYtjAY0/U2IkjIc/8AtLCtN7fnug2Lqj586A5N0DauXLbeFjJ/qExqc+K93Hu4451d/C4e6Zu1H3TVyYDI0KFtVmgaH4B0v9K9TzzfSVDGv1e3aZf1CcMRGab2c2Jfj+n9+DXRd6N1tY5HQDup7k+4c8MOQLHnyOR8aCa9G2/baPsRdtlCMmC4lV+1aqsVs0PAvjUh0mD2fox/psWT2j2sRRI/BI4vzpG2G+7XSdo1MSnTi+KTSIzARpYCxHIHj/Wo9u/9x00T+oMZ448QqyCMxtJkBJmTkqtWAdQAcCba+KqyB0jVEGyjTHCNFwTtpioGKCvaK8LwOPHA0o9e9US/R75o8Yp4YJGxbISR1kA2LCmBAyWRbUkVzVlq325kjgeQR9yREZhGh+4gEhQavnx4/wAHQVnom3N/oRcv3D7B9/8AX4+//d51PcdIgkLl4Y2MoCyZIDmFNqGscgHkA+NAz13u/TMuLq267dpJIhH6TN+pGQCCDYMT+KVvNAaNv1N91HkIUbbSGaNsm5CpmuRUimDMlY+QGBPyABKXo23fItBE3cQI5KKclHhWscr44P4Gt+k30N1N1g6bt2RcZdgsisGJI7SQrRBAHuEoPB4xPm705aAa3RY+881yCSRVRiJGFqpYqKBoUXbxz7jqMvQIDGIsSEEiy8M1l1YOGZryZswGtibI5vUZOuAPNH2nziMQq194lOKsvu+2wQS1fY341kX1GkZkEhbL6kwoJO2osRCThgaCY21scua80NBv2/Q4o5HkQOpkbN1DsELkUWwvGz80KJ5NnnVmw6VHEclyLYLHk7Fjgl4iyf3PPk/JNDS+3X0E67lmkSD6KaR1Ymh25YxeAJUsPcAVvKxRIrW4+rIhwQQe4kYJZMLdWZf1AxQXiUom8sRzkpIbh0SMPJIC4eR1diHb7kGKkC6HtFUOCPN6jH6fgVonVWDRGQqQ7AkysHkyo+7JwGIPyNS6r1Dt7Vpisi+wEgBM0y/ZjgWW7qyOPnQP1BvnCOoaYvDvNnyGVchJPEpUYFclKswIf5Y/AFAwdQ6THM8bsGEkV4OjFWGQphYPKmhamxwD5A1XL0OJnzOeXaMN9xvsPJHJ5JIvL7v31j/9VRAlXBSVZjCUdlFMIxJeV44GMhgb/mAq+Ne7X1KJGiWOCZjJGJP/AGxipcI2Vv5QmzV2Pty0Gra9CijaFlzuCIwx27GkONg2fd9i8mz7Rzqe66RG8yzEuJERkUq5FKxUsKBrkop/7RrzqPUAHEAVnkkR2xQ4kKuIY5WMTbqBRuz+ASFvoHqERbbZtuJJa/hg3EjNiytgsWbE8ymQZ+PByPk1oGBPT8C9rFSvZkaVKdvvcMGZiTbswdgS1/cdQi9NwLhQf9OZ5197cSPlk3nm+4/Hj3HjV3SesJOzqoIMeJPKsKYGqZSVJFEEXYI/BBIfZ9TK7nt7l5YZe5KUsHszRDMoEblAypizDh7RvK86Ak3puA/D33u+GEjBlkIolSDYBBIK/aQSKo64emduFKgSczd++7JYf8g5WLBIIHmzoT1zrRl2oeNJ41P08scgOOatMgx9rWCVPKN5Di+bAIz+plRZC0MtxzxQMowJuYxhGHvorcqg82DfFc6DVB0KJJXlTNWkYO4WRwrMABkUvHKgATXNC715D0CFZI5Bn3IhIFbNrIkYM4bn3gsoNNdVxWgvXfUEqQ71lWWOaHYiYRv2iEY96mtWOTAp7hZFIKuze7pm4ZN28ASTAxLKTJJmQSSny5IWoxwP5mY/JOg3bLokUQRU7gVHZ1XuvVtlYrKivvNKeBxxwNX7jp6vLHKS2Ud4gMQvPBJW6JriyLAuqs6y9V66kDU6PjcYLcAfquUGJJGRUjJgOQpBo2AQ/T+sdibdiQStEd8kSuWyEZlhgxFM2QQyPXAoGQcVZAGdz0GJ5ZJWzzli7L07AFBZAoGuCze7yMjzqW36JEkkUgyziiMKEuxpCVJBBPNlF5PPtHOgXQ+urDFhI5eRtzvAgeTnCLcuv3yN4UYKOflfiyCuz9SRyMqqrcxpK2WKsiOpYMyE5YjHEkDgmvhqDVuujxyS91s8+20Vh2AwYgsKBqyQDfnjzqrb+n4UMJXMGCIwxe9vajY2OTyfYvJs+wc6Hj1lEY2kVJHURpIMcDau2PPu9rCwSpo0RVmwC/Tupd1pUMbRtEwBDYmwyhgQVYj5r+4PxRIZtp6cgi7GAcfTxtFF72OKNVjk8/avJusRrV07piQQrDHkEUUtsSQP/mJJ/wCTqrq297cm2W3HdmKe0KQf0pGp8uQvtu15tQPBOsew9TrI0Q7UiCaWaFC2H3wmTIHFj8QuQfHH76D1PSW2CLGFcIsP09CR+YvhCQ1kCzR88kXROtS9DipQciqlGxZyQWjrBjZ8gqp/7R+Bruq9QAbsBXeR43ekOJCrQJzsYklgBzd34AJC/wBB9Vxx7LaCVmklGz28spsFqkSr9xykYlWJAs8H5Kggcl9N7do2jdS6tCYPczEiNvKg3Yuhz54HPA1ufZKY+2SxX8l2y4Ng5Xld83esnT+sd2aWMQyAROyPIxTHIKjAAByxyWQEGvgg0eNUz+poVmMPLMsiRPVWHcKV9t5FQHUlgKGX7NiFr9AhLBiGyEveyDkEyBO2GavNIMa8V8altuhRR54ZqHZmKiRsQz/cVW6WySaHFkmrJOo9D6z9SGYQyRorOuTlOWSR43ACux4KXdUQRR86of1IvcRFQkPM8IckAZRgmT9+ArkWKOB8Wthfs/T8MRgKBh9NEYovexxQ42ps+77F5Nn2jRXQDYerdvIMywjj7ayiR2ULixoZG/Y1ke1qPuHzYBra7lJEDxurowtWQggj9iODoMs/SkbcR7gkh40ZaHhr8FvyV91f/UbQ+X0yC5kEzrJ9R9QjAL7SYxEy0QQUZBRB55JBHFEj1WPuGMElgwRqViFYpmAzAUpKkHk/zL8sLzN6igqwzNaPIlI1SKlZFDVN5FV5BsWOdBT1H02s7EyyuwaCSBgAosSEEsCBwwKivj9iedXnpTtGEknMnw2caEOMSpDqAAbvI+BajgCwc+z9TxNt4p5Q0YeHvN+nIVRQqsxLYUAMuCauiR4NWbf1Aj7hYVSSnhEoYxuPuNAEFfbxycqrx5vQXSdEQ7P6QM4QRCIPYLgKoAayKLcA8ir+NZJvTefcLzyFpHgk8IArQOrrQxuiUFgk8fvzrdueohdzFDkB3EkbEo9nHHkOPYKvkHk2K+dYN96qiXbtPGHkAWN1pHAZZDSMGxojgnjxxf3CwlJ6aUsJVkdZ+8ZjIK9xMYiKlSK7fbCrXn2qbysnZF0widZjIzERmOiByC2V8Ac2P7V/zrdFIGAIuj+QQf8AggEaG+o97LHERtlVtwwPaVrxtVLHKuQKGN/1Mo+dBPe9JDzRzrI0ciI8dqFIZHKkghgeQUBB+OfIOhS+jI+1FC8jvHHtH2lHEEo+FmwBTDtrR/Y+Sb0Sg9QQNDt5sjhucBEcWNlxag0Dj+OaF8aw9f8AUqxwStCWLxzxbdv03tGkeME0V5pJQwPKk0ObrQGen7Z0WnlaUgAZMqg8fJxAFn5+PwBrEehhinekaVY3Z0DAWCyuoBI+4KshUfPgkk860RTCGJpJZmZLLZSKFIB8LSqtkHgCsjYHJ8itl1s/WbsSO4giggkCyR44l2mDV7QzAhF/PNgc2NBaPTR+mXbd+Qxp2whIUkLGwZQTXuPtC2fgfk3r3denMzKTKw7s0Mx9o4aAoUA/2kxLd2fNEXxfN6k26Bs2ZcHjRgY3tTKQI7GNhWJoN4uxdgjWvp/U45i6oWyjIDqyMpFgMOGANEHz/ceQdAP6t6cE53JaRlG52427gAcKC/K3/N+q3mx44452L0z9cT9xsu2I2UAUwBJB8Ejlj4P4103WoVcoX5DrGxxYqrvWKswGIY5LwT/Mv9QvPH6m27Z0z1HmHbsyAKUIDKSUrKyKXy3kAjQV9V9OCaSR+66mRI1IAU123LrjkDQJPuHziPGpf+nVLuzOzLJOm4ZKFF41RU5q8QYkevOS+a9uo9Q9SJG0C4SHuzmE/pvakRNJdY2eFFV5u/g62S9ahVwhY2ZBHeLY5kWFLViGPjk+SB5IBAdB6XCFHSZxJHJO4YBeRuH7kqMpFFS9EeCMV583q3XQlldGlcuEbJcgtg9sxsMgBSsCSQALJ/HGvNt6l27lQrP75GiBMUgGalgVJKgK1owo14H5F1erepPAkLIyrnuIonLCxjI4UnyKIB4Pj9joPF9OEbX6U7iRowqopYIWCqQVs4+4gACz5HnnnV8vS5BI8kcpDSvEW9q0FQgMOQTTLY/NkUV0C6l1+Y7PqbxTJe1VjFLGFu1iD06tkLDcXQBB4AI0fbq6rPKjyIqRQLK+SsuIJa2Mh9hSl8DkYtfxoLup9N7rwNmV7EncAABs4MlG/jF28c3X+cG19NBOx+qx7E804sDlpu5kD+w7z1X+3zXOL1L6jqE/TyOkySbUsrR0THNuFj8SJ4YZjiiCvxpi2m9SQuEyODFWJRgLHnFiAGo8EqSAQR5Ggy77o+cyTrI8brG8RxxIZXKnkMDyCtg/Ft5vWHpXpYbft9meVcII9u1hDmsV9sn28MoZhY4IbkGgRpb1LtwGJZ/bOu3b9GXiRscVPs4BzWm+05LzzrzqfXUQNi2LJNFE5eGUrcjJ7QQALZXADXiCy3+NBq6b03tPO2ZbvSdwggDE4KlCvikHnm7/AMVQdH7c8sscrqJmV5I6UgsqhLBIsZKqgi/5RVGyfV6/CZmhBfNGxf8ASkxT2Zgs+OIUr4Ymj4BvQwdcMm/2qRO/Yl28zkGOlbBosGVmUE8O3g1WJrkEgX6J0z6eMxhiwMkklkAG5JGkbx8ZOa/av76XdntZTK7BKZp3EiSwHmNnxJE4oG4wrCr8Kh8WrJv9+iHtlmDsrECNSzADgtiFbwSPIomhz40G9MeoMtjtJJ3LzS7dZWxQljSgu2KLwLI8DyQByQNAU6H0s7eNYu88iRrggcLYUfaCQAWIFLfyBzZ50S0IHqTbl1RWZ2dEkXCKRgUkNK4KqRj+Wul+a0X0AHc9CZ9yJrVCGFuhZWeMJXbkA9rjIswZrxsUAfdrP6f9MHbwrCRAQkZjWVYqkZaxXLnhgKs2cvwNEk6k0ssscIUiEhJHcmsyqvgoHJpWUlrAGQAs3XL1lEjDbpots5ztXlWqQkFlZsbWgGuhwwsDQCx6fnMG0gd4mjgC9xAGUSmMKI7PPsDLmVrk4jwDkQh6bMNwk7OhPZ7cgxI5yytOfHJHPPA86IDfxZYdxMwCcchdCrNXdDIX/wDMPzqper7chSJ4iGQyKRItMi/c4N8qLFt4FjQZeo9MkfdQTKygRJKpBuyZMeR8e3Dx838VyJPpN+1OiMkQlSMLEmRiV0YsXVSRgH9oKKABjdsTwfi6xt2+2eI/piXiRT+mfD+fsP8AV41YOpQkoBLGS4BT3j3A3RXnkGjVeaOg9gEufvMeGAoKpBzs5clqK1jQq7B/NAfL0bu7hpdwkUiBAkSsobDklz7l8v7b/HbXzyddvfVW0jUsdxE1FRSSIT7pO2OL8B7BPxi340UbcIE7hZcKyysY1V3fiq5vQLEPpiVI+2jRKibobiBQDSDPNoz49ts1MPtyAogc+7n01MybgGSMmfdQ7j7WGPa7Jx8m77AF8fcT+2t3RuvCR93m8XbgnWNHU0CGijf3EsRkGkK8V48XrbP1zbIAX3EKhhkpaVRYyC2LPIyIW/yQPnQV+oulnc7cxBhG+Ubq1ZAPHIsi2OLXJACOOL8aD9W9LS7k7gySxr34oEAVC2DQSvKpOTU6ln5WhYFceSa6t1MRNCntDTOUVnNKCFLV+7GuFsXz+KNh6iscatuWjhY3YaQVx5IY1YrnwKB5rQCN30B3hwVdtG3dgkPbQqD2ZVl5+TkVoD+WybbRDp/T3Tc7iViuM2FAXYwXHnijfn9v31R07roM+5imkiUx7gRQi8S4aGKQCixya5COKuhxq/e+oIEWWpoDJGrkoZkXlALDEn20WUEnxkL0GDZ+mzHuJpKgkSWYTKZIrkjNLkoa/cCVtTwVy/moat2nRpFh3Ebdp+9M0mLAspV2tkYEcgra3+91xRq6p6lCTSxiSFBt4o5pczZZWZ8lWmFMEjJsg/enH5luvUYeSGHbyQiSaGSVTIch7CihaVgbZpPIJrttwfgKR6akAiwlA7O6M6I5Z1RTC0RjViciAXZx+LxAAAqfTfTRhmlYCB0knaZWeO5ELtkyhvkZWVbjGwKatS2fqB/pjLIIchLuYyS/aWoZJUU+4t57a3zxkT4FaMz9QijxEkiIWrEM4F2QOL88kD+5H50C/F6cmESJlHa7x90fu5DStLh48guVy/a65oEvUnTJJ1iCFR2545iWvntuGx4/NVfx+DqPR+th2eOaSIS96SNFBxLBCapSxJNAk1+D+NE497GzmNZELiyVDAkUQDx54JH/ACNAu9X9LvP9WxdFk3W2G2oA4ovv9xPl2/UNfbwK/J1LrHpl9y247jKqT7Qbc42SpBdshYAIt6x4+3zzQPyb2NXCNIgdvClgCfJ4HnwpP/afwdZoOsxdlZnkiRGypu6pU4k+H8HhST+KP40A7rPSNxudt2ZGhyzhYlQwB7UiyE8kkZFAuP8ALZOTeNbfT/TH2yGHINCp/Qu8kT4jJP3BeQp84hQbIs07frqieaOaSJVVo1hJOJbuKCBy3uNkAVV2NZureqUVdx2XjMm2ljSQPyKYx5EUwNASAZHgMCPjQR616RXcSzMZCsc0QV0UciVARHMp+HVW/HmOI/yau3/Q5JNokOamUSxSyOQQGZJVlahzQZlxAv2gjzVErH1KFlLrLGyBsSwcEBvxYPn9v31VuOubZFVn3EKqy5qzSKAy8e4EmivuHI45H50GE9CZ23okI7e7XH2E5KO32zzXJI5vivHPnVOy6FOJtpLJLEfpoZITijDPPt+77vaf0vHNX5PwwzE4nGrri/H+dLu09Sv9Nt93LEqwTpEzFXJMXdxxyBUWgLAFgePNVZAbNz0qT6sbmJ1BaHsurgkUGLKy0RyCzAj5scitA+nei3iG0toJjBt/p3SSP2sAQVZSSSrAg3wQwb4oabvrY8+33Ez5OOQviiePPAIP+R+dUbfrG3cgJPExKlwFkUkqKtuD9osc+ORoMm06U6bru/p4dhIcVBWsWZrA5AHurG+APJ8aM6xbTq8ErBYpopGK5gI6sSvHuAB5X3Dnx7h+RrboAO12Uu3n3DKndh3DiWlYB0fBUYUxClCEDWCCCW4N2B+y6JOj7UuDJ29xuJWJkL4JKJFjUFzZKo6qa4pTV/J7Z9RLzzwlK7QQhsryDhvihVY/vohoFOLpm5+pido1Cx7mZzgyqvbkWQIVUC2c5Kzluci2Njx3SOlbhJdplGoSCOeN2z85shUqK5BC/NEH/ktmu0CXtfTO4RkAZe3Gz7cDIj/pHtgAB4lUhIwf6Uv5I1sPQ2+rnaSMyxSyxSxkTMoQxrGKaO6NNEJFIBstRqr00a7QKA6JN9FLH2wJDvG3AGS+5TvPqALBoNh7efkea50W9TbCWfbqIwO4ksEuBag3alSQplXzjQNVdeNGddoEnddC3LyyyhAAd5HuBGJirOg2qwMuS1i4PvHNEqBdc63bfopTdbWRIcYo49yHBfIhp5I3sliSSSjFvPL8E86aNdoBnWoO4BG+3XcQMCJEbEm+CppyFI838+CPGgPTfT80BTJRuIjBJAY3a8FaVnRbe807bCNieSIkNG6DQN578MJPuxyx9v2hru/HON/kEay7bqbSSuqR3HHIY3cuAQwQPYWuVtgl2Dd8VzoAO86LMfqsYh+rvNrMlMv2Q/T5Dzx/+Xah/vXxzUt30WZ9v1ZBH792ZOzbL4fbRwizfFMhY/sR5PGm/XaBYn6VNJJuzhiJ9nHChLLw698m6J4/WAv/AGt+127TZTfU7WVo8Vj2ssT+5TTO0JHzyKhNkfLL55pi14xoX/8AbQJsHR9yFVe0oBfeljkmYG4nMkYz5KxkN+oF92SJVgc2dI6PNGR3YUlWTa7eF1ZlOLQ52Guw0bZ2CLN3xzpq202aK9MuSg4sKYWLoj4I+Rq3QKidLmFfpf8A64zn3L9hsX5+6iBX7as9MdEeEqJoy0kXcAm7zMGDtdhCfazcFhQAPgnTMGHi+dUb3epEoaRsQzog4JtpHCKOPyzAft5PGgE7vp8p3QljDKMl7nuUpIiqeCjcrIGJplrwtkgVoZ07o88bwStEGCR7mJ481sCaZZFYX7SKTFgSD+Lrlx0J23Wsn3KmNv8Ap5ki9nuLZpG4aqFACUX+MW0AXedFlx3YSFV7nYEYVlAAiqwPFAUa4H9hqe96NO31wVFrcTQyxkuP5EgVlI+D+ixvxyvnmm3WHedSCSRxBS0siuyqKHtTEMSTxwXUV59w4oEgAW46TMZm3CxqO5PGzL7DIqJC6ZKWtBKWYKSD/p2Ab8R6T0iZG2mcQqFtxkcwwAkY4kE0TweeAdM+znzRXKMhYWUeslP4NEix+xI/BOs2x6iZJp4imPZKi8ryyXIcUK/tzoLYpZDFk8eMlG41YNz+AxoH/wAaWYOiTP02DYOgQCGKKdywIxQKH7YWyS2NAnGsr5rEuGhW46uahCRkyzBiiSHCgq2czTFfgeDyw/fQB5Ol7g7mGQxrjFu5JPYyhSjwyRqQvBL+8Fyxu7xscD3pnS5oxtLirtPOzgMn/uZVXPJJYX/nTF03fLNGHX8srD+lkYo6384upWxwa41q0Cl0Ho80X0AaMDsQypKQy8FylVzyCUJP9x+9Nuu12gSOrbWQ7yVzAZttlt+5GYyc8cxml8N23KsVrkWRyoB6VJTuoZBBImG8bMhGJMTQyIGLkm0ZjGe2opKGQBWw2bfqCvLLCAwaIIWsCiHuqN8/ada9B8/6Z0rtiBxt3V16huGsRsCsLvMV+LEZWRfb4s+LBr3YdLwWNxt3WReoyuG7TZLE8khBHFqhRx7RxyeLvT/rtAv+q9p3H2f6ZcLuQz0pNL23U3X8pLKCPn+wOgO16UE7TJt3Vo9+7KRE1pCzP9vHtjKv9o45PF3p5n3KoVDMAXbFb+Womh/gE/41KaZUVndgqqCWZjQAAskk8AAc3oErp8Ug3MUjQSIt7lZhg7cO2S5uSTIGxsFfYtheOAYenemdr+HMIHSRVkSZu21hSppXarxyC0LoUK4GnvXaBS9RwQt1Ha96ISK213QZe2Xun29BlANgWfIoE6wdN6ATLsl3MJcJtZkfNcwpM0Lwo78hmRUbmyAyXdkEuMvTY2mScg9yNWRTk1BXILDG8TZRfI/lGvIupI077em7iIkhscFXLBSDf5Rh/jQKbbJlZUG3clOoGa1T2hGJOQbxXNEA2DdjVEvSnEW57MDKW3qu4SMK7w5LljktOOCShvIAivdy/wCqt1uVjXJ2Craiz+WYKo/ySB/nQJknRUz2eKTSR/VSSP3YqxV9u6EYqi4RmQralRZLEgjnW/0pMYIxC8Uih93uViGBCqhkkkj4NUhjHFDjgcaadeFRd0LHg/30C76p6aS8O4iiWWVMomVgDlHMMSDf8qvg5PwqyAfcdYvTvRDFGY54gw2iPBC5QEyRnkNQBsmPBDQ5YS8UdNUW5RmdVYFoyA4/BKhgD/gg/wCdXaD5vsukSmLaRbhdwsP8PhhqONWMcygrKGDRsyEjDGQUP0zyOCWj1YpG0UAuSJILFFmcLKhZWVbLgqCGCg2L4PjTBrJ1LZRyqBJdIwcEMVKleQQykEfvzyCQeCdAlrto2iZoY2MqbyGeSMQOjxp3QfYrorsgUObA9x7lD+XVe96S0ibkttmK/wATgnRWjBJjH04kZV5P8slir5NjkjTf0PcRuC0aSgMqOHkB96sCVIYkn8+w0VvlRfOhupKNwu3IbNo2lBr2lVZVbm/ILrxXzoB3qiFzt0ESMVWWEyxr5MQcF1AHkV5QfcAV5uit7npxx3wTbOEfebaWICKrCrt82CjkVg5NgHyPJrX0HXaBL23THfdyNP8AUBxuFkhZFTAxgLQ7hQsigZK0ZZSbYgHLRf1JtYpWjSaKYgBmSeHPKJhQoNF+ohYMeRwQrA/AJHadUjkkliQtnCQJAUcAEgEUzKFbgg8E+dbNAjbfYTloh1BGnibbvHwmRVzIaMip4kaHAZgUrLJyA3NXWulll35WCRpMIfpyyMxDogAKMb96sPvBvi7NXp+12gVtt06N9/uZpICV7cLRs0TVkokDlQR9+LhT8kGuaNDOh9KH/wCGdzbnKKF1cvCTg3txBJHHuBIPgefnT5rtAueieniCOZOz2m+onPCBQytPI0dEfcAjCvgXXwQMHTumRtu2kbalQGkjiUxUKbIyzSMRTGVvaoskK3xm4Dbt9yr5YsDixVq+CPI1RB1FWnlgAYPEqO1jgrIXCkG+eY2H+NAoeltnIknTMoJFMGxkgmYpQVx9PS3/ADD2OQwtTfBPOnvUFkBJAIJWrAPIvxY+NT0CN17qDxzb1oT7gNmHKgsVj7rCZgq+44xsSa5Fg8caluZnWLKPeRzq0jOgMjxoyiMAxruA7tYYmQG28laAUFXfXaBEh38ss7I+4fbMDt326So2ckZRGcYh1R3LdyNxixTg8cHXib3GpBuHJHUDGLmYr22aipW6ZaNgtZHkHT5rtAC9T7ko+zpymW5VWpiAylHsEXRF4+fmvzpT9QSySbXfxFnly2u4kSSKV64biOWL/wBqRbxABqQLJY4rX0nXaAL1j3dPnO2Z2PYkMLI7MxbElSr2WPNUbN/20tdR6zku6aKdyP4cHRkdq7gzAKkcZ2ACBz4BHOn/AF2gRN/v5YhP9PLJJI2xEqjLuHME2yIbGWJvBRiSBxrZ6fkiPUpmhkMiPs9vi5dnBqXcXTMT4sWAeCT83pv12gTvUsO4EzxwtLe6iBhbOTCKWI22RVvarow44BMbD+Yar6lv2bZ/Vq00Jll25RWd1Kr3Iw4Kk0CRmTxytE+L0667QJu13ckm7kVtyIpE3AwhKsS8OIrACQKysCSZMGKm+faK0+td08eLLIaWOQtCrlHk5SmiYA5SpRCxEU5kANcaaddoEXqvVJEbdhJWCLuduHNl+1Eyp3CADYXKwxUjEFiCCvDH6esRMe+NwhdmR0BoKQDiGLuZKN+7I+cf5dF9doPn3T+rPKCqSyHvbF3UGUmTurVXQCxzU/vjThT+wGrJOqLNmBMzI3TiWp2C5g88g0H+COD+dPuu0AHZu0fTQ22HckXblogWLZOE4WySfu4q+PGlWbfnuLNtHeac9M3BXIsxMoaFguJ4WSwbiAB4qhQ19I12g+f7zdn6Z5Yt8XVn2wXAuDG3eAkJLyOQxjamiaguFlRzph9Py1uN3EJGdUdCody5XKMZAFiTjkPF0CT40f12gU9n1mCHc9QaSVFAdDWQs4wIDiPLGwRQs3x51Tst3LJu3D7jtSR7g1AVa3hqlxXuBWVgcjJgcWyF+3hy12g+dfxSdIWqVpADtu5ukZnUxs7B3MdgwyV/qKhpVYMpWuNk5OW0X61pI5t1IM4nZB2jtpDjn3GLgShakysFlUEEDTzrtAG9SbWT6VuwZDLEA8YDsDIY6bBmvkSAFCT/AFX5GgnSJ5JZmjJn7U7Lu4XLyDGKqMd3YJYKxQ17ZyK9nDprtAiz772sPqHWuohLEpvA42tk/ZV/25qiL1R1Gbsb6Rbc7cQ7NJ5BK/dRRJuKOQOTDJo+42VhXv5sfQddoFHpe4hh3e/keRgB25OZHYYGJPcFsgrkCAQPggabtdrtB//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文本框 21">
            <a:extLst>
              <a:ext uri="{FF2B5EF4-FFF2-40B4-BE49-F238E27FC236}">
                <a16:creationId xmlns:a16="http://schemas.microsoft.com/office/drawing/2014/main" id="{063DB883-FCF6-4428-9175-7FF7E32F3ED6}"/>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多媒体信息处理简介</a:t>
            </a:r>
            <a:endParaRPr lang="en-US" altLang="zh-CN" sz="4000" dirty="0"/>
          </a:p>
        </p:txBody>
      </p:sp>
      <p:graphicFrame>
        <p:nvGraphicFramePr>
          <p:cNvPr id="5" name="图示 4">
            <a:extLst>
              <a:ext uri="{FF2B5EF4-FFF2-40B4-BE49-F238E27FC236}">
                <a16:creationId xmlns:a16="http://schemas.microsoft.com/office/drawing/2014/main" id="{E6C72B20-FFD5-4BF3-939B-62BEE8E6E530}"/>
              </a:ext>
            </a:extLst>
          </p:cNvPr>
          <p:cNvGraphicFramePr/>
          <p:nvPr>
            <p:extLst>
              <p:ext uri="{D42A27DB-BD31-4B8C-83A1-F6EECF244321}">
                <p14:modId xmlns:p14="http://schemas.microsoft.com/office/powerpoint/2010/main" val="1510105408"/>
              </p:ext>
            </p:extLst>
          </p:nvPr>
        </p:nvGraphicFramePr>
        <p:xfrm>
          <a:off x="919779" y="3284984"/>
          <a:ext cx="7128792" cy="2520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标题 2">
            <a:extLst>
              <a:ext uri="{FF2B5EF4-FFF2-40B4-BE49-F238E27FC236}">
                <a16:creationId xmlns:a16="http://schemas.microsoft.com/office/drawing/2014/main" id="{72C1E8EE-3F44-4650-B0C2-0C1E5BE20BFB}"/>
              </a:ext>
            </a:extLst>
          </p:cNvPr>
          <p:cNvSpPr txBox="1">
            <a:spLocks/>
          </p:cNvSpPr>
          <p:nvPr/>
        </p:nvSpPr>
        <p:spPr>
          <a:xfrm>
            <a:off x="714531" y="1863395"/>
            <a:ext cx="7704856" cy="1205565"/>
          </a:xfrm>
          <a:prstGeom prst="rect">
            <a:avLst/>
          </a:prstGeom>
        </p:spPr>
        <p:txBody>
          <a:bodyPr vert="horz" lIns="91440" tIns="45720" rIns="91440" bIns="45720" rtlCol="0" anchor="ctr">
            <a:normAutofit fontScale="90000"/>
          </a:bodyPr>
          <a:lstStyle>
            <a:lvl1pPr algn="l"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2400" dirty="0"/>
              <a:t>多媒体信息处理主要研究多媒体数据的采集、存储、压缩、传输、管理，是当今信息技术领域发展最快、最活跃的技术。</a:t>
            </a:r>
          </a:p>
        </p:txBody>
      </p:sp>
      <p:sp>
        <p:nvSpPr>
          <p:cNvPr id="2" name="灯片编号占位符 1">
            <a:extLst>
              <a:ext uri="{FF2B5EF4-FFF2-40B4-BE49-F238E27FC236}">
                <a16:creationId xmlns:a16="http://schemas.microsoft.com/office/drawing/2014/main" id="{F20C610A-4B4C-4565-9608-164192A672A6}"/>
              </a:ext>
            </a:extLst>
          </p:cNvPr>
          <p:cNvSpPr>
            <a:spLocks noGrp="1"/>
          </p:cNvSpPr>
          <p:nvPr>
            <p:ph type="sldNum" sz="quarter" idx="12"/>
          </p:nvPr>
        </p:nvSpPr>
        <p:spPr/>
        <p:txBody>
          <a:bodyPr/>
          <a:lstStyle/>
          <a:p>
            <a:fld id="{F64BA984-46A0-4F46-990E-EC790E6934B4}" type="slidenum">
              <a:rPr lang="zh-CN" altLang="en-US" smtClean="0"/>
              <a:t>18</a:t>
            </a:fld>
            <a:endParaRPr lang="zh-CN" altLang="en-US"/>
          </a:p>
        </p:txBody>
      </p:sp>
    </p:spTree>
    <p:extLst>
      <p:ext uri="{BB962C8B-B14F-4D97-AF65-F5344CB8AC3E}">
        <p14:creationId xmlns:p14="http://schemas.microsoft.com/office/powerpoint/2010/main" val="823892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Rot="1" noChangeArrowheads="1"/>
          </p:cNvSpPr>
          <p:nvPr>
            <p:ph type="title"/>
          </p:nvPr>
        </p:nvSpPr>
        <p:spPr>
          <a:xfrm>
            <a:off x="251520" y="1124744"/>
            <a:ext cx="3240360" cy="703263"/>
          </a:xfrm>
        </p:spPr>
        <p:txBody>
          <a:bodyPr>
            <a:normAutofit/>
          </a:bodyPr>
          <a:lstStyle/>
          <a:p>
            <a:r>
              <a:rPr lang="zh-CN" altLang="en-US" sz="4000" b="0" dirty="0">
                <a:effectLst/>
              </a:rPr>
              <a:t>多媒体的由来</a:t>
            </a:r>
            <a:endParaRPr lang="zh-TW" altLang="en-US" sz="4000" b="0" dirty="0">
              <a:effectLst/>
            </a:endParaRPr>
          </a:p>
        </p:txBody>
      </p:sp>
      <p:sp>
        <p:nvSpPr>
          <p:cNvPr id="10245" name="Rectangle 5"/>
          <p:cNvSpPr>
            <a:spLocks noGrp="1" noChangeArrowheads="1"/>
          </p:cNvSpPr>
          <p:nvPr>
            <p:ph idx="4294967295"/>
          </p:nvPr>
        </p:nvSpPr>
        <p:spPr>
          <a:xfrm>
            <a:off x="457200" y="1820267"/>
            <a:ext cx="8229600" cy="4525963"/>
          </a:xfrm>
        </p:spPr>
        <p:txBody>
          <a:bodyPr>
            <a:normAutofit/>
          </a:bodyPr>
          <a:lstStyle/>
          <a:p>
            <a:pPr>
              <a:lnSpc>
                <a:spcPct val="90000"/>
              </a:lnSpc>
            </a:pPr>
            <a:r>
              <a:rPr lang="zh-CN" altLang="en-US" sz="2800" dirty="0"/>
              <a:t>计算机世界是人类物质物质世界的数字化</a:t>
            </a:r>
            <a:endParaRPr lang="en-US" altLang="zh-CN" sz="2800" dirty="0"/>
          </a:p>
          <a:p>
            <a:pPr>
              <a:lnSpc>
                <a:spcPct val="90000"/>
              </a:lnSpc>
            </a:pPr>
            <a:r>
              <a:rPr lang="zh-CN" altLang="en-US" sz="2800" dirty="0"/>
              <a:t>多媒体系统是仿身体对外界信息的感知设计的。</a:t>
            </a:r>
            <a:endParaRPr lang="en-US" altLang="zh-CN" sz="2800" dirty="0"/>
          </a:p>
          <a:p>
            <a:pPr>
              <a:lnSpc>
                <a:spcPct val="90000"/>
              </a:lnSpc>
            </a:pPr>
            <a:r>
              <a:rPr lang="zh-CN" altLang="en-US" sz="2800" dirty="0"/>
              <a:t>人的五官之中，眼睛和耳朵获取了超过</a:t>
            </a:r>
            <a:r>
              <a:rPr lang="en-US" altLang="zh-CN" sz="2800" dirty="0"/>
              <a:t>90%</a:t>
            </a:r>
            <a:r>
              <a:rPr lang="zh-CN" altLang="en-US" sz="2800" dirty="0"/>
              <a:t>的信息</a:t>
            </a:r>
            <a:endParaRPr lang="zh-TW" altLang="en-US" sz="2800" dirty="0">
              <a:effectLst/>
            </a:endParaRPr>
          </a:p>
          <a:p>
            <a:pPr lvl="1">
              <a:lnSpc>
                <a:spcPct val="90000"/>
              </a:lnSpc>
            </a:pPr>
            <a:r>
              <a:rPr lang="zh-TW" altLang="en-US" sz="2400" dirty="0">
                <a:effectLst/>
              </a:rPr>
              <a:t>眼－</a:t>
            </a:r>
            <a:r>
              <a:rPr lang="zh-CN" altLang="en-US" sz="2400" dirty="0"/>
              <a:t>视觉</a:t>
            </a:r>
            <a:r>
              <a:rPr lang="en-US" altLang="zh-CN" sz="2400" dirty="0"/>
              <a:t> – </a:t>
            </a:r>
            <a:r>
              <a:rPr lang="zh-CN" altLang="en-US" sz="2400" dirty="0"/>
              <a:t>图像、视频、动画、文字</a:t>
            </a:r>
            <a:endParaRPr lang="zh-TW" altLang="en-US" sz="2400" dirty="0">
              <a:effectLst/>
            </a:endParaRPr>
          </a:p>
          <a:p>
            <a:pPr lvl="1">
              <a:lnSpc>
                <a:spcPct val="90000"/>
              </a:lnSpc>
            </a:pPr>
            <a:r>
              <a:rPr kumimoji="0" lang="zh-TW" altLang="en-US" sz="2400" dirty="0">
                <a:effectLst/>
              </a:rPr>
              <a:t>耳－</a:t>
            </a:r>
            <a:r>
              <a:rPr kumimoji="0" lang="zh-CN" altLang="en-US" sz="2400" dirty="0">
                <a:effectLst/>
              </a:rPr>
              <a:t>听觉</a:t>
            </a:r>
            <a:r>
              <a:rPr lang="en-US" altLang="zh-TW" sz="2400" dirty="0"/>
              <a:t> </a:t>
            </a:r>
            <a:r>
              <a:rPr lang="en-US" altLang="zh-CN" sz="2400" dirty="0"/>
              <a:t>– </a:t>
            </a:r>
            <a:r>
              <a:rPr lang="zh-CN" altLang="en-US" sz="2400" dirty="0"/>
              <a:t>音频</a:t>
            </a:r>
            <a:endParaRPr lang="en-US" altLang="zh-CN" sz="2400" dirty="0"/>
          </a:p>
          <a:p>
            <a:pPr lvl="1">
              <a:lnSpc>
                <a:spcPct val="90000"/>
              </a:lnSpc>
            </a:pPr>
            <a:r>
              <a:rPr lang="zh-CN" altLang="en-US" sz="2400" dirty="0">
                <a:effectLst/>
              </a:rPr>
              <a:t>皮肤</a:t>
            </a:r>
            <a:r>
              <a:rPr lang="en-US" altLang="zh-CN" sz="2400" dirty="0">
                <a:effectLst/>
              </a:rPr>
              <a:t>-</a:t>
            </a:r>
            <a:r>
              <a:rPr lang="zh-CN" altLang="en-US" sz="2400" dirty="0">
                <a:effectLst/>
              </a:rPr>
              <a:t>触觉 </a:t>
            </a:r>
            <a:r>
              <a:rPr lang="en-US" altLang="zh-CN" sz="2400" dirty="0">
                <a:effectLst/>
              </a:rPr>
              <a:t>– </a:t>
            </a:r>
            <a:r>
              <a:rPr lang="zh-CN" altLang="en-US" sz="2400" dirty="0"/>
              <a:t>交互</a:t>
            </a:r>
            <a:endParaRPr lang="zh-TW" altLang="en-US" sz="2400" dirty="0">
              <a:effectLst/>
            </a:endParaRPr>
          </a:p>
          <a:p>
            <a:pPr>
              <a:lnSpc>
                <a:spcPct val="90000"/>
              </a:lnSpc>
            </a:pPr>
            <a:r>
              <a:rPr lang="zh-CN" altLang="en-US" sz="2800" dirty="0">
                <a:effectLst/>
              </a:rPr>
              <a:t>信息的采集，传输与处理，反馈，构成了多媒体系统</a:t>
            </a:r>
            <a:endParaRPr lang="en-US" altLang="zh-CN" sz="2800" dirty="0">
              <a:effectLst/>
            </a:endParaRPr>
          </a:p>
          <a:p>
            <a:pPr>
              <a:lnSpc>
                <a:spcPct val="90000"/>
              </a:lnSpc>
            </a:pPr>
            <a:r>
              <a:rPr lang="zh-CN" altLang="en-US" sz="2800" dirty="0"/>
              <a:t>人的身体就是一个多媒体系统</a:t>
            </a:r>
            <a:endParaRPr lang="zh-TW" altLang="en-US" sz="2800" dirty="0">
              <a:effectLst/>
            </a:endParaRPr>
          </a:p>
          <a:p>
            <a:pPr>
              <a:lnSpc>
                <a:spcPct val="90000"/>
              </a:lnSpc>
            </a:pPr>
            <a:endParaRPr lang="en-US" altLang="zh-TW" sz="2800" dirty="0">
              <a:effectLst/>
            </a:endParaRPr>
          </a:p>
        </p:txBody>
      </p:sp>
      <p:sp>
        <p:nvSpPr>
          <p:cNvPr id="2" name="文本框 1">
            <a:extLst>
              <a:ext uri="{FF2B5EF4-FFF2-40B4-BE49-F238E27FC236}">
                <a16:creationId xmlns:a16="http://schemas.microsoft.com/office/drawing/2014/main" id="{F064DC64-64B9-44DF-B200-516407CA9DFD}"/>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sp>
        <p:nvSpPr>
          <p:cNvPr id="3" name="灯片编号占位符 2">
            <a:extLst>
              <a:ext uri="{FF2B5EF4-FFF2-40B4-BE49-F238E27FC236}">
                <a16:creationId xmlns:a16="http://schemas.microsoft.com/office/drawing/2014/main" id="{41A7B916-2A34-4BA5-953E-9A2319EBBE75}"/>
              </a:ext>
            </a:extLst>
          </p:cNvPr>
          <p:cNvSpPr>
            <a:spLocks noGrp="1"/>
          </p:cNvSpPr>
          <p:nvPr>
            <p:ph type="sldNum" sz="quarter" idx="12"/>
          </p:nvPr>
        </p:nvSpPr>
        <p:spPr/>
        <p:txBody>
          <a:bodyPr/>
          <a:lstStyle/>
          <a:p>
            <a:fld id="{F64BA984-46A0-4F46-990E-EC790E6934B4}" type="slidenum">
              <a:rPr lang="zh-CN" altLang="en-US" smtClean="0"/>
              <a:t>19</a:t>
            </a:fld>
            <a:endParaRPr lang="zh-CN" altLang="en-US"/>
          </a:p>
        </p:txBody>
      </p:sp>
    </p:spTree>
    <p:extLst>
      <p:ext uri="{BB962C8B-B14F-4D97-AF65-F5344CB8AC3E}">
        <p14:creationId xmlns:p14="http://schemas.microsoft.com/office/powerpoint/2010/main" val="699179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fade">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5">
                                            <p:txEl>
                                              <p:pRg st="1" end="1"/>
                                            </p:txEl>
                                          </p:spTgt>
                                        </p:tgtEl>
                                        <p:attrNameLst>
                                          <p:attrName>style.visibility</p:attrName>
                                        </p:attrNameLst>
                                      </p:cBhvr>
                                      <p:to>
                                        <p:strVal val="visible"/>
                                      </p:to>
                                    </p:set>
                                    <p:animEffect transition="in" filter="fade">
                                      <p:cBhvr>
                                        <p:cTn id="12" dur="500"/>
                                        <p:tgtEl>
                                          <p:spTgt spid="102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45">
                                            <p:txEl>
                                              <p:pRg st="2" end="2"/>
                                            </p:txEl>
                                          </p:spTgt>
                                        </p:tgtEl>
                                        <p:attrNameLst>
                                          <p:attrName>style.visibility</p:attrName>
                                        </p:attrNameLst>
                                      </p:cBhvr>
                                      <p:to>
                                        <p:strVal val="visible"/>
                                      </p:to>
                                    </p:set>
                                    <p:animEffect transition="in" filter="fade">
                                      <p:cBhvr>
                                        <p:cTn id="17" dur="500"/>
                                        <p:tgtEl>
                                          <p:spTgt spid="10245">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245">
                                            <p:txEl>
                                              <p:pRg st="3" end="3"/>
                                            </p:txEl>
                                          </p:spTgt>
                                        </p:tgtEl>
                                        <p:attrNameLst>
                                          <p:attrName>style.visibility</p:attrName>
                                        </p:attrNameLst>
                                      </p:cBhvr>
                                      <p:to>
                                        <p:strVal val="visible"/>
                                      </p:to>
                                    </p:set>
                                    <p:animEffect transition="in" filter="fade">
                                      <p:cBhvr>
                                        <p:cTn id="20" dur="500"/>
                                        <p:tgtEl>
                                          <p:spTgt spid="10245">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245">
                                            <p:txEl>
                                              <p:pRg st="4" end="4"/>
                                            </p:txEl>
                                          </p:spTgt>
                                        </p:tgtEl>
                                        <p:attrNameLst>
                                          <p:attrName>style.visibility</p:attrName>
                                        </p:attrNameLst>
                                      </p:cBhvr>
                                      <p:to>
                                        <p:strVal val="visible"/>
                                      </p:to>
                                    </p:set>
                                    <p:animEffect transition="in" filter="fade">
                                      <p:cBhvr>
                                        <p:cTn id="23" dur="500"/>
                                        <p:tgtEl>
                                          <p:spTgt spid="10245">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245">
                                            <p:txEl>
                                              <p:pRg st="5" end="5"/>
                                            </p:txEl>
                                          </p:spTgt>
                                        </p:tgtEl>
                                        <p:attrNameLst>
                                          <p:attrName>style.visibility</p:attrName>
                                        </p:attrNameLst>
                                      </p:cBhvr>
                                      <p:to>
                                        <p:strVal val="visible"/>
                                      </p:to>
                                    </p:set>
                                    <p:animEffect transition="in" filter="fade">
                                      <p:cBhvr>
                                        <p:cTn id="26" dur="500"/>
                                        <p:tgtEl>
                                          <p:spTgt spid="1024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245">
                                            <p:txEl>
                                              <p:pRg st="6" end="6"/>
                                            </p:txEl>
                                          </p:spTgt>
                                        </p:tgtEl>
                                        <p:attrNameLst>
                                          <p:attrName>style.visibility</p:attrName>
                                        </p:attrNameLst>
                                      </p:cBhvr>
                                      <p:to>
                                        <p:strVal val="visible"/>
                                      </p:to>
                                    </p:set>
                                    <p:animEffect transition="in" filter="fade">
                                      <p:cBhvr>
                                        <p:cTn id="31" dur="500"/>
                                        <p:tgtEl>
                                          <p:spTgt spid="1024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245">
                                            <p:txEl>
                                              <p:pRg st="7" end="7"/>
                                            </p:txEl>
                                          </p:spTgt>
                                        </p:tgtEl>
                                        <p:attrNameLst>
                                          <p:attrName>style.visibility</p:attrName>
                                        </p:attrNameLst>
                                      </p:cBhvr>
                                      <p:to>
                                        <p:strVal val="visible"/>
                                      </p:to>
                                    </p:set>
                                    <p:animEffect transition="in" filter="fade">
                                      <p:cBhvr>
                                        <p:cTn id="36" dur="500"/>
                                        <p:tgtEl>
                                          <p:spTgt spid="102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250824" y="1124744"/>
            <a:ext cx="8229600" cy="703263"/>
          </a:xfrm>
        </p:spPr>
        <p:txBody>
          <a:bodyPr>
            <a:normAutofit/>
          </a:bodyPr>
          <a:lstStyle/>
          <a:p>
            <a:r>
              <a:rPr lang="zh-CN" altLang="en-US" sz="3600" dirty="0"/>
              <a:t>多媒体的应用领域</a:t>
            </a:r>
          </a:p>
        </p:txBody>
      </p:sp>
      <p:sp>
        <p:nvSpPr>
          <p:cNvPr id="253955" name="Rectangle 3"/>
          <p:cNvSpPr>
            <a:spLocks noGrp="1" noChangeArrowheads="1"/>
          </p:cNvSpPr>
          <p:nvPr>
            <p:ph type="body" idx="4294967295"/>
          </p:nvPr>
        </p:nvSpPr>
        <p:spPr>
          <a:xfrm>
            <a:off x="657217" y="1828007"/>
            <a:ext cx="7772400" cy="4114800"/>
          </a:xfrm>
        </p:spPr>
        <p:txBody>
          <a:bodyPr/>
          <a:lstStyle/>
          <a:p>
            <a:r>
              <a:rPr lang="zh-CN" altLang="en-US" dirty="0"/>
              <a:t>娱乐</a:t>
            </a:r>
          </a:p>
          <a:p>
            <a:r>
              <a:rPr lang="zh-CN" altLang="en-US" dirty="0"/>
              <a:t>教育与培训</a:t>
            </a:r>
          </a:p>
          <a:p>
            <a:r>
              <a:rPr lang="zh-CN" altLang="en-US" dirty="0"/>
              <a:t>多媒体办公系统</a:t>
            </a:r>
          </a:p>
          <a:p>
            <a:r>
              <a:rPr lang="zh-CN" altLang="en-US" dirty="0"/>
              <a:t>通信系统</a:t>
            </a:r>
          </a:p>
          <a:p>
            <a:r>
              <a:rPr lang="zh-CN" altLang="en-US" dirty="0"/>
              <a:t>医疗影像及诊断系统</a:t>
            </a:r>
          </a:p>
          <a:p>
            <a:r>
              <a:rPr lang="zh-CN" altLang="en-US" dirty="0"/>
              <a:t>各种咨询服务和广告宣传方面</a:t>
            </a:r>
          </a:p>
          <a:p>
            <a:r>
              <a:rPr lang="zh-CN" altLang="en-US" dirty="0"/>
              <a:t>多媒体电子出版物方面</a:t>
            </a:r>
            <a:endParaRPr lang="zh-CN" altLang="en-US" sz="3600" dirty="0"/>
          </a:p>
        </p:txBody>
      </p:sp>
      <p:sp>
        <p:nvSpPr>
          <p:cNvPr id="2" name="云形 1"/>
          <p:cNvSpPr/>
          <p:nvPr/>
        </p:nvSpPr>
        <p:spPr>
          <a:xfrm rot="19705394">
            <a:off x="4639839" y="1305072"/>
            <a:ext cx="4151649" cy="2520280"/>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600" dirty="0">
                <a:ln>
                  <a:solidFill>
                    <a:srgbClr val="0000FF"/>
                  </a:solidFill>
                </a:ln>
                <a:solidFill>
                  <a:srgbClr val="0000FF"/>
                </a:solidFill>
              </a:rPr>
              <a:t>需求驱动着</a:t>
            </a:r>
            <a:endParaRPr lang="en-US" altLang="zh-CN" sz="3600" dirty="0">
              <a:ln>
                <a:solidFill>
                  <a:srgbClr val="0000FF"/>
                </a:solidFill>
              </a:ln>
              <a:solidFill>
                <a:srgbClr val="0000FF"/>
              </a:solidFill>
            </a:endParaRPr>
          </a:p>
          <a:p>
            <a:pPr algn="ctr"/>
            <a:r>
              <a:rPr lang="zh-CN" altLang="en-US" sz="3600" dirty="0">
                <a:ln>
                  <a:solidFill>
                    <a:srgbClr val="0000FF"/>
                  </a:solidFill>
                </a:ln>
                <a:solidFill>
                  <a:srgbClr val="0000FF"/>
                </a:solidFill>
              </a:rPr>
              <a:t>技术的进步</a:t>
            </a:r>
          </a:p>
        </p:txBody>
      </p:sp>
      <p:sp>
        <p:nvSpPr>
          <p:cNvPr id="3" name="文本框 2">
            <a:extLst>
              <a:ext uri="{FF2B5EF4-FFF2-40B4-BE49-F238E27FC236}">
                <a16:creationId xmlns:a16="http://schemas.microsoft.com/office/drawing/2014/main" id="{C3C0304D-A04D-49AC-8BA5-32145B818F76}"/>
              </a:ext>
            </a:extLst>
          </p:cNvPr>
          <p:cNvSpPr txBox="1"/>
          <p:nvPr/>
        </p:nvSpPr>
        <p:spPr>
          <a:xfrm>
            <a:off x="204355" y="129285"/>
            <a:ext cx="7847394" cy="707886"/>
          </a:xfrm>
          <a:prstGeom prst="rect">
            <a:avLst/>
          </a:prstGeom>
        </p:spPr>
        <p:txBody>
          <a:bodyPr vert="horz" lIns="91440" tIns="45720" rIns="91440" bIns="45720" rtlCol="0" anchor="ctr">
            <a:normAutofit fontScale="975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sz="4000" dirty="0"/>
              <a:t>1.1 </a:t>
            </a:r>
            <a:r>
              <a:rPr lang="zh-CN" altLang="en-US" sz="4000" dirty="0"/>
              <a:t>多媒体技术简介</a:t>
            </a:r>
            <a:endParaRPr lang="en-US" altLang="zh-CN" sz="4000" dirty="0"/>
          </a:p>
        </p:txBody>
      </p:sp>
      <p:sp>
        <p:nvSpPr>
          <p:cNvPr id="4" name="灯片编号占位符 3">
            <a:extLst>
              <a:ext uri="{FF2B5EF4-FFF2-40B4-BE49-F238E27FC236}">
                <a16:creationId xmlns:a16="http://schemas.microsoft.com/office/drawing/2014/main" id="{0F881CF7-FF84-4D2C-94E3-2496ACD1259B}"/>
              </a:ext>
            </a:extLst>
          </p:cNvPr>
          <p:cNvSpPr>
            <a:spLocks noGrp="1"/>
          </p:cNvSpPr>
          <p:nvPr>
            <p:ph type="sldNum" sz="quarter" idx="12"/>
          </p:nvPr>
        </p:nvSpPr>
        <p:spPr/>
        <p:txBody>
          <a:bodyPr/>
          <a:lstStyle/>
          <a:p>
            <a:fld id="{F64BA984-46A0-4F46-990E-EC790E6934B4}" type="slidenum">
              <a:rPr lang="zh-CN" altLang="en-US" smtClean="0"/>
              <a:t>20</a:t>
            </a:fld>
            <a:endParaRPr lang="zh-CN" altLang="en-US"/>
          </a:p>
        </p:txBody>
      </p:sp>
    </p:spTree>
    <p:extLst>
      <p:ext uri="{BB962C8B-B14F-4D97-AF65-F5344CB8AC3E}">
        <p14:creationId xmlns:p14="http://schemas.microsoft.com/office/powerpoint/2010/main" val="199221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Effect transition="in" filter="fade">
                                      <p:cBhvr>
                                        <p:cTn id="7" dur="500"/>
                                        <p:tgtEl>
                                          <p:spTgt spid="2539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3955">
                                            <p:txEl>
                                              <p:pRg st="1" end="1"/>
                                            </p:txEl>
                                          </p:spTgt>
                                        </p:tgtEl>
                                        <p:attrNameLst>
                                          <p:attrName>style.visibility</p:attrName>
                                        </p:attrNameLst>
                                      </p:cBhvr>
                                      <p:to>
                                        <p:strVal val="visible"/>
                                      </p:to>
                                    </p:set>
                                    <p:animEffect transition="in" filter="fade">
                                      <p:cBhvr>
                                        <p:cTn id="12" dur="500"/>
                                        <p:tgtEl>
                                          <p:spTgt spid="2539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3955">
                                            <p:txEl>
                                              <p:pRg st="2" end="2"/>
                                            </p:txEl>
                                          </p:spTgt>
                                        </p:tgtEl>
                                        <p:attrNameLst>
                                          <p:attrName>style.visibility</p:attrName>
                                        </p:attrNameLst>
                                      </p:cBhvr>
                                      <p:to>
                                        <p:strVal val="visible"/>
                                      </p:to>
                                    </p:set>
                                    <p:animEffect transition="in" filter="fade">
                                      <p:cBhvr>
                                        <p:cTn id="17" dur="500"/>
                                        <p:tgtEl>
                                          <p:spTgt spid="2539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3955">
                                            <p:txEl>
                                              <p:pRg st="3" end="3"/>
                                            </p:txEl>
                                          </p:spTgt>
                                        </p:tgtEl>
                                        <p:attrNameLst>
                                          <p:attrName>style.visibility</p:attrName>
                                        </p:attrNameLst>
                                      </p:cBhvr>
                                      <p:to>
                                        <p:strVal val="visible"/>
                                      </p:to>
                                    </p:set>
                                    <p:animEffect transition="in" filter="fade">
                                      <p:cBhvr>
                                        <p:cTn id="22" dur="500"/>
                                        <p:tgtEl>
                                          <p:spTgt spid="2539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3955">
                                            <p:txEl>
                                              <p:pRg st="4" end="4"/>
                                            </p:txEl>
                                          </p:spTgt>
                                        </p:tgtEl>
                                        <p:attrNameLst>
                                          <p:attrName>style.visibility</p:attrName>
                                        </p:attrNameLst>
                                      </p:cBhvr>
                                      <p:to>
                                        <p:strVal val="visible"/>
                                      </p:to>
                                    </p:set>
                                    <p:animEffect transition="in" filter="fade">
                                      <p:cBhvr>
                                        <p:cTn id="27" dur="500"/>
                                        <p:tgtEl>
                                          <p:spTgt spid="2539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3955">
                                            <p:txEl>
                                              <p:pRg st="5" end="5"/>
                                            </p:txEl>
                                          </p:spTgt>
                                        </p:tgtEl>
                                        <p:attrNameLst>
                                          <p:attrName>style.visibility</p:attrName>
                                        </p:attrNameLst>
                                      </p:cBhvr>
                                      <p:to>
                                        <p:strVal val="visible"/>
                                      </p:to>
                                    </p:set>
                                    <p:animEffect transition="in" filter="fade">
                                      <p:cBhvr>
                                        <p:cTn id="32" dur="500"/>
                                        <p:tgtEl>
                                          <p:spTgt spid="2539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3955">
                                            <p:txEl>
                                              <p:pRg st="6" end="6"/>
                                            </p:txEl>
                                          </p:spTgt>
                                        </p:tgtEl>
                                        <p:attrNameLst>
                                          <p:attrName>style.visibility</p:attrName>
                                        </p:attrNameLst>
                                      </p:cBhvr>
                                      <p:to>
                                        <p:strVal val="visible"/>
                                      </p:to>
                                    </p:set>
                                    <p:animEffect transition="in" filter="fade">
                                      <p:cBhvr>
                                        <p:cTn id="37" dur="500"/>
                                        <p:tgtEl>
                                          <p:spTgt spid="2539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ppt_x"/>
                                          </p:val>
                                        </p:tav>
                                        <p:tav tm="100000">
                                          <p:val>
                                            <p:strVal val="#ppt_x"/>
                                          </p:val>
                                        </p:tav>
                                      </p:tavLst>
                                    </p:anim>
                                    <p:anim calcmode="lin" valueType="num">
                                      <p:cBhvr additive="base">
                                        <p:cTn id="4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lIns="91440" tIns="45720" rIns="91440" bIns="45720" rtlCol="0" anchor="ctr">
            <a:normAutofit fontScale="90000"/>
          </a:bodyPr>
          <a:lstStyle/>
          <a:p>
            <a:r>
              <a:rPr lang="en-US" altLang="zh-CN" b="0" dirty="0">
                <a:latin typeface="微软雅黑" panose="020B0503020204020204" pitchFamily="34" charset="-122"/>
                <a:ea typeface="微软雅黑" panose="020B0503020204020204" pitchFamily="34" charset="-122"/>
              </a:rPr>
              <a:t>1.2 </a:t>
            </a:r>
            <a:r>
              <a:rPr lang="zh-CN" altLang="en-US" b="0" dirty="0">
                <a:latin typeface="微软雅黑" panose="020B0503020204020204" pitchFamily="34" charset="-122"/>
                <a:ea typeface="微软雅黑" panose="020B0503020204020204" pitchFamily="34" charset="-122"/>
              </a:rPr>
              <a:t>多媒体软硬件系统</a:t>
            </a:r>
          </a:p>
        </p:txBody>
      </p:sp>
      <p:sp>
        <p:nvSpPr>
          <p:cNvPr id="4" name="矩形 3"/>
          <p:cNvSpPr/>
          <p:nvPr/>
        </p:nvSpPr>
        <p:spPr>
          <a:xfrm>
            <a:off x="395536" y="1196752"/>
            <a:ext cx="8568952" cy="1384995"/>
          </a:xfrm>
          <a:prstGeom prst="rect">
            <a:avLst/>
          </a:prstGeom>
        </p:spPr>
        <p:txBody>
          <a:bodyPr wrap="square">
            <a:spAutoFit/>
          </a:bodyPr>
          <a:lstStyle/>
          <a:p>
            <a:r>
              <a:rPr lang="zh-CN" altLang="en-US" sz="2800" b="1" dirty="0">
                <a:solidFill>
                  <a:srgbClr val="0000FF"/>
                </a:solidFill>
                <a:latin typeface="+mn-ea"/>
              </a:rPr>
              <a:t>利用计算机技术和数字通信网技术来处理和控制多媒体信息的系统；它能对多媒体信号进行存储，传输，处理，并通过</a:t>
            </a:r>
            <a:r>
              <a:rPr lang="zh-CN" altLang="en-US" sz="2800" b="1" dirty="0">
                <a:solidFill>
                  <a:srgbClr val="FF0000"/>
                </a:solidFill>
                <a:latin typeface="+mn-ea"/>
              </a:rPr>
              <a:t>人们能够感知</a:t>
            </a:r>
            <a:r>
              <a:rPr lang="zh-CN" altLang="en-US" sz="2800" b="1" dirty="0">
                <a:solidFill>
                  <a:srgbClr val="0000FF"/>
                </a:solidFill>
                <a:latin typeface="+mn-ea"/>
              </a:rPr>
              <a:t>的方式重现出来</a:t>
            </a:r>
            <a:endParaRPr lang="en-US" altLang="zh-CN" sz="2800" b="1" dirty="0">
              <a:solidFill>
                <a:srgbClr val="0000FF"/>
              </a:solidFill>
              <a:latin typeface="+mn-ea"/>
            </a:endParaRPr>
          </a:p>
        </p:txBody>
      </p:sp>
      <p:grpSp>
        <p:nvGrpSpPr>
          <p:cNvPr id="11" name="组合 10"/>
          <p:cNvGrpSpPr/>
          <p:nvPr/>
        </p:nvGrpSpPr>
        <p:grpSpPr>
          <a:xfrm>
            <a:off x="467544" y="2996952"/>
            <a:ext cx="5638800" cy="3048000"/>
            <a:chOff x="611560" y="3068960"/>
            <a:chExt cx="5638800" cy="3048000"/>
          </a:xfrm>
        </p:grpSpPr>
        <p:sp>
          <p:nvSpPr>
            <p:cNvPr id="5" name="Rectangle 37"/>
            <p:cNvSpPr>
              <a:spLocks noChangeArrowheads="1"/>
            </p:cNvSpPr>
            <p:nvPr/>
          </p:nvSpPr>
          <p:spPr bwMode="auto">
            <a:xfrm>
              <a:off x="611560" y="5507360"/>
              <a:ext cx="563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600" dirty="0">
                  <a:solidFill>
                    <a:schemeClr val="accent6">
                      <a:lumMod val="75000"/>
                    </a:schemeClr>
                  </a:solidFill>
                  <a:latin typeface="+mj-ea"/>
                  <a:ea typeface="+mj-ea"/>
                </a:rPr>
                <a:t>多媒体计算机硬件</a:t>
              </a:r>
            </a:p>
          </p:txBody>
        </p:sp>
        <p:sp>
          <p:nvSpPr>
            <p:cNvPr id="6" name="Rectangle 38"/>
            <p:cNvSpPr>
              <a:spLocks noChangeArrowheads="1"/>
            </p:cNvSpPr>
            <p:nvPr/>
          </p:nvSpPr>
          <p:spPr bwMode="auto">
            <a:xfrm>
              <a:off x="992560" y="4897760"/>
              <a:ext cx="4876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600" dirty="0">
                  <a:solidFill>
                    <a:schemeClr val="accent6">
                      <a:lumMod val="75000"/>
                    </a:schemeClr>
                  </a:solidFill>
                  <a:latin typeface="+mj-ea"/>
                  <a:ea typeface="+mj-ea"/>
                </a:rPr>
                <a:t>多媒体驱动程序</a:t>
              </a:r>
            </a:p>
          </p:txBody>
        </p:sp>
        <p:sp>
          <p:nvSpPr>
            <p:cNvPr id="7" name="Rectangle 39"/>
            <p:cNvSpPr>
              <a:spLocks noChangeArrowheads="1"/>
            </p:cNvSpPr>
            <p:nvPr/>
          </p:nvSpPr>
          <p:spPr bwMode="auto">
            <a:xfrm>
              <a:off x="1373560" y="4288160"/>
              <a:ext cx="41910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600" dirty="0">
                  <a:solidFill>
                    <a:schemeClr val="accent6">
                      <a:lumMod val="75000"/>
                    </a:schemeClr>
                  </a:solidFill>
                  <a:latin typeface="+mj-ea"/>
                  <a:ea typeface="+mj-ea"/>
                </a:rPr>
                <a:t>多媒体操作系统</a:t>
              </a:r>
            </a:p>
          </p:txBody>
        </p:sp>
        <p:sp>
          <p:nvSpPr>
            <p:cNvPr id="8" name="Rectangle 40"/>
            <p:cNvSpPr>
              <a:spLocks noChangeArrowheads="1"/>
            </p:cNvSpPr>
            <p:nvPr/>
          </p:nvSpPr>
          <p:spPr bwMode="auto">
            <a:xfrm>
              <a:off x="1830760" y="3678560"/>
              <a:ext cx="3352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600" dirty="0">
                  <a:solidFill>
                    <a:schemeClr val="accent6">
                      <a:lumMod val="75000"/>
                    </a:schemeClr>
                  </a:solidFill>
                  <a:latin typeface="+mj-ea"/>
                  <a:ea typeface="+mj-ea"/>
                </a:rPr>
                <a:t>多媒体开发工具</a:t>
              </a:r>
            </a:p>
          </p:txBody>
        </p:sp>
        <p:sp>
          <p:nvSpPr>
            <p:cNvPr id="9" name="Rectangle 41"/>
            <p:cNvSpPr>
              <a:spLocks noChangeArrowheads="1"/>
            </p:cNvSpPr>
            <p:nvPr/>
          </p:nvSpPr>
          <p:spPr bwMode="auto">
            <a:xfrm>
              <a:off x="2211760" y="3068960"/>
              <a:ext cx="2216224"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600" dirty="0">
                  <a:solidFill>
                    <a:schemeClr val="accent6">
                      <a:lumMod val="75000"/>
                    </a:schemeClr>
                  </a:solidFill>
                  <a:latin typeface="+mj-ea"/>
                  <a:ea typeface="+mj-ea"/>
                </a:rPr>
                <a:t>应用软件</a:t>
              </a:r>
            </a:p>
          </p:txBody>
        </p:sp>
      </p:grpSp>
      <p:sp>
        <p:nvSpPr>
          <p:cNvPr id="10" name="TextBox 9"/>
          <p:cNvSpPr txBox="1"/>
          <p:nvPr/>
        </p:nvSpPr>
        <p:spPr>
          <a:xfrm>
            <a:off x="6079624" y="2852936"/>
            <a:ext cx="3096344" cy="3323987"/>
          </a:xfrm>
          <a:prstGeom prst="rect">
            <a:avLst/>
          </a:prstGeom>
          <a:noFill/>
        </p:spPr>
        <p:txBody>
          <a:bodyPr wrap="square" rtlCol="0">
            <a:spAutoFit/>
          </a:bodyPr>
          <a:lstStyle/>
          <a:p>
            <a:pPr>
              <a:lnSpc>
                <a:spcPct val="150000"/>
              </a:lnSpc>
            </a:pPr>
            <a:r>
              <a:rPr lang="zh-CN" altLang="en-US" sz="2800" dirty="0"/>
              <a:t>播放器、检索系统</a:t>
            </a:r>
            <a:endParaRPr lang="en-US" altLang="zh-CN" sz="2800" dirty="0"/>
          </a:p>
          <a:p>
            <a:pPr>
              <a:lnSpc>
                <a:spcPct val="150000"/>
              </a:lnSpc>
            </a:pPr>
            <a:r>
              <a:rPr lang="zh-CN" altLang="en-US" sz="2800" dirty="0"/>
              <a:t>视频制作系统</a:t>
            </a:r>
            <a:endParaRPr lang="en-US" altLang="zh-CN" sz="2800" dirty="0"/>
          </a:p>
          <a:p>
            <a:pPr>
              <a:lnSpc>
                <a:spcPct val="150000"/>
              </a:lnSpc>
            </a:pPr>
            <a:r>
              <a:rPr lang="en-US" altLang="zh-CN" sz="2800" dirty="0"/>
              <a:t>Windows</a:t>
            </a:r>
          </a:p>
          <a:p>
            <a:pPr>
              <a:lnSpc>
                <a:spcPct val="150000"/>
              </a:lnSpc>
            </a:pPr>
            <a:r>
              <a:rPr lang="zh-CN" altLang="en-US" sz="2800" dirty="0"/>
              <a:t>编解码技术</a:t>
            </a:r>
            <a:endParaRPr lang="en-US" altLang="zh-CN" sz="2800" dirty="0"/>
          </a:p>
          <a:p>
            <a:pPr>
              <a:lnSpc>
                <a:spcPct val="150000"/>
              </a:lnSpc>
            </a:pPr>
            <a:r>
              <a:rPr lang="zh-CN" altLang="en-US" sz="2800" dirty="0"/>
              <a:t>数据采集与存储</a:t>
            </a:r>
          </a:p>
        </p:txBody>
      </p:sp>
      <p:sp>
        <p:nvSpPr>
          <p:cNvPr id="2" name="灯片编号占位符 1">
            <a:extLst>
              <a:ext uri="{FF2B5EF4-FFF2-40B4-BE49-F238E27FC236}">
                <a16:creationId xmlns:a16="http://schemas.microsoft.com/office/drawing/2014/main" id="{05AA592D-101F-4F81-A839-EFA7756FD76E}"/>
              </a:ext>
            </a:extLst>
          </p:cNvPr>
          <p:cNvSpPr>
            <a:spLocks noGrp="1"/>
          </p:cNvSpPr>
          <p:nvPr>
            <p:ph type="sldNum" sz="quarter" idx="12"/>
          </p:nvPr>
        </p:nvSpPr>
        <p:spPr/>
        <p:txBody>
          <a:bodyPr/>
          <a:lstStyle/>
          <a:p>
            <a:fld id="{F64BA984-46A0-4F46-990E-EC790E6934B4}" type="slidenum">
              <a:rPr lang="zh-CN" altLang="en-US" smtClean="0"/>
              <a:t>21</a:t>
            </a:fld>
            <a:endParaRPr lang="zh-CN" altLang="en-US"/>
          </a:p>
        </p:txBody>
      </p:sp>
    </p:spTree>
    <p:extLst>
      <p:ext uri="{BB962C8B-B14F-4D97-AF65-F5344CB8AC3E}">
        <p14:creationId xmlns:p14="http://schemas.microsoft.com/office/powerpoint/2010/main" val="137499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51520" y="1019202"/>
            <a:ext cx="8229600" cy="703263"/>
          </a:xfrm>
        </p:spPr>
        <p:txBody>
          <a:bodyPr>
            <a:normAutofit/>
          </a:bodyPr>
          <a:lstStyle/>
          <a:p>
            <a:r>
              <a:rPr lang="zh-CN" altLang="en-US" sz="3600" dirty="0"/>
              <a:t>多媒体硬件</a:t>
            </a:r>
          </a:p>
        </p:txBody>
      </p:sp>
      <p:sp>
        <p:nvSpPr>
          <p:cNvPr id="19459" name="Rectangle 3"/>
          <p:cNvSpPr>
            <a:spLocks noGrp="1" noChangeArrowheads="1"/>
          </p:cNvSpPr>
          <p:nvPr>
            <p:ph type="body" idx="4294967295"/>
          </p:nvPr>
        </p:nvSpPr>
        <p:spPr>
          <a:xfrm>
            <a:off x="408916" y="1780113"/>
            <a:ext cx="4468705" cy="1375449"/>
          </a:xfrm>
        </p:spPr>
        <p:txBody>
          <a:bodyPr/>
          <a:lstStyle/>
          <a:p>
            <a:pPr>
              <a:buFont typeface="Wingdings" pitchFamily="2" charset="2"/>
              <a:buNone/>
            </a:pPr>
            <a:r>
              <a:rPr lang="zh-CN" altLang="en-US" dirty="0">
                <a:solidFill>
                  <a:srgbClr val="FF00FF"/>
                </a:solidFill>
                <a:latin typeface="楷体_GB2312" pitchFamily="49" charset="-122"/>
              </a:rPr>
              <a:t>⑴计算机</a:t>
            </a:r>
          </a:p>
          <a:p>
            <a:pPr>
              <a:buFont typeface="Wingdings" pitchFamily="2" charset="2"/>
              <a:buNone/>
            </a:pPr>
            <a:r>
              <a:rPr lang="zh-CN" altLang="en-US" dirty="0">
                <a:solidFill>
                  <a:srgbClr val="FF00FF"/>
                </a:solidFill>
                <a:latin typeface="楷体_GB2312" pitchFamily="49" charset="-122"/>
              </a:rPr>
              <a:t>  </a:t>
            </a:r>
            <a:r>
              <a:rPr lang="en-US" altLang="zh-CN" dirty="0">
                <a:latin typeface="楷体_GB2312" pitchFamily="49" charset="-122"/>
              </a:rPr>
              <a:t>PC、</a:t>
            </a:r>
            <a:r>
              <a:rPr lang="zh-CN" altLang="en-US" dirty="0">
                <a:latin typeface="楷体_GB2312" pitchFamily="49" charset="-122"/>
              </a:rPr>
              <a:t>图形工作站</a:t>
            </a:r>
          </a:p>
        </p:txBody>
      </p:sp>
      <p:grpSp>
        <p:nvGrpSpPr>
          <p:cNvPr id="19461" name="Group 5"/>
          <p:cNvGrpSpPr>
            <a:grpSpLocks/>
          </p:cNvGrpSpPr>
          <p:nvPr/>
        </p:nvGrpSpPr>
        <p:grpSpPr bwMode="auto">
          <a:xfrm>
            <a:off x="539552" y="4497299"/>
            <a:ext cx="5616624" cy="1255586"/>
            <a:chOff x="336" y="3024"/>
            <a:chExt cx="4272" cy="900"/>
          </a:xfrm>
        </p:grpSpPr>
        <p:pic>
          <p:nvPicPr>
            <p:cNvPr id="19462" name="Picture 6" descr="显示卡"/>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 y="3024"/>
              <a:ext cx="1200" cy="900"/>
            </a:xfrm>
            <a:prstGeom prst="rect">
              <a:avLst/>
            </a:prstGeom>
            <a:noFill/>
            <a:extLst>
              <a:ext uri="{909E8E84-426E-40DD-AFC4-6F175D3DCCD1}">
                <a14:hiddenFill xmlns:a14="http://schemas.microsoft.com/office/drawing/2010/main">
                  <a:solidFill>
                    <a:srgbClr val="FFFFFF"/>
                  </a:solidFill>
                </a14:hiddenFill>
              </a:ext>
            </a:extLst>
          </p:spPr>
        </p:pic>
        <p:pic>
          <p:nvPicPr>
            <p:cNvPr id="19463" name="Picture 7" descr="SBaudig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4" y="3024"/>
              <a:ext cx="1315" cy="897"/>
            </a:xfrm>
            <a:prstGeom prst="rect">
              <a:avLst/>
            </a:prstGeom>
            <a:noFill/>
            <a:extLst>
              <a:ext uri="{909E8E84-426E-40DD-AFC4-6F175D3DCCD1}">
                <a14:hiddenFill xmlns:a14="http://schemas.microsoft.com/office/drawing/2010/main">
                  <a:solidFill>
                    <a:srgbClr val="FFFFFF"/>
                  </a:solidFill>
                </a14:hiddenFill>
              </a:ext>
            </a:extLst>
          </p:spPr>
        </p:pic>
        <p:pic>
          <p:nvPicPr>
            <p:cNvPr id="19464" name="Picture 8" descr="C:\Documents and Settings\user\My Documents\Caimta\eteching\Info01\视频卡.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 y="3024"/>
              <a:ext cx="1680" cy="89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3"/>
          <p:cNvSpPr txBox="1">
            <a:spLocks noChangeArrowheads="1"/>
          </p:cNvSpPr>
          <p:nvPr/>
        </p:nvSpPr>
        <p:spPr>
          <a:xfrm>
            <a:off x="416224" y="3076257"/>
            <a:ext cx="8301608" cy="488396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None/>
            </a:pPr>
            <a:r>
              <a:rPr lang="zh-CN" altLang="en-US" dirty="0">
                <a:solidFill>
                  <a:srgbClr val="FF00FF"/>
                </a:solidFill>
                <a:latin typeface="楷体_GB2312" pitchFamily="49" charset="-122"/>
              </a:rPr>
              <a:t>⑵多媒体板卡</a:t>
            </a:r>
          </a:p>
          <a:p>
            <a:pPr>
              <a:buFont typeface="Wingdings" pitchFamily="2" charset="2"/>
              <a:buNone/>
            </a:pPr>
            <a:r>
              <a:rPr lang="zh-CN" altLang="en-US" dirty="0">
                <a:latin typeface="楷体_GB2312" pitchFamily="49" charset="-122"/>
              </a:rPr>
              <a:t>视频卡、显示卡、音频卡、</a:t>
            </a:r>
          </a:p>
        </p:txBody>
      </p:sp>
      <p:pic>
        <p:nvPicPr>
          <p:cNvPr id="2" name="图片 1">
            <a:extLst>
              <a:ext uri="{FF2B5EF4-FFF2-40B4-BE49-F238E27FC236}">
                <a16:creationId xmlns:a16="http://schemas.microsoft.com/office/drawing/2014/main" id="{72CECB1E-152F-41D2-9DC9-A8B241CA6D1D}"/>
              </a:ext>
            </a:extLst>
          </p:cNvPr>
          <p:cNvPicPr>
            <a:picLocks noChangeAspect="1"/>
          </p:cNvPicPr>
          <p:nvPr/>
        </p:nvPicPr>
        <p:blipFill>
          <a:blip r:embed="rId5"/>
          <a:stretch>
            <a:fillRect/>
          </a:stretch>
        </p:blipFill>
        <p:spPr>
          <a:xfrm>
            <a:off x="6223439" y="1340768"/>
            <a:ext cx="2140735" cy="2048835"/>
          </a:xfrm>
          <a:prstGeom prst="rect">
            <a:avLst/>
          </a:prstGeom>
        </p:spPr>
      </p:pic>
      <p:sp>
        <p:nvSpPr>
          <p:cNvPr id="12" name="标题 2">
            <a:extLst>
              <a:ext uri="{FF2B5EF4-FFF2-40B4-BE49-F238E27FC236}">
                <a16:creationId xmlns:a16="http://schemas.microsoft.com/office/drawing/2014/main" id="{C2942098-88A6-4D32-8454-5B274605FF31}"/>
              </a:ext>
            </a:extLst>
          </p:cNvPr>
          <p:cNvSpPr txBox="1">
            <a:spLocks/>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1.2 </a:t>
            </a:r>
            <a:r>
              <a:rPr lang="zh-CN" altLang="en-US" dirty="0"/>
              <a:t>多媒体软硬件系统</a:t>
            </a:r>
          </a:p>
        </p:txBody>
      </p:sp>
      <p:pic>
        <p:nvPicPr>
          <p:cNvPr id="5" name="图片 4">
            <a:extLst>
              <a:ext uri="{FF2B5EF4-FFF2-40B4-BE49-F238E27FC236}">
                <a16:creationId xmlns:a16="http://schemas.microsoft.com/office/drawing/2014/main" id="{C4015DE7-10EB-4A20-9677-90D4D38A7E4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88450" y="4257887"/>
            <a:ext cx="1991974" cy="1910178"/>
          </a:xfrm>
          <a:prstGeom prst="rect">
            <a:avLst/>
          </a:prstGeom>
        </p:spPr>
      </p:pic>
      <p:sp>
        <p:nvSpPr>
          <p:cNvPr id="3" name="灯片编号占位符 2">
            <a:extLst>
              <a:ext uri="{FF2B5EF4-FFF2-40B4-BE49-F238E27FC236}">
                <a16:creationId xmlns:a16="http://schemas.microsoft.com/office/drawing/2014/main" id="{D062E5E9-7BC3-41EA-85F6-EDD5B3B266A8}"/>
              </a:ext>
            </a:extLst>
          </p:cNvPr>
          <p:cNvSpPr>
            <a:spLocks noGrp="1"/>
          </p:cNvSpPr>
          <p:nvPr>
            <p:ph type="sldNum" sz="quarter" idx="12"/>
          </p:nvPr>
        </p:nvSpPr>
        <p:spPr/>
        <p:txBody>
          <a:bodyPr/>
          <a:lstStyle/>
          <a:p>
            <a:fld id="{F64BA984-46A0-4F46-990E-EC790E6934B4}" type="slidenum">
              <a:rPr lang="zh-CN" altLang="en-US" smtClean="0"/>
              <a:t>22</a:t>
            </a:fld>
            <a:endParaRPr lang="zh-CN" altLang="en-US"/>
          </a:p>
        </p:txBody>
      </p:sp>
    </p:spTree>
    <p:extLst>
      <p:ext uri="{BB962C8B-B14F-4D97-AF65-F5344CB8AC3E}">
        <p14:creationId xmlns:p14="http://schemas.microsoft.com/office/powerpoint/2010/main" val="115596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fade">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500"/>
                                        <p:tgtEl>
                                          <p:spTgt spid="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500"/>
                                        <p:tgtEl>
                                          <p:spTgt spid="9">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9461"/>
                                        </p:tgtEl>
                                        <p:attrNameLst>
                                          <p:attrName>style.visibility</p:attrName>
                                        </p:attrNameLst>
                                      </p:cBhvr>
                                      <p:to>
                                        <p:strVal val="visible"/>
                                      </p:to>
                                    </p:set>
                                    <p:anim calcmode="lin" valueType="num">
                                      <p:cBhvr additive="base">
                                        <p:cTn id="33" dur="500" fill="hold"/>
                                        <p:tgtEl>
                                          <p:spTgt spid="19461"/>
                                        </p:tgtEl>
                                        <p:attrNameLst>
                                          <p:attrName>ppt_x</p:attrName>
                                        </p:attrNameLst>
                                      </p:cBhvr>
                                      <p:tavLst>
                                        <p:tav tm="0">
                                          <p:val>
                                            <p:strVal val="#ppt_x"/>
                                          </p:val>
                                        </p:tav>
                                        <p:tav tm="100000">
                                          <p:val>
                                            <p:strVal val="#ppt_x"/>
                                          </p:val>
                                        </p:tav>
                                      </p:tavLst>
                                    </p:anim>
                                    <p:anim calcmode="lin" valueType="num">
                                      <p:cBhvr additive="base">
                                        <p:cTn id="34"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467544" y="1116013"/>
            <a:ext cx="7772400" cy="685800"/>
          </a:xfrm>
        </p:spPr>
        <p:txBody>
          <a:bodyPr/>
          <a:lstStyle/>
          <a:p>
            <a:pPr>
              <a:buFont typeface="Wingdings" pitchFamily="2" charset="2"/>
              <a:buNone/>
            </a:pPr>
            <a:r>
              <a:rPr lang="zh-CN" altLang="en-US" dirty="0">
                <a:solidFill>
                  <a:srgbClr val="FF00FF"/>
                </a:solidFill>
                <a:latin typeface="楷体_GB2312" pitchFamily="49" charset="-122"/>
              </a:rPr>
              <a:t>⑶多媒体外部设备</a:t>
            </a:r>
          </a:p>
        </p:txBody>
      </p:sp>
      <p:sp>
        <p:nvSpPr>
          <p:cNvPr id="20490" name="Text Box 10"/>
          <p:cNvSpPr txBox="1">
            <a:spLocks noChangeArrowheads="1"/>
          </p:cNvSpPr>
          <p:nvPr/>
        </p:nvSpPr>
        <p:spPr bwMode="auto">
          <a:xfrm>
            <a:off x="6280150" y="3102766"/>
            <a:ext cx="1689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800" b="1">
                <a:latin typeface="Arial" charset="0"/>
                <a:ea typeface="楷体_GB2312" pitchFamily="49" charset="-122"/>
              </a:rPr>
              <a:t>数码相机</a:t>
            </a:r>
          </a:p>
        </p:txBody>
      </p:sp>
      <p:sp>
        <p:nvSpPr>
          <p:cNvPr id="20493" name="Text Box 13"/>
          <p:cNvSpPr txBox="1">
            <a:spLocks noChangeArrowheads="1"/>
          </p:cNvSpPr>
          <p:nvPr/>
        </p:nvSpPr>
        <p:spPr bwMode="auto">
          <a:xfrm>
            <a:off x="3702383" y="5259085"/>
            <a:ext cx="2133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800" b="1">
                <a:latin typeface="Arial" charset="0"/>
                <a:ea typeface="楷体_GB2312" pitchFamily="49" charset="-122"/>
              </a:rPr>
              <a:t>数码摄像机</a:t>
            </a:r>
          </a:p>
        </p:txBody>
      </p:sp>
      <p:sp>
        <p:nvSpPr>
          <p:cNvPr id="20494" name="Text Box 14"/>
          <p:cNvSpPr txBox="1">
            <a:spLocks noChangeArrowheads="1"/>
          </p:cNvSpPr>
          <p:nvPr/>
        </p:nvSpPr>
        <p:spPr bwMode="auto">
          <a:xfrm>
            <a:off x="1235408" y="3180782"/>
            <a:ext cx="1689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800" b="1" dirty="0">
                <a:latin typeface="Arial" charset="0"/>
                <a:ea typeface="楷体_GB2312" pitchFamily="49" charset="-122"/>
              </a:rPr>
              <a:t>摄像头</a:t>
            </a:r>
          </a:p>
        </p:txBody>
      </p:sp>
      <p:grpSp>
        <p:nvGrpSpPr>
          <p:cNvPr id="20495" name="Group 15"/>
          <p:cNvGrpSpPr>
            <a:grpSpLocks/>
          </p:cNvGrpSpPr>
          <p:nvPr/>
        </p:nvGrpSpPr>
        <p:grpSpPr bwMode="auto">
          <a:xfrm>
            <a:off x="3733800" y="2133600"/>
            <a:ext cx="1689100" cy="1471613"/>
            <a:chOff x="2008" y="1128"/>
            <a:chExt cx="1064" cy="927"/>
          </a:xfrm>
        </p:grpSpPr>
        <p:pic>
          <p:nvPicPr>
            <p:cNvPr id="20496" name="Picture 16" descr="扫描仪"/>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0" y="1128"/>
              <a:ext cx="953" cy="597"/>
            </a:xfrm>
            <a:prstGeom prst="rect">
              <a:avLst/>
            </a:prstGeom>
            <a:noFill/>
            <a:extLst>
              <a:ext uri="{909E8E84-426E-40DD-AFC4-6F175D3DCCD1}">
                <a14:hiddenFill xmlns:a14="http://schemas.microsoft.com/office/drawing/2010/main">
                  <a:solidFill>
                    <a:srgbClr val="FFFFFF"/>
                  </a:solidFill>
                </a14:hiddenFill>
              </a:ext>
            </a:extLst>
          </p:spPr>
        </p:pic>
        <p:sp>
          <p:nvSpPr>
            <p:cNvPr id="20497" name="Text Box 17"/>
            <p:cNvSpPr txBox="1">
              <a:spLocks noChangeArrowheads="1"/>
            </p:cNvSpPr>
            <p:nvPr/>
          </p:nvSpPr>
          <p:spPr bwMode="auto">
            <a:xfrm>
              <a:off x="2008" y="1728"/>
              <a:ext cx="10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800" b="1" dirty="0">
                  <a:latin typeface="Arial" charset="0"/>
                  <a:ea typeface="楷体_GB2312" pitchFamily="49" charset="-122"/>
                </a:rPr>
                <a:t>扫描仪</a:t>
              </a:r>
            </a:p>
          </p:txBody>
        </p:sp>
      </p:grpSp>
      <p:sp>
        <p:nvSpPr>
          <p:cNvPr id="20500" name="Text Box 20"/>
          <p:cNvSpPr txBox="1">
            <a:spLocks noChangeArrowheads="1"/>
          </p:cNvSpPr>
          <p:nvPr/>
        </p:nvSpPr>
        <p:spPr bwMode="auto">
          <a:xfrm>
            <a:off x="1266825" y="5259083"/>
            <a:ext cx="1689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zh-CN" altLang="en-US" sz="2800" b="1">
                <a:latin typeface="Arial" charset="0"/>
                <a:ea typeface="楷体_GB2312" pitchFamily="49" charset="-122"/>
              </a:rPr>
              <a:t>触摸屏</a:t>
            </a:r>
          </a:p>
        </p:txBody>
      </p:sp>
      <p:sp>
        <p:nvSpPr>
          <p:cNvPr id="2" name="AutoShape 2" descr="data:image/jpeg;base64,/9j/4AAQSkZJRgABAQAAAQABAAD/2wCEAAkGBhQSDxAPEBAVEg8QDw4PEQ0SFBAQDxAPFBAVFBUQFBQYGyYeFxkkGRQUHy8gIycpLiwsFR4xNTIsNSYsLCkBCQoKDQwOFQ4MFCkcHiEpKSkuNCkpKSorKTIpKSkpKTEpKSkpKSkpNiwpKSkpKSkpKSwpKSkpKSkpKSkpKSkpKf/AABEIAIQBfgMBIgACEQEDEQH/xAAcAAEAAAcBAAAAAAAAAAAAAAAAAQIDBAUGBwj/xABOEAABAgMBCQsHCQYGAwEAAAABAAIDBBEFBgcSITFBUXGRExRSU2GBkqGxwdEVIjJCosLSFiNEYoKT4eLwF0Nyg7LDM2Nzo9PjJVSUNf/EABgBAQEBAQEAAAAAAAAAAAAAAAABAgQD/8QAGxEBAAICAwAAAAAAAAAAAAAAAAECESEDEjH/2gAMAwEAAhEDEQA/AO4oiICIlUBFYTNuy8P05iG0jMXtwtlarGTF3so3JEc86GMf2kAINiRaZMXzIY/w4D3crnNZ2YSx8a+VFPoQYbdZe/vCDoaLmbr4Myc7ByBniVMy+FMf5Z+ye4oOlIudNvix87IZ+y/4lVbfHi54UP2x3oOgItCF8d+eCza5VG3xzngDpnwQbyi0pt8gZ5f2/wAqqC+OziD0x4INxRagL4sPPBd0mlVG3w4OeG/2PFBtaLWBfBgcCJsZ8SnF30voidFvxINkRa6Lu5bS/o/iqjbtpXhuH2HIM8iwouxleN9iJ4KcXWyvHjov8EGXRYoXUy3Ht9odyqNuilj9Ih9IBBkUVi23IB+kQ+mzxU4taDx8P7xnigu0VuLRhHJFZ02eKnE2w5Ht6TUFVFKIgOQjaFGqCKIiAiIgIiICIiAiIgIiICIiAiIgLVLs74cGz/MwHzE0W4bZWCKuDTiD4jqEMaaHSTTECtqJXlmbvixd9TUYQ2uMeYiRS51ScGtGN1NYGtGpBnrbv02rFJ3KEJVmZrILnvpyveD1ALV5u7qeiGsZ7on+pupGzCoFdi+bEzwGdIjuU4vmuzy7en+VUYkXYRhlY32x3qdt28QZYbek8LLC+a3PKjpDwUwvkwjllOthQYtt3b+L9t3gqgu9dxR6f5VkP2gyxyyfswj3p8uJI5ZEfdwfFBZC748UekPBTi7/APynbW+CuvlZZxyyQ+6hdxUPL1mHLKAfywOxBQF344t/sKcXft4D9jPFVvKdknLAA+zFHYo7vZB9Sn/0DvQUxd8zQ/oj4lOLvIf1ugfiTcrIOcj7cfvKeTrIOSKR/McO0IKjbuoXCPQepxdvB4fsxPBUhc9Zbsky4fzYfe1R+SFnHJNu+8gn3UFdt2cHjBsePdVQXYQeNbtcPdVp8hpI5Jx22Ee5Q/Z7LHJOu6LD3oL9t1kHjWdP8FO26iDxjOm1Yw3t4Oad2wwffUjr2jc063nh/nQZpt0ULjGdNniqrbdhn129JnitcdezOabh87HD3iqZvZPzTUHnDx3INqFsM0ja3xU4tRv6otPN7KNmjwDzxB7ilN7SZzRIB+2/4EG5+Um8uwqbyi3l2OWkG9zNjI6EdUUjtAUpuCnhkweaMzxQb15RbpOx3gnlFvC7VoRuQnxmPNHh/GhuXtEerE5ozD76DfvKLeEFEWg3hDaFz/yFaQ9SPzPB7HKU2baQ/dzGxxQdEFoDhjaFMLR+v1rm5gWiP3cz928+6pDFtAZWR+eC74EHTm2q7NEPM4qq22YmaK/pu8Vyk2lOjK2JzwfyKXy9NDLXnhN8EHW22/GGSPE6b/FVW3SzA+kROm/xXHvlPMDKW87GqPyuj6WdH8UHYxdVMj6Q/pEqcXYTPHu9k9y42LsY/wBTY74lUbdrG4LP9we8g7GLtZrjjsZ4KcXdTXG+xD+FcdbdxF4DelE8VOLu4nFDpu8EHYhd7NcMdBngoi+DM8JvQauPi7x2eEen+VTfL054buZzT2tQdhF8SZ+p0PxVeXvkxgRhw2PbnADmHmNT2LjIu9HAfth+CmF3jeDE2Q0HpGxbq4EzQMdgxOJfQO+zmdzLMryw275uWkQfZZi2OW8XIX9msc2DOF7oJxbuWViQ+U0JLxzV7FB29FRk5xkWGyLCe18OI0PZEaQ5rmnIQQqyC0teLgy0d4ytgxnDWGEryXIy7TDaS0EmpqQDnXrK2m1lZgaYEYbYbl5QkT80z+EIKglGcBuwKO9mcBuwKJijSNoUN3bwhtCob2bwW7Ao73bwRsCiIo0jaFEPGlBLvdvBGwKG9m8EbAqlUqgomTZwBsClNns4IVeqjVBbGzYfB7VL5Kh6Osq7qpIrqNJ0AoKll3MiM40GCxpoXmpx6AK41nH3AwS3E9wdpxEbMXaslYcINgQwOCDznGVnZSWD646UC1hzTyWmdOX2jcxuTsF9aGuC8ElrhyVz8isjYo4R6l0S6CWDoESuVgMRp0FoJ6xUc60xZl7Ut2hjfIo4XUFDyN9bqWTqoB4yVyI2xvkp2Z/aphIRONO13isjVSxH0BOgILFsrFrgiM8nQHO68eJXPk2OMYjvrow3eKvJBlGA+s7zidf4Kq+PRBiC6ZGIR31GYvfXrUROzfHO2g9yy0w3CZhZ24+bOFZOdQV0IKQtObFBu5qc2In+lXAn50Cu7HVRvgqlns83DPpOx6m5gshLwHPLgxtcFpc7IKNGfGh56w/l6cHr15mqb5VTgz9X4q8nIGIupRzcvKBlryhWaCIuxnBo6LviUwu2mxlA2PHvKSihRBXF3czwB7Xipxd/McWNrvBWtEogvBfDj8V7R+FTi+LFzwj0/wAqsMFQwEGTF8Z+eE7pfgo/tEGeA7a09yxWANCbmNAQZX5fQjllieaGU+W0scsp/twSsTuQ0BQ3EaAgy/ytkjlkx91BT5SWccsoPumDsWHMBugbApTKt4I2IMubdsz/ANTY0DvVJ9r2Wfoj+Yke8sWZJnBCgZFnBCC/M/ZZ+jRhqefjUhmLLP7mYGpwPvKwNnM4PapTZjNHWUF8X2XwZoc8PvRsOzD6003WIR7ArA2W3l2qHkxukoOzXgboMITMiC7c4bIceG1xwsB5cWRQ08Enc3UzFztK7CvPF4l+52u6GMkSWjN2Fr/cXodQSRYeE1zTkcC06iKLx9HkhDe+G5uNj3NOsEjuXsRecr51y7pa0Yzi0iDMPdHhPp5pwzhPYDpDicWimlBowa0eqNgU2ENHUrkyw0qG9+VUW+LQNigWN4I2BXO9uVQ3sgttxboCbg39E+KuDAUu4oKQh6HO6RUcF2aI7noVU3uVHexQSB8Thg62+Cm3d9CHNBBFKtNDsKjvcpuJQbZcvaGFBax2J7Kt1gZx+s62Bkei5vBiPYatJGQ66LLtumeG0wDhaSQfdWsue3FOdM5dHaTYcB9TjiAw2jOa4iacgJ6tK0vygzSei7wUZiYfEcXvcXO0nMNAGQDUqWNZl60r1hUE+zhbQR3IJqGMeG2p5VTxqFOQI2ricYfXbtCjEcHNIBBqDkIKtjDBytGwKQy7eAObEgy1nRcKE2mUYiOUYqK5EJuU01FYmWmMDIOfPqOkdfLmWUhzzcGpc0clXk7MFUJg0hv5QQNZxDrKx0XG1wGgqSemDExE0YDiaO0lWW825QXA6QVBmrNiYUJvIME6wsjZ806E/DbnBBGSqwEhGEOuPKa1zHWM2sbNGXgzILcLIOUtHeqTGdSmmX+a9xy4LidZCxoUlozhfVjCGtB9LKSfBY8w4nHKDJ1SqxeDF439bEIjcYP1zIMpVQqsXWNwh1eCjukbk9lBtcOCzcAXACMWYwAHOEpXHGDMQMWlaYwcAYWL0lmrSs5hixAYR8yZc2G10syUY4YMcsgsew/PBz2wxjoaYxlK5yY8bQPZUXTUwcpJpkBwTRBt8vAbFZhxYbYQLywxmw9zayGGYTo2A2gOA5rAQBV27YPpFpFq5oZGifNNDGBrfPLnsY0lrWxnYP8AiVBrixEvBApQLXIlpTLvTc9+IN88l/mg1DcZyVzKVtpTDThAuBwcHFUUbwcWbkQbnMWfBaMEAF8Z0bcm/OVoIbXMwXYXmA4QcMIOPnAOwaVNlOy7AIzGtAMvudIgLyYoLg0lwJIqcIOFAKAEY8q11tvTIDxhPpEqX+kcIkUJJ0kYjpzqD7ejlghuqWilAQcwwRXTQYhXIMiDIKFVhYk9FOkahRSifiDOecIM5VQWG8qP5NgURa7tAQZhQWLFrngjrUwtf6vWgySLHi1hwTtCmFqt0HqQb5efP/m4HLCmB/svK9GLzZeZmMO25cjIIcxl/wBB69JqAra0LNhR2GFHhMiwzjLHtDm100OQ8quUQanEvW2cTXeoHIHxQP6lRi3o7OP7hzdUWJ3lbkiDRH3mZA5BGGqIO9pVCJeRkjkizA+1BP8AbXQkQc0iXi5Y5JmONYgn3Qrd14eFmnHjXDYexwXU0QcodeGbmnjzwf8AsVI3hzmnh9wf+RdcRBx914h+adZ904e+qTrxUbNNwjrY8eK7KiDirrxkzmmYB17qPdKovvHzmaNLn7UUf213BEHCIl5afGQwHaoju9oVu+8/aA/dQzqiw+8hd/RB56fentIfRQdUWX+NWsW9raLcsk86jCd2OK9Hog8wTFxs+0//AJsy7lbCLh1Kyi2FON9KzZsa5eN8K9WURB5QFizRFfJ81TTveMfdVN9mxx6UlMjXAij3V6zUCaYzk0oPIz2OHpQIo1w3DtVF0w0ZWkawB3r1HbF2krLNLokYGnqs84k6NHWuTXb34BHD4TJbAbAex7DEdhPiPLTTzW5G4Lia10Kjme+ofL+udQ3xD09RV46+HHLYjHw4L2RfSaWxAaUpghzHtNPFULHupZCiVdKQzDJJdDbhOx0pVu6lxGqqgkEZnC6neCiYjOEBrqFvFi3eS4e5rrNk4kqG4Yix4ENsWpIrDLqEE1JoBXEFi7sAyfiCJIwpOBAaBgy8KFDgxC6mMviBnnGuY0A0VqTRrQiQ+MbtCmAbme3pNVpMWRGhj5yAWjNEDQ5nSbUdajKSJdlApqb4ILzcRmPYm9+VdFvZXsGTMTfE1LgyjWuwQ4Fm7RDiGDg0OCMZrpoNK6R+ySy80kBqizI7IiDzjvdR3uvRb70Nmn6M4ao0x3vVF15uzuKiDVGid5QeedwKhuBXoF95WQOTdhqiDvaVRfePkjkizA+3CP8AbQcE3EpuRXdIl4mV9WZjjXuR90K3feGherORBrhsPY4IOJ7kVDciuzPvCD1Z888D/sVu+8NE9WeYcuWE4e+UHIdyKlME6OxdZfeJmM03BOtsRvcVRdeLm80eXOt0Yf20HKjL/VGwKUyw4I2BdQfeQnhkfLnVEid8NUH3mLQHqwTqi+ICDmu9RwBsUN6N4I610U3oLR4lh1RYPe5SvvRWiP3DTqiwviQUryEn/wCXaQMTIEdx6Ib7y9FLn16+9y+QMSZmC3fEVm5iG04Qhw8IONXZ3EgZMlOVdBUBERAREQEREBERAREQEREBERAREQERU48drGl73BrWipccQAQVFYT9uQoPpvGFwBjd+HOtLujvgVqyC7Ahivn5Hu5fqjrXL7cu/AqIZw3aa4q60HWrXvkNYDubQ0D13mp10yBcvuovtvfVrHl501pDGoZ1z207cixjV7yRwRiaOZY0qi8tK2osd2FEeTyZhqCtXTDiKFxIGQE1opKJRQQwv1iUFFKIIFx0q4lZ1zDUEg6QqFEog2uzbp3DE40OkYqrMwLThuIc5jHGoNS1uPWRl51z1j6K8gTbm42mnIcbTrHeg71Y99p7A1kWEx7QABg/NkADEBTFTmW12bfLlYtA4uhH6wwm7W17F5ulLbGRxwHaD6J1FZRlrgYy4AaahB6jlJxkVuHCe17eE0hwroxZ1WXL7yuHEEzHqdxO5Q2A1o9+NxfzAgfa0UXUEBERAREQEREBERAREQEREBERAREQEREBERAREQEREBERAREQEREBcxv03QRZZkBoa7cXiI4ub6JiNIoHHNQGo18i6ctXvjXPiakIgA+dg1jQyMTvNHnNB5W1xcgQeYbSt6JGJwnebwRk/FY0rPzcnjINDraK7RRUxLDOxnRVGBITBWf3mzi27XDsUN5M4sdKJ4oMQ4txANAxUJzk5K8mLGoww3CqQ2hqaZhipg9vUsrvCHxexx7yoGz4fAd0wgxBaMWJtCQcpxaRlxBUomXEKDRjPas0bNh8F/Sb4KQ2Yz6+1vwoMLRFl32Y3S7nA8FbukBpOxBYUUWmiyMKQbnwjsCqmz28Ha4oMeG4WKlTmpjKytkWHVwL9PoZvtadW3Qq8rLAZBTkGLbnK2+5CwHTEZrWt+bYQ6I/1Ws0azkAUHbLg7K3vZ8BlKOe3dXaavxivNg7FsCpwSC1pbkoKDQNCnogiiIgIiICIiAiIgIiICIiAiIgIiICIiAiIgIiICIiAiIgIiICIiAoEKKIPPl8K4iNLTER7ILnSrnF0OKxpe1rTjwXU9EjJjy0Wkhy9cqzm7GgRf8AFl4UT+OHDf2hB5VCivS0e4Gz35ZCX+zCYz+mitH3rrNP0No1PjN7HoPOaL0HFvQ2acku5v8ADHmO95Vs+8tZ5yCMNUZ3eCqOClQXdnXkZHhzA1RIfexSG8dJcdM9OD/xIOGUxK2K71+wyS4+Z6cD/iUBeJkc8WZP8yCP7SDgzMqnOVd/l7ydnNytjP8A4ozh/SAthsm4eSliHQJSG14yRCDEiDU95JHMVBxm5G9pMTODEitMCXxHDeKRHj6jDj5zQa12Cy7nWQIbYMFmCxvO5xzucc5WxYPIooKEpDLW4JzZFXREBERAREQEREBERAREQEREBERAREQEREBERAREQEREBERAREQEREBERAREQEREBERAREQEREBERAREQEREBERAREQEREBERAREQEREBER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076" name="Picture 4" descr="File:Xbox-360-Kinect-Standalon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0152" y="4087699"/>
            <a:ext cx="2679190" cy="925477"/>
          </a:xfrm>
          <a:prstGeom prst="rect">
            <a:avLst/>
          </a:prstGeom>
          <a:noFill/>
          <a:extLst>
            <a:ext uri="{909E8E84-426E-40DD-AFC4-6F175D3DCCD1}">
              <a14:hiddenFill xmlns:a14="http://schemas.microsoft.com/office/drawing/2010/main">
                <a:solidFill>
                  <a:srgbClr val="FFFFFF"/>
                </a:solidFill>
              </a14:hiddenFill>
            </a:ext>
          </a:extLst>
        </p:spPr>
      </p:pic>
      <p:sp>
        <p:nvSpPr>
          <p:cNvPr id="24" name="Text Box 14"/>
          <p:cNvSpPr txBox="1">
            <a:spLocks noChangeArrowheads="1"/>
          </p:cNvSpPr>
          <p:nvPr/>
        </p:nvSpPr>
        <p:spPr bwMode="auto">
          <a:xfrm>
            <a:off x="6435197" y="5251488"/>
            <a:ext cx="1689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zh-CN" sz="2800" b="1" dirty="0" err="1">
                <a:latin typeface="Arial" charset="0"/>
                <a:ea typeface="楷体_GB2312" pitchFamily="49" charset="-122"/>
              </a:rPr>
              <a:t>Kinect</a:t>
            </a:r>
            <a:endParaRPr lang="zh-CN" altLang="en-US" sz="2800" b="1" dirty="0">
              <a:latin typeface="Arial" charset="0"/>
              <a:ea typeface="楷体_GB2312" pitchFamily="49" charset="-122"/>
            </a:endParaRPr>
          </a:p>
        </p:txBody>
      </p:sp>
      <p:pic>
        <p:nvPicPr>
          <p:cNvPr id="3" name="图片 2">
            <a:extLst>
              <a:ext uri="{FF2B5EF4-FFF2-40B4-BE49-F238E27FC236}">
                <a16:creationId xmlns:a16="http://schemas.microsoft.com/office/drawing/2014/main" id="{DBFC6AE2-5EBB-4CD8-B619-6528E5B35E6E}"/>
              </a:ext>
            </a:extLst>
          </p:cNvPr>
          <p:cNvPicPr>
            <a:picLocks noChangeAspect="1"/>
          </p:cNvPicPr>
          <p:nvPr/>
        </p:nvPicPr>
        <p:blipFill>
          <a:blip r:embed="rId5"/>
          <a:stretch>
            <a:fillRect/>
          </a:stretch>
        </p:blipFill>
        <p:spPr>
          <a:xfrm>
            <a:off x="1236808" y="2133600"/>
            <a:ext cx="1749134" cy="947738"/>
          </a:xfrm>
          <a:prstGeom prst="rect">
            <a:avLst/>
          </a:prstGeom>
        </p:spPr>
      </p:pic>
      <p:pic>
        <p:nvPicPr>
          <p:cNvPr id="4" name="图片 3">
            <a:extLst>
              <a:ext uri="{FF2B5EF4-FFF2-40B4-BE49-F238E27FC236}">
                <a16:creationId xmlns:a16="http://schemas.microsoft.com/office/drawing/2014/main" id="{94AFF444-6322-465E-8C19-33984C7345A8}"/>
              </a:ext>
            </a:extLst>
          </p:cNvPr>
          <p:cNvPicPr>
            <a:picLocks noChangeAspect="1"/>
          </p:cNvPicPr>
          <p:nvPr/>
        </p:nvPicPr>
        <p:blipFill>
          <a:blip r:embed="rId6"/>
          <a:stretch>
            <a:fillRect/>
          </a:stretch>
        </p:blipFill>
        <p:spPr>
          <a:xfrm>
            <a:off x="6280150" y="1830375"/>
            <a:ext cx="1542235" cy="1184437"/>
          </a:xfrm>
          <a:prstGeom prst="rect">
            <a:avLst/>
          </a:prstGeom>
        </p:spPr>
      </p:pic>
      <p:pic>
        <p:nvPicPr>
          <p:cNvPr id="5" name="图片 4">
            <a:extLst>
              <a:ext uri="{FF2B5EF4-FFF2-40B4-BE49-F238E27FC236}">
                <a16:creationId xmlns:a16="http://schemas.microsoft.com/office/drawing/2014/main" id="{8FCD5319-59E7-470C-9B09-96DEFCA82195}"/>
              </a:ext>
            </a:extLst>
          </p:cNvPr>
          <p:cNvPicPr>
            <a:picLocks noChangeAspect="1"/>
          </p:cNvPicPr>
          <p:nvPr/>
        </p:nvPicPr>
        <p:blipFill>
          <a:blip r:embed="rId7"/>
          <a:stretch>
            <a:fillRect/>
          </a:stretch>
        </p:blipFill>
        <p:spPr>
          <a:xfrm>
            <a:off x="3639528" y="3916348"/>
            <a:ext cx="2029815" cy="1173304"/>
          </a:xfrm>
          <a:prstGeom prst="rect">
            <a:avLst/>
          </a:prstGeom>
        </p:spPr>
      </p:pic>
      <p:pic>
        <p:nvPicPr>
          <p:cNvPr id="6" name="图片 5">
            <a:extLst>
              <a:ext uri="{FF2B5EF4-FFF2-40B4-BE49-F238E27FC236}">
                <a16:creationId xmlns:a16="http://schemas.microsoft.com/office/drawing/2014/main" id="{50F26FD1-5D45-40A0-9C46-555218EB2813}"/>
              </a:ext>
            </a:extLst>
          </p:cNvPr>
          <p:cNvPicPr>
            <a:picLocks noChangeAspect="1"/>
          </p:cNvPicPr>
          <p:nvPr/>
        </p:nvPicPr>
        <p:blipFill>
          <a:blip r:embed="rId8"/>
          <a:stretch>
            <a:fillRect/>
          </a:stretch>
        </p:blipFill>
        <p:spPr>
          <a:xfrm>
            <a:off x="1242804" y="3995061"/>
            <a:ext cx="1778874" cy="1110752"/>
          </a:xfrm>
          <a:prstGeom prst="rect">
            <a:avLst/>
          </a:prstGeom>
        </p:spPr>
      </p:pic>
      <p:sp>
        <p:nvSpPr>
          <p:cNvPr id="27" name="标题 2">
            <a:extLst>
              <a:ext uri="{FF2B5EF4-FFF2-40B4-BE49-F238E27FC236}">
                <a16:creationId xmlns:a16="http://schemas.microsoft.com/office/drawing/2014/main" id="{AD80F0E5-379E-428B-9EB7-17E5A07E3CC0}"/>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7" name="灯片编号占位符 6">
            <a:extLst>
              <a:ext uri="{FF2B5EF4-FFF2-40B4-BE49-F238E27FC236}">
                <a16:creationId xmlns:a16="http://schemas.microsoft.com/office/drawing/2014/main" id="{3AB7AEE6-E0E1-4076-9992-C333C20D315F}"/>
              </a:ext>
            </a:extLst>
          </p:cNvPr>
          <p:cNvSpPr>
            <a:spLocks noGrp="1"/>
          </p:cNvSpPr>
          <p:nvPr>
            <p:ph type="sldNum" sz="quarter" idx="12"/>
          </p:nvPr>
        </p:nvSpPr>
        <p:spPr/>
        <p:txBody>
          <a:bodyPr/>
          <a:lstStyle/>
          <a:p>
            <a:fld id="{F64BA984-46A0-4F46-990E-EC790E6934B4}" type="slidenum">
              <a:rPr lang="zh-CN" altLang="en-US" smtClean="0"/>
              <a:t>23</a:t>
            </a:fld>
            <a:endParaRPr lang="zh-CN" altLang="en-US"/>
          </a:p>
        </p:txBody>
      </p:sp>
    </p:spTree>
    <p:extLst>
      <p:ext uri="{BB962C8B-B14F-4D97-AF65-F5344CB8AC3E}">
        <p14:creationId xmlns:p14="http://schemas.microsoft.com/office/powerpoint/2010/main" val="32864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467544" y="1116013"/>
            <a:ext cx="7772400" cy="685800"/>
          </a:xfrm>
        </p:spPr>
        <p:txBody>
          <a:bodyPr/>
          <a:lstStyle/>
          <a:p>
            <a:pPr>
              <a:buFont typeface="Wingdings" pitchFamily="2" charset="2"/>
              <a:buNone/>
            </a:pPr>
            <a:r>
              <a:rPr lang="zh-CN" altLang="en-US" dirty="0">
                <a:solidFill>
                  <a:schemeClr val="tx1"/>
                </a:solidFill>
                <a:latin typeface="楷体_GB2312" pitchFamily="49" charset="-122"/>
              </a:rPr>
              <a:t>例子： 色觉的三变量性及其定量化</a:t>
            </a:r>
          </a:p>
        </p:txBody>
      </p:sp>
      <p:sp>
        <p:nvSpPr>
          <p:cNvPr id="2" name="AutoShape 2" descr="data:image/jpeg;base64,/9j/4AAQSkZJRgABAQAAAQABAAD/2wCEAAkGBhQSDxAPEBAVEg8QDw4PEQ0SFBAQDxAPFBAVFBUQFBQYGyYeFxkkGRQUHy8gIycpLiwsFR4xNTIsNSYsLCkBCQoKDQwOFQ4MFCkcHiEpKSkuNCkpKSorKTIpKSkpKTEpKSkpKSkpNiwpKSkpKSkpKSwpKSkpKSkpKSkpKSkpKf/AABEIAIQBfgMBIgACEQEDEQH/xAAcAAEAAAcBAAAAAAAAAAAAAAAAAQIDBAUGBwj/xABOEAABAgMBCQsHCQYGAwEAAAABAAIDBBEFBgcSITFBUXGRExRSU2GBkqGxwdEVIjJCosLSFiNEYoKT4eLwF0Nyg7LDM2Nzo9PjJVSUNf/EABgBAQEBAQEAAAAAAAAAAAAAAAABAgQD/8QAGxEBAAICAwAAAAAAAAAAAAAAAAECESEDEjH/2gAMAwEAAhEDEQA/AO4oiICIlUBFYTNuy8P05iG0jMXtwtlarGTF3so3JEc86GMf2kAINiRaZMXzIY/w4D3crnNZ2YSx8a+VFPoQYbdZe/vCDoaLmbr4Myc7ByBniVMy+FMf5Z+ye4oOlIudNvix87IZ+y/4lVbfHi54UP2x3oOgItCF8d+eCza5VG3xzngDpnwQbyi0pt8gZ5f2/wAqqC+OziD0x4INxRagL4sPPBd0mlVG3w4OeG/2PFBtaLWBfBgcCJsZ8SnF30voidFvxINkRa6Lu5bS/o/iqjbtpXhuH2HIM8iwouxleN9iJ4KcXWyvHjov8EGXRYoXUy3Ht9odyqNuilj9Ih9IBBkUVi23IB+kQ+mzxU4taDx8P7xnigu0VuLRhHJFZ02eKnE2w5Ht6TUFVFKIgOQjaFGqCKIiAiIgIiICIiAiIgIiICIiAiIgLVLs74cGz/MwHzE0W4bZWCKuDTiD4jqEMaaHSTTECtqJXlmbvixd9TUYQ2uMeYiRS51ScGtGN1NYGtGpBnrbv02rFJ3KEJVmZrILnvpyveD1ALV5u7qeiGsZ7on+pupGzCoFdi+bEzwGdIjuU4vmuzy7en+VUYkXYRhlY32x3qdt28QZYbek8LLC+a3PKjpDwUwvkwjllOthQYtt3b+L9t3gqgu9dxR6f5VkP2gyxyyfswj3p8uJI5ZEfdwfFBZC748UekPBTi7/APynbW+CuvlZZxyyQ+6hdxUPL1mHLKAfywOxBQF344t/sKcXft4D9jPFVvKdknLAA+zFHYo7vZB9Sn/0DvQUxd8zQ/oj4lOLvIf1ugfiTcrIOcj7cfvKeTrIOSKR/McO0IKjbuoXCPQepxdvB4fsxPBUhc9Zbsky4fzYfe1R+SFnHJNu+8gn3UFdt2cHjBsePdVQXYQeNbtcPdVp8hpI5Jx22Ee5Q/Z7LHJOu6LD3oL9t1kHjWdP8FO26iDxjOm1Yw3t4Oad2wwffUjr2jc063nh/nQZpt0ULjGdNniqrbdhn129JnitcdezOabh87HD3iqZvZPzTUHnDx3INqFsM0ja3xU4tRv6otPN7KNmjwDzxB7ilN7SZzRIB+2/4EG5+Um8uwqbyi3l2OWkG9zNjI6EdUUjtAUpuCnhkweaMzxQb15RbpOx3gnlFvC7VoRuQnxmPNHh/GhuXtEerE5ozD76DfvKLeEFEWg3hDaFz/yFaQ9SPzPB7HKU2baQ/dzGxxQdEFoDhjaFMLR+v1rm5gWiP3cz928+6pDFtAZWR+eC74EHTm2q7NEPM4qq22YmaK/pu8Vyk2lOjK2JzwfyKXy9NDLXnhN8EHW22/GGSPE6b/FVW3SzA+kROm/xXHvlPMDKW87GqPyuj6WdH8UHYxdVMj6Q/pEqcXYTPHu9k9y42LsY/wBTY74lUbdrG4LP9we8g7GLtZrjjsZ4KcXdTXG+xD+FcdbdxF4DelE8VOLu4nFDpu8EHYhd7NcMdBngoi+DM8JvQauPi7x2eEen+VTfL054buZzT2tQdhF8SZ+p0PxVeXvkxgRhw2PbnADmHmNT2LjIu9HAfth+CmF3jeDE2Q0HpGxbq4EzQMdgxOJfQO+zmdzLMryw275uWkQfZZi2OW8XIX9msc2DOF7oJxbuWViQ+U0JLxzV7FB29FRk5xkWGyLCe18OI0PZEaQ5rmnIQQqyC0teLgy0d4ytgxnDWGEryXIy7TDaS0EmpqQDnXrK2m1lZgaYEYbYbl5QkT80z+EIKglGcBuwKO9mcBuwKJijSNoUN3bwhtCob2bwW7Ao73bwRsCiIo0jaFEPGlBLvdvBGwKG9m8EbAqlUqgomTZwBsClNns4IVeqjVBbGzYfB7VL5Kh6Osq7qpIrqNJ0AoKll3MiM40GCxpoXmpx6AK41nH3AwS3E9wdpxEbMXaslYcINgQwOCDznGVnZSWD646UC1hzTyWmdOX2jcxuTsF9aGuC8ElrhyVz8isjYo4R6l0S6CWDoESuVgMRp0FoJ6xUc60xZl7Ut2hjfIo4XUFDyN9bqWTqoB4yVyI2xvkp2Z/aphIRONO13isjVSxH0BOgILFsrFrgiM8nQHO68eJXPk2OMYjvrow3eKvJBlGA+s7zidf4Kq+PRBiC6ZGIR31GYvfXrUROzfHO2g9yy0w3CZhZ24+bOFZOdQV0IKQtObFBu5qc2In+lXAn50Cu7HVRvgqlns83DPpOx6m5gshLwHPLgxtcFpc7IKNGfGh56w/l6cHr15mqb5VTgz9X4q8nIGIupRzcvKBlryhWaCIuxnBo6LviUwu2mxlA2PHvKSihRBXF3czwB7Xipxd/McWNrvBWtEogvBfDj8V7R+FTi+LFzwj0/wAqsMFQwEGTF8Z+eE7pfgo/tEGeA7a09yxWANCbmNAQZX5fQjllieaGU+W0scsp/twSsTuQ0BQ3EaAgy/ytkjlkx91BT5SWccsoPumDsWHMBugbApTKt4I2IMubdsz/ANTY0DvVJ9r2Wfoj+Yke8sWZJnBCgZFnBCC/M/ZZ+jRhqefjUhmLLP7mYGpwPvKwNnM4PapTZjNHWUF8X2XwZoc8PvRsOzD6003WIR7ArA2W3l2qHkxukoOzXgboMITMiC7c4bIceG1xwsB5cWRQ08Enc3UzFztK7CvPF4l+52u6GMkSWjN2Fr/cXodQSRYeE1zTkcC06iKLx9HkhDe+G5uNj3NOsEjuXsRecr51y7pa0Yzi0iDMPdHhPp5pwzhPYDpDicWimlBowa0eqNgU2ENHUrkyw0qG9+VUW+LQNigWN4I2BXO9uVQ3sgttxboCbg39E+KuDAUu4oKQh6HO6RUcF2aI7noVU3uVHexQSB8Thg62+Cm3d9CHNBBFKtNDsKjvcpuJQbZcvaGFBax2J7Kt1gZx+s62Bkei5vBiPYatJGQ66LLtumeG0wDhaSQfdWsue3FOdM5dHaTYcB9TjiAw2jOa4iacgJ6tK0vygzSei7wUZiYfEcXvcXO0nMNAGQDUqWNZl60r1hUE+zhbQR3IJqGMeG2p5VTxqFOQI2ricYfXbtCjEcHNIBBqDkIKtjDBytGwKQy7eAObEgy1nRcKE2mUYiOUYqK5EJuU01FYmWmMDIOfPqOkdfLmWUhzzcGpc0clXk7MFUJg0hv5QQNZxDrKx0XG1wGgqSemDExE0YDiaO0lWW825QXA6QVBmrNiYUJvIME6wsjZ806E/DbnBBGSqwEhGEOuPKa1zHWM2sbNGXgzILcLIOUtHeqTGdSmmX+a9xy4LidZCxoUlozhfVjCGtB9LKSfBY8w4nHKDJ1SqxeDF439bEIjcYP1zIMpVQqsXWNwh1eCjukbk9lBtcOCzcAXACMWYwAHOEpXHGDMQMWlaYwcAYWL0lmrSs5hixAYR8yZc2G10syUY4YMcsgsew/PBz2wxjoaYxlK5yY8bQPZUXTUwcpJpkBwTRBt8vAbFZhxYbYQLywxmw9zayGGYTo2A2gOA5rAQBV27YPpFpFq5oZGifNNDGBrfPLnsY0lrWxnYP8AiVBrixEvBApQLXIlpTLvTc9+IN88l/mg1DcZyVzKVtpTDThAuBwcHFUUbwcWbkQbnMWfBaMEAF8Z0bcm/OVoIbXMwXYXmA4QcMIOPnAOwaVNlOy7AIzGtAMvudIgLyYoLg0lwJIqcIOFAKAEY8q11tvTIDxhPpEqX+kcIkUJJ0kYjpzqD7ejlghuqWilAQcwwRXTQYhXIMiDIKFVhYk9FOkahRSifiDOecIM5VQWG8qP5NgURa7tAQZhQWLFrngjrUwtf6vWgySLHi1hwTtCmFqt0HqQb5efP/m4HLCmB/svK9GLzZeZmMO25cjIIcxl/wBB69JqAra0LNhR2GFHhMiwzjLHtDm100OQ8quUQanEvW2cTXeoHIHxQP6lRi3o7OP7hzdUWJ3lbkiDRH3mZA5BGGqIO9pVCJeRkjkizA+1BP8AbXQkQc0iXi5Y5JmONYgn3Qrd14eFmnHjXDYexwXU0QcodeGbmnjzwf8AsVI3hzmnh9wf+RdcRBx914h+adZ904e+qTrxUbNNwjrY8eK7KiDirrxkzmmYB17qPdKovvHzmaNLn7UUf213BEHCIl5afGQwHaoju9oVu+8/aA/dQzqiw+8hd/RB56fentIfRQdUWX+NWsW9raLcsk86jCd2OK9Hog8wTFxs+0//AJsy7lbCLh1Kyi2FON9KzZsa5eN8K9WURB5QFizRFfJ81TTveMfdVN9mxx6UlMjXAij3V6zUCaYzk0oPIz2OHpQIo1w3DtVF0w0ZWkawB3r1HbF2krLNLokYGnqs84k6NHWuTXb34BHD4TJbAbAex7DEdhPiPLTTzW5G4Lia10Kjme+ofL+udQ3xD09RV46+HHLYjHw4L2RfSaWxAaUpghzHtNPFULHupZCiVdKQzDJJdDbhOx0pVu6lxGqqgkEZnC6neCiYjOEBrqFvFi3eS4e5rrNk4kqG4Yix4ENsWpIrDLqEE1JoBXEFi7sAyfiCJIwpOBAaBgy8KFDgxC6mMviBnnGuY0A0VqTRrQiQ+MbtCmAbme3pNVpMWRGhj5yAWjNEDQ5nSbUdajKSJdlApqb4ILzcRmPYm9+VdFvZXsGTMTfE1LgyjWuwQ4Fm7RDiGDg0OCMZrpoNK6R+ySy80kBqizI7IiDzjvdR3uvRb70Nmn6M4ao0x3vVF15uzuKiDVGid5QeedwKhuBXoF95WQOTdhqiDvaVRfePkjkizA+3CP8AbQcE3EpuRXdIl4mV9WZjjXuR90K3feGherORBrhsPY4IOJ7kVDciuzPvCD1Z888D/sVu+8NE9WeYcuWE4e+UHIdyKlME6OxdZfeJmM03BOtsRvcVRdeLm80eXOt0Yf20HKjL/VGwKUyw4I2BdQfeQnhkfLnVEid8NUH3mLQHqwTqi+ICDmu9RwBsUN6N4I610U3oLR4lh1RYPe5SvvRWiP3DTqiwviQUryEn/wCXaQMTIEdx6Ib7y9FLn16+9y+QMSZmC3fEVm5iG04Qhw8IONXZ3EgZMlOVdBUBERAREQEREBERAREQEREBERAREQERU48drGl73BrWipccQAQVFYT9uQoPpvGFwBjd+HOtLujvgVqyC7Ahivn5Hu5fqjrXL7cu/AqIZw3aa4q60HWrXvkNYDubQ0D13mp10yBcvuovtvfVrHl501pDGoZ1z207cixjV7yRwRiaOZY0qi8tK2osd2FEeTyZhqCtXTDiKFxIGQE1opKJRQQwv1iUFFKIIFx0q4lZ1zDUEg6QqFEog2uzbp3DE40OkYqrMwLThuIc5jHGoNS1uPWRl51z1j6K8gTbm42mnIcbTrHeg71Y99p7A1kWEx7QABg/NkADEBTFTmW12bfLlYtA4uhH6wwm7W17F5ulLbGRxwHaD6J1FZRlrgYy4AaahB6jlJxkVuHCe17eE0hwroxZ1WXL7yuHEEzHqdxO5Q2A1o9+NxfzAgfa0UXUEBERAREQEREBERAREQEREBERAREQEREBERAREQEREBERAREQEREBcxv03QRZZkBoa7cXiI4ub6JiNIoHHNQGo18i6ctXvjXPiakIgA+dg1jQyMTvNHnNB5W1xcgQeYbSt6JGJwnebwRk/FY0rPzcnjINDraK7RRUxLDOxnRVGBITBWf3mzi27XDsUN5M4sdKJ4oMQ4txANAxUJzk5K8mLGoww3CqQ2hqaZhipg9vUsrvCHxexx7yoGz4fAd0wgxBaMWJtCQcpxaRlxBUomXEKDRjPas0bNh8F/Sb4KQ2Yz6+1vwoMLRFl32Y3S7nA8FbukBpOxBYUUWmiyMKQbnwjsCqmz28Ha4oMeG4WKlTmpjKytkWHVwL9PoZvtadW3Qq8rLAZBTkGLbnK2+5CwHTEZrWt+bYQ6I/1Ws0azkAUHbLg7K3vZ8BlKOe3dXaavxivNg7FsCpwSC1pbkoKDQNCnogiiIgIiICIiAiIgIiICIiAiIgIiICIiAiIgIiICIiAiIgIiICIiAoEKKIPPl8K4iNLTER7ILnSrnF0OKxpe1rTjwXU9EjJjy0Wkhy9cqzm7GgRf8AFl4UT+OHDf2hB5VCivS0e4Gz35ZCX+zCYz+mitH3rrNP0No1PjN7HoPOaL0HFvQ2acku5v8ADHmO95Vs+8tZ5yCMNUZ3eCqOClQXdnXkZHhzA1RIfexSG8dJcdM9OD/xIOGUxK2K71+wyS4+Z6cD/iUBeJkc8WZP8yCP7SDgzMqnOVd/l7ydnNytjP8A4ozh/SAthsm4eSliHQJSG14yRCDEiDU95JHMVBxm5G9pMTODEitMCXxHDeKRHj6jDj5zQa12Cy7nWQIbYMFmCxvO5xzucc5WxYPIooKEpDLW4JzZFXREBERAREQEREBERAREQEREBERAREQEREBERAREQEREBERAREQEREBERAREQEREBERAREQEREBERAREQEREBERAREQEREBERAREQEREBER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标题 2">
            <a:extLst>
              <a:ext uri="{FF2B5EF4-FFF2-40B4-BE49-F238E27FC236}">
                <a16:creationId xmlns:a16="http://schemas.microsoft.com/office/drawing/2014/main" id="{AD80F0E5-379E-428B-9EB7-17E5A07E3CC0}"/>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7" name="灯片编号占位符 6">
            <a:extLst>
              <a:ext uri="{FF2B5EF4-FFF2-40B4-BE49-F238E27FC236}">
                <a16:creationId xmlns:a16="http://schemas.microsoft.com/office/drawing/2014/main" id="{3AB7AEE6-E0E1-4076-9992-C333C20D315F}"/>
              </a:ext>
            </a:extLst>
          </p:cNvPr>
          <p:cNvSpPr>
            <a:spLocks noGrp="1"/>
          </p:cNvSpPr>
          <p:nvPr>
            <p:ph type="sldNum" sz="quarter" idx="12"/>
          </p:nvPr>
        </p:nvSpPr>
        <p:spPr/>
        <p:txBody>
          <a:bodyPr/>
          <a:lstStyle/>
          <a:p>
            <a:fld id="{F64BA984-46A0-4F46-990E-EC790E6934B4}" type="slidenum">
              <a:rPr lang="zh-CN" altLang="en-US" smtClean="0"/>
              <a:t>24</a:t>
            </a:fld>
            <a:endParaRPr lang="zh-CN" altLang="en-US"/>
          </a:p>
        </p:txBody>
      </p:sp>
      <p:sp>
        <p:nvSpPr>
          <p:cNvPr id="11" name="文本框 10">
            <a:extLst>
              <a:ext uri="{FF2B5EF4-FFF2-40B4-BE49-F238E27FC236}">
                <a16:creationId xmlns:a16="http://schemas.microsoft.com/office/drawing/2014/main" id="{79837799-0504-1DBB-65E9-46FE3C3418F4}"/>
              </a:ext>
            </a:extLst>
          </p:cNvPr>
          <p:cNvSpPr txBox="1"/>
          <p:nvPr/>
        </p:nvSpPr>
        <p:spPr>
          <a:xfrm>
            <a:off x="493574" y="2162006"/>
            <a:ext cx="8470914" cy="2862322"/>
          </a:xfrm>
          <a:prstGeom prst="rect">
            <a:avLst/>
          </a:prstGeom>
          <a:noFill/>
        </p:spPr>
        <p:txBody>
          <a:bodyPr wrap="square" rtlCol="0">
            <a:spAutoFit/>
          </a:bodyPr>
          <a:lstStyle/>
          <a:p>
            <a:r>
              <a:rPr lang="en" altLang="zh-CN" sz="1800" b="1" dirty="0">
                <a:effectLst/>
                <a:latin typeface="宋体" panose="02010600030101010101" pitchFamily="2" charset="-122"/>
                <a:ea typeface="宋体" panose="02010600030101010101" pitchFamily="2" charset="-122"/>
              </a:rPr>
              <a:t>Young-Helmholtz </a:t>
            </a:r>
            <a:r>
              <a:rPr lang="zh-CN" altLang="en-US" sz="1800" b="1" dirty="0">
                <a:effectLst/>
                <a:latin typeface="宋体" panose="02010600030101010101" pitchFamily="2" charset="-122"/>
                <a:ea typeface="宋体" panose="02010600030101010101" pitchFamily="2" charset="-122"/>
              </a:rPr>
              <a:t>三色学说</a:t>
            </a:r>
            <a:endParaRPr lang="en-US" altLang="zh-CN" sz="1800" b="1" dirty="0">
              <a:effectLst/>
              <a:latin typeface="宋体" panose="02010600030101010101" pitchFamily="2" charset="-122"/>
              <a:ea typeface="宋体" panose="02010600030101010101" pitchFamily="2" charset="-122"/>
            </a:endParaRPr>
          </a:p>
          <a:p>
            <a:endParaRPr lang="en-US" altLang="zh-CN" sz="1800" b="1" dirty="0">
              <a:effectLst/>
              <a:latin typeface="宋体" panose="02010600030101010101" pitchFamily="2" charset="-122"/>
              <a:ea typeface="宋体" panose="02010600030101010101" pitchFamily="2" charset="-122"/>
            </a:endParaRPr>
          </a:p>
          <a:p>
            <a:r>
              <a:rPr lang="zh-CN" altLang="en-US" sz="1800" dirty="0">
                <a:effectLst/>
                <a:latin typeface="宋体" panose="02010600030101010101" pitchFamily="2" charset="-122"/>
                <a:ea typeface="宋体" panose="02010600030101010101" pitchFamily="2" charset="-122"/>
              </a:rPr>
              <a:t> </a:t>
            </a:r>
            <a:r>
              <a:rPr kumimoji="1" lang="zh-CN" altLang="en-US" dirty="0"/>
              <a:t>历史上，为了解释色觉的成因提出过关于颜色的三色学说。 先是 </a:t>
            </a:r>
            <a:r>
              <a:rPr kumimoji="1" lang="en" altLang="zh-CN" dirty="0"/>
              <a:t>Young </a:t>
            </a:r>
            <a:r>
              <a:rPr kumimoji="1" lang="zh-CN" altLang="en-US" dirty="0"/>
              <a:t>根据红、绿、蓝三原色可以产生各种色调和灰度的混色规律，提出了一个三色 假说。该假说假设视网膜上有三种神经纤维，每一种纤维的兴奋引起一种原色的感觉。之 后，</a:t>
            </a:r>
            <a:r>
              <a:rPr kumimoji="1" lang="en" altLang="zh-CN" dirty="0"/>
              <a:t>Helmholtz </a:t>
            </a:r>
            <a:r>
              <a:rPr kumimoji="1" lang="zh-CN" altLang="en-US" dirty="0"/>
              <a:t>进一步对三色假说作了补充。提出光谱的不同成分引起三种纤维不同比例 的兴奋，它们有不同的兴奋曲线的假说。该假说能够很好地解释颜色混合现象，并且以后 为对人的视觉器官的研究所证实。研究发现，在人的视网膜上存在两种分别称为柱状细胞 和锥状细胞的感光细胞。柱状细胞灵敏度高，能够感受很微弱的光</a:t>
            </a:r>
            <a:r>
              <a:rPr kumimoji="1" lang="en-US" altLang="zh-CN" dirty="0"/>
              <a:t>;</a:t>
            </a:r>
            <a:r>
              <a:rPr kumimoji="1" lang="zh-CN" altLang="en-US" dirty="0"/>
              <a:t>锥状细胞虽然灵敏度 低，但能够很好地区分颜色。</a:t>
            </a:r>
          </a:p>
        </p:txBody>
      </p:sp>
    </p:spTree>
    <p:extLst>
      <p:ext uri="{BB962C8B-B14F-4D97-AF65-F5344CB8AC3E}">
        <p14:creationId xmlns:p14="http://schemas.microsoft.com/office/powerpoint/2010/main" val="2039375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467544" y="1116013"/>
            <a:ext cx="7772400" cy="685800"/>
          </a:xfrm>
        </p:spPr>
        <p:txBody>
          <a:bodyPr/>
          <a:lstStyle/>
          <a:p>
            <a:pPr>
              <a:buFont typeface="Wingdings" pitchFamily="2" charset="2"/>
              <a:buNone/>
            </a:pPr>
            <a:r>
              <a:rPr lang="zh-CN" altLang="en-US" dirty="0">
                <a:solidFill>
                  <a:schemeClr val="tx1"/>
                </a:solidFill>
                <a:latin typeface="楷体_GB2312" pitchFamily="49" charset="-122"/>
              </a:rPr>
              <a:t>例子： 色觉的三变量性及其定量化</a:t>
            </a:r>
          </a:p>
        </p:txBody>
      </p:sp>
      <p:sp>
        <p:nvSpPr>
          <p:cNvPr id="2" name="AutoShape 2" descr="data:image/jpeg;base64,/9j/4AAQSkZJRgABAQAAAQABAAD/2wCEAAkGBhQSDxAPEBAVEg8QDw4PEQ0SFBAQDxAPFBAVFBUQFBQYGyYeFxkkGRQUHy8gIycpLiwsFR4xNTIsNSYsLCkBCQoKDQwOFQ4MFCkcHiEpKSkuNCkpKSorKTIpKSkpKTEpKSkpKSkpNiwpKSkpKSkpKSwpKSkpKSkpKSkpKSkpKf/AABEIAIQBfgMBIgACEQEDEQH/xAAcAAEAAAcBAAAAAAAAAAAAAAAAAQIDBAUGBwj/xABOEAABAgMBCQsHCQYGAwEAAAABAAIDBBEFBgcSITFBUXGRExRSU2GBkqGxwdEVIjJCosLSFiNEYoKT4eLwF0Nyg7LDM2Nzo9PjJVSUNf/EABgBAQEBAQEAAAAAAAAAAAAAAAABAgQD/8QAGxEBAAICAwAAAAAAAAAAAAAAAAECESEDEjH/2gAMAwEAAhEDEQA/AO4oiICIlUBFYTNuy8P05iG0jMXtwtlarGTF3so3JEc86GMf2kAINiRaZMXzIY/w4D3crnNZ2YSx8a+VFPoQYbdZe/vCDoaLmbr4Myc7ByBniVMy+FMf5Z+ye4oOlIudNvix87IZ+y/4lVbfHi54UP2x3oOgItCF8d+eCza5VG3xzngDpnwQbyi0pt8gZ5f2/wAqqC+OziD0x4INxRagL4sPPBd0mlVG3w4OeG/2PFBtaLWBfBgcCJsZ8SnF30voidFvxINkRa6Lu5bS/o/iqjbtpXhuH2HIM8iwouxleN9iJ4KcXWyvHjov8EGXRYoXUy3Ht9odyqNuilj9Ih9IBBkUVi23IB+kQ+mzxU4taDx8P7xnigu0VuLRhHJFZ02eKnE2w5Ht6TUFVFKIgOQjaFGqCKIiAiIgIiICIiAiIgIiICIiAiIgLVLs74cGz/MwHzE0W4bZWCKuDTiD4jqEMaaHSTTECtqJXlmbvixd9TUYQ2uMeYiRS51ScGtGN1NYGtGpBnrbv02rFJ3KEJVmZrILnvpyveD1ALV5u7qeiGsZ7on+pupGzCoFdi+bEzwGdIjuU4vmuzy7en+VUYkXYRhlY32x3qdt28QZYbek8LLC+a3PKjpDwUwvkwjllOthQYtt3b+L9t3gqgu9dxR6f5VkP2gyxyyfswj3p8uJI5ZEfdwfFBZC748UekPBTi7/APynbW+CuvlZZxyyQ+6hdxUPL1mHLKAfywOxBQF344t/sKcXft4D9jPFVvKdknLAA+zFHYo7vZB9Sn/0DvQUxd8zQ/oj4lOLvIf1ugfiTcrIOcj7cfvKeTrIOSKR/McO0IKjbuoXCPQepxdvB4fsxPBUhc9Zbsky4fzYfe1R+SFnHJNu+8gn3UFdt2cHjBsePdVQXYQeNbtcPdVp8hpI5Jx22Ee5Q/Z7LHJOu6LD3oL9t1kHjWdP8FO26iDxjOm1Yw3t4Oad2wwffUjr2jc063nh/nQZpt0ULjGdNniqrbdhn129JnitcdezOabh87HD3iqZvZPzTUHnDx3INqFsM0ja3xU4tRv6otPN7KNmjwDzxB7ilN7SZzRIB+2/4EG5+Um8uwqbyi3l2OWkG9zNjI6EdUUjtAUpuCnhkweaMzxQb15RbpOx3gnlFvC7VoRuQnxmPNHh/GhuXtEerE5ozD76DfvKLeEFEWg3hDaFz/yFaQ9SPzPB7HKU2baQ/dzGxxQdEFoDhjaFMLR+v1rm5gWiP3cz928+6pDFtAZWR+eC74EHTm2q7NEPM4qq22YmaK/pu8Vyk2lOjK2JzwfyKXy9NDLXnhN8EHW22/GGSPE6b/FVW3SzA+kROm/xXHvlPMDKW87GqPyuj6WdH8UHYxdVMj6Q/pEqcXYTPHu9k9y42LsY/wBTY74lUbdrG4LP9we8g7GLtZrjjsZ4KcXdTXG+xD+FcdbdxF4DelE8VOLu4nFDpu8EHYhd7NcMdBngoi+DM8JvQauPi7x2eEen+VTfL054buZzT2tQdhF8SZ+p0PxVeXvkxgRhw2PbnADmHmNT2LjIu9HAfth+CmF3jeDE2Q0HpGxbq4EzQMdgxOJfQO+zmdzLMryw275uWkQfZZi2OW8XIX9msc2DOF7oJxbuWViQ+U0JLxzV7FB29FRk5xkWGyLCe18OI0PZEaQ5rmnIQQqyC0teLgy0d4ytgxnDWGEryXIy7TDaS0EmpqQDnXrK2m1lZgaYEYbYbl5QkT80z+EIKglGcBuwKO9mcBuwKJijSNoUN3bwhtCob2bwW7Ao73bwRsCiIo0jaFEPGlBLvdvBGwKG9m8EbAqlUqgomTZwBsClNns4IVeqjVBbGzYfB7VL5Kh6Osq7qpIrqNJ0AoKll3MiM40GCxpoXmpx6AK41nH3AwS3E9wdpxEbMXaslYcINgQwOCDznGVnZSWD646UC1hzTyWmdOX2jcxuTsF9aGuC8ElrhyVz8isjYo4R6l0S6CWDoESuVgMRp0FoJ6xUc60xZl7Ut2hjfIo4XUFDyN9bqWTqoB4yVyI2xvkp2Z/aphIRONO13isjVSxH0BOgILFsrFrgiM8nQHO68eJXPk2OMYjvrow3eKvJBlGA+s7zidf4Kq+PRBiC6ZGIR31GYvfXrUROzfHO2g9yy0w3CZhZ24+bOFZOdQV0IKQtObFBu5qc2In+lXAn50Cu7HVRvgqlns83DPpOx6m5gshLwHPLgxtcFpc7IKNGfGh56w/l6cHr15mqb5VTgz9X4q8nIGIupRzcvKBlryhWaCIuxnBo6LviUwu2mxlA2PHvKSihRBXF3czwB7Xipxd/McWNrvBWtEogvBfDj8V7R+FTi+LFzwj0/wAqsMFQwEGTF8Z+eE7pfgo/tEGeA7a09yxWANCbmNAQZX5fQjllieaGU+W0scsp/twSsTuQ0BQ3EaAgy/ytkjlkx91BT5SWccsoPumDsWHMBugbApTKt4I2IMubdsz/ANTY0DvVJ9r2Wfoj+Yke8sWZJnBCgZFnBCC/M/ZZ+jRhqefjUhmLLP7mYGpwPvKwNnM4PapTZjNHWUF8X2XwZoc8PvRsOzD6003WIR7ArA2W3l2qHkxukoOzXgboMITMiC7c4bIceG1xwsB5cWRQ08Enc3UzFztK7CvPF4l+52u6GMkSWjN2Fr/cXodQSRYeE1zTkcC06iKLx9HkhDe+G5uNj3NOsEjuXsRecr51y7pa0Yzi0iDMPdHhPp5pwzhPYDpDicWimlBowa0eqNgU2ENHUrkyw0qG9+VUW+LQNigWN4I2BXO9uVQ3sgttxboCbg39E+KuDAUu4oKQh6HO6RUcF2aI7noVU3uVHexQSB8Thg62+Cm3d9CHNBBFKtNDsKjvcpuJQbZcvaGFBax2J7Kt1gZx+s62Bkei5vBiPYatJGQ66LLtumeG0wDhaSQfdWsue3FOdM5dHaTYcB9TjiAw2jOa4iacgJ6tK0vygzSei7wUZiYfEcXvcXO0nMNAGQDUqWNZl60r1hUE+zhbQR3IJqGMeG2p5VTxqFOQI2ricYfXbtCjEcHNIBBqDkIKtjDBytGwKQy7eAObEgy1nRcKE2mUYiOUYqK5EJuU01FYmWmMDIOfPqOkdfLmWUhzzcGpc0clXk7MFUJg0hv5QQNZxDrKx0XG1wGgqSemDExE0YDiaO0lWW825QXA6QVBmrNiYUJvIME6wsjZ806E/DbnBBGSqwEhGEOuPKa1zHWM2sbNGXgzILcLIOUtHeqTGdSmmX+a9xy4LidZCxoUlozhfVjCGtB9LKSfBY8w4nHKDJ1SqxeDF439bEIjcYP1zIMpVQqsXWNwh1eCjukbk9lBtcOCzcAXACMWYwAHOEpXHGDMQMWlaYwcAYWL0lmrSs5hixAYR8yZc2G10syUY4YMcsgsew/PBz2wxjoaYxlK5yY8bQPZUXTUwcpJpkBwTRBt8vAbFZhxYbYQLywxmw9zayGGYTo2A2gOA5rAQBV27YPpFpFq5oZGifNNDGBrfPLnsY0lrWxnYP8AiVBrixEvBApQLXIlpTLvTc9+IN88l/mg1DcZyVzKVtpTDThAuBwcHFUUbwcWbkQbnMWfBaMEAF8Z0bcm/OVoIbXMwXYXmA4QcMIOPnAOwaVNlOy7AIzGtAMvudIgLyYoLg0lwJIqcIOFAKAEY8q11tvTIDxhPpEqX+kcIkUJJ0kYjpzqD7ejlghuqWilAQcwwRXTQYhXIMiDIKFVhYk9FOkahRSifiDOecIM5VQWG8qP5NgURa7tAQZhQWLFrngjrUwtf6vWgySLHi1hwTtCmFqt0HqQb5efP/m4HLCmB/svK9GLzZeZmMO25cjIIcxl/wBB69JqAra0LNhR2GFHhMiwzjLHtDm100OQ8quUQanEvW2cTXeoHIHxQP6lRi3o7OP7hzdUWJ3lbkiDRH3mZA5BGGqIO9pVCJeRkjkizA+1BP8AbXQkQc0iXi5Y5JmONYgn3Qrd14eFmnHjXDYexwXU0QcodeGbmnjzwf8AsVI3hzmnh9wf+RdcRBx914h+adZ904e+qTrxUbNNwjrY8eK7KiDirrxkzmmYB17qPdKovvHzmaNLn7UUf213BEHCIl5afGQwHaoju9oVu+8/aA/dQzqiw+8hd/RB56fentIfRQdUWX+NWsW9raLcsk86jCd2OK9Hog8wTFxs+0//AJsy7lbCLh1Kyi2FON9KzZsa5eN8K9WURB5QFizRFfJ81TTveMfdVN9mxx6UlMjXAij3V6zUCaYzk0oPIz2OHpQIo1w3DtVF0w0ZWkawB3r1HbF2krLNLokYGnqs84k6NHWuTXb34BHD4TJbAbAex7DEdhPiPLTTzW5G4Lia10Kjme+ofL+udQ3xD09RV46+HHLYjHw4L2RfSaWxAaUpghzHtNPFULHupZCiVdKQzDJJdDbhOx0pVu6lxGqqgkEZnC6neCiYjOEBrqFvFi3eS4e5rrNk4kqG4Yix4ENsWpIrDLqEE1JoBXEFi7sAyfiCJIwpOBAaBgy8KFDgxC6mMviBnnGuY0A0VqTRrQiQ+MbtCmAbme3pNVpMWRGhj5yAWjNEDQ5nSbUdajKSJdlApqb4ILzcRmPYm9+VdFvZXsGTMTfE1LgyjWuwQ4Fm7RDiGDg0OCMZrpoNK6R+ySy80kBqizI7IiDzjvdR3uvRb70Nmn6M4ao0x3vVF15uzuKiDVGid5QeedwKhuBXoF95WQOTdhqiDvaVRfePkjkizA+3CP8AbQcE3EpuRXdIl4mV9WZjjXuR90K3feGherORBrhsPY4IOJ7kVDciuzPvCD1Z888D/sVu+8NE9WeYcuWE4e+UHIdyKlME6OxdZfeJmM03BOtsRvcVRdeLm80eXOt0Yf20HKjL/VGwKUyw4I2BdQfeQnhkfLnVEid8NUH3mLQHqwTqi+ICDmu9RwBsUN6N4I610U3oLR4lh1RYPe5SvvRWiP3DTqiwviQUryEn/wCXaQMTIEdx6Ib7y9FLn16+9y+QMSZmC3fEVm5iG04Qhw8IONXZ3EgZMlOVdBUBERAREQEREBERAREQEREBERAREQERU48drGl73BrWipccQAQVFYT9uQoPpvGFwBjd+HOtLujvgVqyC7Ahivn5Hu5fqjrXL7cu/AqIZw3aa4q60HWrXvkNYDubQ0D13mp10yBcvuovtvfVrHl501pDGoZ1z207cixjV7yRwRiaOZY0qi8tK2osd2FEeTyZhqCtXTDiKFxIGQE1opKJRQQwv1iUFFKIIFx0q4lZ1zDUEg6QqFEog2uzbp3DE40OkYqrMwLThuIc5jHGoNS1uPWRl51z1j6K8gTbm42mnIcbTrHeg71Y99p7A1kWEx7QABg/NkADEBTFTmW12bfLlYtA4uhH6wwm7W17F5ulLbGRxwHaD6J1FZRlrgYy4AaahB6jlJxkVuHCe17eE0hwroxZ1WXL7yuHEEzHqdxO5Q2A1o9+NxfzAgfa0UXUEBERAREQEREBERAREQEREBERAREQEREBERAREQEREBERAREQEREBcxv03QRZZkBoa7cXiI4ub6JiNIoHHNQGo18i6ctXvjXPiakIgA+dg1jQyMTvNHnNB5W1xcgQeYbSt6JGJwnebwRk/FY0rPzcnjINDraK7RRUxLDOxnRVGBITBWf3mzi27XDsUN5M4sdKJ4oMQ4txANAxUJzk5K8mLGoww3CqQ2hqaZhipg9vUsrvCHxexx7yoGz4fAd0wgxBaMWJtCQcpxaRlxBUomXEKDRjPas0bNh8F/Sb4KQ2Yz6+1vwoMLRFl32Y3S7nA8FbukBpOxBYUUWmiyMKQbnwjsCqmz28Ha4oMeG4WKlTmpjKytkWHVwL9PoZvtadW3Qq8rLAZBTkGLbnK2+5CwHTEZrWt+bYQ6I/1Ws0azkAUHbLg7K3vZ8BlKOe3dXaavxivNg7FsCpwSC1pbkoKDQNCnogiiIgIiICIiAiIgIiICIiAiIgIiICIiAiIgIiICIiAiIgIiICIiAoEKKIPPl8K4iNLTER7ILnSrnF0OKxpe1rTjwXU9EjJjy0Wkhy9cqzm7GgRf8AFl4UT+OHDf2hB5VCivS0e4Gz35ZCX+zCYz+mitH3rrNP0No1PjN7HoPOaL0HFvQ2acku5v8ADHmO95Vs+8tZ5yCMNUZ3eCqOClQXdnXkZHhzA1RIfexSG8dJcdM9OD/xIOGUxK2K71+wyS4+Z6cD/iUBeJkc8WZP8yCP7SDgzMqnOVd/l7ydnNytjP8A4ozh/SAthsm4eSliHQJSG14yRCDEiDU95JHMVBxm5G9pMTODEitMCXxHDeKRHj6jDj5zQa12Cy7nWQIbYMFmCxvO5xzucc5WxYPIooKEpDLW4JzZFXREBERAREQEREBERAREQEREBERAREQEREBERAREQEREBERAREQEREBERAREQEREBERAREQEREBERAREQEREBERAREQEREBERAREQEREBER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标题 2">
            <a:extLst>
              <a:ext uri="{FF2B5EF4-FFF2-40B4-BE49-F238E27FC236}">
                <a16:creationId xmlns:a16="http://schemas.microsoft.com/office/drawing/2014/main" id="{AD80F0E5-379E-428B-9EB7-17E5A07E3CC0}"/>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7" name="灯片编号占位符 6">
            <a:extLst>
              <a:ext uri="{FF2B5EF4-FFF2-40B4-BE49-F238E27FC236}">
                <a16:creationId xmlns:a16="http://schemas.microsoft.com/office/drawing/2014/main" id="{3AB7AEE6-E0E1-4076-9992-C333C20D315F}"/>
              </a:ext>
            </a:extLst>
          </p:cNvPr>
          <p:cNvSpPr>
            <a:spLocks noGrp="1"/>
          </p:cNvSpPr>
          <p:nvPr>
            <p:ph type="sldNum" sz="quarter" idx="12"/>
          </p:nvPr>
        </p:nvSpPr>
        <p:spPr/>
        <p:txBody>
          <a:bodyPr/>
          <a:lstStyle/>
          <a:p>
            <a:fld id="{F64BA984-46A0-4F46-990E-EC790E6934B4}" type="slidenum">
              <a:rPr lang="zh-CN" altLang="en-US" smtClean="0"/>
              <a:t>25</a:t>
            </a:fld>
            <a:endParaRPr lang="zh-CN" altLang="en-US"/>
          </a:p>
        </p:txBody>
      </p:sp>
      <p:pic>
        <p:nvPicPr>
          <p:cNvPr id="3" name="图片 2">
            <a:extLst>
              <a:ext uri="{FF2B5EF4-FFF2-40B4-BE49-F238E27FC236}">
                <a16:creationId xmlns:a16="http://schemas.microsoft.com/office/drawing/2014/main" id="{D19CD1F4-8A6F-95CB-5F4F-A253AABFE8F4}"/>
              </a:ext>
            </a:extLst>
          </p:cNvPr>
          <p:cNvPicPr>
            <a:picLocks noChangeAspect="1"/>
          </p:cNvPicPr>
          <p:nvPr/>
        </p:nvPicPr>
        <p:blipFill>
          <a:blip r:embed="rId3"/>
          <a:stretch>
            <a:fillRect/>
          </a:stretch>
        </p:blipFill>
        <p:spPr>
          <a:xfrm>
            <a:off x="1287117" y="2256056"/>
            <a:ext cx="6126904" cy="2345887"/>
          </a:xfrm>
          <a:prstGeom prst="rect">
            <a:avLst/>
          </a:prstGeom>
        </p:spPr>
      </p:pic>
      <p:sp>
        <p:nvSpPr>
          <p:cNvPr id="4" name="文本框 3">
            <a:extLst>
              <a:ext uri="{FF2B5EF4-FFF2-40B4-BE49-F238E27FC236}">
                <a16:creationId xmlns:a16="http://schemas.microsoft.com/office/drawing/2014/main" id="{92AE109D-C964-3CD9-D409-28802DCE2CCD}"/>
              </a:ext>
            </a:extLst>
          </p:cNvPr>
          <p:cNvSpPr txBox="1"/>
          <p:nvPr/>
        </p:nvSpPr>
        <p:spPr>
          <a:xfrm>
            <a:off x="3334907" y="5229200"/>
            <a:ext cx="2031325" cy="369332"/>
          </a:xfrm>
          <a:prstGeom prst="rect">
            <a:avLst/>
          </a:prstGeom>
          <a:noFill/>
        </p:spPr>
        <p:txBody>
          <a:bodyPr wrap="none" rtlCol="0">
            <a:spAutoFit/>
          </a:bodyPr>
          <a:lstStyle/>
          <a:p>
            <a:r>
              <a:rPr kumimoji="1" lang="zh-CN" altLang="en-US" dirty="0"/>
              <a:t>颜色视觉机制模型</a:t>
            </a:r>
          </a:p>
        </p:txBody>
      </p:sp>
    </p:spTree>
    <p:extLst>
      <p:ext uri="{BB962C8B-B14F-4D97-AF65-F5344CB8AC3E}">
        <p14:creationId xmlns:p14="http://schemas.microsoft.com/office/powerpoint/2010/main" val="2681513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467544" y="1116013"/>
            <a:ext cx="7772400" cy="685800"/>
          </a:xfrm>
        </p:spPr>
        <p:txBody>
          <a:bodyPr/>
          <a:lstStyle/>
          <a:p>
            <a:pPr>
              <a:buFont typeface="Wingdings" pitchFamily="2" charset="2"/>
              <a:buNone/>
            </a:pPr>
            <a:r>
              <a:rPr lang="zh-CN" altLang="en-US" dirty="0">
                <a:solidFill>
                  <a:schemeClr val="tx1"/>
                </a:solidFill>
                <a:latin typeface="楷体_GB2312" pitchFamily="49" charset="-122"/>
              </a:rPr>
              <a:t>例子： 色觉的三变量性及其定量化</a:t>
            </a:r>
          </a:p>
        </p:txBody>
      </p:sp>
      <p:sp>
        <p:nvSpPr>
          <p:cNvPr id="2" name="AutoShape 2" descr="data:image/jpeg;base64,/9j/4AAQSkZJRgABAQAAAQABAAD/2wCEAAkGBhQSDxAPEBAVEg8QDw4PEQ0SFBAQDxAPFBAVFBUQFBQYGyYeFxkkGRQUHy8gIycpLiwsFR4xNTIsNSYsLCkBCQoKDQwOFQ4MFCkcHiEpKSkuNCkpKSorKTIpKSkpKTEpKSkpKSkpNiwpKSkpKSkpKSwpKSkpKSkpKSkpKSkpKf/AABEIAIQBfgMBIgACEQEDEQH/xAAcAAEAAAcBAAAAAAAAAAAAAAAAAQIDBAUGBwj/xABOEAABAgMBCQsHCQYGAwEAAAABAAIDBBEFBgcSITFBUXGRExRSU2GBkqGxwdEVIjJCosLSFiNEYoKT4eLwF0Nyg7LDM2Nzo9PjJVSUNf/EABgBAQEBAQEAAAAAAAAAAAAAAAABAgQD/8QAGxEBAAICAwAAAAAAAAAAAAAAAAECESEDEjH/2gAMAwEAAhEDEQA/AO4oiICIlUBFYTNuy8P05iG0jMXtwtlarGTF3so3JEc86GMf2kAINiRaZMXzIY/w4D3crnNZ2YSx8a+VFPoQYbdZe/vCDoaLmbr4Myc7ByBniVMy+FMf5Z+ye4oOlIudNvix87IZ+y/4lVbfHi54UP2x3oOgItCF8d+eCza5VG3xzngDpnwQbyi0pt8gZ5f2/wAqqC+OziD0x4INxRagL4sPPBd0mlVG3w4OeG/2PFBtaLWBfBgcCJsZ8SnF30voidFvxINkRa6Lu5bS/o/iqjbtpXhuH2HIM8iwouxleN9iJ4KcXWyvHjov8EGXRYoXUy3Ht9odyqNuilj9Ih9IBBkUVi23IB+kQ+mzxU4taDx8P7xnigu0VuLRhHJFZ02eKnE2w5Ht6TUFVFKIgOQjaFGqCKIiAiIgIiICIiAiIgIiICIiAiIgLVLs74cGz/MwHzE0W4bZWCKuDTiD4jqEMaaHSTTECtqJXlmbvixd9TUYQ2uMeYiRS51ScGtGN1NYGtGpBnrbv02rFJ3KEJVmZrILnvpyveD1ALV5u7qeiGsZ7on+pupGzCoFdi+bEzwGdIjuU4vmuzy7en+VUYkXYRhlY32x3qdt28QZYbek8LLC+a3PKjpDwUwvkwjllOthQYtt3b+L9t3gqgu9dxR6f5VkP2gyxyyfswj3p8uJI5ZEfdwfFBZC748UekPBTi7/APynbW+CuvlZZxyyQ+6hdxUPL1mHLKAfywOxBQF344t/sKcXft4D9jPFVvKdknLAA+zFHYo7vZB9Sn/0DvQUxd8zQ/oj4lOLvIf1ugfiTcrIOcj7cfvKeTrIOSKR/McO0IKjbuoXCPQepxdvB4fsxPBUhc9Zbsky4fzYfe1R+SFnHJNu+8gn3UFdt2cHjBsePdVQXYQeNbtcPdVp8hpI5Jx22Ee5Q/Z7LHJOu6LD3oL9t1kHjWdP8FO26iDxjOm1Yw3t4Oad2wwffUjr2jc063nh/nQZpt0ULjGdNniqrbdhn129JnitcdezOabh87HD3iqZvZPzTUHnDx3INqFsM0ja3xU4tRv6otPN7KNmjwDzxB7ilN7SZzRIB+2/4EG5+Um8uwqbyi3l2OWkG9zNjI6EdUUjtAUpuCnhkweaMzxQb15RbpOx3gnlFvC7VoRuQnxmPNHh/GhuXtEerE5ozD76DfvKLeEFEWg3hDaFz/yFaQ9SPzPB7HKU2baQ/dzGxxQdEFoDhjaFMLR+v1rm5gWiP3cz928+6pDFtAZWR+eC74EHTm2q7NEPM4qq22YmaK/pu8Vyk2lOjK2JzwfyKXy9NDLXnhN8EHW22/GGSPE6b/FVW3SzA+kROm/xXHvlPMDKW87GqPyuj6WdH8UHYxdVMj6Q/pEqcXYTPHu9k9y42LsY/wBTY74lUbdrG4LP9we8g7GLtZrjjsZ4KcXdTXG+xD+FcdbdxF4DelE8VOLu4nFDpu8EHYhd7NcMdBngoi+DM8JvQauPi7x2eEen+VTfL054buZzT2tQdhF8SZ+p0PxVeXvkxgRhw2PbnADmHmNT2LjIu9HAfth+CmF3jeDE2Q0HpGxbq4EzQMdgxOJfQO+zmdzLMryw275uWkQfZZi2OW8XIX9msc2DOF7oJxbuWViQ+U0JLxzV7FB29FRk5xkWGyLCe18OI0PZEaQ5rmnIQQqyC0teLgy0d4ytgxnDWGEryXIy7TDaS0EmpqQDnXrK2m1lZgaYEYbYbl5QkT80z+EIKglGcBuwKO9mcBuwKJijSNoUN3bwhtCob2bwW7Ao73bwRsCiIo0jaFEPGlBLvdvBGwKG9m8EbAqlUqgomTZwBsClNns4IVeqjVBbGzYfB7VL5Kh6Osq7qpIrqNJ0AoKll3MiM40GCxpoXmpx6AK41nH3AwS3E9wdpxEbMXaslYcINgQwOCDznGVnZSWD646UC1hzTyWmdOX2jcxuTsF9aGuC8ElrhyVz8isjYo4R6l0S6CWDoESuVgMRp0FoJ6xUc60xZl7Ut2hjfIo4XUFDyN9bqWTqoB4yVyI2xvkp2Z/aphIRONO13isjVSxH0BOgILFsrFrgiM8nQHO68eJXPk2OMYjvrow3eKvJBlGA+s7zidf4Kq+PRBiC6ZGIR31GYvfXrUROzfHO2g9yy0w3CZhZ24+bOFZOdQV0IKQtObFBu5qc2In+lXAn50Cu7HVRvgqlns83DPpOx6m5gshLwHPLgxtcFpc7IKNGfGh56w/l6cHr15mqb5VTgz9X4q8nIGIupRzcvKBlryhWaCIuxnBo6LviUwu2mxlA2PHvKSihRBXF3czwB7Xipxd/McWNrvBWtEogvBfDj8V7R+FTi+LFzwj0/wAqsMFQwEGTF8Z+eE7pfgo/tEGeA7a09yxWANCbmNAQZX5fQjllieaGU+W0scsp/twSsTuQ0BQ3EaAgy/ytkjlkx91BT5SWccsoPumDsWHMBugbApTKt4I2IMubdsz/ANTY0DvVJ9r2Wfoj+Yke8sWZJnBCgZFnBCC/M/ZZ+jRhqefjUhmLLP7mYGpwPvKwNnM4PapTZjNHWUF8X2XwZoc8PvRsOzD6003WIR7ArA2W3l2qHkxukoOzXgboMITMiC7c4bIceG1xwsB5cWRQ08Enc3UzFztK7CvPF4l+52u6GMkSWjN2Fr/cXodQSRYeE1zTkcC06iKLx9HkhDe+G5uNj3NOsEjuXsRecr51y7pa0Yzi0iDMPdHhPp5pwzhPYDpDicWimlBowa0eqNgU2ENHUrkyw0qG9+VUW+LQNigWN4I2BXO9uVQ3sgttxboCbg39E+KuDAUu4oKQh6HO6RUcF2aI7noVU3uVHexQSB8Thg62+Cm3d9CHNBBFKtNDsKjvcpuJQbZcvaGFBax2J7Kt1gZx+s62Bkei5vBiPYatJGQ66LLtumeG0wDhaSQfdWsue3FOdM5dHaTYcB9TjiAw2jOa4iacgJ6tK0vygzSei7wUZiYfEcXvcXO0nMNAGQDUqWNZl60r1hUE+zhbQR3IJqGMeG2p5VTxqFOQI2ricYfXbtCjEcHNIBBqDkIKtjDBytGwKQy7eAObEgy1nRcKE2mUYiOUYqK5EJuU01FYmWmMDIOfPqOkdfLmWUhzzcGpc0clXk7MFUJg0hv5QQNZxDrKx0XG1wGgqSemDExE0YDiaO0lWW825QXA6QVBmrNiYUJvIME6wsjZ806E/DbnBBGSqwEhGEOuPKa1zHWM2sbNGXgzILcLIOUtHeqTGdSmmX+a9xy4LidZCxoUlozhfVjCGtB9LKSfBY8w4nHKDJ1SqxeDF439bEIjcYP1zIMpVQqsXWNwh1eCjukbk9lBtcOCzcAXACMWYwAHOEpXHGDMQMWlaYwcAYWL0lmrSs5hixAYR8yZc2G10syUY4YMcsgsew/PBz2wxjoaYxlK5yY8bQPZUXTUwcpJpkBwTRBt8vAbFZhxYbYQLywxmw9zayGGYTo2A2gOA5rAQBV27YPpFpFq5oZGifNNDGBrfPLnsY0lrWxnYP8AiVBrixEvBApQLXIlpTLvTc9+IN88l/mg1DcZyVzKVtpTDThAuBwcHFUUbwcWbkQbnMWfBaMEAF8Z0bcm/OVoIbXMwXYXmA4QcMIOPnAOwaVNlOy7AIzGtAMvudIgLyYoLg0lwJIqcIOFAKAEY8q11tvTIDxhPpEqX+kcIkUJJ0kYjpzqD7ejlghuqWilAQcwwRXTQYhXIMiDIKFVhYk9FOkahRSifiDOecIM5VQWG8qP5NgURa7tAQZhQWLFrngjrUwtf6vWgySLHi1hwTtCmFqt0HqQb5efP/m4HLCmB/svK9GLzZeZmMO25cjIIcxl/wBB69JqAra0LNhR2GFHhMiwzjLHtDm100OQ8quUQanEvW2cTXeoHIHxQP6lRi3o7OP7hzdUWJ3lbkiDRH3mZA5BGGqIO9pVCJeRkjkizA+1BP8AbXQkQc0iXi5Y5JmONYgn3Qrd14eFmnHjXDYexwXU0QcodeGbmnjzwf8AsVI3hzmnh9wf+RdcRBx914h+adZ904e+qTrxUbNNwjrY8eK7KiDirrxkzmmYB17qPdKovvHzmaNLn7UUf213BEHCIl5afGQwHaoju9oVu+8/aA/dQzqiw+8hd/RB56fentIfRQdUWX+NWsW9raLcsk86jCd2OK9Hog8wTFxs+0//AJsy7lbCLh1Kyi2FON9KzZsa5eN8K9WURB5QFizRFfJ81TTveMfdVN9mxx6UlMjXAij3V6zUCaYzk0oPIz2OHpQIo1w3DtVF0w0ZWkawB3r1HbF2krLNLokYGnqs84k6NHWuTXb34BHD4TJbAbAex7DEdhPiPLTTzW5G4Lia10Kjme+ofL+udQ3xD09RV46+HHLYjHw4L2RfSaWxAaUpghzHtNPFULHupZCiVdKQzDJJdDbhOx0pVu6lxGqqgkEZnC6neCiYjOEBrqFvFi3eS4e5rrNk4kqG4Yix4ENsWpIrDLqEE1JoBXEFi7sAyfiCJIwpOBAaBgy8KFDgxC6mMviBnnGuY0A0VqTRrQiQ+MbtCmAbme3pNVpMWRGhj5yAWjNEDQ5nSbUdajKSJdlApqb4ILzcRmPYm9+VdFvZXsGTMTfE1LgyjWuwQ4Fm7RDiGDg0OCMZrpoNK6R+ySy80kBqizI7IiDzjvdR3uvRb70Nmn6M4ao0x3vVF15uzuKiDVGid5QeedwKhuBXoF95WQOTdhqiDvaVRfePkjkizA+3CP8AbQcE3EpuRXdIl4mV9WZjjXuR90K3feGherORBrhsPY4IOJ7kVDciuzPvCD1Z888D/sVu+8NE9WeYcuWE4e+UHIdyKlME6OxdZfeJmM03BOtsRvcVRdeLm80eXOt0Yf20HKjL/VGwKUyw4I2BdQfeQnhkfLnVEid8NUH3mLQHqwTqi+ICDmu9RwBsUN6N4I610U3oLR4lh1RYPe5SvvRWiP3DTqiwviQUryEn/wCXaQMTIEdx6Ib7y9FLn16+9y+QMSZmC3fEVm5iG04Qhw8IONXZ3EgZMlOVdBUBERAREQEREBERAREQEREBERAREQERU48drGl73BrWipccQAQVFYT9uQoPpvGFwBjd+HOtLujvgVqyC7Ahivn5Hu5fqjrXL7cu/AqIZw3aa4q60HWrXvkNYDubQ0D13mp10yBcvuovtvfVrHl501pDGoZ1z207cixjV7yRwRiaOZY0qi8tK2osd2FEeTyZhqCtXTDiKFxIGQE1opKJRQQwv1iUFFKIIFx0q4lZ1zDUEg6QqFEog2uzbp3DE40OkYqrMwLThuIc5jHGoNS1uPWRl51z1j6K8gTbm42mnIcbTrHeg71Y99p7A1kWEx7QABg/NkADEBTFTmW12bfLlYtA4uhH6wwm7W17F5ulLbGRxwHaD6J1FZRlrgYy4AaahB6jlJxkVuHCe17eE0hwroxZ1WXL7yuHEEzHqdxO5Q2A1o9+NxfzAgfa0UXUEBERAREQEREBERAREQEREBERAREQEREBERAREQEREBERAREQEREBcxv03QRZZkBoa7cXiI4ub6JiNIoHHNQGo18i6ctXvjXPiakIgA+dg1jQyMTvNHnNB5W1xcgQeYbSt6JGJwnebwRk/FY0rPzcnjINDraK7RRUxLDOxnRVGBITBWf3mzi27XDsUN5M4sdKJ4oMQ4txANAxUJzk5K8mLGoww3CqQ2hqaZhipg9vUsrvCHxexx7yoGz4fAd0wgxBaMWJtCQcpxaRlxBUomXEKDRjPas0bNh8F/Sb4KQ2Yz6+1vwoMLRFl32Y3S7nA8FbukBpOxBYUUWmiyMKQbnwjsCqmz28Ha4oMeG4WKlTmpjKytkWHVwL9PoZvtadW3Qq8rLAZBTkGLbnK2+5CwHTEZrWt+bYQ6I/1Ws0azkAUHbLg7K3vZ8BlKOe3dXaavxivNg7FsCpwSC1pbkoKDQNCnogiiIgIiICIiAiIgIiICIiAiIgIiICIiAiIgIiICIiAiIgIiICIiAoEKKIPPl8K4iNLTER7ILnSrnF0OKxpe1rTjwXU9EjJjy0Wkhy9cqzm7GgRf8AFl4UT+OHDf2hB5VCivS0e4Gz35ZCX+zCYz+mitH3rrNP0No1PjN7HoPOaL0HFvQ2acku5v8ADHmO95Vs+8tZ5yCMNUZ3eCqOClQXdnXkZHhzA1RIfexSG8dJcdM9OD/xIOGUxK2K71+wyS4+Z6cD/iUBeJkc8WZP8yCP7SDgzMqnOVd/l7ydnNytjP8A4ozh/SAthsm4eSliHQJSG14yRCDEiDU95JHMVBxm5G9pMTODEitMCXxHDeKRHj6jDj5zQa12Cy7nWQIbYMFmCxvO5xzucc5WxYPIooKEpDLW4JzZFXREBERAREQEREBERAREQEREBERAREQEREBERAREQEREBERAREQEREBERAREQEREBERAREQEREBERAREQEREBERAREQEREBERAREQEREBER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标题 2">
            <a:extLst>
              <a:ext uri="{FF2B5EF4-FFF2-40B4-BE49-F238E27FC236}">
                <a16:creationId xmlns:a16="http://schemas.microsoft.com/office/drawing/2014/main" id="{AD80F0E5-379E-428B-9EB7-17E5A07E3CC0}"/>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7" name="灯片编号占位符 6">
            <a:extLst>
              <a:ext uri="{FF2B5EF4-FFF2-40B4-BE49-F238E27FC236}">
                <a16:creationId xmlns:a16="http://schemas.microsoft.com/office/drawing/2014/main" id="{3AB7AEE6-E0E1-4076-9992-C333C20D315F}"/>
              </a:ext>
            </a:extLst>
          </p:cNvPr>
          <p:cNvSpPr>
            <a:spLocks noGrp="1"/>
          </p:cNvSpPr>
          <p:nvPr>
            <p:ph type="sldNum" sz="quarter" idx="12"/>
          </p:nvPr>
        </p:nvSpPr>
        <p:spPr/>
        <p:txBody>
          <a:bodyPr/>
          <a:lstStyle/>
          <a:p>
            <a:fld id="{F64BA984-46A0-4F46-990E-EC790E6934B4}" type="slidenum">
              <a:rPr lang="zh-CN" altLang="en-US" smtClean="0"/>
              <a:t>26</a:t>
            </a:fld>
            <a:endParaRPr lang="zh-CN" altLang="en-US"/>
          </a:p>
        </p:txBody>
      </p:sp>
      <p:pic>
        <p:nvPicPr>
          <p:cNvPr id="8" name="图片 7">
            <a:extLst>
              <a:ext uri="{FF2B5EF4-FFF2-40B4-BE49-F238E27FC236}">
                <a16:creationId xmlns:a16="http://schemas.microsoft.com/office/drawing/2014/main" id="{A1635C8B-0578-CB6C-B995-F6072CF36AAE}"/>
              </a:ext>
            </a:extLst>
          </p:cNvPr>
          <p:cNvPicPr>
            <a:picLocks noChangeAspect="1"/>
          </p:cNvPicPr>
          <p:nvPr/>
        </p:nvPicPr>
        <p:blipFill rotWithShape="1">
          <a:blip r:embed="rId3"/>
          <a:srcRect t="2494"/>
          <a:stretch/>
        </p:blipFill>
        <p:spPr>
          <a:xfrm>
            <a:off x="827584" y="1916832"/>
            <a:ext cx="6972896" cy="3383800"/>
          </a:xfrm>
          <a:prstGeom prst="rect">
            <a:avLst/>
          </a:prstGeom>
        </p:spPr>
      </p:pic>
      <p:sp>
        <p:nvSpPr>
          <p:cNvPr id="9" name="文本框 8">
            <a:extLst>
              <a:ext uri="{FF2B5EF4-FFF2-40B4-BE49-F238E27FC236}">
                <a16:creationId xmlns:a16="http://schemas.microsoft.com/office/drawing/2014/main" id="{9CDCFF08-AAA1-3F1A-6FAB-96DE0774E744}"/>
              </a:ext>
            </a:extLst>
          </p:cNvPr>
          <p:cNvSpPr txBox="1"/>
          <p:nvPr/>
        </p:nvSpPr>
        <p:spPr>
          <a:xfrm>
            <a:off x="3995936" y="5415651"/>
            <a:ext cx="1338828" cy="369332"/>
          </a:xfrm>
          <a:prstGeom prst="rect">
            <a:avLst/>
          </a:prstGeom>
          <a:noFill/>
        </p:spPr>
        <p:txBody>
          <a:bodyPr wrap="none" rtlCol="0">
            <a:spAutoFit/>
          </a:bodyPr>
          <a:lstStyle/>
          <a:p>
            <a:r>
              <a:rPr kumimoji="1" lang="zh-CN" altLang="en-US" dirty="0"/>
              <a:t>色比配实验</a:t>
            </a:r>
          </a:p>
        </p:txBody>
      </p:sp>
      <p:sp>
        <p:nvSpPr>
          <p:cNvPr id="10" name="文本框 9">
            <a:extLst>
              <a:ext uri="{FF2B5EF4-FFF2-40B4-BE49-F238E27FC236}">
                <a16:creationId xmlns:a16="http://schemas.microsoft.com/office/drawing/2014/main" id="{5B48700B-B7C9-1E6C-6D9B-EF60EB8EE46A}"/>
              </a:ext>
            </a:extLst>
          </p:cNvPr>
          <p:cNvSpPr txBox="1"/>
          <p:nvPr/>
        </p:nvSpPr>
        <p:spPr>
          <a:xfrm>
            <a:off x="627321" y="5975498"/>
            <a:ext cx="8245527" cy="369332"/>
          </a:xfrm>
          <a:prstGeom prst="rect">
            <a:avLst/>
          </a:prstGeom>
          <a:noFill/>
        </p:spPr>
        <p:txBody>
          <a:bodyPr wrap="none" rtlCol="0">
            <a:spAutoFit/>
          </a:bodyPr>
          <a:lstStyle/>
          <a:p>
            <a:r>
              <a:rPr kumimoji="1" lang="en-US" altLang="zh-CN" i="1" dirty="0"/>
              <a:t>Hint</a:t>
            </a:r>
            <a:r>
              <a:rPr kumimoji="1" lang="zh-CN" altLang="en-US" i="1" dirty="0"/>
              <a:t>：颜色不仅是 依赖于光的波长的物理量，同时也是依赖于人的感觉的心理量</a:t>
            </a:r>
          </a:p>
        </p:txBody>
      </p:sp>
    </p:spTree>
    <p:extLst>
      <p:ext uri="{BB962C8B-B14F-4D97-AF65-F5344CB8AC3E}">
        <p14:creationId xmlns:p14="http://schemas.microsoft.com/office/powerpoint/2010/main" val="26677981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4294967295"/>
          </p:nvPr>
        </p:nvSpPr>
        <p:spPr>
          <a:xfrm>
            <a:off x="467544" y="1116013"/>
            <a:ext cx="7772400" cy="685800"/>
          </a:xfrm>
        </p:spPr>
        <p:txBody>
          <a:bodyPr/>
          <a:lstStyle/>
          <a:p>
            <a:pPr>
              <a:buFont typeface="Wingdings" pitchFamily="2" charset="2"/>
              <a:buNone/>
            </a:pPr>
            <a:r>
              <a:rPr lang="zh-CN" altLang="en-US" dirty="0">
                <a:solidFill>
                  <a:schemeClr val="tx1"/>
                </a:solidFill>
                <a:latin typeface="楷体_GB2312" pitchFamily="49" charset="-122"/>
              </a:rPr>
              <a:t>例子：声音信号的量化</a:t>
            </a:r>
          </a:p>
        </p:txBody>
      </p:sp>
      <p:sp>
        <p:nvSpPr>
          <p:cNvPr id="2" name="AutoShape 2" descr="data:image/jpeg;base64,/9j/4AAQSkZJRgABAQAAAQABAAD/2wCEAAkGBhQSDxAPEBAVEg8QDw4PEQ0SFBAQDxAPFBAVFBUQFBQYGyYeFxkkGRQUHy8gIycpLiwsFR4xNTIsNSYsLCkBCQoKDQwOFQ4MFCkcHiEpKSkuNCkpKSorKTIpKSkpKTEpKSkpKSkpNiwpKSkpKSkpKSwpKSkpKSkpKSkpKSkpKf/AABEIAIQBfgMBIgACEQEDEQH/xAAcAAEAAAcBAAAAAAAAAAAAAAAAAQIDBAUGBwj/xABOEAABAgMBCQsHCQYGAwEAAAABAAIDBBEFBgcSITFBUXGRExRSU2GBkqGxwdEVIjJCosLSFiNEYoKT4eLwF0Nyg7LDM2Nzo9PjJVSUNf/EABgBAQEBAQEAAAAAAAAAAAAAAAABAgQD/8QAGxEBAAICAwAAAAAAAAAAAAAAAAECESEDEjH/2gAMAwEAAhEDEQA/AO4oiICIlUBFYTNuy8P05iG0jMXtwtlarGTF3so3JEc86GMf2kAINiRaZMXzIY/w4D3crnNZ2YSx8a+VFPoQYbdZe/vCDoaLmbr4Myc7ByBniVMy+FMf5Z+ye4oOlIudNvix87IZ+y/4lVbfHi54UP2x3oOgItCF8d+eCza5VG3xzngDpnwQbyi0pt8gZ5f2/wAqqC+OziD0x4INxRagL4sPPBd0mlVG3w4OeG/2PFBtaLWBfBgcCJsZ8SnF30voidFvxINkRa6Lu5bS/o/iqjbtpXhuH2HIM8iwouxleN9iJ4KcXWyvHjov8EGXRYoXUy3Ht9odyqNuilj9Ih9IBBkUVi23IB+kQ+mzxU4taDx8P7xnigu0VuLRhHJFZ02eKnE2w5Ht6TUFVFKIgOQjaFGqCKIiAiIgIiICIiAiIgIiICIiAiIgLVLs74cGz/MwHzE0W4bZWCKuDTiD4jqEMaaHSTTECtqJXlmbvixd9TUYQ2uMeYiRS51ScGtGN1NYGtGpBnrbv02rFJ3KEJVmZrILnvpyveD1ALV5u7qeiGsZ7on+pupGzCoFdi+bEzwGdIjuU4vmuzy7en+VUYkXYRhlY32x3qdt28QZYbek8LLC+a3PKjpDwUwvkwjllOthQYtt3b+L9t3gqgu9dxR6f5VkP2gyxyyfswj3p8uJI5ZEfdwfFBZC748UekPBTi7/APynbW+CuvlZZxyyQ+6hdxUPL1mHLKAfywOxBQF344t/sKcXft4D9jPFVvKdknLAA+zFHYo7vZB9Sn/0DvQUxd8zQ/oj4lOLvIf1ugfiTcrIOcj7cfvKeTrIOSKR/McO0IKjbuoXCPQepxdvB4fsxPBUhc9Zbsky4fzYfe1R+SFnHJNu+8gn3UFdt2cHjBsePdVQXYQeNbtcPdVp8hpI5Jx22Ee5Q/Z7LHJOu6LD3oL9t1kHjWdP8FO26iDxjOm1Yw3t4Oad2wwffUjr2jc063nh/nQZpt0ULjGdNniqrbdhn129JnitcdezOabh87HD3iqZvZPzTUHnDx3INqFsM0ja3xU4tRv6otPN7KNmjwDzxB7ilN7SZzRIB+2/4EG5+Um8uwqbyi3l2OWkG9zNjI6EdUUjtAUpuCnhkweaMzxQb15RbpOx3gnlFvC7VoRuQnxmPNHh/GhuXtEerE5ozD76DfvKLeEFEWg3hDaFz/yFaQ9SPzPB7HKU2baQ/dzGxxQdEFoDhjaFMLR+v1rm5gWiP3cz928+6pDFtAZWR+eC74EHTm2q7NEPM4qq22YmaK/pu8Vyk2lOjK2JzwfyKXy9NDLXnhN8EHW22/GGSPE6b/FVW3SzA+kROm/xXHvlPMDKW87GqPyuj6WdH8UHYxdVMj6Q/pEqcXYTPHu9k9y42LsY/wBTY74lUbdrG4LP9we8g7GLtZrjjsZ4KcXdTXG+xD+FcdbdxF4DelE8VOLu4nFDpu8EHYhd7NcMdBngoi+DM8JvQauPi7x2eEen+VTfL054buZzT2tQdhF8SZ+p0PxVeXvkxgRhw2PbnADmHmNT2LjIu9HAfth+CmF3jeDE2Q0HpGxbq4EzQMdgxOJfQO+zmdzLMryw275uWkQfZZi2OW8XIX9msc2DOF7oJxbuWViQ+U0JLxzV7FB29FRk5xkWGyLCe18OI0PZEaQ5rmnIQQqyC0teLgy0d4ytgxnDWGEryXIy7TDaS0EmpqQDnXrK2m1lZgaYEYbYbl5QkT80z+EIKglGcBuwKO9mcBuwKJijSNoUN3bwhtCob2bwW7Ao73bwRsCiIo0jaFEPGlBLvdvBGwKG9m8EbAqlUqgomTZwBsClNns4IVeqjVBbGzYfB7VL5Kh6Osq7qpIrqNJ0AoKll3MiM40GCxpoXmpx6AK41nH3AwS3E9wdpxEbMXaslYcINgQwOCDznGVnZSWD646UC1hzTyWmdOX2jcxuTsF9aGuC8ElrhyVz8isjYo4R6l0S6CWDoESuVgMRp0FoJ6xUc60xZl7Ut2hjfIo4XUFDyN9bqWTqoB4yVyI2xvkp2Z/aphIRONO13isjVSxH0BOgILFsrFrgiM8nQHO68eJXPk2OMYjvrow3eKvJBlGA+s7zidf4Kq+PRBiC6ZGIR31GYvfXrUROzfHO2g9yy0w3CZhZ24+bOFZOdQV0IKQtObFBu5qc2In+lXAn50Cu7HVRvgqlns83DPpOx6m5gshLwHPLgxtcFpc7IKNGfGh56w/l6cHr15mqb5VTgz9X4q8nIGIupRzcvKBlryhWaCIuxnBo6LviUwu2mxlA2PHvKSihRBXF3czwB7Xipxd/McWNrvBWtEogvBfDj8V7R+FTi+LFzwj0/wAqsMFQwEGTF8Z+eE7pfgo/tEGeA7a09yxWANCbmNAQZX5fQjllieaGU+W0scsp/twSsTuQ0BQ3EaAgy/ytkjlkx91BT5SWccsoPumDsWHMBugbApTKt4I2IMubdsz/ANTY0DvVJ9r2Wfoj+Yke8sWZJnBCgZFnBCC/M/ZZ+jRhqefjUhmLLP7mYGpwPvKwNnM4PapTZjNHWUF8X2XwZoc8PvRsOzD6003WIR7ArA2W3l2qHkxukoOzXgboMITMiC7c4bIceG1xwsB5cWRQ08Enc3UzFztK7CvPF4l+52u6GMkSWjN2Fr/cXodQSRYeE1zTkcC06iKLx9HkhDe+G5uNj3NOsEjuXsRecr51y7pa0Yzi0iDMPdHhPp5pwzhPYDpDicWimlBowa0eqNgU2ENHUrkyw0qG9+VUW+LQNigWN4I2BXO9uVQ3sgttxboCbg39E+KuDAUu4oKQh6HO6RUcF2aI7noVU3uVHexQSB8Thg62+Cm3d9CHNBBFKtNDsKjvcpuJQbZcvaGFBax2J7Kt1gZx+s62Bkei5vBiPYatJGQ66LLtumeG0wDhaSQfdWsue3FOdM5dHaTYcB9TjiAw2jOa4iacgJ6tK0vygzSei7wUZiYfEcXvcXO0nMNAGQDUqWNZl60r1hUE+zhbQR3IJqGMeG2p5VTxqFOQI2ricYfXbtCjEcHNIBBqDkIKtjDBytGwKQy7eAObEgy1nRcKE2mUYiOUYqK5EJuU01FYmWmMDIOfPqOkdfLmWUhzzcGpc0clXk7MFUJg0hv5QQNZxDrKx0XG1wGgqSemDExE0YDiaO0lWW825QXA6QVBmrNiYUJvIME6wsjZ806E/DbnBBGSqwEhGEOuPKa1zHWM2sbNGXgzILcLIOUtHeqTGdSmmX+a9xy4LidZCxoUlozhfVjCGtB9LKSfBY8w4nHKDJ1SqxeDF439bEIjcYP1zIMpVQqsXWNwh1eCjukbk9lBtcOCzcAXACMWYwAHOEpXHGDMQMWlaYwcAYWL0lmrSs5hixAYR8yZc2G10syUY4YMcsgsew/PBz2wxjoaYxlK5yY8bQPZUXTUwcpJpkBwTRBt8vAbFZhxYbYQLywxmw9zayGGYTo2A2gOA5rAQBV27YPpFpFq5oZGifNNDGBrfPLnsY0lrWxnYP8AiVBrixEvBApQLXIlpTLvTc9+IN88l/mg1DcZyVzKVtpTDThAuBwcHFUUbwcWbkQbnMWfBaMEAF8Z0bcm/OVoIbXMwXYXmA4QcMIOPnAOwaVNlOy7AIzGtAMvudIgLyYoLg0lwJIqcIOFAKAEY8q11tvTIDxhPpEqX+kcIkUJJ0kYjpzqD7ejlghuqWilAQcwwRXTQYhXIMiDIKFVhYk9FOkahRSifiDOecIM5VQWG8qP5NgURa7tAQZhQWLFrngjrUwtf6vWgySLHi1hwTtCmFqt0HqQb5efP/m4HLCmB/svK9GLzZeZmMO25cjIIcxl/wBB69JqAra0LNhR2GFHhMiwzjLHtDm100OQ8quUQanEvW2cTXeoHIHxQP6lRi3o7OP7hzdUWJ3lbkiDRH3mZA5BGGqIO9pVCJeRkjkizA+1BP8AbXQkQc0iXi5Y5JmONYgn3Qrd14eFmnHjXDYexwXU0QcodeGbmnjzwf8AsVI3hzmnh9wf+RdcRBx914h+adZ904e+qTrxUbNNwjrY8eK7KiDirrxkzmmYB17qPdKovvHzmaNLn7UUf213BEHCIl5afGQwHaoju9oVu+8/aA/dQzqiw+8hd/RB56fentIfRQdUWX+NWsW9raLcsk86jCd2OK9Hog8wTFxs+0//AJsy7lbCLh1Kyi2FON9KzZsa5eN8K9WURB5QFizRFfJ81TTveMfdVN9mxx6UlMjXAij3V6zUCaYzk0oPIz2OHpQIo1w3DtVF0w0ZWkawB3r1HbF2krLNLokYGnqs84k6NHWuTXb34BHD4TJbAbAex7DEdhPiPLTTzW5G4Lia10Kjme+ofL+udQ3xD09RV46+HHLYjHw4L2RfSaWxAaUpghzHtNPFULHupZCiVdKQzDJJdDbhOx0pVu6lxGqqgkEZnC6neCiYjOEBrqFvFi3eS4e5rrNk4kqG4Yix4ENsWpIrDLqEE1JoBXEFi7sAyfiCJIwpOBAaBgy8KFDgxC6mMviBnnGuY0A0VqTRrQiQ+MbtCmAbme3pNVpMWRGhj5yAWjNEDQ5nSbUdajKSJdlApqb4ILzcRmPYm9+VdFvZXsGTMTfE1LgyjWuwQ4Fm7RDiGDg0OCMZrpoNK6R+ySy80kBqizI7IiDzjvdR3uvRb70Nmn6M4ao0x3vVF15uzuKiDVGid5QeedwKhuBXoF95WQOTdhqiDvaVRfePkjkizA+3CP8AbQcE3EpuRXdIl4mV9WZjjXuR90K3feGherORBrhsPY4IOJ7kVDciuzPvCD1Z888D/sVu+8NE9WeYcuWE4e+UHIdyKlME6OxdZfeJmM03BOtsRvcVRdeLm80eXOt0Yf20HKjL/VGwKUyw4I2BdQfeQnhkfLnVEid8NUH3mLQHqwTqi+ICDmu9RwBsUN6N4I610U3oLR4lh1RYPe5SvvRWiP3DTqiwviQUryEn/wCXaQMTIEdx6Ib7y9FLn16+9y+QMSZmC3fEVm5iG04Qhw8IONXZ3EgZMlOVdBUBERAREQEREBERAREQEREBERAREQERU48drGl73BrWipccQAQVFYT9uQoPpvGFwBjd+HOtLujvgVqyC7Ahivn5Hu5fqjrXL7cu/AqIZw3aa4q60HWrXvkNYDubQ0D13mp10yBcvuovtvfVrHl501pDGoZ1z207cixjV7yRwRiaOZY0qi8tK2osd2FEeTyZhqCtXTDiKFxIGQE1opKJRQQwv1iUFFKIIFx0q4lZ1zDUEg6QqFEog2uzbp3DE40OkYqrMwLThuIc5jHGoNS1uPWRl51z1j6K8gTbm42mnIcbTrHeg71Y99p7A1kWEx7QABg/NkADEBTFTmW12bfLlYtA4uhH6wwm7W17F5ulLbGRxwHaD6J1FZRlrgYy4AaahB6jlJxkVuHCe17eE0hwroxZ1WXL7yuHEEzHqdxO5Q2A1o9+NxfzAgfa0UXUEBERAREQEREBERAREQEREBERAREQEREBERAREQEREBERAREQEREBcxv03QRZZkBoa7cXiI4ub6JiNIoHHNQGo18i6ctXvjXPiakIgA+dg1jQyMTvNHnNB5W1xcgQeYbSt6JGJwnebwRk/FY0rPzcnjINDraK7RRUxLDOxnRVGBITBWf3mzi27XDsUN5M4sdKJ4oMQ4txANAxUJzk5K8mLGoww3CqQ2hqaZhipg9vUsrvCHxexx7yoGz4fAd0wgxBaMWJtCQcpxaRlxBUomXEKDRjPas0bNh8F/Sb4KQ2Yz6+1vwoMLRFl32Y3S7nA8FbukBpOxBYUUWmiyMKQbnwjsCqmz28Ha4oMeG4WKlTmpjKytkWHVwL9PoZvtadW3Qq8rLAZBTkGLbnK2+5CwHTEZrWt+bYQ6I/1Ws0azkAUHbLg7K3vZ8BlKOe3dXaavxivNg7FsCpwSC1pbkoKDQNCnogiiIgIiICIiAiIgIiICIiAiIgIiICIiAiIgIiICIiAiIgIiICIiAoEKKIPPl8K4iNLTER7ILnSrnF0OKxpe1rTjwXU9EjJjy0Wkhy9cqzm7GgRf8AFl4UT+OHDf2hB5VCivS0e4Gz35ZCX+zCYz+mitH3rrNP0No1PjN7HoPOaL0HFvQ2acku5v8ADHmO95Vs+8tZ5yCMNUZ3eCqOClQXdnXkZHhzA1RIfexSG8dJcdM9OD/xIOGUxK2K71+wyS4+Z6cD/iUBeJkc8WZP8yCP7SDgzMqnOVd/l7ydnNytjP8A4ozh/SAthsm4eSliHQJSG14yRCDEiDU95JHMVBxm5G9pMTODEitMCXxHDeKRHj6jDj5zQa12Cy7nWQIbYMFmCxvO5xzucc5WxYPIooKEpDLW4JzZFXREBERAREQEREBERAREQEREBERAREQEREBERAREQEREBERAREQEREBERAREQEREBERAREQEREBERAREQEREBERAREQEREBERAREQEREBERB/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标题 2">
            <a:extLst>
              <a:ext uri="{FF2B5EF4-FFF2-40B4-BE49-F238E27FC236}">
                <a16:creationId xmlns:a16="http://schemas.microsoft.com/office/drawing/2014/main" id="{AD80F0E5-379E-428B-9EB7-17E5A07E3CC0}"/>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7" name="灯片编号占位符 6">
            <a:extLst>
              <a:ext uri="{FF2B5EF4-FFF2-40B4-BE49-F238E27FC236}">
                <a16:creationId xmlns:a16="http://schemas.microsoft.com/office/drawing/2014/main" id="{3AB7AEE6-E0E1-4076-9992-C333C20D315F}"/>
              </a:ext>
            </a:extLst>
          </p:cNvPr>
          <p:cNvSpPr>
            <a:spLocks noGrp="1"/>
          </p:cNvSpPr>
          <p:nvPr>
            <p:ph type="sldNum" sz="quarter" idx="12"/>
          </p:nvPr>
        </p:nvSpPr>
        <p:spPr/>
        <p:txBody>
          <a:bodyPr/>
          <a:lstStyle/>
          <a:p>
            <a:fld id="{F64BA984-46A0-4F46-990E-EC790E6934B4}" type="slidenum">
              <a:rPr lang="zh-CN" altLang="en-US" smtClean="0"/>
              <a:t>27</a:t>
            </a:fld>
            <a:endParaRPr lang="zh-CN" altLang="en-US"/>
          </a:p>
        </p:txBody>
      </p:sp>
      <p:sp>
        <p:nvSpPr>
          <p:cNvPr id="6" name="文本框 5">
            <a:extLst>
              <a:ext uri="{FF2B5EF4-FFF2-40B4-BE49-F238E27FC236}">
                <a16:creationId xmlns:a16="http://schemas.microsoft.com/office/drawing/2014/main" id="{C3FA7030-19E7-F9FC-5742-55CA50B32D6E}"/>
              </a:ext>
            </a:extLst>
          </p:cNvPr>
          <p:cNvSpPr txBox="1"/>
          <p:nvPr/>
        </p:nvSpPr>
        <p:spPr>
          <a:xfrm>
            <a:off x="307975" y="2317268"/>
            <a:ext cx="8124515" cy="1754326"/>
          </a:xfrm>
          <a:prstGeom prst="rect">
            <a:avLst/>
          </a:prstGeom>
          <a:noFill/>
        </p:spPr>
        <p:txBody>
          <a:bodyPr wrap="square" rtlCol="0">
            <a:spAutoFit/>
          </a:bodyPr>
          <a:lstStyle/>
          <a:p>
            <a:r>
              <a:rPr kumimoji="1" lang="zh-CN" altLang="en-US" dirty="0"/>
              <a:t>声音数字化三要素</a:t>
            </a:r>
            <a:endParaRPr kumimoji="1" lang="en-US" altLang="zh-CN" dirty="0"/>
          </a:p>
          <a:p>
            <a:pPr marL="285750" indent="-285750">
              <a:buFont typeface="Arial" panose="020B0604020202020204" pitchFamily="34" charset="0"/>
              <a:buChar char="•"/>
            </a:pPr>
            <a:r>
              <a:rPr kumimoji="1" lang="zh-CN" altLang="en-US" b="1" dirty="0"/>
              <a:t>采样频率</a:t>
            </a:r>
            <a:r>
              <a:rPr kumimoji="1" lang="zh-CN" altLang="en-US" dirty="0"/>
              <a:t>：每秒钟抽取声波幅度样本的次数采样频率越高声音质量越好数据量也越大。</a:t>
            </a:r>
            <a:r>
              <a:rPr kumimoji="1" lang="en-US" altLang="zh-CN" dirty="0"/>
              <a:t>11.025</a:t>
            </a:r>
            <a:r>
              <a:rPr kumimoji="1" lang="en" altLang="zh-CN" dirty="0"/>
              <a:t>kHz</a:t>
            </a:r>
            <a:r>
              <a:rPr kumimoji="1" lang="zh-CN" altLang="en-US" dirty="0"/>
              <a:t>、</a:t>
            </a:r>
            <a:r>
              <a:rPr kumimoji="1" lang="en" altLang="zh-CN" dirty="0"/>
              <a:t>  22.05 kHz</a:t>
            </a:r>
            <a:r>
              <a:rPr kumimoji="1" lang="zh-CN" altLang="en-US" dirty="0"/>
              <a:t>、</a:t>
            </a:r>
            <a:r>
              <a:rPr kumimoji="1" lang="en" altLang="zh-CN" dirty="0"/>
              <a:t>   44.1  kHz</a:t>
            </a:r>
          </a:p>
          <a:p>
            <a:pPr marL="285750" indent="-285750">
              <a:buFont typeface="Arial" panose="020B0604020202020204" pitchFamily="34" charset="0"/>
              <a:buChar char="•"/>
            </a:pPr>
            <a:r>
              <a:rPr kumimoji="1" lang="zh-CN" altLang="en-US" b="1" dirty="0"/>
              <a:t>量化位数</a:t>
            </a:r>
            <a:r>
              <a:rPr kumimoji="1" lang="zh-CN" altLang="en-US" dirty="0"/>
              <a:t>：每个采样点用多少二进制位表示数据范围量化位数越多音质越好数据量也越大。 </a:t>
            </a:r>
            <a:r>
              <a:rPr kumimoji="1" lang="en-US" altLang="zh-CN" dirty="0"/>
              <a:t>8</a:t>
            </a:r>
            <a:r>
              <a:rPr kumimoji="1" lang="zh-CN" altLang="en-US" dirty="0"/>
              <a:t>位＝</a:t>
            </a:r>
            <a:r>
              <a:rPr kumimoji="1" lang="en-US" altLang="zh-CN" dirty="0"/>
              <a:t>256 </a:t>
            </a:r>
            <a:r>
              <a:rPr kumimoji="1" lang="zh-CN" altLang="en-US" dirty="0"/>
              <a:t>、</a:t>
            </a:r>
            <a:r>
              <a:rPr kumimoji="1" lang="en-US" altLang="zh-CN" dirty="0"/>
              <a:t>16</a:t>
            </a:r>
            <a:r>
              <a:rPr kumimoji="1" lang="zh-CN" altLang="en-US" dirty="0"/>
              <a:t>位＝</a:t>
            </a:r>
            <a:r>
              <a:rPr kumimoji="1" lang="en-US" altLang="zh-CN" dirty="0"/>
              <a:t>65536</a:t>
            </a:r>
          </a:p>
          <a:p>
            <a:pPr marL="285750" indent="-285750">
              <a:buFont typeface="Arial" panose="020B0604020202020204" pitchFamily="34" charset="0"/>
              <a:buChar char="•"/>
            </a:pPr>
            <a:r>
              <a:rPr kumimoji="1" lang="zh-CN" altLang="en-US" b="1" dirty="0"/>
              <a:t>声道数</a:t>
            </a:r>
            <a:r>
              <a:rPr kumimoji="1" lang="zh-CN" altLang="en-US" dirty="0"/>
              <a:t>：使用声音通道的个数</a:t>
            </a:r>
          </a:p>
        </p:txBody>
      </p:sp>
      <p:sp>
        <p:nvSpPr>
          <p:cNvPr id="8" name="文本框 7">
            <a:extLst>
              <a:ext uri="{FF2B5EF4-FFF2-40B4-BE49-F238E27FC236}">
                <a16:creationId xmlns:a16="http://schemas.microsoft.com/office/drawing/2014/main" id="{02939F14-7170-3BCB-75F7-636E9965287A}"/>
              </a:ext>
            </a:extLst>
          </p:cNvPr>
          <p:cNvSpPr txBox="1"/>
          <p:nvPr/>
        </p:nvSpPr>
        <p:spPr>
          <a:xfrm>
            <a:off x="243187" y="5376429"/>
            <a:ext cx="8657626" cy="369332"/>
          </a:xfrm>
          <a:prstGeom prst="rect">
            <a:avLst/>
          </a:prstGeom>
          <a:noFill/>
        </p:spPr>
        <p:txBody>
          <a:bodyPr wrap="none" rtlCol="0">
            <a:spAutoFit/>
          </a:bodyPr>
          <a:lstStyle/>
          <a:p>
            <a:r>
              <a:rPr kumimoji="1" lang="en-US" altLang="zh-CN" i="1" dirty="0"/>
              <a:t>Hint</a:t>
            </a:r>
            <a:r>
              <a:rPr kumimoji="1" lang="zh-CN" altLang="en-US" i="1" dirty="0"/>
              <a:t>：语言信号一般采用非均匀量化，让不同强度的语音信号获得相同的量化信噪比</a:t>
            </a:r>
          </a:p>
        </p:txBody>
      </p:sp>
    </p:spTree>
    <p:extLst>
      <p:ext uri="{BB962C8B-B14F-4D97-AF65-F5344CB8AC3E}">
        <p14:creationId xmlns:p14="http://schemas.microsoft.com/office/powerpoint/2010/main" val="1536497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2"/>
          <p:cNvSpPr txBox="1">
            <a:spLocks/>
          </p:cNvSpPr>
          <p:nvPr/>
        </p:nvSpPr>
        <p:spPr>
          <a:xfrm>
            <a:off x="296483" y="1124744"/>
            <a:ext cx="8229600" cy="32403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多媒体软件开发系统</a:t>
            </a:r>
            <a:endParaRPr lang="en-US" altLang="zh-CN" dirty="0"/>
          </a:p>
          <a:p>
            <a:pPr lvl="1"/>
            <a:r>
              <a:rPr lang="en-US" altLang="zh-CN" dirty="0"/>
              <a:t>DirectX</a:t>
            </a:r>
            <a:r>
              <a:rPr lang="zh-CN" altLang="en-US" dirty="0"/>
              <a:t>： </a:t>
            </a:r>
            <a:r>
              <a:rPr lang="en-US" altLang="zh-CN" dirty="0"/>
              <a:t>Windows</a:t>
            </a:r>
            <a:r>
              <a:rPr lang="zh-CN" altLang="en-US" dirty="0"/>
              <a:t>平台，</a:t>
            </a:r>
            <a:r>
              <a:rPr lang="en-US" altLang="zh-CN" dirty="0"/>
              <a:t>MPC</a:t>
            </a:r>
            <a:r>
              <a:rPr lang="zh-CN" altLang="en-US" dirty="0"/>
              <a:t>播放器</a:t>
            </a:r>
            <a:endParaRPr lang="en-US" altLang="zh-CN" dirty="0"/>
          </a:p>
          <a:p>
            <a:pPr lvl="1"/>
            <a:r>
              <a:rPr lang="en-US" altLang="zh-CN" dirty="0"/>
              <a:t>FFMPEG</a:t>
            </a:r>
            <a:r>
              <a:rPr lang="zh-CN" altLang="en-US" dirty="0"/>
              <a:t>：</a:t>
            </a:r>
            <a:r>
              <a:rPr lang="en-US" altLang="zh-CN" dirty="0" err="1"/>
              <a:t>linux</a:t>
            </a:r>
            <a:r>
              <a:rPr lang="zh-CN" altLang="en-US" dirty="0"/>
              <a:t>平台， </a:t>
            </a:r>
            <a:r>
              <a:rPr lang="en-US" altLang="zh-CN" dirty="0" err="1"/>
              <a:t>mplayer</a:t>
            </a:r>
            <a:r>
              <a:rPr lang="zh-CN" altLang="en-US" dirty="0"/>
              <a:t>播放器</a:t>
            </a:r>
            <a:endParaRPr lang="en-US" altLang="zh-CN" b="1" dirty="0"/>
          </a:p>
          <a:p>
            <a:pPr lvl="1"/>
            <a:r>
              <a:rPr lang="en-US" altLang="zh-CN" dirty="0"/>
              <a:t>VLC:           </a:t>
            </a:r>
            <a:r>
              <a:rPr lang="zh-CN" altLang="en-US" dirty="0"/>
              <a:t>跨平台， </a:t>
            </a:r>
            <a:r>
              <a:rPr lang="en-US" altLang="zh-CN" dirty="0"/>
              <a:t>VCL</a:t>
            </a:r>
            <a:r>
              <a:rPr lang="zh-CN" altLang="en-US" dirty="0"/>
              <a:t>播放器</a:t>
            </a:r>
            <a:endParaRPr lang="en-US" altLang="zh-CN" dirty="0"/>
          </a:p>
          <a:p>
            <a:pPr lvl="1"/>
            <a:r>
              <a:rPr lang="en-US" altLang="zh-CN" dirty="0"/>
              <a:t>OpenGL</a:t>
            </a:r>
            <a:r>
              <a:rPr lang="zh-CN" altLang="en-US" dirty="0"/>
              <a:t>：跨平台， </a:t>
            </a:r>
            <a:r>
              <a:rPr lang="en-US" altLang="zh-CN" dirty="0"/>
              <a:t>3D</a:t>
            </a:r>
            <a:r>
              <a:rPr lang="zh-CN" altLang="en-US" dirty="0"/>
              <a:t>开发</a:t>
            </a:r>
            <a:endParaRPr lang="en-US" altLang="zh-CN" dirty="0"/>
          </a:p>
        </p:txBody>
      </p:sp>
      <p:pic>
        <p:nvPicPr>
          <p:cNvPr id="8196" name="Picture 4" descr="Large Orange VLC media player Traffic Cone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4363866"/>
            <a:ext cx="1217779" cy="121777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FFm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106" y="4429435"/>
            <a:ext cx="3965428" cy="991357"/>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data:image/jpeg;base64,/9j/4AAQSkZJRgABAQAAAQABAAD/2wCEAAkGBxQTEhUUEhQVFhUXGBgXFxgYGBccGBYYGBUXFxYXGBwYHCggGBolGxgWIzEhJSkrLi4uFx8zODMsNygtLisBCgoKDg0OGhAQGCwkHyQsLCwsLCwsLCwsLCwsLCwsLCwsLCwsLCwsLCwsKywsLCwsLCwsLCsrLCwsNzcrLCsrK//AABEIAOUA3AMBIgACEQEDEQH/xAAcAAEAAgIDAQAAAAAAAAAAAAAABQYEBwECAwj/xABCEAABAwIDBgMFBgUCBAcAAAABAAIDESEEEjEFBkFRYXETIoEHMkKRoSNSscHR8BRicoLhQ6IzU8LxJDRjg5Ky0v/EABkBAQADAQEAAAAAAAAAAAAAAAABAgMEBf/EACIRAQEBAAICAwEAAwEAAAAAAAABAgMREiEEMUFREyJxQv/aAAwDAQACEQMRAD8A3iiIgIiICIiAiIgIiVQcErD2ntOKCMyTPDGDUnmbADmSeAUHvfvpDggWn7SY6RNNxUWc8/C36nhVaX2/t+fGSF8z6ipysFcjByaPzNygte3/AGnTvlH8J9nE018zWl0vMPBqGtryoba8FM7C9qkbvLi2GM/fjBcw923c3/d6LVMcZcaNFSs7G7FmjGYtq3XM24Hcaj1CpeTMvXaO4+isBtOKZofDIyRp4tIPzpoeiygV8x4DHSQPEkL3Ru5tJFehpqOhV+2D7VpWUbioxIK++yjXgdW0yu9MvqdbpbfRQ2wt5sPix9hK1xpUsNnju03/ACUwCg5REQEREBERAREQEREBERAREQEREBFxVRG8W8MODjzzPpWuVou955NH7AQSk0zWglxAAFSTYAcyeAWr98faX70WBN9DPYj/ANoXr/URwsDqqlvdvnPjjld9nCDVsYOtK0Lz8RpS2nTiq2g7SyFzi5xLnE1JJJJPMk3K6ohKi0TuwsMH5C9pYwH3h8ZB41/7K7trSpo4D4mWPqFR91nsL8pkcHk0Y2lWHqevyHVbCGGpS3AeduhPGv6ryPkZ1/krm3PaCx+wYZqkCjjxbRrvUaOVY2hu1LHdlJG9LOHdp/Kq2FPhTxGbqNVizRvc0tZRxIIFbEHv+ajHyOTBN2NX3a6t2uadbgtOncHUK37B9ouLgytkInYD8dc4HIPH/UDoojeHCyxgCQAgEec0zHpXUt/FQq9Ti3557b5vbfG73tAwmJ8ocYpD8EuVpNPuuBLXdq1pwCtbX1Xy4Qp7YW9+LwtBHKXMH+m/zMpyFbt/tIWqz6HRa92H7UsPLbEtMDtK1L4zf7wbVvqKDmr5hsSx7Q5jmuabhzSCD2I1QeyLiq5QEREBERAREQEREBcErF2hj44WGSV7WMbq5xoO3daf3x9osuIrFhc0UNwXVpJICNP/AEx2Ne2iC375e0SLDZo8PllnFj/y4zUg5iNXA/CPWi0/tDHyzvMkz3SPOpcfoBoB0FljUXtBhXuBLRUD69ufoq61J9ot6eKLOwOypJa5RSnF1QCeQtqsjBbvSvdlcPDHNwJr/SB73dUvLifdR5REkrgX0Vrwu4c/iN8fK2I/E01LhyaLU7mis2A9nscZDzKXM1ygeYjryWW+f8yi6/iD9n+z5c5yBjmuHnzCjwP5SL+grVX8xAEZaxgWodHf5WZsjZeHh+0jYc3AE1+S9XTGR1CBT8FhOO9d6+1JP64kwIN6ZT00/wAKM2jgLXbW+rdacVZoGml7rzngrpY/vULTXDLFrn013vPu/Jioc7DURtJY2pDjzJrr3WryaGhsQvoOKJrX+driSLOHDgq9Pujgi45o3SalzsxBHyUcduET00/VKrY2I3MwhdSPM1gucxdn/tvp0XSbdrCFuRrXMpxcaucf6uf0CvflSJ8414s7ZW158M7NBK5h4gHynnmabOr1CtmE2GGWe8hv3AAWHvmqSeq8NpbqsdeM5D6uYfzHp8lGPmZt9k5InNge1YgBuMirzkiHDgSwn50PCwvQbD2Rt2DEtzQSskApWhuKitHN1ae6+etobJlhu9vl+8Lt+Y09aLGhmcxwcxzmuGjmkg/MXouqal9xeV9QArlaU2B7TsTFRuIAnYPis2SnC48rqdRe11sjd7fPCYsUZKGv/wCXJRr/AEFaO7glWSsaLrnC7ICIuksoaCSQAASSdABqTyCDsVWd7d84MEC1xzzU8sTdb1oXH4W9fkFU98vaSBWLAuqdDPYht/8ATBs7+o27rV8sjnOLnEucTUkkkk9SdUEpvDvDPjH55nWFcjBZjAeQ5/zG6iV3hjzOAzNbU0zOJDR1JCuM+4RMLHwTskcQ4urZhpwZSrieZIAHGiCrbNZEXfbEgcKce54BXbAbOwxo5nvDQuu3p5dAqBLGWktOoNDQgio5EWI6he+Dxr4zVp9OC4/kcGuT3Kz3i1s58hP/ABBQ8HCgBH4UXr4pp56Pb94ChHy0VW2TvQD5ZLdDoVPwvBvG6nStvQ8F5usaxf8AZje59pPCyn4XF4PBxv8A5Uls97K1FR0qaDsOCq78bGHUc4Mf+PopGOdwIDhXkW3+oV+Pk6TNLhA1huAAeYWSGDl6/u6qcGJkzZWEP6N1Hf8AVSEUj3GjCKjUG31Xbjml/Gs2n2ABemUKFGJc11HDLzN6FSUE1QujPJL6Xld3wg6BYz8I3gKHosp/RRmJxvJRvqfaL088XgGnh6hReIwHZw+qlqSPbVjiKcxr+qicZM0Xlf4N6Zi6gJ5Cup6Ll5JP4ppHSYQj3bj7p/JYpZQ2OQ8joV6bW2nHG3NN7lgHjU10ygansorFbeZ4Ze1zXxC1yC6+jeBzLkvHfyMume8U94Za8Roe4UPtHdqKQFzRlP3o6U/ubp8qLHh3jblcWvAAFSx+vYA+8eyiJ9s+J8Rh6NuD/lW48cub3lMmvxg7S2U6HUtc2tMzTx5EG4KwCF64icvNT6fvmvJetjy8Z5fbed9e1m2Dv1i8MQM/ixi2SUk21s73gfmOi2Psf2jRzR5v4eeoOVwY0PaDQGzqitiOA1WjZ5so68FvL2WbFMezojI1pfKXTHMLgPPkFx9wM9a0stFli2/t+HCR+JM8Dk0Xc/SzRxNx/haY3u32nxpLbxQ8I2n3tbyEUzVB93QddU9qsL4tovL3Oc2RrXx1NcraZXNF9MzSbU1VWa6qDlERQgUtsna+IwoDmZhG8EAHOGPBs7KQRfqDZeu7+Bie17yWvlbTw4HODA/+YucQHAfcBqVmz42Rkc4xUjXulZlZAHNcI3fDJRpLYg0CwFzXupSzcNPhMcGskbknqQCHvMhYxhI8xbllcTWxLTbVxKhNt7sT4a7m52UqXsDi1tPvVAyqMwWDfK7LG0uIBcaaADUkmzR1Kltjb0SQlocBIxrSwZg0uaxzquAOpGvlJoa3tZBA1WfgtqyR2rUcv0Kyt49tDEvDhE1mWwIAD3N4eJlo2vYAXKh1TfHnc60iyVIYnaAqDHmrqXPoTXk2ugXfE7wTlgYxxYPiykgu/QKMSiznx8Tr0r4Rnx7dnAADyOos49yNVnwb24nR8rnNNMwJuR3F1Aro5V38fNnouY3nhtpsmw7HtcHRAAZb5gQND16rM2ZjRbKdP2O613uNi3uu8BrWjyXyh55U5dVaY8VRxzjI48QLf5C4ryXOuqz76q6RzgrCxRAd5m+WnvDnytooyDGEdRzH7svaeYmjmEW1BtUdCui8ssX8u3hvZtQNwhdG/wAOhArWhPQdVp3bO2pZqNkeXtFhU6LZu+M0MsBbPWNjBmzAXBNgKfESeC05loeNOCjOf8m+6jruu+ZxAaXOLQfKCSQ3sOHouQECLtkkaC5XCKQXWWQNFSuXOpcrDaDI46houTyHPuUt6+x67JwLsXiYoOMr2s7NPvkdm5j6L6pw8Ya0NaKBoAAHAAUC0h7D9keJi5MQfchYWt09+Qih9GB3D41vJoUpa69tGxvFwjZ2gZoH1cbV8N9nfJ2Q07rSTHkaL6n2vgmzQyQvHllY6N3ZzS06d18u47COhlkif78b3Md1LXEEjoaVHQhB6xTA9CvRYr8M4ND6VaeI4HkeRSKYjW4Ud9/SGVRdo2ioBNBUVIFSBxoOK6NeDouUEjj9pAs8GFpjhrUgmrpSPjlPHo3QcF74DYn2RxOIzsw4IAytrJITplBsG2PnNrUuVENNCDa176eoUzh94ZGiZ+Z/jyBrA8EANjBqWhulLC1KWQY22NmeD4bmvzxytL2EjK+gNKPadD10PBRyzYYpsVLSrpJDq5zvdaNS5xs1oHHQKW2lsvDQ0he6TOWh4xDaOhkqNGsF8nCta14IK4i5XCAUREExssysjzgktuGt1P8AVTgFc9mOk8IGTz1uT+9FrmCdzDVpp++Kseyt5i2gf8+C8z5PBvy8ox3m99rhC8i8bvQ/qvd2IDhR1Y3cx+mhUdh8VHKKg0PMfmFkOcQPOA5vP96LklsZ9vTbEzjEI5GtfHqTSoNOJ4grVWKMed3hAiOvlDjUgd1tKNtWlsZzA3yk3HY8lrzeGUGTKIw1zfedSheefKg5rt+Jyf7dNOPXtFoiL0Wwi5WHi56+VvrTj0QcPLpHBrPT9T0WZtFrYoxG3V13Hn/hZuzsGIWFzqZqEk8hTRRmHw7sZiWRt1le1g6AmhPoKlYeXnrr8iv3W8vY7svwdnRuI805dMeodRrOP3GsV5XjhcO2NrWMFGtaGtHIAUH0Xsuhdw4LRXtl2N4ONEw93ENqf62ZWv8AmCw+pW9lS/azsnx9nyOABfDSVtuDf+JS1fcLvUBBpXYWLyktdQtNiO/EDjTl1WXtHYIPmhp/Tw9OR6FV1WzYu0c7Q0mrgKV42tf7wXJyTWL5ZZ6nXtVnBzHEEFrhqCLr3inrrZW3HbPZKPOBXg4fkeXQqq7R2c6JxBuOf6jgtOPnzv1+pmpXdFhxTEdQspkgOi3WSmyNruhD2FrZIpQBLGbZwLjzDzNINwo6XLUloo2thWpA4CvFcIoE47AQ4dkbsS18kkjc7YmuyNYw+6XuAJJOtALcSsLaQw5a18GdhNQ+JxzZaaFr6DM09RWy9JdsZ4mxyxMe5jckcpLhI1tagGho8CppUcVF1UpcorHs2COHDl+Mja5kt4WC07uHitf8EY62cVB45sYefBc5zOBeAHDoaEgkc+KDwREUIZGExj4zVp9OCtGyd5xo6x/fzVPRYcvx8bV1iVsrESsdG97DleGmhGl+aouNxJy+G6hdxOuXoOq8sPtGRgLQagil707LEqsOH4vjruq5x1REXliZso68F3NHTFT0sNfwXOxMMXvrSw1/Gn75rAFXGmpJp6lXfBYZsEVXWDBVxpqfiPev5LLl166iNIneLFZW+ENTQnoOCsHsU2R4uNdO4Ww7Kg0+OQFop/bn+fZUPGYkyPc82rw5cBVb69jWyvC2c15FHTPdIdLtrkj/ANrQfUq3HnxynM6XxERaJF1kYCCDoRQ+q7IUHy3vBso4XEy4cggRvIbWt2axm+oy5brBhkyuDhwIK2b7b9j5ZIcUPj+xd/U0Oew9y0P/APiFq9RZ36RYvezcYydtWm497mORcOPcLz2pgC8UFnXA6g2IryVX2HtDwJM1KgihpY6ggjn2WxYA2RoIuCKg0p6EcCF5++Lx16ZXPVayxWFdG4teKEfWnJeIPJX3eHY5kjI+IeZh49QeYIKockZaS1woRqF2cW+57+2kr2jn5/NZCj13jlIWqzNXeKTK4GgNCDQioNOY49l4xyAruoQydoY180jpJXFz3an8AANAOQXpgNkTzGkUT3D7wHlHdxsPmsJZkG0Xgx53OfGwgiMuOWgNaUrQIlYd7cBhxiHk4iJoa1rQyJhe/M1gBLgKNaa1vVVIrI2jivFlkkpTO4upyrw+Sk92HYcOd/EBpNsuf3aUOb101+aCERZm1TF4rvBFGWoL0BpeleFVhogSqLh7gBUoOssgaKn/ALqNkfU1K9byO5AfQV+pUnsvdt8p8xyNABJOtxUfRVupBk7pbJLz4p0rRnp7zuw0HWqk98nubEGNaaO1p90GnrU/j1U/hsKIow1goKADsP3X1UbtWYEUdoBx4BY7v7VaouBwTpZY4Wg5pHtYKC/mcG5uwrXsCvqnZmFbFEyNgAaxrWNA4BrQB9AtIeyHZYn2i6YirIGlwJHxv8rKcrZyt8NC6M3uLxyiIpBERBXd/tj/AMVgZogPPlL470+0Z5mCw0JFPVfNi+s3hfNu/wBsb+Fx00bW5WE+JHyyvva+gdmb/agrpaeC2PuQ1725HAgAVaeIrcU+80qD2FCxzA40rmrb4agA1HCt+nNWrBYvKMrRQW0tQjSn3T00K4dcku/bO3upR0IeMrqVH48xyVb3k3eEzfKPtmg5XffAqcr+fQqyRNJObn9f0WU+Kt+I06Fa9d+4t00jJhnt95jh6WXEURcRwqaAnSvdbhxYJFHNaRcG1nV404HqoCfAsDQwssCT1FeIPHRRrluIi66a9kjLTQih/d+q9Y5/vfNWluyY8mR172PLt90qB2lsV8dxVzeg8w7ga9wrcfPnXqk1K6ArlYDHkaLKjmB7rdZ6LlcIgIiIBKwZHmRwa29TQdepTFz18o9eqnNj7OyCppnP+0clTk3MRFvT22dstrQ0Uq4GpPM0P0FvkrTgMHxP76fReezMHS5WZi8TkFBcrHE/9aRmfrz2higwdVQt4NpZiWNP9R5n7qzdu7YpmAPm07cz+Siti7Ekxk0cENTJISXGlWxtrQvd21PcDir4nnfL8TPbdHsX2T4WAEpHmxDjJ/YPLHToQM39y2CsTZeBbDDHEz3Y2NY3s0UWWt1hERAREQFqv25bIzRRYpv+m7w36e7IRkPM0eKD+sraijN4tmDE4aaE28Rjmg8jTym3J1Cg+bdkwSnM6A1eyhyA+ZwNakDiBS/cKf2VtlslAfK/lwPbl2VZxmFlw8pjka6OVhFRcEcnC2h4FexcJquf5ZLEvAAYTzfQDISaeb5rHk4ZtW57bEwO0S00P7/RTsOLadCtV4Xa74/s5eQym1QCLH+Zp5qcwe3WBoLzld5a34G1a8R+Cwmt8d6qktjYBoQsPE4MEafvosLZ2Pa6mSRr7kUBFaUrZSbJA4Vatu87jT1VfxeBIv8Av1Ue6Mi30/8AyVYpZCbC5+voozEMJGg78O38pXJycf8AGVir7S2I19XMo13Hke44HqLKt4nDuYcrxQ/j1B4hX2Yga1B/3DjfmFh49sbmUkAI4Ee6ex+Eq3H8i59a+ib/AKp8c9NbhZLXVWPi4g11Gkkaiv7v3Xk15Gi75e53GrOWLi56WBvxSTFW0usWKpcONx63S+hM7E2dpI4f0j/qurJhI76XVeG1AGjMb0P00A/f4Ky7u4sSBxppQA/zEUt9fS/FcVt1r2z+6lYX0aSeFvXkqVvDvG5ziyOgaDd3FxH5VClt69reGzw2G5BAP/2d++ao8IBcAdKivC3yNF0Zz3/xo9YRnJ1LzRrABXM5xDQ3ve3Wi397M9zhgYM0gH8TKAZDQVjFBSEEagGtTxN+Sqfse3QzuGPnHlr/AOHbzNS10jhThYN53PJbiAWyQLlEQEREBERAXDhVcogru9m6WHx0eWVtHiuSRtnsNLX4tv7pstI7f3ZxGznkTDNE8ZRKyuV2lKj4XZqHK7XgV9ILHx+DZLG6ORrXseKOa4Va4cQQg+ZoMS0u8PL40VyBdrmeWrvDPAA1sbED1UbLSpyklvCutOFeq2Pvp7OJcM/+IwQMsYOYxXdIwl2jAB9oyhvW/fhr/AQNfmBNDlqy4oTmAoa62P0UDzwmIdE4PY4hwIII6LYm7+8bZW1pRwPnb6ajmNey1zNEWuLXagkHuFzBO6Nwcw0cLjrTms98f7EWNzOLXUeOF7Kv75490QzRgZXUIcNKj3mvHrqF5bJ2yHirXV59D25a3Uhj4mzRvYTQPGovlIuDTiFz3Xc6U77UKTbxc8+U5S2wrdjstCWni2t6FYr9pEsoRet/uuFOI4FY+OwToXljwAdQRoRzHReK2zxYs76WmY9Z5ASCAQKAUPC5+i8kRbSSTqLOkq6NNNF2kXRSOCNFf8HTDwBpIBDau6E3Py/JVXdzCl0of8LL34kigH1r6LN3jxtsmtdRyHBcvJe9dRS/aI2jiTLKXCtyA0dNB8z+Ksm4m5xx2Jyu/wDLxU8Y3GYkf8NpHxHjyHcFQWy9kSYiWKGJpMkhqOTW1u8/ygVcT+q+kd1N3o8Dh2wR0sKvdShkfQZnu6mnoAAumTqdLpXDxgNAaKACgA4AWAXqiKQREQEREBERAREQEREHVzarX2/Hs3jxVZcPlin4ilI5NScwA8rjX3h611Ww0KD5bkwbosT4eLY5jh77XWIzAhrqjUVoajWhWFPHRxF+leI59R1X0nvTurBjmZZxce49tA9hpwNLjobFaK3l3Wn2fK0zNEkWYZJKfZycchBJyusfKedib0CEwWIyOrfhccP3+avGz8eHNDmEEceh/JUjF0rVoFDXSg9KfCbivDkuMLinxuq0kHlzHULn5eHyvc+1NZ7W3eDZgnaHC0jbV4EE2DhwNfiFlTD/AIVv2XthslAfK/lwPb9FG7w7Ma0GVgpfzAaCp1I4X9FnxclzfHSM66+0CuVwi7Gjzl1XVoJIA1K5fqs3ZEQz53WawE160oPqq614ztFvUSrHjDQCvvHhzceHYBQ+IhPndI4F1hSty4jhT3qVpbjRZM0znnxDUGhMYpXK0fHStRegHU14K9+x/dDxnNxk944yfAafifWpkNrtHC9zU8Aq8eOvd+0Zn6t/sv3P/g4BLKK4iUAuqBWJurYwfWp69lfV1aF2WiwiIgIiICIiAiIgIiICIiAiIgFY2NwbJGOjewOY4FrmkVBB1CyUQaT349mD4AZsEHSRC7orukZp7mpkGpp73dUB8zTEGkVeHG51DaNt1uHWP0X1UQqBvz7N4sVWXD5YsQbmwDJTW5eAK5j9/wCdUGjMpADuFbHhUdVMYHbNW+HNcEUDuI78xovOWF2Fc/D4mANfYnPmq2xDXNDXUI/mGoUZHE41oCcozGl6Dn2VN8c19oslemMiDXUFNBpoeoXguVwrZnU6TI8XarOwzS5lL5G3dcAvJqWtFeX0F1gFSezopZ5ooMMyrjVjG9XN87zXjSpJ4AJZKJnc/dh20MZl83gtDXTPAygCg+zblpQkggU0F19F4bDtja1jGhrWgNaBoABQD5KF3P3bjwOHbDHQu1kfQB0jzq40+QHAUU+pBERAREQEREBERAREQEREBERAREQEREBcFcogg9592YMbHkmbUj3Xts9h5g8uhsVo3endXE7MlDiax1oydtmkmoyuBrldwobGtuS+jl4YrCMkaWyNDmuFHNcKgjkQdUHyjWt/3/hFsffj2ZuhrNgg6SLV0VavjABJc0uNZG2096/Fa4KDwW+PZLuacLF/ETNHjzAUB1ij1DbgEOOrh2HBU72R7nePIMXM37GN32bTX7SQUIfyLGn5ntfejdEABcoiAiIgIiICIiAiIgIiICIiAiIgIiICIiAiIgIiIOr1SN8fZ3hsY4SgmGUuAe5gbSQOcAS8cXUrR3zroiILdszBshjbFG0NYxoY1o0DW2AWWiICIiAiIgIiICIiAiI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202" name="Picture 10" descr="http://www.codeproject.com/KB/directx/dx_capture/directx.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 y="4297458"/>
            <a:ext cx="1548172" cy="1610815"/>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descr="OpenGL log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6256" y="4401616"/>
            <a:ext cx="2095500" cy="1019176"/>
          </a:xfrm>
          <a:prstGeom prst="rect">
            <a:avLst/>
          </a:prstGeom>
          <a:noFill/>
          <a:extLst>
            <a:ext uri="{909E8E84-426E-40DD-AFC4-6F175D3DCCD1}">
              <a14:hiddenFill xmlns:a14="http://schemas.microsoft.com/office/drawing/2010/main">
                <a:solidFill>
                  <a:srgbClr val="FFFFFF"/>
                </a:solidFill>
              </a14:hiddenFill>
            </a:ext>
          </a:extLst>
        </p:spPr>
      </p:pic>
      <p:sp>
        <p:nvSpPr>
          <p:cNvPr id="11" name="标题 2">
            <a:extLst>
              <a:ext uri="{FF2B5EF4-FFF2-40B4-BE49-F238E27FC236}">
                <a16:creationId xmlns:a16="http://schemas.microsoft.com/office/drawing/2014/main" id="{C4E9EBE0-896F-4343-AC4A-6748B1E31D37}"/>
              </a:ext>
            </a:extLst>
          </p:cNvPr>
          <p:cNvSpPr>
            <a:spLocks noGrp="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多媒体软硬件系统</a:t>
            </a:r>
          </a:p>
        </p:txBody>
      </p:sp>
      <p:sp>
        <p:nvSpPr>
          <p:cNvPr id="2" name="灯片编号占位符 1">
            <a:extLst>
              <a:ext uri="{FF2B5EF4-FFF2-40B4-BE49-F238E27FC236}">
                <a16:creationId xmlns:a16="http://schemas.microsoft.com/office/drawing/2014/main" id="{3E56833A-C817-471E-A526-079667B8F576}"/>
              </a:ext>
            </a:extLst>
          </p:cNvPr>
          <p:cNvSpPr>
            <a:spLocks noGrp="1"/>
          </p:cNvSpPr>
          <p:nvPr>
            <p:ph type="sldNum" sz="quarter" idx="12"/>
          </p:nvPr>
        </p:nvSpPr>
        <p:spPr/>
        <p:txBody>
          <a:bodyPr/>
          <a:lstStyle/>
          <a:p>
            <a:fld id="{F64BA984-46A0-4F46-990E-EC790E6934B4}" type="slidenum">
              <a:rPr lang="zh-CN" altLang="en-US" smtClean="0"/>
              <a:t>28</a:t>
            </a:fld>
            <a:endParaRPr lang="zh-CN" altLang="en-US"/>
          </a:p>
        </p:txBody>
      </p:sp>
    </p:spTree>
    <p:extLst>
      <p:ext uri="{BB962C8B-B14F-4D97-AF65-F5344CB8AC3E}">
        <p14:creationId xmlns:p14="http://schemas.microsoft.com/office/powerpoint/2010/main" val="164055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6"/>
                                        </p:tgtEl>
                                        <p:attrNameLst>
                                          <p:attrName>style.visibility</p:attrName>
                                        </p:attrNameLst>
                                      </p:cBhvr>
                                      <p:to>
                                        <p:strVal val="visible"/>
                                      </p:to>
                                    </p:set>
                                    <p:animEffect transition="in" filter="fade">
                                      <p:cBhvr>
                                        <p:cTn id="12" dur="500"/>
                                        <p:tgtEl>
                                          <p:spTgt spid="8196"/>
                                        </p:tgtEl>
                                      </p:cBhvr>
                                    </p:animEffect>
                                  </p:childTnLst>
                                </p:cTn>
                              </p:par>
                              <p:par>
                                <p:cTn id="13" presetID="10" presetClass="entr" presetSubtype="0" fill="hold" nodeType="withEffect">
                                  <p:stCondLst>
                                    <p:cond delay="0"/>
                                  </p:stCondLst>
                                  <p:childTnLst>
                                    <p:set>
                                      <p:cBhvr>
                                        <p:cTn id="14" dur="1" fill="hold">
                                          <p:stCondLst>
                                            <p:cond delay="0"/>
                                          </p:stCondLst>
                                        </p:cTn>
                                        <p:tgtEl>
                                          <p:spTgt spid="8198"/>
                                        </p:tgtEl>
                                        <p:attrNameLst>
                                          <p:attrName>style.visibility</p:attrName>
                                        </p:attrNameLst>
                                      </p:cBhvr>
                                      <p:to>
                                        <p:strVal val="visible"/>
                                      </p:to>
                                    </p:set>
                                    <p:animEffect transition="in" filter="fade">
                                      <p:cBhvr>
                                        <p:cTn id="15" dur="500"/>
                                        <p:tgtEl>
                                          <p:spTgt spid="8198"/>
                                        </p:tgtEl>
                                      </p:cBhvr>
                                    </p:animEffect>
                                  </p:childTnLst>
                                </p:cTn>
                              </p:par>
                              <p:par>
                                <p:cTn id="16" presetID="10" presetClass="entr" presetSubtype="0" fill="hold" nodeType="withEffect">
                                  <p:stCondLst>
                                    <p:cond delay="0"/>
                                  </p:stCondLst>
                                  <p:childTnLst>
                                    <p:set>
                                      <p:cBhvr>
                                        <p:cTn id="17" dur="1" fill="hold">
                                          <p:stCondLst>
                                            <p:cond delay="0"/>
                                          </p:stCondLst>
                                        </p:cTn>
                                        <p:tgtEl>
                                          <p:spTgt spid="8202"/>
                                        </p:tgtEl>
                                        <p:attrNameLst>
                                          <p:attrName>style.visibility</p:attrName>
                                        </p:attrNameLst>
                                      </p:cBhvr>
                                      <p:to>
                                        <p:strVal val="visible"/>
                                      </p:to>
                                    </p:set>
                                    <p:animEffect transition="in" filter="fade">
                                      <p:cBhvr>
                                        <p:cTn id="18" dur="500"/>
                                        <p:tgtEl>
                                          <p:spTgt spid="8202"/>
                                        </p:tgtEl>
                                      </p:cBhvr>
                                    </p:animEffect>
                                  </p:childTnLst>
                                </p:cTn>
                              </p:par>
                              <p:par>
                                <p:cTn id="19" presetID="10" presetClass="entr" presetSubtype="0" fill="hold" nodeType="withEffect">
                                  <p:stCondLst>
                                    <p:cond delay="0"/>
                                  </p:stCondLst>
                                  <p:childTnLst>
                                    <p:set>
                                      <p:cBhvr>
                                        <p:cTn id="20" dur="1" fill="hold">
                                          <p:stCondLst>
                                            <p:cond delay="0"/>
                                          </p:stCondLst>
                                        </p:cTn>
                                        <p:tgtEl>
                                          <p:spTgt spid="8204"/>
                                        </p:tgtEl>
                                        <p:attrNameLst>
                                          <p:attrName>style.visibility</p:attrName>
                                        </p:attrNameLst>
                                      </p:cBhvr>
                                      <p:to>
                                        <p:strVal val="visible"/>
                                      </p:to>
                                    </p:set>
                                    <p:animEffect transition="in" filter="fade">
                                      <p:cBhvr>
                                        <p:cTn id="21" dur="500"/>
                                        <p:tgtEl>
                                          <p:spTgt spid="8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多媒体研究的对象</a:t>
            </a:r>
          </a:p>
        </p:txBody>
      </p:sp>
      <p:sp>
        <p:nvSpPr>
          <p:cNvPr id="57348" name="Text Box 4"/>
          <p:cNvSpPr txBox="1">
            <a:spLocks noChangeArrowheads="1"/>
          </p:cNvSpPr>
          <p:nvPr/>
        </p:nvSpPr>
        <p:spPr bwMode="auto">
          <a:xfrm>
            <a:off x="1812925" y="20018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zh-CN"/>
          </a:p>
        </p:txBody>
      </p:sp>
      <p:sp>
        <p:nvSpPr>
          <p:cNvPr id="57349" name="Text Box 5"/>
          <p:cNvSpPr txBox="1">
            <a:spLocks noChangeArrowheads="1"/>
          </p:cNvSpPr>
          <p:nvPr/>
        </p:nvSpPr>
        <p:spPr bwMode="auto">
          <a:xfrm>
            <a:off x="323528" y="1052736"/>
            <a:ext cx="441248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571500">
              <a:lnSpc>
                <a:spcPct val="150000"/>
              </a:lnSpc>
              <a:buFont typeface="Arial" panose="020B0604020202020204" pitchFamily="34" charset="0"/>
              <a:buChar char="•"/>
            </a:pPr>
            <a:r>
              <a:rPr lang="en-US" altLang="zh-CN" sz="3600" b="1" dirty="0">
                <a:solidFill>
                  <a:srgbClr val="002060"/>
                </a:solidFill>
                <a:latin typeface="+mj-ea"/>
                <a:ea typeface="+mj-ea"/>
              </a:rPr>
              <a:t>  </a:t>
            </a:r>
            <a:r>
              <a:rPr kumimoji="0" lang="zh-CN" altLang="en-US" sz="3600" b="1" dirty="0">
                <a:solidFill>
                  <a:srgbClr val="002060"/>
                </a:solidFill>
                <a:latin typeface="+mj-ea"/>
                <a:ea typeface="+mj-ea"/>
              </a:rPr>
              <a:t>文 本</a:t>
            </a:r>
          </a:p>
          <a:p>
            <a:pPr marL="571500">
              <a:lnSpc>
                <a:spcPct val="150000"/>
              </a:lnSpc>
              <a:buFont typeface="Arial" panose="020B0604020202020204" pitchFamily="34" charset="0"/>
              <a:buChar char="•"/>
            </a:pPr>
            <a:r>
              <a:rPr kumimoji="0" lang="zh-CN" altLang="en-US" sz="3600" b="1" dirty="0">
                <a:solidFill>
                  <a:srgbClr val="002060"/>
                </a:solidFill>
                <a:latin typeface="+mj-ea"/>
                <a:ea typeface="+mj-ea"/>
              </a:rPr>
              <a:t>  图 形</a:t>
            </a:r>
          </a:p>
          <a:p>
            <a:pPr marL="571500">
              <a:lnSpc>
                <a:spcPct val="150000"/>
              </a:lnSpc>
              <a:buFont typeface="Arial" panose="020B0604020202020204" pitchFamily="34" charset="0"/>
              <a:buChar char="•"/>
            </a:pPr>
            <a:r>
              <a:rPr kumimoji="0" lang="zh-CN" altLang="en-US" sz="3600" b="1" dirty="0">
                <a:solidFill>
                  <a:srgbClr val="002060"/>
                </a:solidFill>
                <a:latin typeface="+mj-ea"/>
                <a:ea typeface="+mj-ea"/>
              </a:rPr>
              <a:t>  图 像</a:t>
            </a:r>
          </a:p>
          <a:p>
            <a:pPr marL="571500">
              <a:lnSpc>
                <a:spcPct val="150000"/>
              </a:lnSpc>
              <a:buFont typeface="Arial" panose="020B0604020202020204" pitchFamily="34" charset="0"/>
              <a:buChar char="•"/>
            </a:pPr>
            <a:r>
              <a:rPr kumimoji="0" lang="zh-CN" altLang="en-US" sz="3600" b="1" dirty="0">
                <a:solidFill>
                  <a:srgbClr val="002060"/>
                </a:solidFill>
                <a:latin typeface="+mj-ea"/>
                <a:ea typeface="+mj-ea"/>
              </a:rPr>
              <a:t>  动 画</a:t>
            </a:r>
          </a:p>
          <a:p>
            <a:pPr marL="571500">
              <a:lnSpc>
                <a:spcPct val="150000"/>
              </a:lnSpc>
              <a:buFont typeface="Arial" panose="020B0604020202020204" pitchFamily="34" charset="0"/>
              <a:buChar char="•"/>
            </a:pPr>
            <a:r>
              <a:rPr kumimoji="0" lang="zh-CN" altLang="en-US" sz="3600" b="1" dirty="0">
                <a:solidFill>
                  <a:srgbClr val="002060"/>
                </a:solidFill>
                <a:latin typeface="+mj-ea"/>
                <a:ea typeface="+mj-ea"/>
              </a:rPr>
              <a:t>  音 频</a:t>
            </a:r>
          </a:p>
          <a:p>
            <a:pPr marL="571500">
              <a:lnSpc>
                <a:spcPct val="150000"/>
              </a:lnSpc>
              <a:buFont typeface="Arial" panose="020B0604020202020204" pitchFamily="34" charset="0"/>
              <a:buChar char="•"/>
            </a:pPr>
            <a:r>
              <a:rPr kumimoji="0" lang="zh-CN" altLang="en-US" sz="3600" b="1" dirty="0">
                <a:solidFill>
                  <a:srgbClr val="002060"/>
                </a:solidFill>
                <a:latin typeface="+mj-ea"/>
                <a:ea typeface="+mj-ea"/>
              </a:rPr>
              <a:t>  视 频</a:t>
            </a:r>
          </a:p>
        </p:txBody>
      </p:sp>
      <p:sp>
        <p:nvSpPr>
          <p:cNvPr id="2" name="灯片编号占位符 1">
            <a:extLst>
              <a:ext uri="{FF2B5EF4-FFF2-40B4-BE49-F238E27FC236}">
                <a16:creationId xmlns:a16="http://schemas.microsoft.com/office/drawing/2014/main" id="{451F9F59-37EB-4D64-BF64-D4F4297E18F2}"/>
              </a:ext>
            </a:extLst>
          </p:cNvPr>
          <p:cNvSpPr>
            <a:spLocks noGrp="1"/>
          </p:cNvSpPr>
          <p:nvPr>
            <p:ph type="sldNum" sz="quarter" idx="12"/>
          </p:nvPr>
        </p:nvSpPr>
        <p:spPr/>
        <p:txBody>
          <a:bodyPr/>
          <a:lstStyle/>
          <a:p>
            <a:fld id="{F64BA984-46A0-4F46-990E-EC790E6934B4}" type="slidenum">
              <a:rPr lang="zh-CN" altLang="en-US" smtClean="0"/>
              <a:t>29</a:t>
            </a:fld>
            <a:endParaRPr lang="zh-CN" altLang="en-US"/>
          </a:p>
        </p:txBody>
      </p:sp>
    </p:spTree>
    <p:extLst>
      <p:ext uri="{BB962C8B-B14F-4D97-AF65-F5344CB8AC3E}">
        <p14:creationId xmlns:p14="http://schemas.microsoft.com/office/powerpoint/2010/main" val="187380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fade">
                                      <p:cBhvr>
                                        <p:cTn id="7" dur="20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blinds(horizontal)">
                                      <p:cBhvr>
                                        <p:cTn id="12" dur="3000"/>
                                        <p:tgtEl>
                                          <p:spTgt spid="57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p:bldP spid="5734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AutoShape 4"/>
          <p:cNvSpPr>
            <a:spLocks noChangeArrowheads="1"/>
          </p:cNvSpPr>
          <p:nvPr/>
        </p:nvSpPr>
        <p:spPr bwMode="auto">
          <a:xfrm>
            <a:off x="1619672" y="5257316"/>
            <a:ext cx="5638800" cy="762000"/>
          </a:xfrm>
          <a:prstGeom prst="flowChartAlternateProcess">
            <a:avLst/>
          </a:prstGeom>
          <a:gradFill rotWithShape="0">
            <a:gsLst>
              <a:gs pos="0">
                <a:srgbClr val="CC3300"/>
              </a:gs>
              <a:gs pos="50000">
                <a:srgbClr val="CC3300">
                  <a:gamma/>
                  <a:shade val="46275"/>
                  <a:invGamma/>
                </a:srgbClr>
              </a:gs>
              <a:gs pos="100000">
                <a:srgbClr val="CC3300"/>
              </a:gs>
            </a:gsLst>
            <a:lin ang="1890000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bg1"/>
                </a:solidFill>
                <a:effectLst>
                  <a:outerShdw blurRad="38100" dist="38100" dir="2700000" algn="tl">
                    <a:srgbClr val="000000"/>
                  </a:outerShdw>
                </a:effectLst>
                <a:latin typeface="Times New Roman" pitchFamily="18" charset="0"/>
              </a:rPr>
              <a:t>各类文字和符号</a:t>
            </a:r>
            <a:endParaRPr lang="zh-CN" altLang="en-US" sz="2000" b="1" dirty="0">
              <a:latin typeface="Times New Roman" pitchFamily="18" charset="0"/>
            </a:endParaRPr>
          </a:p>
        </p:txBody>
      </p:sp>
      <p:sp>
        <p:nvSpPr>
          <p:cNvPr id="59399" name="AutoShape 7"/>
          <p:cNvSpPr>
            <a:spLocks noChangeArrowheads="1"/>
          </p:cNvSpPr>
          <p:nvPr/>
        </p:nvSpPr>
        <p:spPr bwMode="auto">
          <a:xfrm>
            <a:off x="1546224" y="2060848"/>
            <a:ext cx="5638800" cy="2895228"/>
          </a:xfrm>
          <a:prstGeom prst="roundRect">
            <a:avLst>
              <a:gd name="adj" fmla="val 5741"/>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pPr>
            <a:r>
              <a:rPr lang="zh-CN" altLang="en-US" sz="2800" b="1" dirty="0">
                <a:solidFill>
                  <a:srgbClr val="0000FF"/>
                </a:solidFill>
                <a:effectLst/>
                <a:latin typeface="宋体" pitchFamily="2" charset="-122"/>
                <a:ea typeface="宋体" pitchFamily="2" charset="-122"/>
              </a:rPr>
              <a:t>人机交互早期出现的媒体；</a:t>
            </a:r>
            <a:endParaRPr lang="zh-TW" altLang="en-US" sz="2800" b="1" dirty="0">
              <a:solidFill>
                <a:srgbClr val="0000FF"/>
              </a:solidFill>
              <a:effectLst/>
              <a:latin typeface="宋体" pitchFamily="2" charset="-122"/>
              <a:ea typeface="宋体" pitchFamily="2" charset="-122"/>
            </a:endParaRPr>
          </a:p>
          <a:p>
            <a:pPr>
              <a:lnSpc>
                <a:spcPct val="150000"/>
              </a:lnSpc>
            </a:pPr>
            <a:r>
              <a:rPr lang="zh-CN" altLang="en-US" sz="2800" b="1" dirty="0">
                <a:solidFill>
                  <a:srgbClr val="0000FF"/>
                </a:solidFill>
                <a:effectLst/>
                <a:latin typeface="宋体" pitchFamily="2" charset="-122"/>
                <a:ea typeface="宋体" pitchFamily="2" charset="-122"/>
              </a:rPr>
              <a:t>存储空间小，易与处理；</a:t>
            </a:r>
            <a:endParaRPr lang="en-US" altLang="zh-CN" sz="2800" b="1" dirty="0">
              <a:solidFill>
                <a:srgbClr val="0000FF"/>
              </a:solidFill>
              <a:effectLst/>
              <a:latin typeface="宋体" pitchFamily="2" charset="-122"/>
              <a:ea typeface="宋体" pitchFamily="2" charset="-122"/>
            </a:endParaRPr>
          </a:p>
          <a:p>
            <a:pPr>
              <a:lnSpc>
                <a:spcPct val="150000"/>
              </a:lnSpc>
            </a:pPr>
            <a:r>
              <a:rPr lang="zh-CN" altLang="en-US" sz="2800" b="1" dirty="0">
                <a:solidFill>
                  <a:srgbClr val="0000FF"/>
                </a:solidFill>
                <a:effectLst/>
                <a:latin typeface="宋体" pitchFamily="2" charset="-122"/>
                <a:ea typeface="宋体" pitchFamily="2" charset="-122"/>
              </a:rPr>
              <a:t>可呈现的内容精确；</a:t>
            </a:r>
            <a:endParaRPr lang="zh-TW" altLang="en-US" sz="2800" b="1" dirty="0">
              <a:solidFill>
                <a:srgbClr val="0000FF"/>
              </a:solidFill>
              <a:latin typeface="宋体" pitchFamily="2" charset="-122"/>
              <a:ea typeface="宋体" pitchFamily="2" charset="-122"/>
            </a:endParaRPr>
          </a:p>
          <a:p>
            <a:pPr>
              <a:lnSpc>
                <a:spcPct val="150000"/>
              </a:lnSpc>
            </a:pPr>
            <a:r>
              <a:rPr lang="zh-CN" altLang="en-US" sz="2800" b="1" dirty="0">
                <a:solidFill>
                  <a:srgbClr val="0000FF"/>
                </a:solidFill>
                <a:latin typeface="宋体" pitchFamily="2" charset="-122"/>
                <a:ea typeface="宋体" pitchFamily="2" charset="-122"/>
              </a:rPr>
              <a:t>可视化差，吸引力小；</a:t>
            </a:r>
          </a:p>
        </p:txBody>
      </p:sp>
      <p:sp>
        <p:nvSpPr>
          <p:cNvPr id="2" name="标题 1"/>
          <p:cNvSpPr>
            <a:spLocks noGrp="1"/>
          </p:cNvSpPr>
          <p:nvPr>
            <p:ph type="title"/>
          </p:nvPr>
        </p:nvSpPr>
        <p:spPr>
          <a:xfrm>
            <a:off x="324272" y="1056345"/>
            <a:ext cx="8229600" cy="703263"/>
          </a:xfrm>
        </p:spPr>
        <p:txBody>
          <a:bodyPr>
            <a:normAutofit fontScale="90000"/>
          </a:bodyPr>
          <a:lstStyle/>
          <a:p>
            <a:r>
              <a:rPr lang="zh-CN" altLang="en-US" dirty="0"/>
              <a:t>文本：人们常用的各种文字和符号</a:t>
            </a:r>
          </a:p>
        </p:txBody>
      </p:sp>
      <p:sp>
        <p:nvSpPr>
          <p:cNvPr id="5" name="Rectangle 2">
            <a:extLst>
              <a:ext uri="{FF2B5EF4-FFF2-40B4-BE49-F238E27FC236}">
                <a16:creationId xmlns:a16="http://schemas.microsoft.com/office/drawing/2014/main" id="{01803FD3-C636-4B6B-A1F4-E54686524E1B}"/>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3" name="灯片编号占位符 2">
            <a:extLst>
              <a:ext uri="{FF2B5EF4-FFF2-40B4-BE49-F238E27FC236}">
                <a16:creationId xmlns:a16="http://schemas.microsoft.com/office/drawing/2014/main" id="{2DA2CFA7-34E4-4288-A164-0E91E33FA95A}"/>
              </a:ext>
            </a:extLst>
          </p:cNvPr>
          <p:cNvSpPr>
            <a:spLocks noGrp="1"/>
          </p:cNvSpPr>
          <p:nvPr>
            <p:ph type="sldNum" sz="quarter" idx="12"/>
          </p:nvPr>
        </p:nvSpPr>
        <p:spPr/>
        <p:txBody>
          <a:bodyPr/>
          <a:lstStyle/>
          <a:p>
            <a:fld id="{F64BA984-46A0-4F46-990E-EC790E6934B4}" type="slidenum">
              <a:rPr lang="zh-CN" altLang="en-US" smtClean="0"/>
              <a:t>30</a:t>
            </a:fld>
            <a:endParaRPr lang="zh-CN" altLang="en-US"/>
          </a:p>
        </p:txBody>
      </p:sp>
    </p:spTree>
    <p:extLst>
      <p:ext uri="{BB962C8B-B14F-4D97-AF65-F5344CB8AC3E}">
        <p14:creationId xmlns:p14="http://schemas.microsoft.com/office/powerpoint/2010/main" val="2626783767"/>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928" y="1084868"/>
            <a:ext cx="8229600" cy="703263"/>
          </a:xfrm>
        </p:spPr>
        <p:txBody>
          <a:bodyPr>
            <a:normAutofit fontScale="90000"/>
          </a:bodyPr>
          <a:lstStyle/>
          <a:p>
            <a:r>
              <a:rPr lang="zh-CN" altLang="en-US" dirty="0"/>
              <a:t>文本的特点</a:t>
            </a:r>
          </a:p>
        </p:txBody>
      </p:sp>
      <p:sp>
        <p:nvSpPr>
          <p:cNvPr id="32771" name="Rectangle 3"/>
          <p:cNvSpPr>
            <a:spLocks noGrp="1" noChangeArrowheads="1"/>
          </p:cNvSpPr>
          <p:nvPr>
            <p:ph idx="4294967295"/>
          </p:nvPr>
        </p:nvSpPr>
        <p:spPr>
          <a:xfrm>
            <a:off x="356280" y="1867563"/>
            <a:ext cx="8229600" cy="2176345"/>
          </a:xfrm>
        </p:spPr>
        <p:txBody>
          <a:bodyPr>
            <a:normAutofit fontScale="92500" lnSpcReduction="10000"/>
          </a:bodyPr>
          <a:lstStyle/>
          <a:p>
            <a:pPr marL="0" indent="0">
              <a:buNone/>
            </a:pPr>
            <a:r>
              <a:rPr lang="zh-CN" altLang="en-US" dirty="0">
                <a:solidFill>
                  <a:srgbClr val="FF0000"/>
                </a:solidFill>
              </a:rPr>
              <a:t>优点：</a:t>
            </a:r>
            <a:endParaRPr lang="en-US" altLang="zh-CN" dirty="0">
              <a:solidFill>
                <a:srgbClr val="FF0000"/>
              </a:solidFill>
            </a:endParaRPr>
          </a:p>
          <a:p>
            <a:pPr marL="0" indent="0">
              <a:buNone/>
            </a:pPr>
            <a:r>
              <a:rPr lang="en-US" altLang="zh-TW" dirty="0"/>
              <a:t> </a:t>
            </a:r>
            <a:r>
              <a:rPr lang="zh-CN" altLang="en-US" dirty="0"/>
              <a:t>存储需要的资源较少；</a:t>
            </a:r>
            <a:endParaRPr lang="en-US" altLang="zh-CN" dirty="0"/>
          </a:p>
          <a:p>
            <a:pPr marL="0" indent="0">
              <a:buNone/>
            </a:pPr>
            <a:r>
              <a:rPr lang="en-US" altLang="zh-CN" dirty="0"/>
              <a:t>		</a:t>
            </a:r>
          </a:p>
          <a:p>
            <a:pPr marL="0" indent="0">
              <a:buNone/>
            </a:pPr>
            <a:r>
              <a:rPr lang="en-US" altLang="zh-TW" dirty="0"/>
              <a:t>	</a:t>
            </a:r>
            <a:endParaRPr lang="en-US" altLang="zh-CN" dirty="0"/>
          </a:p>
        </p:txBody>
      </p:sp>
      <p:sp>
        <p:nvSpPr>
          <p:cNvPr id="3" name="AutoShape 2" descr="data:image/jpeg;base64,/9j/4AAQSkZJRgABAQAAAQABAAD/2wCEAAkGBxQSEhUUEBQWFBQVFBQVFBcUFBUWFxYUFBUWGBQUFxoZHSggGBolHBQUITEhJSkrLi4uFx8zODMsNygtLi0BCgoKDg0OFBAQFCscFhksLCssLSwsKywsLDcsLCssLCssLCssLCwsNSw3OCwrLC8sNyssNys3KzEsLCwsKyw4LP/AABEIAOEA4QMBIgACEQEDEQH/xAAcAAEAAQUBAQAAAAAAAAAAAAAABwECBQYIBAP/xAA8EAACAgADBgMFBwMEAQUAAAABAgADBBEhBQYSMUFRBxNhIjJCUoEjYnGRobHBFFPRM0Ny8MIlc4Kiw//EABkBAQEBAQEBAAAAAAAAAAAAAAABBQIEA//EACARAQACAgICAwEAAAAAAAAAAAABAgQREjEDIQVBUSL/2gAMAwEAAhEDEQA/AJxiIgIiICImlb9b9V4JCqENZy0yPCewHxN+g6wMvvRvPTgkLWEFsswmeX1Y/CP+jORSPGe4W/6YevPlkE0z6aE/mZHm3Nt3Yty9rHLMnIkkD1Y9T6/lMO1gB7/pIOud2tvVY2hL6T7LDUHmp6gzLTn3wt3pFI4FJzVieA9UPP8AGTxs3HJcges5g/mD2Mo9UREBERAREQEREBERAREQEREBERAREQEREBERAShMEyK/Ejf/AIAaMKc2IyZgef8Ahf3gevxE8REw6mrDHic5gkH8wD0HdvykG47HNaxe1sz36AdgJ58TcxYtYSSTqe/oJ4brC3oByEguxGJz0Gg/f1M+OctaVWUffC4hq2DIciDpJe8P9+uEgk9MnTuB1HrIbn3weKapwyHIj9fSQdj4HGJci2VniVhmD/H4z0SEvDnfYJln7h/1E+U/MJNGGvV1DIQysMwR1lH1iIgIiICIiAiIgIiICIiAiIgIiICIiAlCYJkX+Ke/ow6nD0HOw+yxB/Meg79+XrA+fiXv+EBw+FObEZMw/n7vp1/DnDeKxOWbuSWJz15sZZdi+b2Ekk692PaYfEXljmfoOw7CQX33Fzmfy6CfKW5xKLjLZUGVygUWXSgErA9Wz8c1ThkOR/eTJ4cb9cOSuc6z7y9UPzL6dxIRnq2fjmqcMpyykHZFVgYAqQQRmCORBl8iPw136UgVWH2D/wDQnqPu+nSS2rZjMdZRWIiAiIgIiICIiAiIgIiICIiAiIgYbe/EWV4O96c+Na2Iy5juR65ZzlPFYhrHL2EknUk6n8NeU7DdARkRmDoc+o7SH9/vDipeOyhAqvnqB7jHocvhzgQfiLSx1+g7CfGerG4RqnKWDJlORz/f8J54FsZS7KWwEqDKSuUC7KIBlYFIifSmosQFBJJyAHMnsIHp2Xj3pcOh5HOdFeHO3rLKV85StZA4OLmD1H/GR3ubuIE4bcWAX5rXzC9i3c+kkjDuF/CZnm+RrW/GvtNt5BlZrWzNvoti0O2rDNSenYHtn0myAzQpeL1iYVWIidhERAREQEREBERAREQEREBLLagwKsMwRkQeol8QIb8S9wgRxVjT4G+U/wBtvTsZCeKw7VsUccLKciDOy8RQrqVcZqwyIPUSFvEzcTI8VY78Ddx/bf17GQQxKET630FGKsCCDkQek+cotAl0RAoRKxlPfsjZVmJsFdK5sfyA7k9BObWisbnofHZ+Be5xXUpZ25AfufSTDuduemEAd8nvI1bLRPup/me3dbdmvBpkvtWEe255k9h2EzjNlMPKzJ8k8adONq55TUt7t9K8JmleVl/y/Cnq/wDiYjfTfrg4qcIc25NYPh7hPX1kZOcySdSTmSdcyev4z6YmBy/rydfixDZ9kb3Wi0te3HxnMk6f/HsB27ScdyN8Bbw1XNmW0psOnFlzqftYP1E5lme3e24aTwv7VbZZjPLl7pB+Fx0P0mzEREajp062iaXuJvcMQq02uGs4c6rOXnIOefaxfiH1m6ShERAREQEREBERAREQEREBERAT4YvCrahSwBlYZEGfeIED+Je4rI3GgzPwt84Hwt94SJLEIJB0I5zsnaGCS5ClgzU/mD0I9ZAfiVuO1LF0XXU5jk69/wDkJBGEZSrCe/Y2yrMTatdQzY/ko6sfSLWisbkXbD2PZirBXUMyeZ6KPmJk1bt7v14OvgrGbH33PNj/AI9JXdrYFeDq4Kxmx1dzzY/49JlL7lVSzEKoGZJOQAHWYOVl281uNenMztW2wKCScgBmSdAAOsirfXfY3FqcKStfJ3GhfuB2X955t9d8GxTGqglaAdTyNhHf7vpNRInqxMLjq9+1iFstlxEtM1VUiIgZ/dvbZqYKScuIMCpyZWHJ0PRx+vIzojcbe1cWgrtZfPVc8xotycvMT1+Zeh9JyzNi3b281Tr7RUq3Ejr7yP8AOv8AK8iIHWMTWNyt61xqcLZLegBsUcmB5W190P6cps8BERAREQEREBERAREQEREBERATxbW2amIrNdg0PI9VPQie2IHOO+m4FqYnhpT2mPT3SD8Y9O/ablutu0mCq4R7TnWx+pPYdlkpY7BixcjofhPYzUcehrYh8gQM9dBl3/CZnyEeSa+ukl47rAoJYgADMk8gB1MiHfje9sSxqpJFAOpGhsI6n7vpPTv7vgb2NGHP2SnJm+cj/wAR+s0STCwuOr3j39EQvVtZeJ8Rzn04pqKz26mzqbXsbE2V11VVM/2pyVrDpWhAIYgnoNZIAbD1smFVcNhr1qTEuuHr8wYhRm4w6WvqrEDscwdJFuxtrPhrkuqy4kPJgCrKfeRgehEkg73Yd0usrxFWFDCh661o4rldCPNqJQDKs5AA59e0DSt+dnrXij5dJoL1i6ygN5nkl9SuYA0y1y6ZzXAJIW6m9Vtm1bXWnz1xjFbK8gWFRyyIPQAcxynx8StxTgnN2HBOFc/Wpj8J+6ehlGiZQDESDYdg7xW0Mj1Nw2VnND+PvDLqh6r9ROjtx97qto0ca5LauQurzzKt3HdT0M5RU5cpn92d4bcJct1DcLrzB911PNWHY/pzgdZxMFuhvPVtCgW1aMNLKyfarfsfTseszsBERAREQEREBERAREQEREBERATD7zbCXF1FCeFuat69m7qZmIkmNjlTfTdx8La2a8IB9sfKT19VPQzViJ1hvpuqmNqOWQtAIVjyI+Ru6n9JzVvLsF8LYVZSMjkQeanse47GUYODKmUhVQZ9BU3CXCnhB4S3whjqFz7z4zat376cR5OHvBBQFKlU5I7Mcy7AgjzMsxmdOvpCNr2TvFgdl4BHwf2+MvX2iwyZWHMP8qg8lHOfPw421jcXdfVYv9VTdxG82k+XWWHMdunsDsJoO18B5GJapx7KuPdYMeA66MQMzkewktbaxpo2QjbEUCk/6tg1tQZe0xHz58yeUDRN/tynwDB0Jsw7nJX09lvkbLl6TUJJ3hNjHxQuwF487DPUze17XlsexPc6j1Ej/HbNesF+FvK82ypLCPZYoxBAPInSEeGVVspSIVsm6G89uBvW6k6jR0Pu2J1Vv4PSdMbsbwU46hbqDmDoyn3kYc0YdDORFbLlNp3I3ttwF4tq9pTkLa89LF/hh0P0gdUxMfsLbNWMpS/DtxI4+oPVWHRh2mQgIiICIiAiIgIiICIiAiIgIiICalv5ucmOrLKALlGQJ5OPkb+D0m2xA4/27sd8PYVYEZMVII1VhzVvX95ip0/4hblLja2sqUecBqOQtUdD2YdDOcdr7MahyCDzI1GRBHMEdCIVjpcjlTmCQRqCCQQe4I5GWykDZ9ivhrqTTf8AZ2ZljbkhJPFnxcbZEZDQgtqOQJn03V3ixOzvtEQvhrWZSrgiu3LMZqfhb1/easDN12fjVxuFai6wrcoJTRQH4OJ0J9nREAIyBHMn0hEl7nbUGLpeynCpgsMeLzLOJQz5e+FyAyA6sfoJjt8tn4vH4eunZldP9EVDA8aqz8J9nhB91cxzzzMiS3aGIprswvmkVlgXRXDI5AzBBGYIOn4yQ99Ma9GyNmGi1kJABNbFcwK+RKnoZ0jQN4N3MTgmVcVXwcYJUghlbLmAy6Z+kw8ym0N4cTenl332WV5g8LtxDMciM+R+sxc5UlVbKWwYG6+H++tmzruIZvS5HnV9x86j5x+s6U2TtKvE1JdQwetwCrD9j2I7TjqmzIg5Z9x3kjeHO+hwFgBJfC2n2l6qerAdHHUdRrA6LifHB4pLUWytg6OAyspzBB5ET7QEREBERAREQEREBERAREQEREBNA8SNxlxSNdQv2oHtqP8AdA6j74/XlN/iBxvtPANU5BGnQ5f9yPpPEZ0X4nbhrerYjDp7fO1FGrZf7iff7jr+PPn7H4Jqmybl0Pcd4HkM+mHuZGDISrA5gqciD6GWEQIG5i9No1HzCtNtK5mwuSqqT8hPuaa5e6SMl1OesXbQc1CjjLUpYzoCCAGIyLLnqAR0njMQGcrKSoEAJXKbDuzsut67sTapuXD8P2Ce85bTjfLUVAnXLXppMxtfdxblp8sYfC4xqXsfCKXHEq5shGhFblATwsdchA0WejBYrgOR91tGH7MPUTygysCT/DXf84GzybzxYV21P9pj/uKPlPUfWdB02h1DKQysAQQcwQeRHpOOMI+eklXwi33aixcFiGzpsbKlmP8ApO3JMz8BPIdD+MCdYlAZWAiIgIiICIiAiIgIiICIiAiIgJFXijuEHVsRh101a1FGqnrag/cfWSrBgcZYzDFGIb6HoR3E88nHxU8PgA2Iw6/Zkk2KB/pk83UfIeo6SFMVhyjFW5/91HpA+OUCViAE2DdrDVivEYq1BaMOtfl1tqhe1+FXsAI4kXInLPWZPwvwFNmIsNwraxKS2Grubhrsuzy175aaazedsYBeK2ypsOMVTg//AFDCKjeRcpILAlcuFsuR5gyjTthlrLVxNWKRMe6myqmutRT5dQJaq7hHCpZVOmWXfnMftLeLDr5luCSxcTiQfOe08XkBhlYlJPPi19o6gaTx37fqRHXBYb+na1OCx2ta5xWfeSssBwA9TlnNfMgoZWUlyLmchA++DGvpPcM+mh5gjQgjkR6ymGwhOiKzEAk8KltBzJy5D1lYHS/h1vD/AF2CrsY/aJ9naOvGvX6jIzaJA/glto1YtsOx9i9cx28xNR9SCR9BJ3U5wKxEQEREBERAREQEREBERAREQERECjKCMjqDoc+0hLxT8PhXnfhx9kTmQP8AaJ//ADJ/KTdLLagwKsAQQQQdQQeYMDjG6koxVhkRLVHeS14o+H/kE20D7En2T/bJ+BvunofpImtrKkhhkRAvrxBVgVORVlZfxU5g5fiJtO8HiFfiqmr8umnzQP6hqlIe7h6MTqBpymnmBAqZbnLs4rTM6QCqToJmth7IsusWqlS9rnIAfqT2A6mXbC2LZfatWHQ2WPyy5AdWJ6KO8n7dnd7D7Gw5stIfEMMnfLUnpXWOi5wL92t36Nj4UtZk9zj7RgNXbpWn3ZCW+jU/1T+SApJ4rEQewjsdVX16kdzNo8QN9nZylZ+2Iy05UIeg++f0mi7H2U1z8K8ubsfXmT3MDLbk4Vjia7tQtLBsx1boonQewttixRxAiRbsbZoHDXWvsj/pJ9ZIeysHwKIG0+evzD85SYny4gZuIiAiIgIiICIiAiIgIiICIiAiIgfLE4dbFZLFDKwIZSMwQeYMgDxO3COFfzKwWpY+w/Mqf7b/AMHr+M6Ennx2DS6tq7VDo4yZTyIMDji3DFfw7z5ZSRvEDc19n26Zvh7CfLfLkf7b9m/eaY9A7QPBVQT6CbPujurdjbPLwyaDLjsb3EHdj1PoNZhZNG5G+9FeAWqmta7q1PmZ6J/7pPxZwNm2XszCbFo4U9u5x7R08yxv/FfSRZvxvpZZYyq3FbyzGqUDsvRn/aY7ejfF72ZaHJ4sxZcdC33ax8K+sw2xdjNadNEHvN/A7mB89k7La5sl75u59eZPcyRNg7G0FdQ06nv6nuZfsHYmeSVrko/M/wCZKOwtiLSoLDX9oHy3f2AtSjMf5M99tQDezy/afW7EE6LoP3lKkgW+XE9HBED1REQEREBERAREQEREBERAREQEREBERA8+PwNd9bV3IrowyZWGYIkQ72+EbrnZs9uNefk2H2h/wf4vwP5yZpQiByRtDA2VOUtRq3XmrgqR9D+88inmNNRkc+3adYbb2HRi04MTUlgyOXENV9VbmPpIv2luBThWL1Kza+yLG4gvqMxr9ZNCPdi7vl8mtBVOg5M3+BJA2JsY2ZKoyQaDIfoJ6NnbILHWSHsLCIidAQOX8yiuxtkLQuZyzy/Kfe64udOUrdYXPp0EqlcBXXPSiQiz6AQKcMS/KIFYiICIiAiIgIiICIiAiIgIiICIiAiIgIiIFDMBvJ7h+kRAxWzpnKP4iIHorn3SIgfYS8RECsRED//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8" name="组合 7"/>
          <p:cNvGrpSpPr/>
          <p:nvPr/>
        </p:nvGrpSpPr>
        <p:grpSpPr>
          <a:xfrm>
            <a:off x="4388728" y="2111171"/>
            <a:ext cx="3243559" cy="1224136"/>
            <a:chOff x="4427984" y="2204864"/>
            <a:chExt cx="3243559" cy="1224136"/>
          </a:xfrm>
        </p:grpSpPr>
        <p:pic>
          <p:nvPicPr>
            <p:cNvPr id="12292" name="Picture 4" descr="http://shared1.ad-lister.co.uk/GetImage.aspx?id=82e40a95-fb7d-49f1-adcb-6d87e189ef7c&amp;num=1&amp;dbid=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27984" y="2204864"/>
              <a:ext cx="1224136" cy="1224136"/>
            </a:xfrm>
            <a:prstGeom prst="rect">
              <a:avLst/>
            </a:prstGeom>
            <a:noFill/>
            <a:extLst>
              <a:ext uri="{909E8E84-426E-40DD-AFC4-6F175D3DCCD1}">
                <a14:hiddenFill xmlns:a14="http://schemas.microsoft.com/office/drawing/2010/main">
                  <a:solidFill>
                    <a:srgbClr val="FFFFFF"/>
                  </a:solidFill>
                </a14:hiddenFill>
              </a:ext>
            </a:extLst>
          </p:spPr>
        </p:pic>
        <p:sp>
          <p:nvSpPr>
            <p:cNvPr id="5" name="等于号 4"/>
            <p:cNvSpPr/>
            <p:nvPr/>
          </p:nvSpPr>
          <p:spPr>
            <a:xfrm>
              <a:off x="5652120" y="2607336"/>
              <a:ext cx="576064" cy="364604"/>
            </a:xfrm>
            <a:prstGeom prst="mathEqual">
              <a:avLst>
                <a:gd name="adj1" fmla="val 16434"/>
                <a:gd name="adj2" fmla="val 278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TextBox 5"/>
            <p:cNvSpPr txBox="1"/>
            <p:nvPr/>
          </p:nvSpPr>
          <p:spPr>
            <a:xfrm>
              <a:off x="6228185" y="2497251"/>
              <a:ext cx="1080119" cy="523220"/>
            </a:xfrm>
            <a:prstGeom prst="rect">
              <a:avLst/>
            </a:prstGeom>
            <a:noFill/>
          </p:spPr>
          <p:txBody>
            <a:bodyPr wrap="square" rtlCol="0">
              <a:spAutoFit/>
            </a:bodyPr>
            <a:lstStyle/>
            <a:p>
              <a:r>
                <a:rPr lang="en-US" altLang="zh-CN" sz="2800" dirty="0"/>
                <a:t>1.3</a:t>
              </a:r>
              <a:r>
                <a:rPr lang="zh-CN" altLang="en-US" sz="2800" dirty="0"/>
                <a:t>万</a:t>
              </a:r>
            </a:p>
          </p:txBody>
        </p:sp>
        <p:sp>
          <p:nvSpPr>
            <p:cNvPr id="7" name="乘号 6"/>
            <p:cNvSpPr/>
            <p:nvPr/>
          </p:nvSpPr>
          <p:spPr>
            <a:xfrm>
              <a:off x="7167487" y="2547497"/>
              <a:ext cx="504056" cy="504056"/>
            </a:xfrm>
            <a:prstGeom prst="mathMultiply">
              <a:avLst>
                <a:gd name="adj1" fmla="val 76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2296" name="Picture 8" descr="Goog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1143" y="3722805"/>
            <a:ext cx="2130177" cy="75229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组合 9"/>
          <p:cNvGrpSpPr/>
          <p:nvPr/>
        </p:nvGrpSpPr>
        <p:grpSpPr>
          <a:xfrm>
            <a:off x="3701358" y="4670595"/>
            <a:ext cx="1714500" cy="1714500"/>
            <a:chOff x="4572000" y="4437112"/>
            <a:chExt cx="1714500" cy="1714500"/>
          </a:xfrm>
        </p:grpSpPr>
        <p:pic>
          <p:nvPicPr>
            <p:cNvPr id="12298" name="Picture 10" descr="http://www.conglinqq.com/qqimges/49/2009122133510.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4437112"/>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4644008" y="5782281"/>
              <a:ext cx="1584176" cy="307777"/>
            </a:xfrm>
            <a:prstGeom prst="rect">
              <a:avLst/>
            </a:prstGeom>
            <a:solidFill>
              <a:schemeClr val="bg1"/>
            </a:solidFill>
          </p:spPr>
          <p:txBody>
            <a:bodyPr wrap="square" rtlCol="0">
              <a:spAutoFit/>
            </a:bodyPr>
            <a:lstStyle/>
            <a:p>
              <a:r>
                <a:rPr lang="zh-CN" altLang="en-US" sz="1400" dirty="0">
                  <a:solidFill>
                    <a:srgbClr val="FF0000"/>
                  </a:solidFill>
                </a:rPr>
                <a:t>文本太无聊了！</a:t>
              </a:r>
            </a:p>
          </p:txBody>
        </p:sp>
      </p:grpSp>
      <p:sp>
        <p:nvSpPr>
          <p:cNvPr id="16" name="Rectangle 3"/>
          <p:cNvSpPr txBox="1">
            <a:spLocks noChangeArrowheads="1"/>
          </p:cNvSpPr>
          <p:nvPr/>
        </p:nvSpPr>
        <p:spPr>
          <a:xfrm>
            <a:off x="368072" y="4475098"/>
            <a:ext cx="5005841" cy="27295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zh-CN" altLang="en-US" dirty="0">
                <a:solidFill>
                  <a:srgbClr val="FF0000"/>
                </a:solidFill>
              </a:rPr>
              <a:t>缺点：</a:t>
            </a:r>
            <a:endParaRPr lang="en-US" altLang="zh-CN" dirty="0">
              <a:solidFill>
                <a:srgbClr val="FF0000"/>
              </a:solidFill>
            </a:endParaRPr>
          </a:p>
          <a:p>
            <a:pPr marL="0" indent="0">
              <a:buFont typeface="Arial" pitchFamily="34" charset="0"/>
              <a:buNone/>
            </a:pPr>
            <a:r>
              <a:rPr lang="en-US" altLang="zh-CN" dirty="0"/>
              <a:t>	</a:t>
            </a:r>
            <a:r>
              <a:rPr lang="zh-CN" altLang="en-US" dirty="0"/>
              <a:t>不够形象化</a:t>
            </a:r>
            <a:endParaRPr lang="en-US" altLang="zh-CN" dirty="0"/>
          </a:p>
          <a:p>
            <a:pPr marL="0" indent="0">
              <a:buFont typeface="Arial" pitchFamily="34" charset="0"/>
              <a:buNone/>
            </a:pPr>
            <a:endParaRPr lang="en-US" altLang="zh-CN" dirty="0"/>
          </a:p>
        </p:txBody>
      </p:sp>
      <p:sp>
        <p:nvSpPr>
          <p:cNvPr id="11" name="矩形 10"/>
          <p:cNvSpPr/>
          <p:nvPr/>
        </p:nvSpPr>
        <p:spPr>
          <a:xfrm>
            <a:off x="480593" y="3545122"/>
            <a:ext cx="4820550" cy="553998"/>
          </a:xfrm>
          <a:prstGeom prst="rect">
            <a:avLst/>
          </a:prstGeom>
        </p:spPr>
        <p:txBody>
          <a:bodyPr wrap="none">
            <a:spAutoFit/>
          </a:bodyPr>
          <a:lstStyle/>
          <a:p>
            <a:r>
              <a:rPr lang="zh-CN" altLang="en-US" sz="3000" b="1" dirty="0">
                <a:solidFill>
                  <a:srgbClr val="0000FF"/>
                </a:solidFill>
              </a:rPr>
              <a:t>传递信息准确，便于检索；</a:t>
            </a:r>
            <a:endParaRPr lang="en-US" altLang="zh-CN" sz="3000" b="1" dirty="0">
              <a:solidFill>
                <a:srgbClr val="0000FF"/>
              </a:solidFill>
            </a:endParaRPr>
          </a:p>
        </p:txBody>
      </p:sp>
      <p:sp>
        <p:nvSpPr>
          <p:cNvPr id="17" name="Rectangle 2">
            <a:extLst>
              <a:ext uri="{FF2B5EF4-FFF2-40B4-BE49-F238E27FC236}">
                <a16:creationId xmlns:a16="http://schemas.microsoft.com/office/drawing/2014/main" id="{FDFC0714-8CD4-400C-BC45-8E96F40011F1}"/>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pic>
        <p:nvPicPr>
          <p:cNvPr id="4" name="图片 3">
            <a:extLst>
              <a:ext uri="{FF2B5EF4-FFF2-40B4-BE49-F238E27FC236}">
                <a16:creationId xmlns:a16="http://schemas.microsoft.com/office/drawing/2014/main" id="{7C1A62FD-3B41-42E7-B2D0-0CF4E8E4F8E7}"/>
              </a:ext>
            </a:extLst>
          </p:cNvPr>
          <p:cNvPicPr>
            <a:picLocks noChangeAspect="1"/>
          </p:cNvPicPr>
          <p:nvPr/>
        </p:nvPicPr>
        <p:blipFill>
          <a:blip r:embed="rId5"/>
          <a:stretch>
            <a:fillRect/>
          </a:stretch>
        </p:blipFill>
        <p:spPr>
          <a:xfrm>
            <a:off x="7704294" y="1962042"/>
            <a:ext cx="1080119" cy="1566767"/>
          </a:xfrm>
          <a:prstGeom prst="rect">
            <a:avLst/>
          </a:prstGeom>
        </p:spPr>
      </p:pic>
      <p:sp>
        <p:nvSpPr>
          <p:cNvPr id="12" name="灯片编号占位符 11">
            <a:extLst>
              <a:ext uri="{FF2B5EF4-FFF2-40B4-BE49-F238E27FC236}">
                <a16:creationId xmlns:a16="http://schemas.microsoft.com/office/drawing/2014/main" id="{9FBE5EF2-EB16-41D7-AA40-DCB6C700EBAD}"/>
              </a:ext>
            </a:extLst>
          </p:cNvPr>
          <p:cNvSpPr>
            <a:spLocks noGrp="1"/>
          </p:cNvSpPr>
          <p:nvPr>
            <p:ph type="sldNum" sz="quarter" idx="12"/>
          </p:nvPr>
        </p:nvSpPr>
        <p:spPr/>
        <p:txBody>
          <a:bodyPr/>
          <a:lstStyle/>
          <a:p>
            <a:fld id="{F64BA984-46A0-4F46-990E-EC790E6934B4}" type="slidenum">
              <a:rPr lang="zh-CN" altLang="en-US" smtClean="0"/>
              <a:t>31</a:t>
            </a:fld>
            <a:endParaRPr lang="zh-CN" altLang="en-US"/>
          </a:p>
        </p:txBody>
      </p:sp>
    </p:spTree>
    <p:extLst>
      <p:ext uri="{BB962C8B-B14F-4D97-AF65-F5344CB8AC3E}">
        <p14:creationId xmlns:p14="http://schemas.microsoft.com/office/powerpoint/2010/main" val="2488760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fade">
                                      <p:cBhvr>
                                        <p:cTn id="12" dur="500"/>
                                        <p:tgtEl>
                                          <p:spTgt spid="32771">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2296"/>
                                        </p:tgtEl>
                                        <p:attrNameLst>
                                          <p:attrName>style.visibility</p:attrName>
                                        </p:attrNameLst>
                                      </p:cBhvr>
                                      <p:to>
                                        <p:strVal val="visible"/>
                                      </p:to>
                                    </p:set>
                                    <p:animEffect transition="in" filter="fade">
                                      <p:cBhvr>
                                        <p:cTn id="24" dur="500"/>
                                        <p:tgtEl>
                                          <p:spTgt spid="1229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P spid="16" grpId="0"/>
      <p:bldP spid="11" grpId="0"/>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AutoShape 2"/>
          <p:cNvSpPr>
            <a:spLocks noChangeArrowheads="1"/>
          </p:cNvSpPr>
          <p:nvPr/>
        </p:nvSpPr>
        <p:spPr bwMode="auto">
          <a:xfrm>
            <a:off x="1842354" y="3184556"/>
            <a:ext cx="4835861" cy="2575095"/>
          </a:xfrm>
          <a:prstGeom prst="roundRect">
            <a:avLst>
              <a:gd name="adj" fmla="val 5741"/>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44" name="AutoShape 4"/>
          <p:cNvSpPr>
            <a:spLocks noChangeArrowheads="1"/>
          </p:cNvSpPr>
          <p:nvPr/>
        </p:nvSpPr>
        <p:spPr bwMode="auto">
          <a:xfrm>
            <a:off x="1619672" y="5806932"/>
            <a:ext cx="5638800" cy="762000"/>
          </a:xfrm>
          <a:prstGeom prst="flowChartAlternateProcess">
            <a:avLst/>
          </a:prstGeom>
          <a:gradFill rotWithShape="0">
            <a:gsLst>
              <a:gs pos="0">
                <a:schemeClr val="accent2"/>
              </a:gs>
              <a:gs pos="50000">
                <a:schemeClr val="accent2">
                  <a:gamma/>
                  <a:shade val="46275"/>
                  <a:invGamma/>
                </a:schemeClr>
              </a:gs>
              <a:gs pos="100000">
                <a:schemeClr val="accent2"/>
              </a:gs>
            </a:gsLst>
            <a:lin ang="1890000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bg1"/>
                </a:solidFill>
                <a:effectLst>
                  <a:outerShdw blurRad="38100" dist="38100" dir="2700000" algn="tl">
                    <a:srgbClr val="000000"/>
                  </a:outerShdw>
                </a:effectLst>
                <a:latin typeface="Times New Roman" pitchFamily="18" charset="0"/>
              </a:rPr>
              <a:t>用像素点描述的自然影像</a:t>
            </a:r>
            <a:endParaRPr lang="zh-CN" altLang="en-US" sz="2000" b="1" dirty="0">
              <a:latin typeface="Times New Roman" pitchFamily="18" charset="0"/>
            </a:endParaRPr>
          </a:p>
        </p:txBody>
      </p:sp>
      <p:pic>
        <p:nvPicPr>
          <p:cNvPr id="61451" name="Picture 11" descr="校园秋天"/>
          <p:cNvPicPr>
            <a:picLocks noChangeAspect="1" noChangeArrowheads="1"/>
          </p:cNvPicPr>
          <p:nvPr/>
        </p:nvPicPr>
        <p:blipFill>
          <a:blip r:embed="rId2">
            <a:clrChange>
              <a:clrFrom>
                <a:srgbClr val="000083"/>
              </a:clrFrom>
              <a:clrTo>
                <a:srgbClr val="000083">
                  <a:alpha val="0"/>
                </a:srgbClr>
              </a:clrTo>
            </a:clrChange>
            <a:lum bright="6000" contrast="6000"/>
            <a:extLst>
              <a:ext uri="{28A0092B-C50C-407E-A947-70E740481C1C}">
                <a14:useLocalDpi xmlns:a14="http://schemas.microsoft.com/office/drawing/2010/main" val="0"/>
              </a:ext>
            </a:extLst>
          </a:blip>
          <a:srcRect/>
          <a:stretch>
            <a:fillRect/>
          </a:stretch>
        </p:blipFill>
        <p:spPr bwMode="auto">
          <a:xfrm>
            <a:off x="1907704" y="3234628"/>
            <a:ext cx="4770512" cy="2533635"/>
          </a:xfrm>
          <a:prstGeom prst="rect">
            <a:avLst/>
          </a:prstGeom>
          <a:noFill/>
          <a:extLst>
            <a:ext uri="{909E8E84-426E-40DD-AFC4-6F175D3DCCD1}">
              <a14:hiddenFill xmlns:a14="http://schemas.microsoft.com/office/drawing/2010/main">
                <a:solidFill>
                  <a:srgbClr val="FFFFFF"/>
                </a:solidFill>
              </a14:hiddenFill>
            </a:ext>
          </a:extLst>
        </p:spPr>
      </p:pic>
      <p:grpSp>
        <p:nvGrpSpPr>
          <p:cNvPr id="61454" name="Group 14"/>
          <p:cNvGrpSpPr>
            <a:grpSpLocks/>
          </p:cNvGrpSpPr>
          <p:nvPr/>
        </p:nvGrpSpPr>
        <p:grpSpPr bwMode="auto">
          <a:xfrm>
            <a:off x="6221016" y="3544596"/>
            <a:ext cx="914400" cy="1682751"/>
            <a:chOff x="2496" y="288"/>
            <a:chExt cx="576" cy="1060"/>
          </a:xfrm>
        </p:grpSpPr>
        <p:sp>
          <p:nvSpPr>
            <p:cNvPr id="61455" name="Oval 15"/>
            <p:cNvSpPr>
              <a:spLocks noChangeArrowheads="1"/>
            </p:cNvSpPr>
            <p:nvPr/>
          </p:nvSpPr>
          <p:spPr bwMode="auto">
            <a:xfrm>
              <a:off x="2496" y="288"/>
              <a:ext cx="576" cy="576"/>
            </a:xfrm>
            <a:prstGeom prst="ellipse">
              <a:avLst/>
            </a:prstGeom>
            <a:solidFill>
              <a:schemeClr val="tx1"/>
            </a:solidFill>
            <a:ln w="19050">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56" name="Rectangle 16"/>
            <p:cNvSpPr>
              <a:spLocks noChangeArrowheads="1"/>
            </p:cNvSpPr>
            <p:nvPr/>
          </p:nvSpPr>
          <p:spPr bwMode="auto">
            <a:xfrm>
              <a:off x="2640" y="624"/>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57" name="Rectangle 17"/>
            <p:cNvSpPr>
              <a:spLocks noChangeArrowheads="1"/>
            </p:cNvSpPr>
            <p:nvPr/>
          </p:nvSpPr>
          <p:spPr bwMode="auto">
            <a:xfrm>
              <a:off x="2640" y="57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58" name="Rectangle 18"/>
            <p:cNvSpPr>
              <a:spLocks noChangeArrowheads="1"/>
            </p:cNvSpPr>
            <p:nvPr/>
          </p:nvSpPr>
          <p:spPr bwMode="auto">
            <a:xfrm>
              <a:off x="2688"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59" name="Rectangle 19"/>
            <p:cNvSpPr>
              <a:spLocks noChangeArrowheads="1"/>
            </p:cNvSpPr>
            <p:nvPr/>
          </p:nvSpPr>
          <p:spPr bwMode="auto">
            <a:xfrm>
              <a:off x="2688" y="576"/>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0" name="Rectangle 20"/>
            <p:cNvSpPr>
              <a:spLocks noChangeArrowheads="1"/>
            </p:cNvSpPr>
            <p:nvPr/>
          </p:nvSpPr>
          <p:spPr bwMode="auto">
            <a:xfrm>
              <a:off x="2688" y="528"/>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1" name="Rectangle 21"/>
            <p:cNvSpPr>
              <a:spLocks noChangeArrowheads="1"/>
            </p:cNvSpPr>
            <p:nvPr/>
          </p:nvSpPr>
          <p:spPr bwMode="auto">
            <a:xfrm>
              <a:off x="2736"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2" name="Rectangle 22"/>
            <p:cNvSpPr>
              <a:spLocks noChangeArrowheads="1"/>
            </p:cNvSpPr>
            <p:nvPr/>
          </p:nvSpPr>
          <p:spPr bwMode="auto">
            <a:xfrm>
              <a:off x="2736" y="576"/>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3" name="Rectangle 23"/>
            <p:cNvSpPr>
              <a:spLocks noChangeArrowheads="1"/>
            </p:cNvSpPr>
            <p:nvPr/>
          </p:nvSpPr>
          <p:spPr bwMode="auto">
            <a:xfrm>
              <a:off x="2736" y="528"/>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4" name="Rectangle 24"/>
            <p:cNvSpPr>
              <a:spLocks noChangeArrowheads="1"/>
            </p:cNvSpPr>
            <p:nvPr/>
          </p:nvSpPr>
          <p:spPr bwMode="auto">
            <a:xfrm>
              <a:off x="2784" y="576"/>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5" name="Rectangle 25"/>
            <p:cNvSpPr>
              <a:spLocks noChangeArrowheads="1"/>
            </p:cNvSpPr>
            <p:nvPr/>
          </p:nvSpPr>
          <p:spPr bwMode="auto">
            <a:xfrm>
              <a:off x="2784" y="528"/>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6" name="Rectangle 26"/>
            <p:cNvSpPr>
              <a:spLocks noChangeArrowheads="1"/>
            </p:cNvSpPr>
            <p:nvPr/>
          </p:nvSpPr>
          <p:spPr bwMode="auto">
            <a:xfrm>
              <a:off x="2784"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7" name="Rectangle 27"/>
            <p:cNvSpPr>
              <a:spLocks noChangeArrowheads="1"/>
            </p:cNvSpPr>
            <p:nvPr/>
          </p:nvSpPr>
          <p:spPr bwMode="auto">
            <a:xfrm>
              <a:off x="2784"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8" name="Rectangle 28"/>
            <p:cNvSpPr>
              <a:spLocks noChangeArrowheads="1"/>
            </p:cNvSpPr>
            <p:nvPr/>
          </p:nvSpPr>
          <p:spPr bwMode="auto">
            <a:xfrm>
              <a:off x="2640" y="528"/>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69" name="Rectangle 29"/>
            <p:cNvSpPr>
              <a:spLocks noChangeArrowheads="1"/>
            </p:cNvSpPr>
            <p:nvPr/>
          </p:nvSpPr>
          <p:spPr bwMode="auto">
            <a:xfrm>
              <a:off x="2688" y="480"/>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0" name="Rectangle 30"/>
            <p:cNvSpPr>
              <a:spLocks noChangeArrowheads="1"/>
            </p:cNvSpPr>
            <p:nvPr/>
          </p:nvSpPr>
          <p:spPr bwMode="auto">
            <a:xfrm>
              <a:off x="2736"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1" name="Rectangle 31"/>
            <p:cNvSpPr>
              <a:spLocks noChangeArrowheads="1"/>
            </p:cNvSpPr>
            <p:nvPr/>
          </p:nvSpPr>
          <p:spPr bwMode="auto">
            <a:xfrm>
              <a:off x="2640" y="480"/>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2" name="Rectangle 32"/>
            <p:cNvSpPr>
              <a:spLocks noChangeArrowheads="1"/>
            </p:cNvSpPr>
            <p:nvPr/>
          </p:nvSpPr>
          <p:spPr bwMode="auto">
            <a:xfrm>
              <a:off x="2832" y="576"/>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3" name="Rectangle 33"/>
            <p:cNvSpPr>
              <a:spLocks noChangeArrowheads="1"/>
            </p:cNvSpPr>
            <p:nvPr/>
          </p:nvSpPr>
          <p:spPr bwMode="auto">
            <a:xfrm>
              <a:off x="2832" y="528"/>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4" name="Rectangle 34"/>
            <p:cNvSpPr>
              <a:spLocks noChangeArrowheads="1"/>
            </p:cNvSpPr>
            <p:nvPr/>
          </p:nvSpPr>
          <p:spPr bwMode="auto">
            <a:xfrm>
              <a:off x="2832"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5" name="Rectangle 35"/>
            <p:cNvSpPr>
              <a:spLocks noChangeArrowheads="1"/>
            </p:cNvSpPr>
            <p:nvPr/>
          </p:nvSpPr>
          <p:spPr bwMode="auto">
            <a:xfrm>
              <a:off x="2832"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6" name="Rectangle 36"/>
            <p:cNvSpPr>
              <a:spLocks noChangeArrowheads="1"/>
            </p:cNvSpPr>
            <p:nvPr/>
          </p:nvSpPr>
          <p:spPr bwMode="auto">
            <a:xfrm>
              <a:off x="2880" y="576"/>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7" name="Rectangle 37"/>
            <p:cNvSpPr>
              <a:spLocks noChangeArrowheads="1"/>
            </p:cNvSpPr>
            <p:nvPr/>
          </p:nvSpPr>
          <p:spPr bwMode="auto">
            <a:xfrm>
              <a:off x="2880" y="528"/>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8" name="Rectangle 38"/>
            <p:cNvSpPr>
              <a:spLocks noChangeArrowheads="1"/>
            </p:cNvSpPr>
            <p:nvPr/>
          </p:nvSpPr>
          <p:spPr bwMode="auto">
            <a:xfrm>
              <a:off x="2880"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79" name="Rectangle 39"/>
            <p:cNvSpPr>
              <a:spLocks noChangeArrowheads="1"/>
            </p:cNvSpPr>
            <p:nvPr/>
          </p:nvSpPr>
          <p:spPr bwMode="auto">
            <a:xfrm>
              <a:off x="2880"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0" name="Rectangle 40"/>
            <p:cNvSpPr>
              <a:spLocks noChangeArrowheads="1"/>
            </p:cNvSpPr>
            <p:nvPr/>
          </p:nvSpPr>
          <p:spPr bwMode="auto">
            <a:xfrm>
              <a:off x="2928" y="576"/>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1" name="Rectangle 41"/>
            <p:cNvSpPr>
              <a:spLocks noChangeArrowheads="1"/>
            </p:cNvSpPr>
            <p:nvPr/>
          </p:nvSpPr>
          <p:spPr bwMode="auto">
            <a:xfrm>
              <a:off x="2928" y="528"/>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2" name="Rectangle 42"/>
            <p:cNvSpPr>
              <a:spLocks noChangeArrowheads="1"/>
            </p:cNvSpPr>
            <p:nvPr/>
          </p:nvSpPr>
          <p:spPr bwMode="auto">
            <a:xfrm>
              <a:off x="2928"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3" name="Rectangle 43"/>
            <p:cNvSpPr>
              <a:spLocks noChangeArrowheads="1"/>
            </p:cNvSpPr>
            <p:nvPr/>
          </p:nvSpPr>
          <p:spPr bwMode="auto">
            <a:xfrm>
              <a:off x="2928"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4" name="Rectangle 44"/>
            <p:cNvSpPr>
              <a:spLocks noChangeArrowheads="1"/>
            </p:cNvSpPr>
            <p:nvPr/>
          </p:nvSpPr>
          <p:spPr bwMode="auto">
            <a:xfrm>
              <a:off x="2640" y="672"/>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5" name="Rectangle 45"/>
            <p:cNvSpPr>
              <a:spLocks noChangeArrowheads="1"/>
            </p:cNvSpPr>
            <p:nvPr/>
          </p:nvSpPr>
          <p:spPr bwMode="auto">
            <a:xfrm>
              <a:off x="2688" y="672"/>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6" name="Rectangle 46"/>
            <p:cNvSpPr>
              <a:spLocks noChangeArrowheads="1"/>
            </p:cNvSpPr>
            <p:nvPr/>
          </p:nvSpPr>
          <p:spPr bwMode="auto">
            <a:xfrm>
              <a:off x="2736" y="672"/>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7" name="Rectangle 47"/>
            <p:cNvSpPr>
              <a:spLocks noChangeArrowheads="1"/>
            </p:cNvSpPr>
            <p:nvPr/>
          </p:nvSpPr>
          <p:spPr bwMode="auto">
            <a:xfrm>
              <a:off x="2784" y="672"/>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8" name="Rectangle 48"/>
            <p:cNvSpPr>
              <a:spLocks noChangeArrowheads="1"/>
            </p:cNvSpPr>
            <p:nvPr/>
          </p:nvSpPr>
          <p:spPr bwMode="auto">
            <a:xfrm>
              <a:off x="2832" y="672"/>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89" name="Rectangle 49"/>
            <p:cNvSpPr>
              <a:spLocks noChangeArrowheads="1"/>
            </p:cNvSpPr>
            <p:nvPr/>
          </p:nvSpPr>
          <p:spPr bwMode="auto">
            <a:xfrm>
              <a:off x="2880" y="672"/>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0" name="Rectangle 50"/>
            <p:cNvSpPr>
              <a:spLocks noChangeArrowheads="1"/>
            </p:cNvSpPr>
            <p:nvPr/>
          </p:nvSpPr>
          <p:spPr bwMode="auto">
            <a:xfrm>
              <a:off x="2928" y="672"/>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1" name="Rectangle 51"/>
            <p:cNvSpPr>
              <a:spLocks noChangeArrowheads="1"/>
            </p:cNvSpPr>
            <p:nvPr/>
          </p:nvSpPr>
          <p:spPr bwMode="auto">
            <a:xfrm>
              <a:off x="2784"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2" name="Rectangle 52"/>
            <p:cNvSpPr>
              <a:spLocks noChangeArrowheads="1"/>
            </p:cNvSpPr>
            <p:nvPr/>
          </p:nvSpPr>
          <p:spPr bwMode="auto">
            <a:xfrm>
              <a:off x="2688"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3" name="Rectangle 53"/>
            <p:cNvSpPr>
              <a:spLocks noChangeArrowheads="1"/>
            </p:cNvSpPr>
            <p:nvPr/>
          </p:nvSpPr>
          <p:spPr bwMode="auto">
            <a:xfrm>
              <a:off x="2736"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4" name="Rectangle 54"/>
            <p:cNvSpPr>
              <a:spLocks noChangeArrowheads="1"/>
            </p:cNvSpPr>
            <p:nvPr/>
          </p:nvSpPr>
          <p:spPr bwMode="auto">
            <a:xfrm>
              <a:off x="2640"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5" name="Rectangle 55"/>
            <p:cNvSpPr>
              <a:spLocks noChangeArrowheads="1"/>
            </p:cNvSpPr>
            <p:nvPr/>
          </p:nvSpPr>
          <p:spPr bwMode="auto">
            <a:xfrm>
              <a:off x="2832"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6" name="Rectangle 56"/>
            <p:cNvSpPr>
              <a:spLocks noChangeArrowheads="1"/>
            </p:cNvSpPr>
            <p:nvPr/>
          </p:nvSpPr>
          <p:spPr bwMode="auto">
            <a:xfrm>
              <a:off x="2880"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7" name="Rectangle 57"/>
            <p:cNvSpPr>
              <a:spLocks noChangeArrowheads="1"/>
            </p:cNvSpPr>
            <p:nvPr/>
          </p:nvSpPr>
          <p:spPr bwMode="auto">
            <a:xfrm>
              <a:off x="2928"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8" name="Rectangle 58"/>
            <p:cNvSpPr>
              <a:spLocks noChangeArrowheads="1"/>
            </p:cNvSpPr>
            <p:nvPr/>
          </p:nvSpPr>
          <p:spPr bwMode="auto">
            <a:xfrm>
              <a:off x="2592" y="624"/>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499" name="Rectangle 59"/>
            <p:cNvSpPr>
              <a:spLocks noChangeArrowheads="1"/>
            </p:cNvSpPr>
            <p:nvPr/>
          </p:nvSpPr>
          <p:spPr bwMode="auto">
            <a:xfrm>
              <a:off x="2592" y="57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0" name="Rectangle 60"/>
            <p:cNvSpPr>
              <a:spLocks noChangeArrowheads="1"/>
            </p:cNvSpPr>
            <p:nvPr/>
          </p:nvSpPr>
          <p:spPr bwMode="auto">
            <a:xfrm>
              <a:off x="2592" y="528"/>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1" name="Rectangle 61"/>
            <p:cNvSpPr>
              <a:spLocks noChangeArrowheads="1"/>
            </p:cNvSpPr>
            <p:nvPr/>
          </p:nvSpPr>
          <p:spPr bwMode="auto">
            <a:xfrm>
              <a:off x="2592" y="480"/>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2" name="Rectangle 62"/>
            <p:cNvSpPr>
              <a:spLocks noChangeArrowheads="1"/>
            </p:cNvSpPr>
            <p:nvPr/>
          </p:nvSpPr>
          <p:spPr bwMode="auto">
            <a:xfrm>
              <a:off x="2592" y="672"/>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3" name="Rectangle 63"/>
            <p:cNvSpPr>
              <a:spLocks noChangeArrowheads="1"/>
            </p:cNvSpPr>
            <p:nvPr/>
          </p:nvSpPr>
          <p:spPr bwMode="auto">
            <a:xfrm>
              <a:off x="2592" y="432"/>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4" name="Rectangle 64"/>
            <p:cNvSpPr>
              <a:spLocks noChangeArrowheads="1"/>
            </p:cNvSpPr>
            <p:nvPr/>
          </p:nvSpPr>
          <p:spPr bwMode="auto">
            <a:xfrm>
              <a:off x="2784"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5" name="Rectangle 65"/>
            <p:cNvSpPr>
              <a:spLocks noChangeArrowheads="1"/>
            </p:cNvSpPr>
            <p:nvPr/>
          </p:nvSpPr>
          <p:spPr bwMode="auto">
            <a:xfrm>
              <a:off x="2688"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6" name="Rectangle 66"/>
            <p:cNvSpPr>
              <a:spLocks noChangeArrowheads="1"/>
            </p:cNvSpPr>
            <p:nvPr/>
          </p:nvSpPr>
          <p:spPr bwMode="auto">
            <a:xfrm>
              <a:off x="2736"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7" name="Rectangle 67"/>
            <p:cNvSpPr>
              <a:spLocks noChangeArrowheads="1"/>
            </p:cNvSpPr>
            <p:nvPr/>
          </p:nvSpPr>
          <p:spPr bwMode="auto">
            <a:xfrm>
              <a:off x="2640"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8" name="Rectangle 68"/>
            <p:cNvSpPr>
              <a:spLocks noChangeArrowheads="1"/>
            </p:cNvSpPr>
            <p:nvPr/>
          </p:nvSpPr>
          <p:spPr bwMode="auto">
            <a:xfrm>
              <a:off x="2832"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09" name="Rectangle 69"/>
            <p:cNvSpPr>
              <a:spLocks noChangeArrowheads="1"/>
            </p:cNvSpPr>
            <p:nvPr/>
          </p:nvSpPr>
          <p:spPr bwMode="auto">
            <a:xfrm>
              <a:off x="2880" y="38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0" name="Rectangle 70"/>
            <p:cNvSpPr>
              <a:spLocks noChangeArrowheads="1"/>
            </p:cNvSpPr>
            <p:nvPr/>
          </p:nvSpPr>
          <p:spPr bwMode="auto">
            <a:xfrm>
              <a:off x="2976" y="576"/>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1" name="Rectangle 71"/>
            <p:cNvSpPr>
              <a:spLocks noChangeArrowheads="1"/>
            </p:cNvSpPr>
            <p:nvPr/>
          </p:nvSpPr>
          <p:spPr bwMode="auto">
            <a:xfrm>
              <a:off x="2976" y="528"/>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2" name="Rectangle 72"/>
            <p:cNvSpPr>
              <a:spLocks noChangeArrowheads="1"/>
            </p:cNvSpPr>
            <p:nvPr/>
          </p:nvSpPr>
          <p:spPr bwMode="auto">
            <a:xfrm>
              <a:off x="2976" y="480"/>
              <a:ext cx="48" cy="48"/>
            </a:xfrm>
            <a:prstGeom prst="rect">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3" name="Rectangle 73"/>
            <p:cNvSpPr>
              <a:spLocks noChangeArrowheads="1"/>
            </p:cNvSpPr>
            <p:nvPr/>
          </p:nvSpPr>
          <p:spPr bwMode="auto">
            <a:xfrm>
              <a:off x="2976" y="624"/>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4" name="Rectangle 74"/>
            <p:cNvSpPr>
              <a:spLocks noChangeArrowheads="1"/>
            </p:cNvSpPr>
            <p:nvPr/>
          </p:nvSpPr>
          <p:spPr bwMode="auto">
            <a:xfrm>
              <a:off x="2640" y="720"/>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5" name="Rectangle 75"/>
            <p:cNvSpPr>
              <a:spLocks noChangeArrowheads="1"/>
            </p:cNvSpPr>
            <p:nvPr/>
          </p:nvSpPr>
          <p:spPr bwMode="auto">
            <a:xfrm>
              <a:off x="2688" y="720"/>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6" name="Rectangle 76"/>
            <p:cNvSpPr>
              <a:spLocks noChangeArrowheads="1"/>
            </p:cNvSpPr>
            <p:nvPr/>
          </p:nvSpPr>
          <p:spPr bwMode="auto">
            <a:xfrm>
              <a:off x="2736" y="720"/>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7" name="Rectangle 77"/>
            <p:cNvSpPr>
              <a:spLocks noChangeArrowheads="1"/>
            </p:cNvSpPr>
            <p:nvPr/>
          </p:nvSpPr>
          <p:spPr bwMode="auto">
            <a:xfrm>
              <a:off x="2784" y="720"/>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8" name="Rectangle 78"/>
            <p:cNvSpPr>
              <a:spLocks noChangeArrowheads="1"/>
            </p:cNvSpPr>
            <p:nvPr/>
          </p:nvSpPr>
          <p:spPr bwMode="auto">
            <a:xfrm>
              <a:off x="2832" y="720"/>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19" name="Rectangle 79"/>
            <p:cNvSpPr>
              <a:spLocks noChangeArrowheads="1"/>
            </p:cNvSpPr>
            <p:nvPr/>
          </p:nvSpPr>
          <p:spPr bwMode="auto">
            <a:xfrm>
              <a:off x="2880" y="720"/>
              <a:ext cx="48" cy="48"/>
            </a:xfrm>
            <a:prstGeom prst="rect">
              <a:avLst/>
            </a:prstGeom>
            <a:solidFill>
              <a:srgbClr val="9966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0" name="Rectangle 80"/>
            <p:cNvSpPr>
              <a:spLocks noChangeArrowheads="1"/>
            </p:cNvSpPr>
            <p:nvPr/>
          </p:nvSpPr>
          <p:spPr bwMode="auto">
            <a:xfrm>
              <a:off x="2544" y="624"/>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1" name="Rectangle 81"/>
            <p:cNvSpPr>
              <a:spLocks noChangeArrowheads="1"/>
            </p:cNvSpPr>
            <p:nvPr/>
          </p:nvSpPr>
          <p:spPr bwMode="auto">
            <a:xfrm>
              <a:off x="2544" y="57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2" name="Rectangle 82"/>
            <p:cNvSpPr>
              <a:spLocks noChangeArrowheads="1"/>
            </p:cNvSpPr>
            <p:nvPr/>
          </p:nvSpPr>
          <p:spPr bwMode="auto">
            <a:xfrm>
              <a:off x="2544" y="528"/>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3" name="Rectangle 83"/>
            <p:cNvSpPr>
              <a:spLocks noChangeArrowheads="1"/>
            </p:cNvSpPr>
            <p:nvPr/>
          </p:nvSpPr>
          <p:spPr bwMode="auto">
            <a:xfrm>
              <a:off x="2544" y="480"/>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4" name="Rectangle 84"/>
            <p:cNvSpPr>
              <a:spLocks noChangeArrowheads="1"/>
            </p:cNvSpPr>
            <p:nvPr/>
          </p:nvSpPr>
          <p:spPr bwMode="auto">
            <a:xfrm>
              <a:off x="2688" y="768"/>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5" name="Rectangle 85"/>
            <p:cNvSpPr>
              <a:spLocks noChangeArrowheads="1"/>
            </p:cNvSpPr>
            <p:nvPr/>
          </p:nvSpPr>
          <p:spPr bwMode="auto">
            <a:xfrm>
              <a:off x="2736" y="768"/>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6" name="Rectangle 86"/>
            <p:cNvSpPr>
              <a:spLocks noChangeArrowheads="1"/>
            </p:cNvSpPr>
            <p:nvPr/>
          </p:nvSpPr>
          <p:spPr bwMode="auto">
            <a:xfrm>
              <a:off x="2784" y="768"/>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7" name="Rectangle 87"/>
            <p:cNvSpPr>
              <a:spLocks noChangeArrowheads="1"/>
            </p:cNvSpPr>
            <p:nvPr/>
          </p:nvSpPr>
          <p:spPr bwMode="auto">
            <a:xfrm>
              <a:off x="2832" y="768"/>
              <a:ext cx="48" cy="48"/>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8" name="Rectangle 88"/>
            <p:cNvSpPr>
              <a:spLocks noChangeArrowheads="1"/>
            </p:cNvSpPr>
            <p:nvPr/>
          </p:nvSpPr>
          <p:spPr bwMode="auto">
            <a:xfrm>
              <a:off x="2784" y="33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29" name="Rectangle 89"/>
            <p:cNvSpPr>
              <a:spLocks noChangeArrowheads="1"/>
            </p:cNvSpPr>
            <p:nvPr/>
          </p:nvSpPr>
          <p:spPr bwMode="auto">
            <a:xfrm>
              <a:off x="2688" y="33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30" name="Rectangle 90"/>
            <p:cNvSpPr>
              <a:spLocks noChangeArrowheads="1"/>
            </p:cNvSpPr>
            <p:nvPr/>
          </p:nvSpPr>
          <p:spPr bwMode="auto">
            <a:xfrm>
              <a:off x="2736" y="33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31" name="Rectangle 91"/>
            <p:cNvSpPr>
              <a:spLocks noChangeArrowheads="1"/>
            </p:cNvSpPr>
            <p:nvPr/>
          </p:nvSpPr>
          <p:spPr bwMode="auto">
            <a:xfrm>
              <a:off x="2832" y="336"/>
              <a:ext cx="48" cy="4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1532" name="AutoShape 92"/>
            <p:cNvSpPr>
              <a:spLocks noChangeArrowheads="1"/>
            </p:cNvSpPr>
            <p:nvPr/>
          </p:nvSpPr>
          <p:spPr bwMode="auto">
            <a:xfrm rot="12189135">
              <a:off x="2516" y="820"/>
              <a:ext cx="96" cy="528"/>
            </a:xfrm>
            <a:prstGeom prst="triangle">
              <a:avLst>
                <a:gd name="adj" fmla="val 50000"/>
              </a:avLst>
            </a:prstGeom>
            <a:solidFill>
              <a:schemeClr val="hlink"/>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grpSp>
      <p:sp>
        <p:nvSpPr>
          <p:cNvPr id="61533" name="Rectangle 93"/>
          <p:cNvSpPr>
            <a:spLocks noGrp="1" noChangeArrowheads="1"/>
          </p:cNvSpPr>
          <p:nvPr>
            <p:ph type="title"/>
          </p:nvPr>
        </p:nvSpPr>
        <p:spPr>
          <a:xfrm>
            <a:off x="337474" y="2210509"/>
            <a:ext cx="8469052" cy="956288"/>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wrap="square" lIns="0" tIns="46800" rIns="0" bIns="46800" anchor="ctr">
            <a:spAutoFit/>
          </a:bodyPr>
          <a:lstStyle/>
          <a:p>
            <a:r>
              <a:rPr lang="zh-CN" altLang="en-US" sz="2800" b="0" dirty="0"/>
              <a:t>位图图像对象</a:t>
            </a:r>
            <a:r>
              <a:rPr lang="zh-CN" altLang="en-US" sz="2800" dirty="0"/>
              <a:t>是通过采用像素点来描述图像。它具有位置和强度两种信息。</a:t>
            </a:r>
            <a:endParaRPr lang="zh-CN" altLang="en-US" sz="2800" b="0" dirty="0"/>
          </a:p>
        </p:txBody>
      </p:sp>
      <p:sp>
        <p:nvSpPr>
          <p:cNvPr id="85" name="Rectangle 2">
            <a:extLst>
              <a:ext uri="{FF2B5EF4-FFF2-40B4-BE49-F238E27FC236}">
                <a16:creationId xmlns:a16="http://schemas.microsoft.com/office/drawing/2014/main" id="{CAD8D63C-5BD5-449F-9B9A-F41570B060D1}"/>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87" name="文本框 86">
            <a:extLst>
              <a:ext uri="{FF2B5EF4-FFF2-40B4-BE49-F238E27FC236}">
                <a16:creationId xmlns:a16="http://schemas.microsoft.com/office/drawing/2014/main" id="{E5CD343F-1E6E-4D76-8CCA-A8917BE5F89D}"/>
              </a:ext>
            </a:extLst>
          </p:cNvPr>
          <p:cNvSpPr txBox="1"/>
          <p:nvPr/>
        </p:nvSpPr>
        <p:spPr>
          <a:xfrm>
            <a:off x="259034" y="1088358"/>
            <a:ext cx="8159032" cy="1077218"/>
          </a:xfrm>
          <a:prstGeom prst="rect">
            <a:avLst/>
          </a:prstGeom>
          <a:noFill/>
        </p:spPr>
        <p:txBody>
          <a:bodyPr wrap="square">
            <a:spAutoFit/>
          </a:bodyPr>
          <a:lstStyle/>
          <a:p>
            <a:r>
              <a:rPr lang="zh-CN" altLang="en-US" sz="3200" b="0" i="0" dirty="0">
                <a:solidFill>
                  <a:srgbClr val="333333"/>
                </a:solidFill>
                <a:effectLst/>
                <a:latin typeface="arial" panose="020B0604020202020204" pitchFamily="34" charset="0"/>
              </a:rPr>
              <a:t>图像是所有具有视觉效果的画面，是人类社会活动中最常用的信息载体。</a:t>
            </a:r>
            <a:endParaRPr lang="zh-CN" altLang="en-US" sz="3200" dirty="0"/>
          </a:p>
        </p:txBody>
      </p:sp>
      <p:sp>
        <p:nvSpPr>
          <p:cNvPr id="2" name="灯片编号占位符 1">
            <a:extLst>
              <a:ext uri="{FF2B5EF4-FFF2-40B4-BE49-F238E27FC236}">
                <a16:creationId xmlns:a16="http://schemas.microsoft.com/office/drawing/2014/main" id="{C120AB48-8D9C-4D94-B61E-30F4D05B074E}"/>
              </a:ext>
            </a:extLst>
          </p:cNvPr>
          <p:cNvSpPr>
            <a:spLocks noGrp="1"/>
          </p:cNvSpPr>
          <p:nvPr>
            <p:ph type="sldNum" sz="quarter" idx="12"/>
          </p:nvPr>
        </p:nvSpPr>
        <p:spPr/>
        <p:txBody>
          <a:bodyPr/>
          <a:lstStyle/>
          <a:p>
            <a:fld id="{F64BA984-46A0-4F46-990E-EC790E6934B4}" type="slidenum">
              <a:rPr lang="zh-CN" altLang="en-US" smtClean="0"/>
              <a:t>32</a:t>
            </a:fld>
            <a:endParaRPr lang="zh-CN" altLang="en-US"/>
          </a:p>
        </p:txBody>
      </p:sp>
    </p:spTree>
    <p:extLst>
      <p:ext uri="{BB962C8B-B14F-4D97-AF65-F5344CB8AC3E}">
        <p14:creationId xmlns:p14="http://schemas.microsoft.com/office/powerpoint/2010/main" val="759274140"/>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20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AutoShape 3"/>
          <p:cNvSpPr>
            <a:spLocks noChangeArrowheads="1"/>
          </p:cNvSpPr>
          <p:nvPr/>
        </p:nvSpPr>
        <p:spPr bwMode="auto">
          <a:xfrm>
            <a:off x="529878" y="1837387"/>
            <a:ext cx="5638800" cy="762000"/>
          </a:xfrm>
          <a:prstGeom prst="flowChartAlternateProcess">
            <a:avLst/>
          </a:prstGeom>
          <a:gradFill rotWithShape="0">
            <a:gsLst>
              <a:gs pos="0">
                <a:srgbClr val="CC9900"/>
              </a:gs>
              <a:gs pos="50000">
                <a:srgbClr val="CC9900">
                  <a:gamma/>
                  <a:shade val="46275"/>
                  <a:invGamma/>
                </a:srgbClr>
              </a:gs>
              <a:gs pos="100000">
                <a:srgbClr val="CC9900"/>
              </a:gs>
            </a:gsLst>
            <a:lin ang="1890000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bg1"/>
                </a:solidFill>
                <a:effectLst>
                  <a:outerShdw blurRad="38100" dist="38100" dir="2700000" algn="tl">
                    <a:srgbClr val="000000"/>
                  </a:outerShdw>
                </a:effectLst>
                <a:latin typeface="Times New Roman" pitchFamily="18" charset="0"/>
              </a:rPr>
              <a:t>通过计算而描述的矢量图形</a:t>
            </a:r>
            <a:endParaRPr lang="zh-CN" altLang="en-US" sz="2000" b="1" dirty="0">
              <a:latin typeface="Times New Roman" pitchFamily="18" charset="0"/>
            </a:endParaRPr>
          </a:p>
        </p:txBody>
      </p:sp>
      <p:sp>
        <p:nvSpPr>
          <p:cNvPr id="60424" name="AutoShape 8"/>
          <p:cNvSpPr>
            <a:spLocks noChangeArrowheads="1"/>
          </p:cNvSpPr>
          <p:nvPr/>
        </p:nvSpPr>
        <p:spPr bwMode="auto">
          <a:xfrm>
            <a:off x="467544" y="2687342"/>
            <a:ext cx="5638800" cy="3350429"/>
          </a:xfrm>
          <a:prstGeom prst="roundRect">
            <a:avLst>
              <a:gd name="adj" fmla="val 5741"/>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Oval 9"/>
          <p:cNvSpPr>
            <a:spLocks noChangeArrowheads="1"/>
          </p:cNvSpPr>
          <p:nvPr/>
        </p:nvSpPr>
        <p:spPr bwMode="auto">
          <a:xfrm>
            <a:off x="3134544" y="38221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Oval 10"/>
          <p:cNvSpPr>
            <a:spLocks noChangeArrowheads="1"/>
          </p:cNvSpPr>
          <p:nvPr/>
        </p:nvSpPr>
        <p:spPr bwMode="auto">
          <a:xfrm>
            <a:off x="3210744" y="37459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Oval 11"/>
          <p:cNvSpPr>
            <a:spLocks noChangeArrowheads="1"/>
          </p:cNvSpPr>
          <p:nvPr/>
        </p:nvSpPr>
        <p:spPr bwMode="auto">
          <a:xfrm>
            <a:off x="3286944" y="36697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Oval 12"/>
          <p:cNvSpPr>
            <a:spLocks noChangeArrowheads="1"/>
          </p:cNvSpPr>
          <p:nvPr/>
        </p:nvSpPr>
        <p:spPr bwMode="auto">
          <a:xfrm>
            <a:off x="3363144" y="35935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Oval 13"/>
          <p:cNvSpPr>
            <a:spLocks noChangeArrowheads="1"/>
          </p:cNvSpPr>
          <p:nvPr/>
        </p:nvSpPr>
        <p:spPr bwMode="auto">
          <a:xfrm>
            <a:off x="3439344" y="35173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0" name="Oval 14"/>
          <p:cNvSpPr>
            <a:spLocks noChangeArrowheads="1"/>
          </p:cNvSpPr>
          <p:nvPr/>
        </p:nvSpPr>
        <p:spPr bwMode="auto">
          <a:xfrm>
            <a:off x="3515544" y="34411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1" name="Oval 15"/>
          <p:cNvSpPr>
            <a:spLocks noChangeArrowheads="1"/>
          </p:cNvSpPr>
          <p:nvPr/>
        </p:nvSpPr>
        <p:spPr bwMode="auto">
          <a:xfrm>
            <a:off x="3591744" y="3364915"/>
            <a:ext cx="1905000" cy="381000"/>
          </a:xfrm>
          <a:prstGeom prst="ellipse">
            <a:avLst/>
          </a:prstGeom>
          <a:noFill/>
          <a:ln w="19050">
            <a:solidFill>
              <a:srgbClr val="FF66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0432" name="Picture 16" descr="Leaves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291" y="5282716"/>
            <a:ext cx="1295400" cy="625475"/>
          </a:xfrm>
          <a:prstGeom prst="rect">
            <a:avLst/>
          </a:prstGeom>
          <a:noFill/>
          <a:extLst>
            <a:ext uri="{909E8E84-426E-40DD-AFC4-6F175D3DCCD1}">
              <a14:hiddenFill xmlns:a14="http://schemas.microsoft.com/office/drawing/2010/main">
                <a:solidFill>
                  <a:srgbClr val="FFFFFF"/>
                </a:solidFill>
              </a14:hiddenFill>
            </a:ext>
          </a:extLst>
        </p:spPr>
      </p:pic>
      <p:pic>
        <p:nvPicPr>
          <p:cNvPr id="60433" name="Picture 17" descr="Eggpla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2273" y="4581370"/>
            <a:ext cx="1057275" cy="874713"/>
          </a:xfrm>
          <a:prstGeom prst="rect">
            <a:avLst/>
          </a:prstGeom>
          <a:noFill/>
          <a:extLst>
            <a:ext uri="{909E8E84-426E-40DD-AFC4-6F175D3DCCD1}">
              <a14:hiddenFill xmlns:a14="http://schemas.microsoft.com/office/drawing/2010/main">
                <a:solidFill>
                  <a:srgbClr val="FFFFFF"/>
                </a:solidFill>
              </a14:hiddenFill>
            </a:ext>
          </a:extLst>
        </p:spPr>
      </p:pic>
      <p:pic>
        <p:nvPicPr>
          <p:cNvPr id="60434" name="Picture 18" descr="Touca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8965" y="3784015"/>
            <a:ext cx="974725" cy="917575"/>
          </a:xfrm>
          <a:prstGeom prst="rect">
            <a:avLst/>
          </a:prstGeom>
          <a:noFill/>
          <a:extLst>
            <a:ext uri="{909E8E84-426E-40DD-AFC4-6F175D3DCCD1}">
              <a14:hiddenFill xmlns:a14="http://schemas.microsoft.com/office/drawing/2010/main">
                <a:solidFill>
                  <a:srgbClr val="FFFFFF"/>
                </a:solidFill>
              </a14:hiddenFill>
            </a:ext>
          </a:extLst>
        </p:spPr>
      </p:pic>
      <p:grpSp>
        <p:nvGrpSpPr>
          <p:cNvPr id="60436" name="Group 20"/>
          <p:cNvGrpSpPr>
            <a:grpSpLocks/>
          </p:cNvGrpSpPr>
          <p:nvPr/>
        </p:nvGrpSpPr>
        <p:grpSpPr bwMode="auto">
          <a:xfrm>
            <a:off x="848543" y="3452229"/>
            <a:ext cx="3160713" cy="1041598"/>
            <a:chOff x="3216" y="2688"/>
            <a:chExt cx="1965" cy="1536"/>
          </a:xfrm>
        </p:grpSpPr>
        <p:sp>
          <p:nvSpPr>
            <p:cNvPr id="60437" name="Oval 21"/>
            <p:cNvSpPr>
              <a:spLocks noChangeArrowheads="1"/>
            </p:cNvSpPr>
            <p:nvPr/>
          </p:nvSpPr>
          <p:spPr bwMode="auto">
            <a:xfrm rot="1831097">
              <a:off x="3264" y="3792"/>
              <a:ext cx="1917"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8" name="Oval 22"/>
            <p:cNvSpPr>
              <a:spLocks noChangeArrowheads="1"/>
            </p:cNvSpPr>
            <p:nvPr/>
          </p:nvSpPr>
          <p:spPr bwMode="auto">
            <a:xfrm rot="1829767">
              <a:off x="3264" y="3792"/>
              <a:ext cx="1801"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9" name="Oval 23"/>
            <p:cNvSpPr>
              <a:spLocks noChangeArrowheads="1"/>
            </p:cNvSpPr>
            <p:nvPr/>
          </p:nvSpPr>
          <p:spPr bwMode="auto">
            <a:xfrm rot="1831124">
              <a:off x="3264" y="3792"/>
              <a:ext cx="1685"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0" name="Oval 24"/>
            <p:cNvSpPr>
              <a:spLocks noChangeArrowheads="1"/>
            </p:cNvSpPr>
            <p:nvPr/>
          </p:nvSpPr>
          <p:spPr bwMode="auto">
            <a:xfrm rot="1829691">
              <a:off x="3264" y="3792"/>
              <a:ext cx="1569"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Oval 25"/>
            <p:cNvSpPr>
              <a:spLocks noChangeArrowheads="1"/>
            </p:cNvSpPr>
            <p:nvPr/>
          </p:nvSpPr>
          <p:spPr bwMode="auto">
            <a:xfrm rot="1831232">
              <a:off x="3264" y="3792"/>
              <a:ext cx="1452"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2" name="Oval 26"/>
            <p:cNvSpPr>
              <a:spLocks noChangeArrowheads="1"/>
            </p:cNvSpPr>
            <p:nvPr/>
          </p:nvSpPr>
          <p:spPr bwMode="auto">
            <a:xfrm rot="1829301">
              <a:off x="3264" y="3792"/>
              <a:ext cx="1336"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3" name="Oval 27"/>
            <p:cNvSpPr>
              <a:spLocks noChangeArrowheads="1"/>
            </p:cNvSpPr>
            <p:nvPr/>
          </p:nvSpPr>
          <p:spPr bwMode="auto">
            <a:xfrm rot="1827432">
              <a:off x="3264" y="3792"/>
              <a:ext cx="1220"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4" name="Oval 28"/>
            <p:cNvSpPr>
              <a:spLocks noChangeArrowheads="1"/>
            </p:cNvSpPr>
            <p:nvPr/>
          </p:nvSpPr>
          <p:spPr bwMode="auto">
            <a:xfrm rot="1828981">
              <a:off x="3264" y="3792"/>
              <a:ext cx="1104"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5" name="Oval 29"/>
            <p:cNvSpPr>
              <a:spLocks noChangeArrowheads="1"/>
            </p:cNvSpPr>
            <p:nvPr/>
          </p:nvSpPr>
          <p:spPr bwMode="auto">
            <a:xfrm rot="1829574">
              <a:off x="3264" y="3792"/>
              <a:ext cx="987"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Oval 30"/>
            <p:cNvSpPr>
              <a:spLocks noChangeArrowheads="1"/>
            </p:cNvSpPr>
            <p:nvPr/>
          </p:nvSpPr>
          <p:spPr bwMode="auto">
            <a:xfrm rot="1828708">
              <a:off x="3264" y="3792"/>
              <a:ext cx="872"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Oval 31"/>
            <p:cNvSpPr>
              <a:spLocks noChangeArrowheads="1"/>
            </p:cNvSpPr>
            <p:nvPr/>
          </p:nvSpPr>
          <p:spPr bwMode="auto">
            <a:xfrm rot="1829637">
              <a:off x="3264" y="3792"/>
              <a:ext cx="755"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Oval 32"/>
            <p:cNvSpPr>
              <a:spLocks noChangeArrowheads="1"/>
            </p:cNvSpPr>
            <p:nvPr/>
          </p:nvSpPr>
          <p:spPr bwMode="auto">
            <a:xfrm rot="-2116590">
              <a:off x="3216" y="2688"/>
              <a:ext cx="1917"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Oval 33"/>
            <p:cNvSpPr>
              <a:spLocks noChangeArrowheads="1"/>
            </p:cNvSpPr>
            <p:nvPr/>
          </p:nvSpPr>
          <p:spPr bwMode="auto">
            <a:xfrm rot="-2115758">
              <a:off x="3216" y="2688"/>
              <a:ext cx="1801"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Oval 34"/>
            <p:cNvSpPr>
              <a:spLocks noChangeArrowheads="1"/>
            </p:cNvSpPr>
            <p:nvPr/>
          </p:nvSpPr>
          <p:spPr bwMode="auto">
            <a:xfrm rot="-2117008">
              <a:off x="3216" y="2688"/>
              <a:ext cx="1685"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Oval 35"/>
            <p:cNvSpPr>
              <a:spLocks noChangeArrowheads="1"/>
            </p:cNvSpPr>
            <p:nvPr/>
          </p:nvSpPr>
          <p:spPr bwMode="auto">
            <a:xfrm rot="-2115960">
              <a:off x="3216" y="2688"/>
              <a:ext cx="1569"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Oval 36"/>
            <p:cNvSpPr>
              <a:spLocks noChangeArrowheads="1"/>
            </p:cNvSpPr>
            <p:nvPr/>
          </p:nvSpPr>
          <p:spPr bwMode="auto">
            <a:xfrm rot="-2117458">
              <a:off x="3216" y="2688"/>
              <a:ext cx="1452"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Oval 37"/>
            <p:cNvSpPr>
              <a:spLocks noChangeArrowheads="1"/>
            </p:cNvSpPr>
            <p:nvPr/>
          </p:nvSpPr>
          <p:spPr bwMode="auto">
            <a:xfrm rot="-2114615">
              <a:off x="3216" y="2688"/>
              <a:ext cx="1336"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4" name="Oval 38"/>
            <p:cNvSpPr>
              <a:spLocks noChangeArrowheads="1"/>
            </p:cNvSpPr>
            <p:nvPr/>
          </p:nvSpPr>
          <p:spPr bwMode="auto">
            <a:xfrm rot="-2117897">
              <a:off x="3216" y="2688"/>
              <a:ext cx="1220"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5" name="Oval 39"/>
            <p:cNvSpPr>
              <a:spLocks noChangeArrowheads="1"/>
            </p:cNvSpPr>
            <p:nvPr/>
          </p:nvSpPr>
          <p:spPr bwMode="auto">
            <a:xfrm rot="-2120190">
              <a:off x="3216" y="2688"/>
              <a:ext cx="1104"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6" name="Oval 40"/>
            <p:cNvSpPr>
              <a:spLocks noChangeArrowheads="1"/>
            </p:cNvSpPr>
            <p:nvPr/>
          </p:nvSpPr>
          <p:spPr bwMode="auto">
            <a:xfrm rot="-2114480">
              <a:off x="3216" y="2688"/>
              <a:ext cx="987"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7" name="Oval 41"/>
            <p:cNvSpPr>
              <a:spLocks noChangeArrowheads="1"/>
            </p:cNvSpPr>
            <p:nvPr/>
          </p:nvSpPr>
          <p:spPr bwMode="auto">
            <a:xfrm rot="-2121093">
              <a:off x="3216" y="2688"/>
              <a:ext cx="872"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Oval 42"/>
            <p:cNvSpPr>
              <a:spLocks noChangeArrowheads="1"/>
            </p:cNvSpPr>
            <p:nvPr/>
          </p:nvSpPr>
          <p:spPr bwMode="auto">
            <a:xfrm rot="-2121797">
              <a:off x="3216" y="2688"/>
              <a:ext cx="755" cy="432"/>
            </a:xfrm>
            <a:prstGeom prst="ellipse">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0459" name="Group 43"/>
          <p:cNvGrpSpPr>
            <a:grpSpLocks/>
          </p:cNvGrpSpPr>
          <p:nvPr/>
        </p:nvGrpSpPr>
        <p:grpSpPr bwMode="auto">
          <a:xfrm>
            <a:off x="3952900" y="4275994"/>
            <a:ext cx="1182687" cy="1447800"/>
            <a:chOff x="3132" y="2017"/>
            <a:chExt cx="823" cy="1007"/>
          </a:xfrm>
        </p:grpSpPr>
        <p:sp>
          <p:nvSpPr>
            <p:cNvPr id="60460" name="Freeform 44"/>
            <p:cNvSpPr>
              <a:spLocks/>
            </p:cNvSpPr>
            <p:nvPr/>
          </p:nvSpPr>
          <p:spPr bwMode="auto">
            <a:xfrm>
              <a:off x="3772" y="2912"/>
              <a:ext cx="103" cy="109"/>
            </a:xfrm>
            <a:custGeom>
              <a:avLst/>
              <a:gdLst>
                <a:gd name="T0" fmla="*/ 5 w 309"/>
                <a:gd name="T1" fmla="*/ 75 h 329"/>
                <a:gd name="T2" fmla="*/ 21 w 309"/>
                <a:gd name="T3" fmla="*/ 61 h 329"/>
                <a:gd name="T4" fmla="*/ 41 w 309"/>
                <a:gd name="T5" fmla="*/ 44 h 329"/>
                <a:gd name="T6" fmla="*/ 58 w 309"/>
                <a:gd name="T7" fmla="*/ 28 h 329"/>
                <a:gd name="T8" fmla="*/ 69 w 309"/>
                <a:gd name="T9" fmla="*/ 15 h 329"/>
                <a:gd name="T10" fmla="*/ 82 w 309"/>
                <a:gd name="T11" fmla="*/ 4 h 329"/>
                <a:gd name="T12" fmla="*/ 87 w 309"/>
                <a:gd name="T13" fmla="*/ 3 h 329"/>
                <a:gd name="T14" fmla="*/ 89 w 309"/>
                <a:gd name="T15" fmla="*/ 10 h 329"/>
                <a:gd name="T16" fmla="*/ 100 w 309"/>
                <a:gd name="T17" fmla="*/ 15 h 329"/>
                <a:gd name="T18" fmla="*/ 116 w 309"/>
                <a:gd name="T19" fmla="*/ 21 h 329"/>
                <a:gd name="T20" fmla="*/ 130 w 309"/>
                <a:gd name="T21" fmla="*/ 29 h 329"/>
                <a:gd name="T22" fmla="*/ 140 w 309"/>
                <a:gd name="T23" fmla="*/ 39 h 329"/>
                <a:gd name="T24" fmla="*/ 150 w 309"/>
                <a:gd name="T25" fmla="*/ 52 h 329"/>
                <a:gd name="T26" fmla="*/ 164 w 309"/>
                <a:gd name="T27" fmla="*/ 68 h 329"/>
                <a:gd name="T28" fmla="*/ 197 w 309"/>
                <a:gd name="T29" fmla="*/ 92 h 329"/>
                <a:gd name="T30" fmla="*/ 242 w 309"/>
                <a:gd name="T31" fmla="*/ 132 h 329"/>
                <a:gd name="T32" fmla="*/ 278 w 309"/>
                <a:gd name="T33" fmla="*/ 180 h 329"/>
                <a:gd name="T34" fmla="*/ 302 w 309"/>
                <a:gd name="T35" fmla="*/ 232 h 329"/>
                <a:gd name="T36" fmla="*/ 309 w 309"/>
                <a:gd name="T37" fmla="*/ 270 h 329"/>
                <a:gd name="T38" fmla="*/ 299 w 309"/>
                <a:gd name="T39" fmla="*/ 299 h 329"/>
                <a:gd name="T40" fmla="*/ 280 w 309"/>
                <a:gd name="T41" fmla="*/ 317 h 329"/>
                <a:gd name="T42" fmla="*/ 259 w 309"/>
                <a:gd name="T43" fmla="*/ 326 h 329"/>
                <a:gd name="T44" fmla="*/ 235 w 309"/>
                <a:gd name="T45" fmla="*/ 329 h 329"/>
                <a:gd name="T46" fmla="*/ 211 w 309"/>
                <a:gd name="T47" fmla="*/ 323 h 329"/>
                <a:gd name="T48" fmla="*/ 191 w 309"/>
                <a:gd name="T49" fmla="*/ 306 h 329"/>
                <a:gd name="T50" fmla="*/ 167 w 309"/>
                <a:gd name="T51" fmla="*/ 283 h 329"/>
                <a:gd name="T52" fmla="*/ 144 w 309"/>
                <a:gd name="T53" fmla="*/ 263 h 329"/>
                <a:gd name="T54" fmla="*/ 130 w 309"/>
                <a:gd name="T55" fmla="*/ 248 h 329"/>
                <a:gd name="T56" fmla="*/ 129 w 309"/>
                <a:gd name="T57" fmla="*/ 241 h 329"/>
                <a:gd name="T58" fmla="*/ 124 w 309"/>
                <a:gd name="T59" fmla="*/ 231 h 329"/>
                <a:gd name="T60" fmla="*/ 113 w 309"/>
                <a:gd name="T61" fmla="*/ 218 h 329"/>
                <a:gd name="T62" fmla="*/ 80 w 309"/>
                <a:gd name="T63" fmla="*/ 185 h 329"/>
                <a:gd name="T64" fmla="*/ 38 w 309"/>
                <a:gd name="T65" fmla="*/ 139 h 329"/>
                <a:gd name="T66" fmla="*/ 7 w 309"/>
                <a:gd name="T67" fmla="*/ 96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9" h="329">
                  <a:moveTo>
                    <a:pt x="0" y="81"/>
                  </a:moveTo>
                  <a:lnTo>
                    <a:pt x="5" y="75"/>
                  </a:lnTo>
                  <a:lnTo>
                    <a:pt x="12" y="68"/>
                  </a:lnTo>
                  <a:lnTo>
                    <a:pt x="21" y="61"/>
                  </a:lnTo>
                  <a:lnTo>
                    <a:pt x="31" y="52"/>
                  </a:lnTo>
                  <a:lnTo>
                    <a:pt x="41" y="44"/>
                  </a:lnTo>
                  <a:lnTo>
                    <a:pt x="51" y="35"/>
                  </a:lnTo>
                  <a:lnTo>
                    <a:pt x="58" y="28"/>
                  </a:lnTo>
                  <a:lnTo>
                    <a:pt x="62" y="22"/>
                  </a:lnTo>
                  <a:lnTo>
                    <a:pt x="69" y="15"/>
                  </a:lnTo>
                  <a:lnTo>
                    <a:pt x="76" y="10"/>
                  </a:lnTo>
                  <a:lnTo>
                    <a:pt x="82" y="4"/>
                  </a:lnTo>
                  <a:lnTo>
                    <a:pt x="86" y="0"/>
                  </a:lnTo>
                  <a:lnTo>
                    <a:pt x="87" y="3"/>
                  </a:lnTo>
                  <a:lnTo>
                    <a:pt x="89" y="5"/>
                  </a:lnTo>
                  <a:lnTo>
                    <a:pt x="89" y="10"/>
                  </a:lnTo>
                  <a:lnTo>
                    <a:pt x="90" y="12"/>
                  </a:lnTo>
                  <a:lnTo>
                    <a:pt x="100" y="15"/>
                  </a:lnTo>
                  <a:lnTo>
                    <a:pt x="109" y="18"/>
                  </a:lnTo>
                  <a:lnTo>
                    <a:pt x="116" y="21"/>
                  </a:lnTo>
                  <a:lnTo>
                    <a:pt x="124" y="25"/>
                  </a:lnTo>
                  <a:lnTo>
                    <a:pt x="130" y="29"/>
                  </a:lnTo>
                  <a:lnTo>
                    <a:pt x="136" y="34"/>
                  </a:lnTo>
                  <a:lnTo>
                    <a:pt x="140" y="39"/>
                  </a:lnTo>
                  <a:lnTo>
                    <a:pt x="144" y="44"/>
                  </a:lnTo>
                  <a:lnTo>
                    <a:pt x="150" y="52"/>
                  </a:lnTo>
                  <a:lnTo>
                    <a:pt x="157" y="61"/>
                  </a:lnTo>
                  <a:lnTo>
                    <a:pt x="164" y="68"/>
                  </a:lnTo>
                  <a:lnTo>
                    <a:pt x="173" y="75"/>
                  </a:lnTo>
                  <a:lnTo>
                    <a:pt x="197" y="92"/>
                  </a:lnTo>
                  <a:lnTo>
                    <a:pt x="219" y="110"/>
                  </a:lnTo>
                  <a:lnTo>
                    <a:pt x="242" y="132"/>
                  </a:lnTo>
                  <a:lnTo>
                    <a:pt x="262" y="156"/>
                  </a:lnTo>
                  <a:lnTo>
                    <a:pt x="278" y="180"/>
                  </a:lnTo>
                  <a:lnTo>
                    <a:pt x="292" y="207"/>
                  </a:lnTo>
                  <a:lnTo>
                    <a:pt x="302" y="232"/>
                  </a:lnTo>
                  <a:lnTo>
                    <a:pt x="307" y="258"/>
                  </a:lnTo>
                  <a:lnTo>
                    <a:pt x="309" y="270"/>
                  </a:lnTo>
                  <a:lnTo>
                    <a:pt x="306" y="285"/>
                  </a:lnTo>
                  <a:lnTo>
                    <a:pt x="299" y="299"/>
                  </a:lnTo>
                  <a:lnTo>
                    <a:pt x="289" y="312"/>
                  </a:lnTo>
                  <a:lnTo>
                    <a:pt x="280" y="317"/>
                  </a:lnTo>
                  <a:lnTo>
                    <a:pt x="270" y="322"/>
                  </a:lnTo>
                  <a:lnTo>
                    <a:pt x="259" y="326"/>
                  </a:lnTo>
                  <a:lnTo>
                    <a:pt x="248" y="329"/>
                  </a:lnTo>
                  <a:lnTo>
                    <a:pt x="235" y="329"/>
                  </a:lnTo>
                  <a:lnTo>
                    <a:pt x="222" y="327"/>
                  </a:lnTo>
                  <a:lnTo>
                    <a:pt x="211" y="323"/>
                  </a:lnTo>
                  <a:lnTo>
                    <a:pt x="201" y="316"/>
                  </a:lnTo>
                  <a:lnTo>
                    <a:pt x="191" y="306"/>
                  </a:lnTo>
                  <a:lnTo>
                    <a:pt x="178" y="295"/>
                  </a:lnTo>
                  <a:lnTo>
                    <a:pt x="167" y="283"/>
                  </a:lnTo>
                  <a:lnTo>
                    <a:pt x="156" y="273"/>
                  </a:lnTo>
                  <a:lnTo>
                    <a:pt x="144" y="263"/>
                  </a:lnTo>
                  <a:lnTo>
                    <a:pt x="136" y="255"/>
                  </a:lnTo>
                  <a:lnTo>
                    <a:pt x="130" y="248"/>
                  </a:lnTo>
                  <a:lnTo>
                    <a:pt x="129" y="245"/>
                  </a:lnTo>
                  <a:lnTo>
                    <a:pt x="129" y="241"/>
                  </a:lnTo>
                  <a:lnTo>
                    <a:pt x="127" y="236"/>
                  </a:lnTo>
                  <a:lnTo>
                    <a:pt x="124" y="231"/>
                  </a:lnTo>
                  <a:lnTo>
                    <a:pt x="120" y="225"/>
                  </a:lnTo>
                  <a:lnTo>
                    <a:pt x="113" y="218"/>
                  </a:lnTo>
                  <a:lnTo>
                    <a:pt x="99" y="204"/>
                  </a:lnTo>
                  <a:lnTo>
                    <a:pt x="80" y="185"/>
                  </a:lnTo>
                  <a:lnTo>
                    <a:pt x="59" y="163"/>
                  </a:lnTo>
                  <a:lnTo>
                    <a:pt x="38" y="139"/>
                  </a:lnTo>
                  <a:lnTo>
                    <a:pt x="19" y="116"/>
                  </a:lnTo>
                  <a:lnTo>
                    <a:pt x="7" y="96"/>
                  </a:lnTo>
                  <a:lnTo>
                    <a:pt x="0" y="8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1" name="Freeform 45"/>
            <p:cNvSpPr>
              <a:spLocks/>
            </p:cNvSpPr>
            <p:nvPr/>
          </p:nvSpPr>
          <p:spPr bwMode="auto">
            <a:xfrm>
              <a:off x="3383" y="2957"/>
              <a:ext cx="138" cy="67"/>
            </a:xfrm>
            <a:custGeom>
              <a:avLst/>
              <a:gdLst>
                <a:gd name="T0" fmla="*/ 213 w 414"/>
                <a:gd name="T1" fmla="*/ 5 h 200"/>
                <a:gd name="T2" fmla="*/ 230 w 414"/>
                <a:gd name="T3" fmla="*/ 13 h 200"/>
                <a:gd name="T4" fmla="*/ 250 w 414"/>
                <a:gd name="T5" fmla="*/ 18 h 200"/>
                <a:gd name="T6" fmla="*/ 271 w 414"/>
                <a:gd name="T7" fmla="*/ 22 h 200"/>
                <a:gd name="T8" fmla="*/ 299 w 414"/>
                <a:gd name="T9" fmla="*/ 25 h 200"/>
                <a:gd name="T10" fmla="*/ 332 w 414"/>
                <a:gd name="T11" fmla="*/ 25 h 200"/>
                <a:gd name="T12" fmla="*/ 365 w 414"/>
                <a:gd name="T13" fmla="*/ 24 h 200"/>
                <a:gd name="T14" fmla="*/ 396 w 414"/>
                <a:gd name="T15" fmla="*/ 20 h 200"/>
                <a:gd name="T16" fmla="*/ 407 w 414"/>
                <a:gd name="T17" fmla="*/ 32 h 200"/>
                <a:gd name="T18" fmla="*/ 404 w 414"/>
                <a:gd name="T19" fmla="*/ 66 h 200"/>
                <a:gd name="T20" fmla="*/ 410 w 414"/>
                <a:gd name="T21" fmla="*/ 93 h 200"/>
                <a:gd name="T22" fmla="*/ 414 w 414"/>
                <a:gd name="T23" fmla="*/ 153 h 200"/>
                <a:gd name="T24" fmla="*/ 281 w 414"/>
                <a:gd name="T25" fmla="*/ 191 h 200"/>
                <a:gd name="T26" fmla="*/ 275 w 414"/>
                <a:gd name="T27" fmla="*/ 169 h 200"/>
                <a:gd name="T28" fmla="*/ 260 w 414"/>
                <a:gd name="T29" fmla="*/ 169 h 200"/>
                <a:gd name="T30" fmla="*/ 243 w 414"/>
                <a:gd name="T31" fmla="*/ 171 h 200"/>
                <a:gd name="T32" fmla="*/ 227 w 414"/>
                <a:gd name="T33" fmla="*/ 178 h 200"/>
                <a:gd name="T34" fmla="*/ 211 w 414"/>
                <a:gd name="T35" fmla="*/ 187 h 200"/>
                <a:gd name="T36" fmla="*/ 187 w 414"/>
                <a:gd name="T37" fmla="*/ 194 h 200"/>
                <a:gd name="T38" fmla="*/ 159 w 414"/>
                <a:gd name="T39" fmla="*/ 198 h 200"/>
                <a:gd name="T40" fmla="*/ 131 w 414"/>
                <a:gd name="T41" fmla="*/ 200 h 200"/>
                <a:gd name="T42" fmla="*/ 105 w 414"/>
                <a:gd name="T43" fmla="*/ 200 h 200"/>
                <a:gd name="T44" fmla="*/ 72 w 414"/>
                <a:gd name="T45" fmla="*/ 200 h 200"/>
                <a:gd name="T46" fmla="*/ 38 w 414"/>
                <a:gd name="T47" fmla="*/ 198 h 200"/>
                <a:gd name="T48" fmla="*/ 11 w 414"/>
                <a:gd name="T49" fmla="*/ 194 h 200"/>
                <a:gd name="T50" fmla="*/ 0 w 414"/>
                <a:gd name="T51" fmla="*/ 183 h 200"/>
                <a:gd name="T52" fmla="*/ 3 w 414"/>
                <a:gd name="T53" fmla="*/ 164 h 200"/>
                <a:gd name="T54" fmla="*/ 14 w 414"/>
                <a:gd name="T55" fmla="*/ 149 h 200"/>
                <a:gd name="T56" fmla="*/ 31 w 414"/>
                <a:gd name="T57" fmla="*/ 139 h 200"/>
                <a:gd name="T58" fmla="*/ 53 w 414"/>
                <a:gd name="T59" fmla="*/ 133 h 200"/>
                <a:gd name="T60" fmla="*/ 82 w 414"/>
                <a:gd name="T61" fmla="*/ 126 h 200"/>
                <a:gd name="T62" fmla="*/ 115 w 414"/>
                <a:gd name="T63" fmla="*/ 115 h 200"/>
                <a:gd name="T64" fmla="*/ 140 w 414"/>
                <a:gd name="T65" fmla="*/ 98 h 200"/>
                <a:gd name="T66" fmla="*/ 156 w 414"/>
                <a:gd name="T67" fmla="*/ 79 h 200"/>
                <a:gd name="T68" fmla="*/ 172 w 414"/>
                <a:gd name="T69" fmla="*/ 61 h 200"/>
                <a:gd name="T70" fmla="*/ 187 w 414"/>
                <a:gd name="T71" fmla="*/ 42 h 200"/>
                <a:gd name="T72" fmla="*/ 200 w 414"/>
                <a:gd name="T73" fmla="*/ 32 h 200"/>
                <a:gd name="T74" fmla="*/ 204 w 414"/>
                <a:gd name="T75" fmla="*/ 22 h 200"/>
                <a:gd name="T76" fmla="*/ 204 w 414"/>
                <a:gd name="T77" fmla="*/ 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4" h="200">
                  <a:moveTo>
                    <a:pt x="204" y="0"/>
                  </a:moveTo>
                  <a:lnTo>
                    <a:pt x="213" y="5"/>
                  </a:lnTo>
                  <a:lnTo>
                    <a:pt x="221" y="10"/>
                  </a:lnTo>
                  <a:lnTo>
                    <a:pt x="230" y="13"/>
                  </a:lnTo>
                  <a:lnTo>
                    <a:pt x="240" y="15"/>
                  </a:lnTo>
                  <a:lnTo>
                    <a:pt x="250" y="18"/>
                  </a:lnTo>
                  <a:lnTo>
                    <a:pt x="261" y="21"/>
                  </a:lnTo>
                  <a:lnTo>
                    <a:pt x="271" y="22"/>
                  </a:lnTo>
                  <a:lnTo>
                    <a:pt x="282" y="24"/>
                  </a:lnTo>
                  <a:lnTo>
                    <a:pt x="299" y="25"/>
                  </a:lnTo>
                  <a:lnTo>
                    <a:pt x="316" y="25"/>
                  </a:lnTo>
                  <a:lnTo>
                    <a:pt x="332" y="25"/>
                  </a:lnTo>
                  <a:lnTo>
                    <a:pt x="349" y="24"/>
                  </a:lnTo>
                  <a:lnTo>
                    <a:pt x="365" y="24"/>
                  </a:lnTo>
                  <a:lnTo>
                    <a:pt x="380" y="21"/>
                  </a:lnTo>
                  <a:lnTo>
                    <a:pt x="396" y="20"/>
                  </a:lnTo>
                  <a:lnTo>
                    <a:pt x="409" y="17"/>
                  </a:lnTo>
                  <a:lnTo>
                    <a:pt x="407" y="32"/>
                  </a:lnTo>
                  <a:lnTo>
                    <a:pt x="406" y="51"/>
                  </a:lnTo>
                  <a:lnTo>
                    <a:pt x="404" y="66"/>
                  </a:lnTo>
                  <a:lnTo>
                    <a:pt x="406" y="78"/>
                  </a:lnTo>
                  <a:lnTo>
                    <a:pt x="410" y="93"/>
                  </a:lnTo>
                  <a:lnTo>
                    <a:pt x="414" y="120"/>
                  </a:lnTo>
                  <a:lnTo>
                    <a:pt x="414" y="153"/>
                  </a:lnTo>
                  <a:lnTo>
                    <a:pt x="406" y="187"/>
                  </a:lnTo>
                  <a:lnTo>
                    <a:pt x="281" y="191"/>
                  </a:lnTo>
                  <a:lnTo>
                    <a:pt x="281" y="169"/>
                  </a:lnTo>
                  <a:lnTo>
                    <a:pt x="275" y="169"/>
                  </a:lnTo>
                  <a:lnTo>
                    <a:pt x="267" y="169"/>
                  </a:lnTo>
                  <a:lnTo>
                    <a:pt x="260" y="169"/>
                  </a:lnTo>
                  <a:lnTo>
                    <a:pt x="251" y="170"/>
                  </a:lnTo>
                  <a:lnTo>
                    <a:pt x="243" y="171"/>
                  </a:lnTo>
                  <a:lnTo>
                    <a:pt x="235" y="174"/>
                  </a:lnTo>
                  <a:lnTo>
                    <a:pt x="227" y="178"/>
                  </a:lnTo>
                  <a:lnTo>
                    <a:pt x="220" y="183"/>
                  </a:lnTo>
                  <a:lnTo>
                    <a:pt x="211" y="187"/>
                  </a:lnTo>
                  <a:lnTo>
                    <a:pt x="200" y="191"/>
                  </a:lnTo>
                  <a:lnTo>
                    <a:pt x="187" y="194"/>
                  </a:lnTo>
                  <a:lnTo>
                    <a:pt x="173" y="197"/>
                  </a:lnTo>
                  <a:lnTo>
                    <a:pt x="159" y="198"/>
                  </a:lnTo>
                  <a:lnTo>
                    <a:pt x="143" y="200"/>
                  </a:lnTo>
                  <a:lnTo>
                    <a:pt x="131" y="200"/>
                  </a:lnTo>
                  <a:lnTo>
                    <a:pt x="118" y="200"/>
                  </a:lnTo>
                  <a:lnTo>
                    <a:pt x="105" y="200"/>
                  </a:lnTo>
                  <a:lnTo>
                    <a:pt x="89" y="200"/>
                  </a:lnTo>
                  <a:lnTo>
                    <a:pt x="72" y="200"/>
                  </a:lnTo>
                  <a:lnTo>
                    <a:pt x="55" y="198"/>
                  </a:lnTo>
                  <a:lnTo>
                    <a:pt x="38" y="198"/>
                  </a:lnTo>
                  <a:lnTo>
                    <a:pt x="23" y="195"/>
                  </a:lnTo>
                  <a:lnTo>
                    <a:pt x="11" y="194"/>
                  </a:lnTo>
                  <a:lnTo>
                    <a:pt x="3" y="191"/>
                  </a:lnTo>
                  <a:lnTo>
                    <a:pt x="0" y="183"/>
                  </a:lnTo>
                  <a:lnTo>
                    <a:pt x="0" y="174"/>
                  </a:lnTo>
                  <a:lnTo>
                    <a:pt x="3" y="164"/>
                  </a:lnTo>
                  <a:lnTo>
                    <a:pt x="7" y="157"/>
                  </a:lnTo>
                  <a:lnTo>
                    <a:pt x="14" y="149"/>
                  </a:lnTo>
                  <a:lnTo>
                    <a:pt x="21" y="143"/>
                  </a:lnTo>
                  <a:lnTo>
                    <a:pt x="31" y="139"/>
                  </a:lnTo>
                  <a:lnTo>
                    <a:pt x="41" y="136"/>
                  </a:lnTo>
                  <a:lnTo>
                    <a:pt x="53" y="133"/>
                  </a:lnTo>
                  <a:lnTo>
                    <a:pt x="67" y="130"/>
                  </a:lnTo>
                  <a:lnTo>
                    <a:pt x="82" y="126"/>
                  </a:lnTo>
                  <a:lnTo>
                    <a:pt x="99" y="120"/>
                  </a:lnTo>
                  <a:lnTo>
                    <a:pt x="115" y="115"/>
                  </a:lnTo>
                  <a:lnTo>
                    <a:pt x="128" y="106"/>
                  </a:lnTo>
                  <a:lnTo>
                    <a:pt x="140" y="98"/>
                  </a:lnTo>
                  <a:lnTo>
                    <a:pt x="149" y="89"/>
                  </a:lnTo>
                  <a:lnTo>
                    <a:pt x="156" y="79"/>
                  </a:lnTo>
                  <a:lnTo>
                    <a:pt x="165" y="69"/>
                  </a:lnTo>
                  <a:lnTo>
                    <a:pt x="172" y="61"/>
                  </a:lnTo>
                  <a:lnTo>
                    <a:pt x="180" y="51"/>
                  </a:lnTo>
                  <a:lnTo>
                    <a:pt x="187" y="42"/>
                  </a:lnTo>
                  <a:lnTo>
                    <a:pt x="194" y="37"/>
                  </a:lnTo>
                  <a:lnTo>
                    <a:pt x="200" y="32"/>
                  </a:lnTo>
                  <a:lnTo>
                    <a:pt x="204" y="31"/>
                  </a:lnTo>
                  <a:lnTo>
                    <a:pt x="204" y="22"/>
                  </a:lnTo>
                  <a:lnTo>
                    <a:pt x="204" y="15"/>
                  </a:lnTo>
                  <a:lnTo>
                    <a:pt x="204" y="7"/>
                  </a:lnTo>
                  <a:lnTo>
                    <a:pt x="204"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2" name="Freeform 46"/>
            <p:cNvSpPr>
              <a:spLocks/>
            </p:cNvSpPr>
            <p:nvPr/>
          </p:nvSpPr>
          <p:spPr bwMode="auto">
            <a:xfrm>
              <a:off x="3476" y="2376"/>
              <a:ext cx="159" cy="70"/>
            </a:xfrm>
            <a:custGeom>
              <a:avLst/>
              <a:gdLst>
                <a:gd name="T0" fmla="*/ 76 w 478"/>
                <a:gd name="T1" fmla="*/ 0 h 211"/>
                <a:gd name="T2" fmla="*/ 83 w 478"/>
                <a:gd name="T3" fmla="*/ 13 h 211"/>
                <a:gd name="T4" fmla="*/ 93 w 478"/>
                <a:gd name="T5" fmla="*/ 31 h 211"/>
                <a:gd name="T6" fmla="*/ 105 w 478"/>
                <a:gd name="T7" fmla="*/ 54 h 211"/>
                <a:gd name="T8" fmla="*/ 116 w 478"/>
                <a:gd name="T9" fmla="*/ 75 h 211"/>
                <a:gd name="T10" fmla="*/ 127 w 478"/>
                <a:gd name="T11" fmla="*/ 76 h 211"/>
                <a:gd name="T12" fmla="*/ 140 w 478"/>
                <a:gd name="T13" fmla="*/ 75 h 211"/>
                <a:gd name="T14" fmla="*/ 153 w 478"/>
                <a:gd name="T15" fmla="*/ 71 h 211"/>
                <a:gd name="T16" fmla="*/ 164 w 478"/>
                <a:gd name="T17" fmla="*/ 65 h 211"/>
                <a:gd name="T18" fmla="*/ 174 w 478"/>
                <a:gd name="T19" fmla="*/ 58 h 211"/>
                <a:gd name="T20" fmla="*/ 183 w 478"/>
                <a:gd name="T21" fmla="*/ 50 h 211"/>
                <a:gd name="T22" fmla="*/ 190 w 478"/>
                <a:gd name="T23" fmla="*/ 40 h 211"/>
                <a:gd name="T24" fmla="*/ 194 w 478"/>
                <a:gd name="T25" fmla="*/ 28 h 211"/>
                <a:gd name="T26" fmla="*/ 201 w 478"/>
                <a:gd name="T27" fmla="*/ 38 h 211"/>
                <a:gd name="T28" fmla="*/ 210 w 478"/>
                <a:gd name="T29" fmla="*/ 50 h 211"/>
                <a:gd name="T30" fmla="*/ 219 w 478"/>
                <a:gd name="T31" fmla="*/ 59 h 211"/>
                <a:gd name="T32" fmla="*/ 231 w 478"/>
                <a:gd name="T33" fmla="*/ 69 h 211"/>
                <a:gd name="T34" fmla="*/ 241 w 478"/>
                <a:gd name="T35" fmla="*/ 78 h 211"/>
                <a:gd name="T36" fmla="*/ 251 w 478"/>
                <a:gd name="T37" fmla="*/ 86 h 211"/>
                <a:gd name="T38" fmla="*/ 259 w 478"/>
                <a:gd name="T39" fmla="*/ 92 h 211"/>
                <a:gd name="T40" fmla="*/ 266 w 478"/>
                <a:gd name="T41" fmla="*/ 96 h 211"/>
                <a:gd name="T42" fmla="*/ 273 w 478"/>
                <a:gd name="T43" fmla="*/ 98 h 211"/>
                <a:gd name="T44" fmla="*/ 286 w 478"/>
                <a:gd name="T45" fmla="*/ 96 h 211"/>
                <a:gd name="T46" fmla="*/ 300 w 478"/>
                <a:gd name="T47" fmla="*/ 94 h 211"/>
                <a:gd name="T48" fmla="*/ 317 w 478"/>
                <a:gd name="T49" fmla="*/ 88 h 211"/>
                <a:gd name="T50" fmla="*/ 334 w 478"/>
                <a:gd name="T51" fmla="*/ 82 h 211"/>
                <a:gd name="T52" fmla="*/ 351 w 478"/>
                <a:gd name="T53" fmla="*/ 76 h 211"/>
                <a:gd name="T54" fmla="*/ 367 w 478"/>
                <a:gd name="T55" fmla="*/ 72 h 211"/>
                <a:gd name="T56" fmla="*/ 378 w 478"/>
                <a:gd name="T57" fmla="*/ 69 h 211"/>
                <a:gd name="T58" fmla="*/ 387 w 478"/>
                <a:gd name="T59" fmla="*/ 78 h 211"/>
                <a:gd name="T60" fmla="*/ 398 w 478"/>
                <a:gd name="T61" fmla="*/ 91 h 211"/>
                <a:gd name="T62" fmla="*/ 414 w 478"/>
                <a:gd name="T63" fmla="*/ 106 h 211"/>
                <a:gd name="T64" fmla="*/ 429 w 478"/>
                <a:gd name="T65" fmla="*/ 125 h 211"/>
                <a:gd name="T66" fmla="*/ 445 w 478"/>
                <a:gd name="T67" fmla="*/ 145 h 211"/>
                <a:gd name="T68" fmla="*/ 459 w 478"/>
                <a:gd name="T69" fmla="*/ 163 h 211"/>
                <a:gd name="T70" fmla="*/ 471 w 478"/>
                <a:gd name="T71" fmla="*/ 179 h 211"/>
                <a:gd name="T72" fmla="*/ 478 w 478"/>
                <a:gd name="T73" fmla="*/ 191 h 211"/>
                <a:gd name="T74" fmla="*/ 461 w 478"/>
                <a:gd name="T75" fmla="*/ 197 h 211"/>
                <a:gd name="T76" fmla="*/ 439 w 478"/>
                <a:gd name="T77" fmla="*/ 201 h 211"/>
                <a:gd name="T78" fmla="*/ 415 w 478"/>
                <a:gd name="T79" fmla="*/ 204 h 211"/>
                <a:gd name="T80" fmla="*/ 388 w 478"/>
                <a:gd name="T81" fmla="*/ 207 h 211"/>
                <a:gd name="T82" fmla="*/ 360 w 478"/>
                <a:gd name="T83" fmla="*/ 210 h 211"/>
                <a:gd name="T84" fmla="*/ 329 w 478"/>
                <a:gd name="T85" fmla="*/ 211 h 211"/>
                <a:gd name="T86" fmla="*/ 297 w 478"/>
                <a:gd name="T87" fmla="*/ 211 h 211"/>
                <a:gd name="T88" fmla="*/ 265 w 478"/>
                <a:gd name="T89" fmla="*/ 211 h 211"/>
                <a:gd name="T90" fmla="*/ 231 w 478"/>
                <a:gd name="T91" fmla="*/ 211 h 211"/>
                <a:gd name="T92" fmla="*/ 195 w 478"/>
                <a:gd name="T93" fmla="*/ 210 h 211"/>
                <a:gd name="T94" fmla="*/ 161 w 478"/>
                <a:gd name="T95" fmla="*/ 207 h 211"/>
                <a:gd name="T96" fmla="*/ 127 w 478"/>
                <a:gd name="T97" fmla="*/ 204 h 211"/>
                <a:gd name="T98" fmla="*/ 93 w 478"/>
                <a:gd name="T99" fmla="*/ 201 h 211"/>
                <a:gd name="T100" fmla="*/ 61 w 478"/>
                <a:gd name="T101" fmla="*/ 197 h 211"/>
                <a:gd name="T102" fmla="*/ 29 w 478"/>
                <a:gd name="T103" fmla="*/ 191 h 211"/>
                <a:gd name="T104" fmla="*/ 0 w 478"/>
                <a:gd name="T105" fmla="*/ 186 h 211"/>
                <a:gd name="T106" fmla="*/ 2 w 478"/>
                <a:gd name="T107" fmla="*/ 171 h 211"/>
                <a:gd name="T108" fmla="*/ 10 w 478"/>
                <a:gd name="T109" fmla="*/ 153 h 211"/>
                <a:gd name="T110" fmla="*/ 21 w 478"/>
                <a:gd name="T111" fmla="*/ 132 h 211"/>
                <a:gd name="T112" fmla="*/ 34 w 478"/>
                <a:gd name="T113" fmla="*/ 108 h 211"/>
                <a:gd name="T114" fmla="*/ 46 w 478"/>
                <a:gd name="T115" fmla="*/ 81 h 211"/>
                <a:gd name="T116" fmla="*/ 59 w 478"/>
                <a:gd name="T117" fmla="*/ 54 h 211"/>
                <a:gd name="T118" fmla="*/ 69 w 478"/>
                <a:gd name="T119" fmla="*/ 27 h 211"/>
                <a:gd name="T120" fmla="*/ 76 w 478"/>
                <a:gd name="T121"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78" h="211">
                  <a:moveTo>
                    <a:pt x="76" y="0"/>
                  </a:moveTo>
                  <a:lnTo>
                    <a:pt x="83" y="13"/>
                  </a:lnTo>
                  <a:lnTo>
                    <a:pt x="93" y="31"/>
                  </a:lnTo>
                  <a:lnTo>
                    <a:pt x="105" y="54"/>
                  </a:lnTo>
                  <a:lnTo>
                    <a:pt x="116" y="75"/>
                  </a:lnTo>
                  <a:lnTo>
                    <a:pt x="127" y="76"/>
                  </a:lnTo>
                  <a:lnTo>
                    <a:pt x="140" y="75"/>
                  </a:lnTo>
                  <a:lnTo>
                    <a:pt x="153" y="71"/>
                  </a:lnTo>
                  <a:lnTo>
                    <a:pt x="164" y="65"/>
                  </a:lnTo>
                  <a:lnTo>
                    <a:pt x="174" y="58"/>
                  </a:lnTo>
                  <a:lnTo>
                    <a:pt x="183" y="50"/>
                  </a:lnTo>
                  <a:lnTo>
                    <a:pt x="190" y="40"/>
                  </a:lnTo>
                  <a:lnTo>
                    <a:pt x="194" y="28"/>
                  </a:lnTo>
                  <a:lnTo>
                    <a:pt x="201" y="38"/>
                  </a:lnTo>
                  <a:lnTo>
                    <a:pt x="210" y="50"/>
                  </a:lnTo>
                  <a:lnTo>
                    <a:pt x="219" y="59"/>
                  </a:lnTo>
                  <a:lnTo>
                    <a:pt x="231" y="69"/>
                  </a:lnTo>
                  <a:lnTo>
                    <a:pt x="241" y="78"/>
                  </a:lnTo>
                  <a:lnTo>
                    <a:pt x="251" y="86"/>
                  </a:lnTo>
                  <a:lnTo>
                    <a:pt x="259" y="92"/>
                  </a:lnTo>
                  <a:lnTo>
                    <a:pt x="266" y="96"/>
                  </a:lnTo>
                  <a:lnTo>
                    <a:pt x="273" y="98"/>
                  </a:lnTo>
                  <a:lnTo>
                    <a:pt x="286" y="96"/>
                  </a:lnTo>
                  <a:lnTo>
                    <a:pt x="300" y="94"/>
                  </a:lnTo>
                  <a:lnTo>
                    <a:pt x="317" y="88"/>
                  </a:lnTo>
                  <a:lnTo>
                    <a:pt x="334" y="82"/>
                  </a:lnTo>
                  <a:lnTo>
                    <a:pt x="351" y="76"/>
                  </a:lnTo>
                  <a:lnTo>
                    <a:pt x="367" y="72"/>
                  </a:lnTo>
                  <a:lnTo>
                    <a:pt x="378" y="69"/>
                  </a:lnTo>
                  <a:lnTo>
                    <a:pt x="387" y="78"/>
                  </a:lnTo>
                  <a:lnTo>
                    <a:pt x="398" y="91"/>
                  </a:lnTo>
                  <a:lnTo>
                    <a:pt x="414" y="106"/>
                  </a:lnTo>
                  <a:lnTo>
                    <a:pt x="429" y="125"/>
                  </a:lnTo>
                  <a:lnTo>
                    <a:pt x="445" y="145"/>
                  </a:lnTo>
                  <a:lnTo>
                    <a:pt x="459" y="163"/>
                  </a:lnTo>
                  <a:lnTo>
                    <a:pt x="471" y="179"/>
                  </a:lnTo>
                  <a:lnTo>
                    <a:pt x="478" y="191"/>
                  </a:lnTo>
                  <a:lnTo>
                    <a:pt x="461" y="197"/>
                  </a:lnTo>
                  <a:lnTo>
                    <a:pt x="439" y="201"/>
                  </a:lnTo>
                  <a:lnTo>
                    <a:pt x="415" y="204"/>
                  </a:lnTo>
                  <a:lnTo>
                    <a:pt x="388" y="207"/>
                  </a:lnTo>
                  <a:lnTo>
                    <a:pt x="360" y="210"/>
                  </a:lnTo>
                  <a:lnTo>
                    <a:pt x="329" y="211"/>
                  </a:lnTo>
                  <a:lnTo>
                    <a:pt x="297" y="211"/>
                  </a:lnTo>
                  <a:lnTo>
                    <a:pt x="265" y="211"/>
                  </a:lnTo>
                  <a:lnTo>
                    <a:pt x="231" y="211"/>
                  </a:lnTo>
                  <a:lnTo>
                    <a:pt x="195" y="210"/>
                  </a:lnTo>
                  <a:lnTo>
                    <a:pt x="161" y="207"/>
                  </a:lnTo>
                  <a:lnTo>
                    <a:pt x="127" y="204"/>
                  </a:lnTo>
                  <a:lnTo>
                    <a:pt x="93" y="201"/>
                  </a:lnTo>
                  <a:lnTo>
                    <a:pt x="61" y="197"/>
                  </a:lnTo>
                  <a:lnTo>
                    <a:pt x="29" y="191"/>
                  </a:lnTo>
                  <a:lnTo>
                    <a:pt x="0" y="186"/>
                  </a:lnTo>
                  <a:lnTo>
                    <a:pt x="2" y="171"/>
                  </a:lnTo>
                  <a:lnTo>
                    <a:pt x="10" y="153"/>
                  </a:lnTo>
                  <a:lnTo>
                    <a:pt x="21" y="132"/>
                  </a:lnTo>
                  <a:lnTo>
                    <a:pt x="34" y="108"/>
                  </a:lnTo>
                  <a:lnTo>
                    <a:pt x="46" y="81"/>
                  </a:lnTo>
                  <a:lnTo>
                    <a:pt x="59" y="54"/>
                  </a:lnTo>
                  <a:lnTo>
                    <a:pt x="69" y="27"/>
                  </a:lnTo>
                  <a:lnTo>
                    <a:pt x="76"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3" name="Freeform 47"/>
            <p:cNvSpPr>
              <a:spLocks/>
            </p:cNvSpPr>
            <p:nvPr/>
          </p:nvSpPr>
          <p:spPr bwMode="auto">
            <a:xfrm>
              <a:off x="3473" y="2017"/>
              <a:ext cx="135" cy="166"/>
            </a:xfrm>
            <a:custGeom>
              <a:avLst/>
              <a:gdLst>
                <a:gd name="T0" fmla="*/ 124 w 405"/>
                <a:gd name="T1" fmla="*/ 442 h 497"/>
                <a:gd name="T2" fmla="*/ 134 w 405"/>
                <a:gd name="T3" fmla="*/ 462 h 497"/>
                <a:gd name="T4" fmla="*/ 161 w 405"/>
                <a:gd name="T5" fmla="*/ 497 h 497"/>
                <a:gd name="T6" fmla="*/ 218 w 405"/>
                <a:gd name="T7" fmla="*/ 455 h 497"/>
                <a:gd name="T8" fmla="*/ 295 w 405"/>
                <a:gd name="T9" fmla="*/ 385 h 497"/>
                <a:gd name="T10" fmla="*/ 326 w 405"/>
                <a:gd name="T11" fmla="*/ 340 h 497"/>
                <a:gd name="T12" fmla="*/ 334 w 405"/>
                <a:gd name="T13" fmla="*/ 317 h 497"/>
                <a:gd name="T14" fmla="*/ 351 w 405"/>
                <a:gd name="T15" fmla="*/ 313 h 497"/>
                <a:gd name="T16" fmla="*/ 360 w 405"/>
                <a:gd name="T17" fmla="*/ 283 h 497"/>
                <a:gd name="T18" fmla="*/ 375 w 405"/>
                <a:gd name="T19" fmla="*/ 249 h 497"/>
                <a:gd name="T20" fmla="*/ 397 w 405"/>
                <a:gd name="T21" fmla="*/ 207 h 497"/>
                <a:gd name="T22" fmla="*/ 404 w 405"/>
                <a:gd name="T23" fmla="*/ 136 h 497"/>
                <a:gd name="T24" fmla="*/ 385 w 405"/>
                <a:gd name="T25" fmla="*/ 96 h 497"/>
                <a:gd name="T26" fmla="*/ 363 w 405"/>
                <a:gd name="T27" fmla="*/ 68 h 497"/>
                <a:gd name="T28" fmla="*/ 350 w 405"/>
                <a:gd name="T29" fmla="*/ 47 h 497"/>
                <a:gd name="T30" fmla="*/ 368 w 405"/>
                <a:gd name="T31" fmla="*/ 62 h 497"/>
                <a:gd name="T32" fmla="*/ 364 w 405"/>
                <a:gd name="T33" fmla="*/ 52 h 497"/>
                <a:gd name="T34" fmla="*/ 346 w 405"/>
                <a:gd name="T35" fmla="*/ 34 h 497"/>
                <a:gd name="T36" fmla="*/ 321 w 405"/>
                <a:gd name="T37" fmla="*/ 21 h 497"/>
                <a:gd name="T38" fmla="*/ 285 w 405"/>
                <a:gd name="T39" fmla="*/ 11 h 497"/>
                <a:gd name="T40" fmla="*/ 239 w 405"/>
                <a:gd name="T41" fmla="*/ 1 h 497"/>
                <a:gd name="T42" fmla="*/ 204 w 405"/>
                <a:gd name="T43" fmla="*/ 1 h 497"/>
                <a:gd name="T44" fmla="*/ 178 w 405"/>
                <a:gd name="T45" fmla="*/ 4 h 497"/>
                <a:gd name="T46" fmla="*/ 158 w 405"/>
                <a:gd name="T47" fmla="*/ 8 h 497"/>
                <a:gd name="T48" fmla="*/ 136 w 405"/>
                <a:gd name="T49" fmla="*/ 10 h 497"/>
                <a:gd name="T50" fmla="*/ 112 w 405"/>
                <a:gd name="T51" fmla="*/ 23 h 497"/>
                <a:gd name="T52" fmla="*/ 96 w 405"/>
                <a:gd name="T53" fmla="*/ 54 h 497"/>
                <a:gd name="T54" fmla="*/ 116 w 405"/>
                <a:gd name="T55" fmla="*/ 41 h 497"/>
                <a:gd name="T56" fmla="*/ 137 w 405"/>
                <a:gd name="T57" fmla="*/ 32 h 497"/>
                <a:gd name="T58" fmla="*/ 144 w 405"/>
                <a:gd name="T59" fmla="*/ 34 h 497"/>
                <a:gd name="T60" fmla="*/ 127 w 405"/>
                <a:gd name="T61" fmla="*/ 51 h 497"/>
                <a:gd name="T62" fmla="*/ 102 w 405"/>
                <a:gd name="T63" fmla="*/ 52 h 497"/>
                <a:gd name="T64" fmla="*/ 82 w 405"/>
                <a:gd name="T65" fmla="*/ 65 h 497"/>
                <a:gd name="T66" fmla="*/ 66 w 405"/>
                <a:gd name="T67" fmla="*/ 89 h 497"/>
                <a:gd name="T68" fmla="*/ 55 w 405"/>
                <a:gd name="T69" fmla="*/ 130 h 497"/>
                <a:gd name="T70" fmla="*/ 46 w 405"/>
                <a:gd name="T71" fmla="*/ 150 h 497"/>
                <a:gd name="T72" fmla="*/ 35 w 405"/>
                <a:gd name="T73" fmla="*/ 164 h 497"/>
                <a:gd name="T74" fmla="*/ 38 w 405"/>
                <a:gd name="T75" fmla="*/ 181 h 497"/>
                <a:gd name="T76" fmla="*/ 36 w 405"/>
                <a:gd name="T77" fmla="*/ 198 h 497"/>
                <a:gd name="T78" fmla="*/ 21 w 405"/>
                <a:gd name="T79" fmla="*/ 227 h 497"/>
                <a:gd name="T80" fmla="*/ 12 w 405"/>
                <a:gd name="T81" fmla="*/ 238 h 497"/>
                <a:gd name="T82" fmla="*/ 4 w 405"/>
                <a:gd name="T83" fmla="*/ 248 h 497"/>
                <a:gd name="T84" fmla="*/ 1 w 405"/>
                <a:gd name="T85" fmla="*/ 264 h 497"/>
                <a:gd name="T86" fmla="*/ 26 w 405"/>
                <a:gd name="T87" fmla="*/ 281 h 497"/>
                <a:gd name="T88" fmla="*/ 32 w 405"/>
                <a:gd name="T89" fmla="*/ 293 h 497"/>
                <a:gd name="T90" fmla="*/ 32 w 405"/>
                <a:gd name="T91" fmla="*/ 305 h 497"/>
                <a:gd name="T92" fmla="*/ 43 w 405"/>
                <a:gd name="T93" fmla="*/ 317 h 497"/>
                <a:gd name="T94" fmla="*/ 31 w 405"/>
                <a:gd name="T95" fmla="*/ 334 h 497"/>
                <a:gd name="T96" fmla="*/ 35 w 405"/>
                <a:gd name="T97" fmla="*/ 346 h 497"/>
                <a:gd name="T98" fmla="*/ 34 w 405"/>
                <a:gd name="T99" fmla="*/ 363 h 497"/>
                <a:gd name="T100" fmla="*/ 41 w 405"/>
                <a:gd name="T101" fmla="*/ 400 h 497"/>
                <a:gd name="T102" fmla="*/ 63 w 405"/>
                <a:gd name="T103" fmla="*/ 408 h 497"/>
                <a:gd name="T104" fmla="*/ 92 w 405"/>
                <a:gd name="T105" fmla="*/ 414 h 497"/>
                <a:gd name="T106" fmla="*/ 112 w 405"/>
                <a:gd name="T107" fmla="*/ 419 h 497"/>
                <a:gd name="T108" fmla="*/ 120 w 405"/>
                <a:gd name="T109" fmla="*/ 431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5" h="497">
                  <a:moveTo>
                    <a:pt x="120" y="431"/>
                  </a:moveTo>
                  <a:lnTo>
                    <a:pt x="121" y="435"/>
                  </a:lnTo>
                  <a:lnTo>
                    <a:pt x="124" y="442"/>
                  </a:lnTo>
                  <a:lnTo>
                    <a:pt x="124" y="448"/>
                  </a:lnTo>
                  <a:lnTo>
                    <a:pt x="124" y="454"/>
                  </a:lnTo>
                  <a:lnTo>
                    <a:pt x="134" y="462"/>
                  </a:lnTo>
                  <a:lnTo>
                    <a:pt x="146" y="473"/>
                  </a:lnTo>
                  <a:lnTo>
                    <a:pt x="154" y="486"/>
                  </a:lnTo>
                  <a:lnTo>
                    <a:pt x="161" y="497"/>
                  </a:lnTo>
                  <a:lnTo>
                    <a:pt x="174" y="489"/>
                  </a:lnTo>
                  <a:lnTo>
                    <a:pt x="194" y="475"/>
                  </a:lnTo>
                  <a:lnTo>
                    <a:pt x="218" y="455"/>
                  </a:lnTo>
                  <a:lnTo>
                    <a:pt x="245" y="432"/>
                  </a:lnTo>
                  <a:lnTo>
                    <a:pt x="270" y="408"/>
                  </a:lnTo>
                  <a:lnTo>
                    <a:pt x="295" y="385"/>
                  </a:lnTo>
                  <a:lnTo>
                    <a:pt x="313" y="366"/>
                  </a:lnTo>
                  <a:lnTo>
                    <a:pt x="323" y="351"/>
                  </a:lnTo>
                  <a:lnTo>
                    <a:pt x="326" y="340"/>
                  </a:lnTo>
                  <a:lnTo>
                    <a:pt x="329" y="330"/>
                  </a:lnTo>
                  <a:lnTo>
                    <a:pt x="331" y="323"/>
                  </a:lnTo>
                  <a:lnTo>
                    <a:pt x="334" y="317"/>
                  </a:lnTo>
                  <a:lnTo>
                    <a:pt x="341" y="317"/>
                  </a:lnTo>
                  <a:lnTo>
                    <a:pt x="347" y="316"/>
                  </a:lnTo>
                  <a:lnTo>
                    <a:pt x="351" y="313"/>
                  </a:lnTo>
                  <a:lnTo>
                    <a:pt x="353" y="307"/>
                  </a:lnTo>
                  <a:lnTo>
                    <a:pt x="356" y="298"/>
                  </a:lnTo>
                  <a:lnTo>
                    <a:pt x="360" y="283"/>
                  </a:lnTo>
                  <a:lnTo>
                    <a:pt x="365" y="269"/>
                  </a:lnTo>
                  <a:lnTo>
                    <a:pt x="370" y="259"/>
                  </a:lnTo>
                  <a:lnTo>
                    <a:pt x="375" y="249"/>
                  </a:lnTo>
                  <a:lnTo>
                    <a:pt x="384" y="234"/>
                  </a:lnTo>
                  <a:lnTo>
                    <a:pt x="392" y="218"/>
                  </a:lnTo>
                  <a:lnTo>
                    <a:pt x="397" y="207"/>
                  </a:lnTo>
                  <a:lnTo>
                    <a:pt x="402" y="186"/>
                  </a:lnTo>
                  <a:lnTo>
                    <a:pt x="405" y="161"/>
                  </a:lnTo>
                  <a:lnTo>
                    <a:pt x="404" y="136"/>
                  </a:lnTo>
                  <a:lnTo>
                    <a:pt x="397" y="112"/>
                  </a:lnTo>
                  <a:lnTo>
                    <a:pt x="392" y="105"/>
                  </a:lnTo>
                  <a:lnTo>
                    <a:pt x="385" y="96"/>
                  </a:lnTo>
                  <a:lnTo>
                    <a:pt x="378" y="88"/>
                  </a:lnTo>
                  <a:lnTo>
                    <a:pt x="371" y="78"/>
                  </a:lnTo>
                  <a:lnTo>
                    <a:pt x="363" y="68"/>
                  </a:lnTo>
                  <a:lnTo>
                    <a:pt x="357" y="59"/>
                  </a:lnTo>
                  <a:lnTo>
                    <a:pt x="353" y="52"/>
                  </a:lnTo>
                  <a:lnTo>
                    <a:pt x="350" y="47"/>
                  </a:lnTo>
                  <a:lnTo>
                    <a:pt x="356" y="52"/>
                  </a:lnTo>
                  <a:lnTo>
                    <a:pt x="363" y="57"/>
                  </a:lnTo>
                  <a:lnTo>
                    <a:pt x="368" y="62"/>
                  </a:lnTo>
                  <a:lnTo>
                    <a:pt x="373" y="66"/>
                  </a:lnTo>
                  <a:lnTo>
                    <a:pt x="368" y="59"/>
                  </a:lnTo>
                  <a:lnTo>
                    <a:pt x="364" y="52"/>
                  </a:lnTo>
                  <a:lnTo>
                    <a:pt x="358" y="45"/>
                  </a:lnTo>
                  <a:lnTo>
                    <a:pt x="353" y="40"/>
                  </a:lnTo>
                  <a:lnTo>
                    <a:pt x="346" y="34"/>
                  </a:lnTo>
                  <a:lnTo>
                    <a:pt x="339" y="28"/>
                  </a:lnTo>
                  <a:lnTo>
                    <a:pt x="330" y="24"/>
                  </a:lnTo>
                  <a:lnTo>
                    <a:pt x="321" y="21"/>
                  </a:lnTo>
                  <a:lnTo>
                    <a:pt x="312" y="18"/>
                  </a:lnTo>
                  <a:lnTo>
                    <a:pt x="299" y="14"/>
                  </a:lnTo>
                  <a:lnTo>
                    <a:pt x="285" y="11"/>
                  </a:lnTo>
                  <a:lnTo>
                    <a:pt x="270" y="7"/>
                  </a:lnTo>
                  <a:lnTo>
                    <a:pt x="255" y="4"/>
                  </a:lnTo>
                  <a:lnTo>
                    <a:pt x="239" y="1"/>
                  </a:lnTo>
                  <a:lnTo>
                    <a:pt x="225" y="0"/>
                  </a:lnTo>
                  <a:lnTo>
                    <a:pt x="214" y="0"/>
                  </a:lnTo>
                  <a:lnTo>
                    <a:pt x="204" y="1"/>
                  </a:lnTo>
                  <a:lnTo>
                    <a:pt x="194" y="3"/>
                  </a:lnTo>
                  <a:lnTo>
                    <a:pt x="185" y="4"/>
                  </a:lnTo>
                  <a:lnTo>
                    <a:pt x="178" y="4"/>
                  </a:lnTo>
                  <a:lnTo>
                    <a:pt x="171" y="6"/>
                  </a:lnTo>
                  <a:lnTo>
                    <a:pt x="164" y="7"/>
                  </a:lnTo>
                  <a:lnTo>
                    <a:pt x="158" y="8"/>
                  </a:lnTo>
                  <a:lnTo>
                    <a:pt x="154" y="8"/>
                  </a:lnTo>
                  <a:lnTo>
                    <a:pt x="146" y="10"/>
                  </a:lnTo>
                  <a:lnTo>
                    <a:pt x="136" y="10"/>
                  </a:lnTo>
                  <a:lnTo>
                    <a:pt x="126" y="13"/>
                  </a:lnTo>
                  <a:lnTo>
                    <a:pt x="117" y="15"/>
                  </a:lnTo>
                  <a:lnTo>
                    <a:pt x="112" y="23"/>
                  </a:lnTo>
                  <a:lnTo>
                    <a:pt x="104" y="34"/>
                  </a:lnTo>
                  <a:lnTo>
                    <a:pt x="100" y="47"/>
                  </a:lnTo>
                  <a:lnTo>
                    <a:pt x="96" y="54"/>
                  </a:lnTo>
                  <a:lnTo>
                    <a:pt x="102" y="49"/>
                  </a:lnTo>
                  <a:lnTo>
                    <a:pt x="109" y="45"/>
                  </a:lnTo>
                  <a:lnTo>
                    <a:pt x="116" y="41"/>
                  </a:lnTo>
                  <a:lnTo>
                    <a:pt x="123" y="37"/>
                  </a:lnTo>
                  <a:lnTo>
                    <a:pt x="130" y="34"/>
                  </a:lnTo>
                  <a:lnTo>
                    <a:pt x="137" y="32"/>
                  </a:lnTo>
                  <a:lnTo>
                    <a:pt x="143" y="31"/>
                  </a:lnTo>
                  <a:lnTo>
                    <a:pt x="150" y="31"/>
                  </a:lnTo>
                  <a:lnTo>
                    <a:pt x="144" y="34"/>
                  </a:lnTo>
                  <a:lnTo>
                    <a:pt x="137" y="38"/>
                  </a:lnTo>
                  <a:lnTo>
                    <a:pt x="131" y="45"/>
                  </a:lnTo>
                  <a:lnTo>
                    <a:pt x="127" y="51"/>
                  </a:lnTo>
                  <a:lnTo>
                    <a:pt x="117" y="51"/>
                  </a:lnTo>
                  <a:lnTo>
                    <a:pt x="110" y="51"/>
                  </a:lnTo>
                  <a:lnTo>
                    <a:pt x="102" y="52"/>
                  </a:lnTo>
                  <a:lnTo>
                    <a:pt x="96" y="54"/>
                  </a:lnTo>
                  <a:lnTo>
                    <a:pt x="89" y="58"/>
                  </a:lnTo>
                  <a:lnTo>
                    <a:pt x="82" y="65"/>
                  </a:lnTo>
                  <a:lnTo>
                    <a:pt x="76" y="72"/>
                  </a:lnTo>
                  <a:lnTo>
                    <a:pt x="70" y="79"/>
                  </a:lnTo>
                  <a:lnTo>
                    <a:pt x="66" y="89"/>
                  </a:lnTo>
                  <a:lnTo>
                    <a:pt x="62" y="103"/>
                  </a:lnTo>
                  <a:lnTo>
                    <a:pt x="58" y="119"/>
                  </a:lnTo>
                  <a:lnTo>
                    <a:pt x="55" y="130"/>
                  </a:lnTo>
                  <a:lnTo>
                    <a:pt x="52" y="139"/>
                  </a:lnTo>
                  <a:lnTo>
                    <a:pt x="49" y="144"/>
                  </a:lnTo>
                  <a:lnTo>
                    <a:pt x="46" y="150"/>
                  </a:lnTo>
                  <a:lnTo>
                    <a:pt x="42" y="154"/>
                  </a:lnTo>
                  <a:lnTo>
                    <a:pt x="38" y="159"/>
                  </a:lnTo>
                  <a:lnTo>
                    <a:pt x="35" y="164"/>
                  </a:lnTo>
                  <a:lnTo>
                    <a:pt x="34" y="170"/>
                  </a:lnTo>
                  <a:lnTo>
                    <a:pt x="35" y="176"/>
                  </a:lnTo>
                  <a:lnTo>
                    <a:pt x="38" y="181"/>
                  </a:lnTo>
                  <a:lnTo>
                    <a:pt x="38" y="187"/>
                  </a:lnTo>
                  <a:lnTo>
                    <a:pt x="38" y="193"/>
                  </a:lnTo>
                  <a:lnTo>
                    <a:pt x="36" y="198"/>
                  </a:lnTo>
                  <a:lnTo>
                    <a:pt x="32" y="205"/>
                  </a:lnTo>
                  <a:lnTo>
                    <a:pt x="26" y="217"/>
                  </a:lnTo>
                  <a:lnTo>
                    <a:pt x="21" y="227"/>
                  </a:lnTo>
                  <a:lnTo>
                    <a:pt x="17" y="234"/>
                  </a:lnTo>
                  <a:lnTo>
                    <a:pt x="15" y="237"/>
                  </a:lnTo>
                  <a:lnTo>
                    <a:pt x="12" y="238"/>
                  </a:lnTo>
                  <a:lnTo>
                    <a:pt x="11" y="241"/>
                  </a:lnTo>
                  <a:lnTo>
                    <a:pt x="8" y="244"/>
                  </a:lnTo>
                  <a:lnTo>
                    <a:pt x="4" y="248"/>
                  </a:lnTo>
                  <a:lnTo>
                    <a:pt x="1" y="252"/>
                  </a:lnTo>
                  <a:lnTo>
                    <a:pt x="0" y="258"/>
                  </a:lnTo>
                  <a:lnTo>
                    <a:pt x="1" y="264"/>
                  </a:lnTo>
                  <a:lnTo>
                    <a:pt x="7" y="272"/>
                  </a:lnTo>
                  <a:lnTo>
                    <a:pt x="15" y="278"/>
                  </a:lnTo>
                  <a:lnTo>
                    <a:pt x="26" y="281"/>
                  </a:lnTo>
                  <a:lnTo>
                    <a:pt x="41" y="279"/>
                  </a:lnTo>
                  <a:lnTo>
                    <a:pt x="36" y="286"/>
                  </a:lnTo>
                  <a:lnTo>
                    <a:pt x="32" y="293"/>
                  </a:lnTo>
                  <a:lnTo>
                    <a:pt x="29" y="299"/>
                  </a:lnTo>
                  <a:lnTo>
                    <a:pt x="29" y="302"/>
                  </a:lnTo>
                  <a:lnTo>
                    <a:pt x="32" y="305"/>
                  </a:lnTo>
                  <a:lnTo>
                    <a:pt x="36" y="309"/>
                  </a:lnTo>
                  <a:lnTo>
                    <a:pt x="41" y="313"/>
                  </a:lnTo>
                  <a:lnTo>
                    <a:pt x="43" y="317"/>
                  </a:lnTo>
                  <a:lnTo>
                    <a:pt x="38" y="323"/>
                  </a:lnTo>
                  <a:lnTo>
                    <a:pt x="34" y="329"/>
                  </a:lnTo>
                  <a:lnTo>
                    <a:pt x="31" y="334"/>
                  </a:lnTo>
                  <a:lnTo>
                    <a:pt x="31" y="339"/>
                  </a:lnTo>
                  <a:lnTo>
                    <a:pt x="32" y="343"/>
                  </a:lnTo>
                  <a:lnTo>
                    <a:pt x="35" y="346"/>
                  </a:lnTo>
                  <a:lnTo>
                    <a:pt x="38" y="347"/>
                  </a:lnTo>
                  <a:lnTo>
                    <a:pt x="41" y="350"/>
                  </a:lnTo>
                  <a:lnTo>
                    <a:pt x="34" y="363"/>
                  </a:lnTo>
                  <a:lnTo>
                    <a:pt x="31" y="376"/>
                  </a:lnTo>
                  <a:lnTo>
                    <a:pt x="32" y="390"/>
                  </a:lnTo>
                  <a:lnTo>
                    <a:pt x="41" y="400"/>
                  </a:lnTo>
                  <a:lnTo>
                    <a:pt x="48" y="402"/>
                  </a:lnTo>
                  <a:lnTo>
                    <a:pt x="55" y="407"/>
                  </a:lnTo>
                  <a:lnTo>
                    <a:pt x="63" y="408"/>
                  </a:lnTo>
                  <a:lnTo>
                    <a:pt x="73" y="411"/>
                  </a:lnTo>
                  <a:lnTo>
                    <a:pt x="83" y="412"/>
                  </a:lnTo>
                  <a:lnTo>
                    <a:pt x="92" y="414"/>
                  </a:lnTo>
                  <a:lnTo>
                    <a:pt x="100" y="415"/>
                  </a:lnTo>
                  <a:lnTo>
                    <a:pt x="109" y="417"/>
                  </a:lnTo>
                  <a:lnTo>
                    <a:pt x="112" y="419"/>
                  </a:lnTo>
                  <a:lnTo>
                    <a:pt x="114" y="422"/>
                  </a:lnTo>
                  <a:lnTo>
                    <a:pt x="117" y="427"/>
                  </a:lnTo>
                  <a:lnTo>
                    <a:pt x="120" y="43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4" name="Freeform 48"/>
            <p:cNvSpPr>
              <a:spLocks/>
            </p:cNvSpPr>
            <p:nvPr/>
          </p:nvSpPr>
          <p:spPr bwMode="auto">
            <a:xfrm>
              <a:off x="3838" y="2302"/>
              <a:ext cx="117" cy="65"/>
            </a:xfrm>
            <a:custGeom>
              <a:avLst/>
              <a:gdLst>
                <a:gd name="T0" fmla="*/ 10 w 352"/>
                <a:gd name="T1" fmla="*/ 114 h 193"/>
                <a:gd name="T2" fmla="*/ 0 w 352"/>
                <a:gd name="T3" fmla="*/ 74 h 193"/>
                <a:gd name="T4" fmla="*/ 19 w 352"/>
                <a:gd name="T5" fmla="*/ 36 h 193"/>
                <a:gd name="T6" fmla="*/ 50 w 352"/>
                <a:gd name="T7" fmla="*/ 34 h 193"/>
                <a:gd name="T8" fmla="*/ 80 w 352"/>
                <a:gd name="T9" fmla="*/ 27 h 193"/>
                <a:gd name="T10" fmla="*/ 94 w 352"/>
                <a:gd name="T11" fmla="*/ 19 h 193"/>
                <a:gd name="T12" fmla="*/ 113 w 352"/>
                <a:gd name="T13" fmla="*/ 9 h 193"/>
                <a:gd name="T14" fmla="*/ 124 w 352"/>
                <a:gd name="T15" fmla="*/ 19 h 193"/>
                <a:gd name="T16" fmla="*/ 138 w 352"/>
                <a:gd name="T17" fmla="*/ 17 h 193"/>
                <a:gd name="T18" fmla="*/ 168 w 352"/>
                <a:gd name="T19" fmla="*/ 6 h 193"/>
                <a:gd name="T20" fmla="*/ 186 w 352"/>
                <a:gd name="T21" fmla="*/ 0 h 193"/>
                <a:gd name="T22" fmla="*/ 205 w 352"/>
                <a:gd name="T23" fmla="*/ 3 h 193"/>
                <a:gd name="T24" fmla="*/ 225 w 352"/>
                <a:gd name="T25" fmla="*/ 7 h 193"/>
                <a:gd name="T26" fmla="*/ 242 w 352"/>
                <a:gd name="T27" fmla="*/ 12 h 193"/>
                <a:gd name="T28" fmla="*/ 273 w 352"/>
                <a:gd name="T29" fmla="*/ 17 h 193"/>
                <a:gd name="T30" fmla="*/ 300 w 352"/>
                <a:gd name="T31" fmla="*/ 38 h 193"/>
                <a:gd name="T32" fmla="*/ 318 w 352"/>
                <a:gd name="T33" fmla="*/ 48 h 193"/>
                <a:gd name="T34" fmla="*/ 341 w 352"/>
                <a:gd name="T35" fmla="*/ 54 h 193"/>
                <a:gd name="T36" fmla="*/ 352 w 352"/>
                <a:gd name="T37" fmla="*/ 65 h 193"/>
                <a:gd name="T38" fmla="*/ 335 w 352"/>
                <a:gd name="T39" fmla="*/ 78 h 193"/>
                <a:gd name="T40" fmla="*/ 314 w 352"/>
                <a:gd name="T41" fmla="*/ 78 h 193"/>
                <a:gd name="T42" fmla="*/ 294 w 352"/>
                <a:gd name="T43" fmla="*/ 75 h 193"/>
                <a:gd name="T44" fmla="*/ 277 w 352"/>
                <a:gd name="T45" fmla="*/ 71 h 193"/>
                <a:gd name="T46" fmla="*/ 290 w 352"/>
                <a:gd name="T47" fmla="*/ 84 h 193"/>
                <a:gd name="T48" fmla="*/ 290 w 352"/>
                <a:gd name="T49" fmla="*/ 111 h 193"/>
                <a:gd name="T50" fmla="*/ 286 w 352"/>
                <a:gd name="T51" fmla="*/ 138 h 193"/>
                <a:gd name="T52" fmla="*/ 286 w 352"/>
                <a:gd name="T53" fmla="*/ 145 h 193"/>
                <a:gd name="T54" fmla="*/ 291 w 352"/>
                <a:gd name="T55" fmla="*/ 160 h 193"/>
                <a:gd name="T56" fmla="*/ 297 w 352"/>
                <a:gd name="T57" fmla="*/ 170 h 193"/>
                <a:gd name="T58" fmla="*/ 301 w 352"/>
                <a:gd name="T59" fmla="*/ 182 h 193"/>
                <a:gd name="T60" fmla="*/ 293 w 352"/>
                <a:gd name="T61" fmla="*/ 193 h 193"/>
                <a:gd name="T62" fmla="*/ 271 w 352"/>
                <a:gd name="T63" fmla="*/ 180 h 193"/>
                <a:gd name="T64" fmla="*/ 263 w 352"/>
                <a:gd name="T65" fmla="*/ 163 h 193"/>
                <a:gd name="T66" fmla="*/ 257 w 352"/>
                <a:gd name="T67" fmla="*/ 163 h 193"/>
                <a:gd name="T68" fmla="*/ 242 w 352"/>
                <a:gd name="T69" fmla="*/ 179 h 193"/>
                <a:gd name="T70" fmla="*/ 225 w 352"/>
                <a:gd name="T71" fmla="*/ 170 h 193"/>
                <a:gd name="T72" fmla="*/ 215 w 352"/>
                <a:gd name="T73" fmla="*/ 165 h 193"/>
                <a:gd name="T74" fmla="*/ 208 w 352"/>
                <a:gd name="T75" fmla="*/ 170 h 193"/>
                <a:gd name="T76" fmla="*/ 198 w 352"/>
                <a:gd name="T77" fmla="*/ 153 h 193"/>
                <a:gd name="T78" fmla="*/ 218 w 352"/>
                <a:gd name="T79" fmla="*/ 111 h 193"/>
                <a:gd name="T80" fmla="*/ 200 w 352"/>
                <a:gd name="T81" fmla="*/ 125 h 193"/>
                <a:gd name="T82" fmla="*/ 179 w 352"/>
                <a:gd name="T83" fmla="*/ 142 h 193"/>
                <a:gd name="T84" fmla="*/ 154 w 352"/>
                <a:gd name="T85" fmla="*/ 145 h 193"/>
                <a:gd name="T86" fmla="*/ 122 w 352"/>
                <a:gd name="T87" fmla="*/ 146 h 193"/>
                <a:gd name="T88" fmla="*/ 96 w 352"/>
                <a:gd name="T89" fmla="*/ 139 h 193"/>
                <a:gd name="T90" fmla="*/ 64 w 352"/>
                <a:gd name="T91" fmla="*/ 128 h 193"/>
                <a:gd name="T92" fmla="*/ 39 w 352"/>
                <a:gd name="T93" fmla="*/ 125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52" h="193">
                  <a:moveTo>
                    <a:pt x="39" y="125"/>
                  </a:moveTo>
                  <a:lnTo>
                    <a:pt x="22" y="121"/>
                  </a:lnTo>
                  <a:lnTo>
                    <a:pt x="10" y="114"/>
                  </a:lnTo>
                  <a:lnTo>
                    <a:pt x="3" y="102"/>
                  </a:lnTo>
                  <a:lnTo>
                    <a:pt x="0" y="88"/>
                  </a:lnTo>
                  <a:lnTo>
                    <a:pt x="0" y="74"/>
                  </a:lnTo>
                  <a:lnTo>
                    <a:pt x="5" y="60"/>
                  </a:lnTo>
                  <a:lnTo>
                    <a:pt x="10" y="47"/>
                  </a:lnTo>
                  <a:lnTo>
                    <a:pt x="19" y="36"/>
                  </a:lnTo>
                  <a:lnTo>
                    <a:pt x="29" y="37"/>
                  </a:lnTo>
                  <a:lnTo>
                    <a:pt x="39" y="37"/>
                  </a:lnTo>
                  <a:lnTo>
                    <a:pt x="50" y="34"/>
                  </a:lnTo>
                  <a:lnTo>
                    <a:pt x="61" y="33"/>
                  </a:lnTo>
                  <a:lnTo>
                    <a:pt x="71" y="30"/>
                  </a:lnTo>
                  <a:lnTo>
                    <a:pt x="80" y="27"/>
                  </a:lnTo>
                  <a:lnTo>
                    <a:pt x="86" y="26"/>
                  </a:lnTo>
                  <a:lnTo>
                    <a:pt x="90" y="24"/>
                  </a:lnTo>
                  <a:lnTo>
                    <a:pt x="94" y="19"/>
                  </a:lnTo>
                  <a:lnTo>
                    <a:pt x="101" y="14"/>
                  </a:lnTo>
                  <a:lnTo>
                    <a:pt x="107" y="10"/>
                  </a:lnTo>
                  <a:lnTo>
                    <a:pt x="113" y="9"/>
                  </a:lnTo>
                  <a:lnTo>
                    <a:pt x="118" y="10"/>
                  </a:lnTo>
                  <a:lnTo>
                    <a:pt x="122" y="14"/>
                  </a:lnTo>
                  <a:lnTo>
                    <a:pt x="124" y="19"/>
                  </a:lnTo>
                  <a:lnTo>
                    <a:pt x="124" y="24"/>
                  </a:lnTo>
                  <a:lnTo>
                    <a:pt x="131" y="21"/>
                  </a:lnTo>
                  <a:lnTo>
                    <a:pt x="138" y="17"/>
                  </a:lnTo>
                  <a:lnTo>
                    <a:pt x="148" y="13"/>
                  </a:lnTo>
                  <a:lnTo>
                    <a:pt x="158" y="9"/>
                  </a:lnTo>
                  <a:lnTo>
                    <a:pt x="168" y="6"/>
                  </a:lnTo>
                  <a:lnTo>
                    <a:pt x="175" y="3"/>
                  </a:lnTo>
                  <a:lnTo>
                    <a:pt x="182" y="0"/>
                  </a:lnTo>
                  <a:lnTo>
                    <a:pt x="186" y="0"/>
                  </a:lnTo>
                  <a:lnTo>
                    <a:pt x="192" y="0"/>
                  </a:lnTo>
                  <a:lnTo>
                    <a:pt x="198" y="2"/>
                  </a:lnTo>
                  <a:lnTo>
                    <a:pt x="205" y="3"/>
                  </a:lnTo>
                  <a:lnTo>
                    <a:pt x="212" y="4"/>
                  </a:lnTo>
                  <a:lnTo>
                    <a:pt x="219" y="6"/>
                  </a:lnTo>
                  <a:lnTo>
                    <a:pt x="225" y="7"/>
                  </a:lnTo>
                  <a:lnTo>
                    <a:pt x="230" y="9"/>
                  </a:lnTo>
                  <a:lnTo>
                    <a:pt x="233" y="10"/>
                  </a:lnTo>
                  <a:lnTo>
                    <a:pt x="242" y="12"/>
                  </a:lnTo>
                  <a:lnTo>
                    <a:pt x="253" y="13"/>
                  </a:lnTo>
                  <a:lnTo>
                    <a:pt x="266" y="16"/>
                  </a:lnTo>
                  <a:lnTo>
                    <a:pt x="273" y="17"/>
                  </a:lnTo>
                  <a:lnTo>
                    <a:pt x="278" y="23"/>
                  </a:lnTo>
                  <a:lnTo>
                    <a:pt x="288" y="30"/>
                  </a:lnTo>
                  <a:lnTo>
                    <a:pt x="300" y="38"/>
                  </a:lnTo>
                  <a:lnTo>
                    <a:pt x="308" y="44"/>
                  </a:lnTo>
                  <a:lnTo>
                    <a:pt x="313" y="46"/>
                  </a:lnTo>
                  <a:lnTo>
                    <a:pt x="318" y="48"/>
                  </a:lnTo>
                  <a:lnTo>
                    <a:pt x="325" y="50"/>
                  </a:lnTo>
                  <a:lnTo>
                    <a:pt x="334" y="51"/>
                  </a:lnTo>
                  <a:lnTo>
                    <a:pt x="341" y="54"/>
                  </a:lnTo>
                  <a:lnTo>
                    <a:pt x="347" y="57"/>
                  </a:lnTo>
                  <a:lnTo>
                    <a:pt x="351" y="61"/>
                  </a:lnTo>
                  <a:lnTo>
                    <a:pt x="352" y="65"/>
                  </a:lnTo>
                  <a:lnTo>
                    <a:pt x="349" y="74"/>
                  </a:lnTo>
                  <a:lnTo>
                    <a:pt x="344" y="77"/>
                  </a:lnTo>
                  <a:lnTo>
                    <a:pt x="335" y="78"/>
                  </a:lnTo>
                  <a:lnTo>
                    <a:pt x="325" y="80"/>
                  </a:lnTo>
                  <a:lnTo>
                    <a:pt x="320" y="80"/>
                  </a:lnTo>
                  <a:lnTo>
                    <a:pt x="314" y="78"/>
                  </a:lnTo>
                  <a:lnTo>
                    <a:pt x="307" y="78"/>
                  </a:lnTo>
                  <a:lnTo>
                    <a:pt x="301" y="77"/>
                  </a:lnTo>
                  <a:lnTo>
                    <a:pt x="294" y="75"/>
                  </a:lnTo>
                  <a:lnTo>
                    <a:pt x="287" y="74"/>
                  </a:lnTo>
                  <a:lnTo>
                    <a:pt x="281" y="72"/>
                  </a:lnTo>
                  <a:lnTo>
                    <a:pt x="277" y="71"/>
                  </a:lnTo>
                  <a:lnTo>
                    <a:pt x="283" y="75"/>
                  </a:lnTo>
                  <a:lnTo>
                    <a:pt x="287" y="80"/>
                  </a:lnTo>
                  <a:lnTo>
                    <a:pt x="290" y="84"/>
                  </a:lnTo>
                  <a:lnTo>
                    <a:pt x="290" y="87"/>
                  </a:lnTo>
                  <a:lnTo>
                    <a:pt x="290" y="95"/>
                  </a:lnTo>
                  <a:lnTo>
                    <a:pt x="290" y="111"/>
                  </a:lnTo>
                  <a:lnTo>
                    <a:pt x="288" y="126"/>
                  </a:lnTo>
                  <a:lnTo>
                    <a:pt x="286" y="135"/>
                  </a:lnTo>
                  <a:lnTo>
                    <a:pt x="286" y="138"/>
                  </a:lnTo>
                  <a:lnTo>
                    <a:pt x="286" y="141"/>
                  </a:lnTo>
                  <a:lnTo>
                    <a:pt x="286" y="143"/>
                  </a:lnTo>
                  <a:lnTo>
                    <a:pt x="286" y="145"/>
                  </a:lnTo>
                  <a:lnTo>
                    <a:pt x="287" y="149"/>
                  </a:lnTo>
                  <a:lnTo>
                    <a:pt x="290" y="155"/>
                  </a:lnTo>
                  <a:lnTo>
                    <a:pt x="291" y="160"/>
                  </a:lnTo>
                  <a:lnTo>
                    <a:pt x="293" y="165"/>
                  </a:lnTo>
                  <a:lnTo>
                    <a:pt x="296" y="167"/>
                  </a:lnTo>
                  <a:lnTo>
                    <a:pt x="297" y="170"/>
                  </a:lnTo>
                  <a:lnTo>
                    <a:pt x="297" y="173"/>
                  </a:lnTo>
                  <a:lnTo>
                    <a:pt x="300" y="177"/>
                  </a:lnTo>
                  <a:lnTo>
                    <a:pt x="301" y="182"/>
                  </a:lnTo>
                  <a:lnTo>
                    <a:pt x="301" y="187"/>
                  </a:lnTo>
                  <a:lnTo>
                    <a:pt x="297" y="192"/>
                  </a:lnTo>
                  <a:lnTo>
                    <a:pt x="293" y="193"/>
                  </a:lnTo>
                  <a:lnTo>
                    <a:pt x="283" y="192"/>
                  </a:lnTo>
                  <a:lnTo>
                    <a:pt x="276" y="187"/>
                  </a:lnTo>
                  <a:lnTo>
                    <a:pt x="271" y="180"/>
                  </a:lnTo>
                  <a:lnTo>
                    <a:pt x="266" y="170"/>
                  </a:lnTo>
                  <a:lnTo>
                    <a:pt x="264" y="166"/>
                  </a:lnTo>
                  <a:lnTo>
                    <a:pt x="263" y="163"/>
                  </a:lnTo>
                  <a:lnTo>
                    <a:pt x="263" y="160"/>
                  </a:lnTo>
                  <a:lnTo>
                    <a:pt x="263" y="158"/>
                  </a:lnTo>
                  <a:lnTo>
                    <a:pt x="257" y="163"/>
                  </a:lnTo>
                  <a:lnTo>
                    <a:pt x="252" y="169"/>
                  </a:lnTo>
                  <a:lnTo>
                    <a:pt x="246" y="175"/>
                  </a:lnTo>
                  <a:lnTo>
                    <a:pt x="242" y="179"/>
                  </a:lnTo>
                  <a:lnTo>
                    <a:pt x="237" y="180"/>
                  </a:lnTo>
                  <a:lnTo>
                    <a:pt x="230" y="177"/>
                  </a:lnTo>
                  <a:lnTo>
                    <a:pt x="225" y="170"/>
                  </a:lnTo>
                  <a:lnTo>
                    <a:pt x="223" y="160"/>
                  </a:lnTo>
                  <a:lnTo>
                    <a:pt x="219" y="163"/>
                  </a:lnTo>
                  <a:lnTo>
                    <a:pt x="215" y="165"/>
                  </a:lnTo>
                  <a:lnTo>
                    <a:pt x="212" y="167"/>
                  </a:lnTo>
                  <a:lnTo>
                    <a:pt x="210" y="170"/>
                  </a:lnTo>
                  <a:lnTo>
                    <a:pt x="208" y="170"/>
                  </a:lnTo>
                  <a:lnTo>
                    <a:pt x="203" y="167"/>
                  </a:lnTo>
                  <a:lnTo>
                    <a:pt x="199" y="162"/>
                  </a:lnTo>
                  <a:lnTo>
                    <a:pt x="198" y="153"/>
                  </a:lnTo>
                  <a:lnTo>
                    <a:pt x="202" y="141"/>
                  </a:lnTo>
                  <a:lnTo>
                    <a:pt x="209" y="125"/>
                  </a:lnTo>
                  <a:lnTo>
                    <a:pt x="218" y="111"/>
                  </a:lnTo>
                  <a:lnTo>
                    <a:pt x="220" y="102"/>
                  </a:lnTo>
                  <a:lnTo>
                    <a:pt x="210" y="114"/>
                  </a:lnTo>
                  <a:lnTo>
                    <a:pt x="200" y="125"/>
                  </a:lnTo>
                  <a:lnTo>
                    <a:pt x="191" y="135"/>
                  </a:lnTo>
                  <a:lnTo>
                    <a:pt x="183" y="141"/>
                  </a:lnTo>
                  <a:lnTo>
                    <a:pt x="179" y="142"/>
                  </a:lnTo>
                  <a:lnTo>
                    <a:pt x="172" y="143"/>
                  </a:lnTo>
                  <a:lnTo>
                    <a:pt x="164" y="145"/>
                  </a:lnTo>
                  <a:lnTo>
                    <a:pt x="154" y="145"/>
                  </a:lnTo>
                  <a:lnTo>
                    <a:pt x="144" y="146"/>
                  </a:lnTo>
                  <a:lnTo>
                    <a:pt x="134" y="146"/>
                  </a:lnTo>
                  <a:lnTo>
                    <a:pt x="122" y="146"/>
                  </a:lnTo>
                  <a:lnTo>
                    <a:pt x="114" y="145"/>
                  </a:lnTo>
                  <a:lnTo>
                    <a:pt x="105" y="142"/>
                  </a:lnTo>
                  <a:lnTo>
                    <a:pt x="96" y="139"/>
                  </a:lnTo>
                  <a:lnTo>
                    <a:pt x="84" y="135"/>
                  </a:lnTo>
                  <a:lnTo>
                    <a:pt x="74" y="131"/>
                  </a:lnTo>
                  <a:lnTo>
                    <a:pt x="64" y="128"/>
                  </a:lnTo>
                  <a:lnTo>
                    <a:pt x="54" y="125"/>
                  </a:lnTo>
                  <a:lnTo>
                    <a:pt x="46" y="125"/>
                  </a:lnTo>
                  <a:lnTo>
                    <a:pt x="39" y="12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5" name="Freeform 49"/>
            <p:cNvSpPr>
              <a:spLocks/>
            </p:cNvSpPr>
            <p:nvPr/>
          </p:nvSpPr>
          <p:spPr bwMode="auto">
            <a:xfrm>
              <a:off x="3510" y="2156"/>
              <a:ext cx="10" cy="5"/>
            </a:xfrm>
            <a:custGeom>
              <a:avLst/>
              <a:gdLst>
                <a:gd name="T0" fmla="*/ 11 w 32"/>
                <a:gd name="T1" fmla="*/ 14 h 14"/>
                <a:gd name="T2" fmla="*/ 8 w 32"/>
                <a:gd name="T3" fmla="*/ 10 h 14"/>
                <a:gd name="T4" fmla="*/ 5 w 32"/>
                <a:gd name="T5" fmla="*/ 5 h 14"/>
                <a:gd name="T6" fmla="*/ 3 w 32"/>
                <a:gd name="T7" fmla="*/ 2 h 14"/>
                <a:gd name="T8" fmla="*/ 0 w 32"/>
                <a:gd name="T9" fmla="*/ 0 h 14"/>
                <a:gd name="T10" fmla="*/ 7 w 32"/>
                <a:gd name="T11" fmla="*/ 1 h 14"/>
                <a:gd name="T12" fmla="*/ 17 w 32"/>
                <a:gd name="T13" fmla="*/ 2 h 14"/>
                <a:gd name="T14" fmla="*/ 25 w 32"/>
                <a:gd name="T15" fmla="*/ 5 h 14"/>
                <a:gd name="T16" fmla="*/ 32 w 32"/>
                <a:gd name="T17" fmla="*/ 8 h 14"/>
                <a:gd name="T18" fmla="*/ 30 w 32"/>
                <a:gd name="T19" fmla="*/ 10 h 14"/>
                <a:gd name="T20" fmla="*/ 24 w 32"/>
                <a:gd name="T21" fmla="*/ 11 h 14"/>
                <a:gd name="T22" fmla="*/ 18 w 32"/>
                <a:gd name="T23" fmla="*/ 12 h 14"/>
                <a:gd name="T24" fmla="*/ 11 w 32"/>
                <a:gd name="T25"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 h="14">
                  <a:moveTo>
                    <a:pt x="11" y="14"/>
                  </a:moveTo>
                  <a:lnTo>
                    <a:pt x="8" y="10"/>
                  </a:lnTo>
                  <a:lnTo>
                    <a:pt x="5" y="5"/>
                  </a:lnTo>
                  <a:lnTo>
                    <a:pt x="3" y="2"/>
                  </a:lnTo>
                  <a:lnTo>
                    <a:pt x="0" y="0"/>
                  </a:lnTo>
                  <a:lnTo>
                    <a:pt x="7" y="1"/>
                  </a:lnTo>
                  <a:lnTo>
                    <a:pt x="17" y="2"/>
                  </a:lnTo>
                  <a:lnTo>
                    <a:pt x="25" y="5"/>
                  </a:lnTo>
                  <a:lnTo>
                    <a:pt x="32" y="8"/>
                  </a:lnTo>
                  <a:lnTo>
                    <a:pt x="30" y="10"/>
                  </a:lnTo>
                  <a:lnTo>
                    <a:pt x="24" y="11"/>
                  </a:lnTo>
                  <a:lnTo>
                    <a:pt x="18" y="12"/>
                  </a:lnTo>
                  <a:lnTo>
                    <a:pt x="11" y="14"/>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6" name="Freeform 50"/>
            <p:cNvSpPr>
              <a:spLocks/>
            </p:cNvSpPr>
            <p:nvPr/>
          </p:nvSpPr>
          <p:spPr bwMode="auto">
            <a:xfrm>
              <a:off x="3505" y="2027"/>
              <a:ext cx="18" cy="8"/>
            </a:xfrm>
            <a:custGeom>
              <a:avLst/>
              <a:gdLst>
                <a:gd name="T0" fmla="*/ 0 w 54"/>
                <a:gd name="T1" fmla="*/ 23 h 23"/>
                <a:gd name="T2" fmla="*/ 6 w 54"/>
                <a:gd name="T3" fmla="*/ 18 h 23"/>
                <a:gd name="T4" fmla="*/ 13 w 54"/>
                <a:gd name="T5" fmla="*/ 14 h 23"/>
                <a:gd name="T6" fmla="*/ 20 w 54"/>
                <a:gd name="T7" fmla="*/ 10 h 23"/>
                <a:gd name="T8" fmla="*/ 27 w 54"/>
                <a:gd name="T9" fmla="*/ 6 h 23"/>
                <a:gd name="T10" fmla="*/ 34 w 54"/>
                <a:gd name="T11" fmla="*/ 3 h 23"/>
                <a:gd name="T12" fmla="*/ 41 w 54"/>
                <a:gd name="T13" fmla="*/ 1 h 23"/>
                <a:gd name="T14" fmla="*/ 47 w 54"/>
                <a:gd name="T15" fmla="*/ 0 h 23"/>
                <a:gd name="T16" fmla="*/ 54 w 54"/>
                <a:gd name="T17" fmla="*/ 0 h 23"/>
                <a:gd name="T18" fmla="*/ 48 w 54"/>
                <a:gd name="T19" fmla="*/ 3 h 23"/>
                <a:gd name="T20" fmla="*/ 41 w 54"/>
                <a:gd name="T21" fmla="*/ 7 h 23"/>
                <a:gd name="T22" fmla="*/ 35 w 54"/>
                <a:gd name="T23" fmla="*/ 14 h 23"/>
                <a:gd name="T24" fmla="*/ 31 w 54"/>
                <a:gd name="T25" fmla="*/ 20 h 23"/>
                <a:gd name="T26" fmla="*/ 21 w 54"/>
                <a:gd name="T27" fmla="*/ 20 h 23"/>
                <a:gd name="T28" fmla="*/ 14 w 54"/>
                <a:gd name="T29" fmla="*/ 20 h 23"/>
                <a:gd name="T30" fmla="*/ 6 w 54"/>
                <a:gd name="T31" fmla="*/ 21 h 23"/>
                <a:gd name="T32" fmla="*/ 0 w 54"/>
                <a:gd name="T3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23">
                  <a:moveTo>
                    <a:pt x="0" y="23"/>
                  </a:moveTo>
                  <a:lnTo>
                    <a:pt x="6" y="18"/>
                  </a:lnTo>
                  <a:lnTo>
                    <a:pt x="13" y="14"/>
                  </a:lnTo>
                  <a:lnTo>
                    <a:pt x="20" y="10"/>
                  </a:lnTo>
                  <a:lnTo>
                    <a:pt x="27" y="6"/>
                  </a:lnTo>
                  <a:lnTo>
                    <a:pt x="34" y="3"/>
                  </a:lnTo>
                  <a:lnTo>
                    <a:pt x="41" y="1"/>
                  </a:lnTo>
                  <a:lnTo>
                    <a:pt x="47" y="0"/>
                  </a:lnTo>
                  <a:lnTo>
                    <a:pt x="54" y="0"/>
                  </a:lnTo>
                  <a:lnTo>
                    <a:pt x="48" y="3"/>
                  </a:lnTo>
                  <a:lnTo>
                    <a:pt x="41" y="7"/>
                  </a:lnTo>
                  <a:lnTo>
                    <a:pt x="35" y="14"/>
                  </a:lnTo>
                  <a:lnTo>
                    <a:pt x="31" y="20"/>
                  </a:lnTo>
                  <a:lnTo>
                    <a:pt x="21" y="20"/>
                  </a:lnTo>
                  <a:lnTo>
                    <a:pt x="14" y="20"/>
                  </a:lnTo>
                  <a:lnTo>
                    <a:pt x="6" y="21"/>
                  </a:lnTo>
                  <a:lnTo>
                    <a:pt x="0" y="2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7" name="Freeform 51"/>
            <p:cNvSpPr>
              <a:spLocks/>
            </p:cNvSpPr>
            <p:nvPr/>
          </p:nvSpPr>
          <p:spPr bwMode="auto">
            <a:xfrm>
              <a:off x="3853" y="2315"/>
              <a:ext cx="25" cy="23"/>
            </a:xfrm>
            <a:custGeom>
              <a:avLst/>
              <a:gdLst>
                <a:gd name="T0" fmla="*/ 0 w 77"/>
                <a:gd name="T1" fmla="*/ 61 h 70"/>
                <a:gd name="T2" fmla="*/ 13 w 77"/>
                <a:gd name="T3" fmla="*/ 66 h 70"/>
                <a:gd name="T4" fmla="*/ 26 w 77"/>
                <a:gd name="T5" fmla="*/ 64 h 70"/>
                <a:gd name="T6" fmla="*/ 39 w 77"/>
                <a:gd name="T7" fmla="*/ 60 h 70"/>
                <a:gd name="T8" fmla="*/ 49 w 77"/>
                <a:gd name="T9" fmla="*/ 53 h 70"/>
                <a:gd name="T10" fmla="*/ 56 w 77"/>
                <a:gd name="T11" fmla="*/ 46 h 70"/>
                <a:gd name="T12" fmla="*/ 60 w 77"/>
                <a:gd name="T13" fmla="*/ 39 h 70"/>
                <a:gd name="T14" fmla="*/ 59 w 77"/>
                <a:gd name="T15" fmla="*/ 33 h 70"/>
                <a:gd name="T16" fmla="*/ 52 w 77"/>
                <a:gd name="T17" fmla="*/ 30 h 70"/>
                <a:gd name="T18" fmla="*/ 57 w 77"/>
                <a:gd name="T19" fmla="*/ 25 h 70"/>
                <a:gd name="T20" fmla="*/ 66 w 77"/>
                <a:gd name="T21" fmla="*/ 15 h 70"/>
                <a:gd name="T22" fmla="*/ 73 w 77"/>
                <a:gd name="T23" fmla="*/ 6 h 70"/>
                <a:gd name="T24" fmla="*/ 77 w 77"/>
                <a:gd name="T25" fmla="*/ 0 h 70"/>
                <a:gd name="T26" fmla="*/ 76 w 77"/>
                <a:gd name="T27" fmla="*/ 6 h 70"/>
                <a:gd name="T28" fmla="*/ 74 w 77"/>
                <a:gd name="T29" fmla="*/ 13 h 70"/>
                <a:gd name="T30" fmla="*/ 71 w 77"/>
                <a:gd name="T31" fmla="*/ 17 h 70"/>
                <a:gd name="T32" fmla="*/ 69 w 77"/>
                <a:gd name="T33" fmla="*/ 22 h 70"/>
                <a:gd name="T34" fmla="*/ 69 w 77"/>
                <a:gd name="T35" fmla="*/ 33 h 70"/>
                <a:gd name="T36" fmla="*/ 64 w 77"/>
                <a:gd name="T37" fmla="*/ 44 h 70"/>
                <a:gd name="T38" fmla="*/ 59 w 77"/>
                <a:gd name="T39" fmla="*/ 54 h 70"/>
                <a:gd name="T40" fmla="*/ 50 w 77"/>
                <a:gd name="T41" fmla="*/ 63 h 70"/>
                <a:gd name="T42" fmla="*/ 39 w 77"/>
                <a:gd name="T43" fmla="*/ 69 h 70"/>
                <a:gd name="T44" fmla="*/ 27 w 77"/>
                <a:gd name="T45" fmla="*/ 70 h 70"/>
                <a:gd name="T46" fmla="*/ 15 w 77"/>
                <a:gd name="T47" fmla="*/ 69 h 70"/>
                <a:gd name="T48" fmla="*/ 0 w 77"/>
                <a:gd name="T49" fmla="*/ 6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7" h="70">
                  <a:moveTo>
                    <a:pt x="0" y="61"/>
                  </a:moveTo>
                  <a:lnTo>
                    <a:pt x="13" y="66"/>
                  </a:lnTo>
                  <a:lnTo>
                    <a:pt x="26" y="64"/>
                  </a:lnTo>
                  <a:lnTo>
                    <a:pt x="39" y="60"/>
                  </a:lnTo>
                  <a:lnTo>
                    <a:pt x="49" y="53"/>
                  </a:lnTo>
                  <a:lnTo>
                    <a:pt x="56" y="46"/>
                  </a:lnTo>
                  <a:lnTo>
                    <a:pt x="60" y="39"/>
                  </a:lnTo>
                  <a:lnTo>
                    <a:pt x="59" y="33"/>
                  </a:lnTo>
                  <a:lnTo>
                    <a:pt x="52" y="30"/>
                  </a:lnTo>
                  <a:lnTo>
                    <a:pt x="57" y="25"/>
                  </a:lnTo>
                  <a:lnTo>
                    <a:pt x="66" y="15"/>
                  </a:lnTo>
                  <a:lnTo>
                    <a:pt x="73" y="6"/>
                  </a:lnTo>
                  <a:lnTo>
                    <a:pt x="77" y="0"/>
                  </a:lnTo>
                  <a:lnTo>
                    <a:pt x="76" y="6"/>
                  </a:lnTo>
                  <a:lnTo>
                    <a:pt x="74" y="13"/>
                  </a:lnTo>
                  <a:lnTo>
                    <a:pt x="71" y="17"/>
                  </a:lnTo>
                  <a:lnTo>
                    <a:pt x="69" y="22"/>
                  </a:lnTo>
                  <a:lnTo>
                    <a:pt x="69" y="33"/>
                  </a:lnTo>
                  <a:lnTo>
                    <a:pt x="64" y="44"/>
                  </a:lnTo>
                  <a:lnTo>
                    <a:pt x="59" y="54"/>
                  </a:lnTo>
                  <a:lnTo>
                    <a:pt x="50" y="63"/>
                  </a:lnTo>
                  <a:lnTo>
                    <a:pt x="39" y="69"/>
                  </a:lnTo>
                  <a:lnTo>
                    <a:pt x="27" y="70"/>
                  </a:lnTo>
                  <a:lnTo>
                    <a:pt x="15" y="69"/>
                  </a:lnTo>
                  <a:lnTo>
                    <a:pt x="0" y="6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8" name="Freeform 52"/>
            <p:cNvSpPr>
              <a:spLocks/>
            </p:cNvSpPr>
            <p:nvPr/>
          </p:nvSpPr>
          <p:spPr bwMode="auto">
            <a:xfrm>
              <a:off x="3476" y="2095"/>
              <a:ext cx="6" cy="3"/>
            </a:xfrm>
            <a:custGeom>
              <a:avLst/>
              <a:gdLst>
                <a:gd name="T0" fmla="*/ 0 w 17"/>
                <a:gd name="T1" fmla="*/ 10 h 10"/>
                <a:gd name="T2" fmla="*/ 3 w 17"/>
                <a:gd name="T3" fmla="*/ 7 h 10"/>
                <a:gd name="T4" fmla="*/ 4 w 17"/>
                <a:gd name="T5" fmla="*/ 4 h 10"/>
                <a:gd name="T6" fmla="*/ 7 w 17"/>
                <a:gd name="T7" fmla="*/ 3 h 10"/>
                <a:gd name="T8" fmla="*/ 9 w 17"/>
                <a:gd name="T9" fmla="*/ 0 h 10"/>
                <a:gd name="T10" fmla="*/ 11 w 17"/>
                <a:gd name="T11" fmla="*/ 0 h 10"/>
                <a:gd name="T12" fmla="*/ 13 w 17"/>
                <a:gd name="T13" fmla="*/ 0 h 10"/>
                <a:gd name="T14" fmla="*/ 16 w 17"/>
                <a:gd name="T15" fmla="*/ 0 h 10"/>
                <a:gd name="T16" fmla="*/ 17 w 17"/>
                <a:gd name="T17" fmla="*/ 0 h 10"/>
                <a:gd name="T18" fmla="*/ 13 w 17"/>
                <a:gd name="T19" fmla="*/ 3 h 10"/>
                <a:gd name="T20" fmla="*/ 9 w 17"/>
                <a:gd name="T21" fmla="*/ 5 h 10"/>
                <a:gd name="T22" fmla="*/ 4 w 17"/>
                <a:gd name="T23" fmla="*/ 8 h 10"/>
                <a:gd name="T24" fmla="*/ 0 w 17"/>
                <a:gd name="T25"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0">
                  <a:moveTo>
                    <a:pt x="0" y="10"/>
                  </a:moveTo>
                  <a:lnTo>
                    <a:pt x="3" y="7"/>
                  </a:lnTo>
                  <a:lnTo>
                    <a:pt x="4" y="4"/>
                  </a:lnTo>
                  <a:lnTo>
                    <a:pt x="7" y="3"/>
                  </a:lnTo>
                  <a:lnTo>
                    <a:pt x="9" y="0"/>
                  </a:lnTo>
                  <a:lnTo>
                    <a:pt x="11" y="0"/>
                  </a:lnTo>
                  <a:lnTo>
                    <a:pt x="13" y="0"/>
                  </a:lnTo>
                  <a:lnTo>
                    <a:pt x="16" y="0"/>
                  </a:lnTo>
                  <a:lnTo>
                    <a:pt x="17" y="0"/>
                  </a:lnTo>
                  <a:lnTo>
                    <a:pt x="13" y="3"/>
                  </a:lnTo>
                  <a:lnTo>
                    <a:pt x="9" y="5"/>
                  </a:lnTo>
                  <a:lnTo>
                    <a:pt x="4" y="8"/>
                  </a:lnTo>
                  <a:lnTo>
                    <a:pt x="0" y="1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69" name="Freeform 53"/>
            <p:cNvSpPr>
              <a:spLocks/>
            </p:cNvSpPr>
            <p:nvPr/>
          </p:nvSpPr>
          <p:spPr bwMode="auto">
            <a:xfrm>
              <a:off x="3451" y="2957"/>
              <a:ext cx="26" cy="12"/>
            </a:xfrm>
            <a:custGeom>
              <a:avLst/>
              <a:gdLst>
                <a:gd name="T0" fmla="*/ 78 w 78"/>
                <a:gd name="T1" fmla="*/ 24 h 35"/>
                <a:gd name="T2" fmla="*/ 67 w 78"/>
                <a:gd name="T3" fmla="*/ 22 h 35"/>
                <a:gd name="T4" fmla="*/ 57 w 78"/>
                <a:gd name="T5" fmla="*/ 21 h 35"/>
                <a:gd name="T6" fmla="*/ 46 w 78"/>
                <a:gd name="T7" fmla="*/ 18 h 35"/>
                <a:gd name="T8" fmla="*/ 36 w 78"/>
                <a:gd name="T9" fmla="*/ 15 h 35"/>
                <a:gd name="T10" fmla="*/ 26 w 78"/>
                <a:gd name="T11" fmla="*/ 13 h 35"/>
                <a:gd name="T12" fmla="*/ 17 w 78"/>
                <a:gd name="T13" fmla="*/ 10 h 35"/>
                <a:gd name="T14" fmla="*/ 9 w 78"/>
                <a:gd name="T15" fmla="*/ 5 h 35"/>
                <a:gd name="T16" fmla="*/ 0 w 78"/>
                <a:gd name="T17" fmla="*/ 0 h 35"/>
                <a:gd name="T18" fmla="*/ 0 w 78"/>
                <a:gd name="T19" fmla="*/ 7 h 35"/>
                <a:gd name="T20" fmla="*/ 0 w 78"/>
                <a:gd name="T21" fmla="*/ 15 h 35"/>
                <a:gd name="T22" fmla="*/ 0 w 78"/>
                <a:gd name="T23" fmla="*/ 22 h 35"/>
                <a:gd name="T24" fmla="*/ 0 w 78"/>
                <a:gd name="T25" fmla="*/ 31 h 35"/>
                <a:gd name="T26" fmla="*/ 10 w 78"/>
                <a:gd name="T27" fmla="*/ 32 h 35"/>
                <a:gd name="T28" fmla="*/ 23 w 78"/>
                <a:gd name="T29" fmla="*/ 34 h 35"/>
                <a:gd name="T30" fmla="*/ 36 w 78"/>
                <a:gd name="T31" fmla="*/ 35 h 35"/>
                <a:gd name="T32" fmla="*/ 48 w 78"/>
                <a:gd name="T33" fmla="*/ 35 h 35"/>
                <a:gd name="T34" fmla="*/ 58 w 78"/>
                <a:gd name="T35" fmla="*/ 35 h 35"/>
                <a:gd name="T36" fmla="*/ 68 w 78"/>
                <a:gd name="T37" fmla="*/ 32 h 35"/>
                <a:gd name="T38" fmla="*/ 75 w 78"/>
                <a:gd name="T39" fmla="*/ 30 h 35"/>
                <a:gd name="T40" fmla="*/ 78 w 78"/>
                <a:gd name="T41"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8" h="35">
                  <a:moveTo>
                    <a:pt x="78" y="24"/>
                  </a:moveTo>
                  <a:lnTo>
                    <a:pt x="67" y="22"/>
                  </a:lnTo>
                  <a:lnTo>
                    <a:pt x="57" y="21"/>
                  </a:lnTo>
                  <a:lnTo>
                    <a:pt x="46" y="18"/>
                  </a:lnTo>
                  <a:lnTo>
                    <a:pt x="36" y="15"/>
                  </a:lnTo>
                  <a:lnTo>
                    <a:pt x="26" y="13"/>
                  </a:lnTo>
                  <a:lnTo>
                    <a:pt x="17" y="10"/>
                  </a:lnTo>
                  <a:lnTo>
                    <a:pt x="9" y="5"/>
                  </a:lnTo>
                  <a:lnTo>
                    <a:pt x="0" y="0"/>
                  </a:lnTo>
                  <a:lnTo>
                    <a:pt x="0" y="7"/>
                  </a:lnTo>
                  <a:lnTo>
                    <a:pt x="0" y="15"/>
                  </a:lnTo>
                  <a:lnTo>
                    <a:pt x="0" y="22"/>
                  </a:lnTo>
                  <a:lnTo>
                    <a:pt x="0" y="31"/>
                  </a:lnTo>
                  <a:lnTo>
                    <a:pt x="10" y="32"/>
                  </a:lnTo>
                  <a:lnTo>
                    <a:pt x="23" y="34"/>
                  </a:lnTo>
                  <a:lnTo>
                    <a:pt x="36" y="35"/>
                  </a:lnTo>
                  <a:lnTo>
                    <a:pt x="48" y="35"/>
                  </a:lnTo>
                  <a:lnTo>
                    <a:pt x="58" y="35"/>
                  </a:lnTo>
                  <a:lnTo>
                    <a:pt x="68" y="32"/>
                  </a:lnTo>
                  <a:lnTo>
                    <a:pt x="75" y="30"/>
                  </a:lnTo>
                  <a:lnTo>
                    <a:pt x="78" y="24"/>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0" name="Freeform 54"/>
            <p:cNvSpPr>
              <a:spLocks/>
            </p:cNvSpPr>
            <p:nvPr/>
          </p:nvSpPr>
          <p:spPr bwMode="auto">
            <a:xfrm>
              <a:off x="3863" y="2978"/>
              <a:ext cx="6" cy="29"/>
            </a:xfrm>
            <a:custGeom>
              <a:avLst/>
              <a:gdLst>
                <a:gd name="T0" fmla="*/ 0 w 18"/>
                <a:gd name="T1" fmla="*/ 0 h 86"/>
                <a:gd name="T2" fmla="*/ 11 w 18"/>
                <a:gd name="T3" fmla="*/ 19 h 86"/>
                <a:gd name="T4" fmla="*/ 15 w 18"/>
                <a:gd name="T5" fmla="*/ 38 h 86"/>
                <a:gd name="T6" fmla="*/ 18 w 18"/>
                <a:gd name="T7" fmla="*/ 53 h 86"/>
                <a:gd name="T8" fmla="*/ 18 w 18"/>
                <a:gd name="T9" fmla="*/ 63 h 86"/>
                <a:gd name="T10" fmla="*/ 17 w 18"/>
                <a:gd name="T11" fmla="*/ 69 h 86"/>
                <a:gd name="T12" fmla="*/ 15 w 18"/>
                <a:gd name="T13" fmla="*/ 76 h 86"/>
                <a:gd name="T14" fmla="*/ 11 w 18"/>
                <a:gd name="T15" fmla="*/ 82 h 86"/>
                <a:gd name="T16" fmla="*/ 7 w 18"/>
                <a:gd name="T17" fmla="*/ 86 h 86"/>
                <a:gd name="T18" fmla="*/ 7 w 18"/>
                <a:gd name="T19" fmla="*/ 66 h 86"/>
                <a:gd name="T20" fmla="*/ 7 w 18"/>
                <a:gd name="T21" fmla="*/ 42 h 86"/>
                <a:gd name="T22" fmla="*/ 5 w 18"/>
                <a:gd name="T23" fmla="*/ 18 h 86"/>
                <a:gd name="T24" fmla="*/ 0 w 18"/>
                <a:gd name="T2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86">
                  <a:moveTo>
                    <a:pt x="0" y="0"/>
                  </a:moveTo>
                  <a:lnTo>
                    <a:pt x="11" y="19"/>
                  </a:lnTo>
                  <a:lnTo>
                    <a:pt x="15" y="38"/>
                  </a:lnTo>
                  <a:lnTo>
                    <a:pt x="18" y="53"/>
                  </a:lnTo>
                  <a:lnTo>
                    <a:pt x="18" y="63"/>
                  </a:lnTo>
                  <a:lnTo>
                    <a:pt x="17" y="69"/>
                  </a:lnTo>
                  <a:lnTo>
                    <a:pt x="15" y="76"/>
                  </a:lnTo>
                  <a:lnTo>
                    <a:pt x="11" y="82"/>
                  </a:lnTo>
                  <a:lnTo>
                    <a:pt x="7" y="86"/>
                  </a:lnTo>
                  <a:lnTo>
                    <a:pt x="7" y="66"/>
                  </a:lnTo>
                  <a:lnTo>
                    <a:pt x="7" y="42"/>
                  </a:lnTo>
                  <a:lnTo>
                    <a:pt x="5" y="18"/>
                  </a:lnTo>
                  <a:lnTo>
                    <a:pt x="0"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1" name="Freeform 55"/>
            <p:cNvSpPr>
              <a:spLocks/>
            </p:cNvSpPr>
            <p:nvPr/>
          </p:nvSpPr>
          <p:spPr bwMode="auto">
            <a:xfrm>
              <a:off x="3412" y="2438"/>
              <a:ext cx="412" cy="527"/>
            </a:xfrm>
            <a:custGeom>
              <a:avLst/>
              <a:gdLst>
                <a:gd name="T0" fmla="*/ 193 w 1238"/>
                <a:gd name="T1" fmla="*/ 184 h 1583"/>
                <a:gd name="T2" fmla="*/ 190 w 1238"/>
                <a:gd name="T3" fmla="*/ 61 h 1583"/>
                <a:gd name="T4" fmla="*/ 253 w 1238"/>
                <a:gd name="T5" fmla="*/ 11 h 1583"/>
                <a:gd name="T6" fmla="*/ 423 w 1238"/>
                <a:gd name="T7" fmla="*/ 25 h 1583"/>
                <a:gd name="T8" fmla="*/ 580 w 1238"/>
                <a:gd name="T9" fmla="*/ 21 h 1583"/>
                <a:gd name="T10" fmla="*/ 682 w 1238"/>
                <a:gd name="T11" fmla="*/ 44 h 1583"/>
                <a:gd name="T12" fmla="*/ 762 w 1238"/>
                <a:gd name="T13" fmla="*/ 354 h 1583"/>
                <a:gd name="T14" fmla="*/ 789 w 1238"/>
                <a:gd name="T15" fmla="*/ 509 h 1583"/>
                <a:gd name="T16" fmla="*/ 823 w 1238"/>
                <a:gd name="T17" fmla="*/ 672 h 1583"/>
                <a:gd name="T18" fmla="*/ 867 w 1238"/>
                <a:gd name="T19" fmla="*/ 839 h 1583"/>
                <a:gd name="T20" fmla="*/ 902 w 1238"/>
                <a:gd name="T21" fmla="*/ 918 h 1583"/>
                <a:gd name="T22" fmla="*/ 928 w 1238"/>
                <a:gd name="T23" fmla="*/ 942 h 1583"/>
                <a:gd name="T24" fmla="*/ 952 w 1238"/>
                <a:gd name="T25" fmla="*/ 965 h 1583"/>
                <a:gd name="T26" fmla="*/ 977 w 1238"/>
                <a:gd name="T27" fmla="*/ 1005 h 1583"/>
                <a:gd name="T28" fmla="*/ 1020 w 1238"/>
                <a:gd name="T29" fmla="*/ 1093 h 1583"/>
                <a:gd name="T30" fmla="*/ 1064 w 1238"/>
                <a:gd name="T31" fmla="*/ 1131 h 1583"/>
                <a:gd name="T32" fmla="*/ 1098 w 1238"/>
                <a:gd name="T33" fmla="*/ 1182 h 1583"/>
                <a:gd name="T34" fmla="*/ 1150 w 1238"/>
                <a:gd name="T35" fmla="*/ 1232 h 1583"/>
                <a:gd name="T36" fmla="*/ 1223 w 1238"/>
                <a:gd name="T37" fmla="*/ 1281 h 1583"/>
                <a:gd name="T38" fmla="*/ 1220 w 1238"/>
                <a:gd name="T39" fmla="*/ 1330 h 1583"/>
                <a:gd name="T40" fmla="*/ 1199 w 1238"/>
                <a:gd name="T41" fmla="*/ 1388 h 1583"/>
                <a:gd name="T42" fmla="*/ 1162 w 1238"/>
                <a:gd name="T43" fmla="*/ 1426 h 1583"/>
                <a:gd name="T44" fmla="*/ 1131 w 1238"/>
                <a:gd name="T45" fmla="*/ 1457 h 1583"/>
                <a:gd name="T46" fmla="*/ 1085 w 1238"/>
                <a:gd name="T47" fmla="*/ 1497 h 1583"/>
                <a:gd name="T48" fmla="*/ 1064 w 1238"/>
                <a:gd name="T49" fmla="*/ 1508 h 1583"/>
                <a:gd name="T50" fmla="*/ 1009 w 1238"/>
                <a:gd name="T51" fmla="*/ 1420 h 1583"/>
                <a:gd name="T52" fmla="*/ 976 w 1238"/>
                <a:gd name="T53" fmla="*/ 1364 h 1583"/>
                <a:gd name="T54" fmla="*/ 925 w 1238"/>
                <a:gd name="T55" fmla="*/ 1330 h 1583"/>
                <a:gd name="T56" fmla="*/ 861 w 1238"/>
                <a:gd name="T57" fmla="*/ 1284 h 1583"/>
                <a:gd name="T58" fmla="*/ 816 w 1238"/>
                <a:gd name="T59" fmla="*/ 1244 h 1583"/>
                <a:gd name="T60" fmla="*/ 750 w 1238"/>
                <a:gd name="T61" fmla="*/ 1131 h 1583"/>
                <a:gd name="T62" fmla="*/ 674 w 1238"/>
                <a:gd name="T63" fmla="*/ 991 h 1583"/>
                <a:gd name="T64" fmla="*/ 647 w 1238"/>
                <a:gd name="T65" fmla="*/ 952 h 1583"/>
                <a:gd name="T66" fmla="*/ 594 w 1238"/>
                <a:gd name="T67" fmla="*/ 873 h 1583"/>
                <a:gd name="T68" fmla="*/ 553 w 1238"/>
                <a:gd name="T69" fmla="*/ 782 h 1583"/>
                <a:gd name="T70" fmla="*/ 468 w 1238"/>
                <a:gd name="T71" fmla="*/ 496 h 1583"/>
                <a:gd name="T72" fmla="*/ 370 w 1238"/>
                <a:gd name="T73" fmla="*/ 667 h 1583"/>
                <a:gd name="T74" fmla="*/ 289 w 1238"/>
                <a:gd name="T75" fmla="*/ 830 h 1583"/>
                <a:gd name="T76" fmla="*/ 267 w 1238"/>
                <a:gd name="T77" fmla="*/ 889 h 1583"/>
                <a:gd name="T78" fmla="*/ 321 w 1238"/>
                <a:gd name="T79" fmla="*/ 1016 h 1583"/>
                <a:gd name="T80" fmla="*/ 372 w 1238"/>
                <a:gd name="T81" fmla="*/ 1178 h 1583"/>
                <a:gd name="T82" fmla="*/ 404 w 1238"/>
                <a:gd name="T83" fmla="*/ 1434 h 1583"/>
                <a:gd name="T84" fmla="*/ 402 w 1238"/>
                <a:gd name="T85" fmla="*/ 1554 h 1583"/>
                <a:gd name="T86" fmla="*/ 335 w 1238"/>
                <a:gd name="T87" fmla="*/ 1572 h 1583"/>
                <a:gd name="T88" fmla="*/ 217 w 1238"/>
                <a:gd name="T89" fmla="*/ 1583 h 1583"/>
                <a:gd name="T90" fmla="*/ 115 w 1238"/>
                <a:gd name="T91" fmla="*/ 1528 h 1583"/>
                <a:gd name="T92" fmla="*/ 132 w 1238"/>
                <a:gd name="T93" fmla="*/ 1378 h 1583"/>
                <a:gd name="T94" fmla="*/ 125 w 1238"/>
                <a:gd name="T95" fmla="*/ 1287 h 1583"/>
                <a:gd name="T96" fmla="*/ 68 w 1238"/>
                <a:gd name="T97" fmla="*/ 1123 h 1583"/>
                <a:gd name="T98" fmla="*/ 11 w 1238"/>
                <a:gd name="T99" fmla="*/ 951 h 1583"/>
                <a:gd name="T100" fmla="*/ 10 w 1238"/>
                <a:gd name="T101" fmla="*/ 795 h 1583"/>
                <a:gd name="T102" fmla="*/ 70 w 1238"/>
                <a:gd name="T103" fmla="*/ 598 h 1583"/>
                <a:gd name="T104" fmla="*/ 172 w 1238"/>
                <a:gd name="T105" fmla="*/ 242 h 1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38" h="1583">
                  <a:moveTo>
                    <a:pt x="172" y="242"/>
                  </a:moveTo>
                  <a:lnTo>
                    <a:pt x="176" y="231"/>
                  </a:lnTo>
                  <a:lnTo>
                    <a:pt x="182" y="218"/>
                  </a:lnTo>
                  <a:lnTo>
                    <a:pt x="187" y="202"/>
                  </a:lnTo>
                  <a:lnTo>
                    <a:pt x="193" y="184"/>
                  </a:lnTo>
                  <a:lnTo>
                    <a:pt x="199" y="154"/>
                  </a:lnTo>
                  <a:lnTo>
                    <a:pt x="199" y="124"/>
                  </a:lnTo>
                  <a:lnTo>
                    <a:pt x="197" y="97"/>
                  </a:lnTo>
                  <a:lnTo>
                    <a:pt x="193" y="73"/>
                  </a:lnTo>
                  <a:lnTo>
                    <a:pt x="190" y="61"/>
                  </a:lnTo>
                  <a:lnTo>
                    <a:pt x="190" y="44"/>
                  </a:lnTo>
                  <a:lnTo>
                    <a:pt x="190" y="22"/>
                  </a:lnTo>
                  <a:lnTo>
                    <a:pt x="192" y="0"/>
                  </a:lnTo>
                  <a:lnTo>
                    <a:pt x="221" y="5"/>
                  </a:lnTo>
                  <a:lnTo>
                    <a:pt x="253" y="11"/>
                  </a:lnTo>
                  <a:lnTo>
                    <a:pt x="285" y="15"/>
                  </a:lnTo>
                  <a:lnTo>
                    <a:pt x="319" y="18"/>
                  </a:lnTo>
                  <a:lnTo>
                    <a:pt x="353" y="21"/>
                  </a:lnTo>
                  <a:lnTo>
                    <a:pt x="387" y="24"/>
                  </a:lnTo>
                  <a:lnTo>
                    <a:pt x="423" y="25"/>
                  </a:lnTo>
                  <a:lnTo>
                    <a:pt x="457" y="25"/>
                  </a:lnTo>
                  <a:lnTo>
                    <a:pt x="489" y="25"/>
                  </a:lnTo>
                  <a:lnTo>
                    <a:pt x="521" y="25"/>
                  </a:lnTo>
                  <a:lnTo>
                    <a:pt x="552" y="24"/>
                  </a:lnTo>
                  <a:lnTo>
                    <a:pt x="580" y="21"/>
                  </a:lnTo>
                  <a:lnTo>
                    <a:pt x="607" y="18"/>
                  </a:lnTo>
                  <a:lnTo>
                    <a:pt x="631" y="15"/>
                  </a:lnTo>
                  <a:lnTo>
                    <a:pt x="653" y="11"/>
                  </a:lnTo>
                  <a:lnTo>
                    <a:pt x="670" y="5"/>
                  </a:lnTo>
                  <a:lnTo>
                    <a:pt x="682" y="44"/>
                  </a:lnTo>
                  <a:lnTo>
                    <a:pt x="698" y="99"/>
                  </a:lnTo>
                  <a:lnTo>
                    <a:pt x="715" y="163"/>
                  </a:lnTo>
                  <a:lnTo>
                    <a:pt x="732" y="231"/>
                  </a:lnTo>
                  <a:lnTo>
                    <a:pt x="748" y="296"/>
                  </a:lnTo>
                  <a:lnTo>
                    <a:pt x="762" y="354"/>
                  </a:lnTo>
                  <a:lnTo>
                    <a:pt x="772" y="398"/>
                  </a:lnTo>
                  <a:lnTo>
                    <a:pt x="776" y="424"/>
                  </a:lnTo>
                  <a:lnTo>
                    <a:pt x="779" y="443"/>
                  </a:lnTo>
                  <a:lnTo>
                    <a:pt x="783" y="473"/>
                  </a:lnTo>
                  <a:lnTo>
                    <a:pt x="789" y="509"/>
                  </a:lnTo>
                  <a:lnTo>
                    <a:pt x="796" y="547"/>
                  </a:lnTo>
                  <a:lnTo>
                    <a:pt x="803" y="587"/>
                  </a:lnTo>
                  <a:lnTo>
                    <a:pt x="810" y="622"/>
                  </a:lnTo>
                  <a:lnTo>
                    <a:pt x="817" y="652"/>
                  </a:lnTo>
                  <a:lnTo>
                    <a:pt x="823" y="672"/>
                  </a:lnTo>
                  <a:lnTo>
                    <a:pt x="828" y="693"/>
                  </a:lnTo>
                  <a:lnTo>
                    <a:pt x="837" y="724"/>
                  </a:lnTo>
                  <a:lnTo>
                    <a:pt x="847" y="761"/>
                  </a:lnTo>
                  <a:lnTo>
                    <a:pt x="857" y="801"/>
                  </a:lnTo>
                  <a:lnTo>
                    <a:pt x="867" y="839"/>
                  </a:lnTo>
                  <a:lnTo>
                    <a:pt x="877" y="872"/>
                  </a:lnTo>
                  <a:lnTo>
                    <a:pt x="884" y="896"/>
                  </a:lnTo>
                  <a:lnTo>
                    <a:pt x="888" y="908"/>
                  </a:lnTo>
                  <a:lnTo>
                    <a:pt x="895" y="913"/>
                  </a:lnTo>
                  <a:lnTo>
                    <a:pt x="902" y="918"/>
                  </a:lnTo>
                  <a:lnTo>
                    <a:pt x="909" y="924"/>
                  </a:lnTo>
                  <a:lnTo>
                    <a:pt x="915" y="928"/>
                  </a:lnTo>
                  <a:lnTo>
                    <a:pt x="919" y="934"/>
                  </a:lnTo>
                  <a:lnTo>
                    <a:pt x="925" y="938"/>
                  </a:lnTo>
                  <a:lnTo>
                    <a:pt x="928" y="942"/>
                  </a:lnTo>
                  <a:lnTo>
                    <a:pt x="931" y="945"/>
                  </a:lnTo>
                  <a:lnTo>
                    <a:pt x="935" y="951"/>
                  </a:lnTo>
                  <a:lnTo>
                    <a:pt x="939" y="957"/>
                  </a:lnTo>
                  <a:lnTo>
                    <a:pt x="946" y="961"/>
                  </a:lnTo>
                  <a:lnTo>
                    <a:pt x="952" y="965"/>
                  </a:lnTo>
                  <a:lnTo>
                    <a:pt x="958" y="969"/>
                  </a:lnTo>
                  <a:lnTo>
                    <a:pt x="963" y="975"/>
                  </a:lnTo>
                  <a:lnTo>
                    <a:pt x="967" y="981"/>
                  </a:lnTo>
                  <a:lnTo>
                    <a:pt x="972" y="986"/>
                  </a:lnTo>
                  <a:lnTo>
                    <a:pt x="977" y="1005"/>
                  </a:lnTo>
                  <a:lnTo>
                    <a:pt x="987" y="1035"/>
                  </a:lnTo>
                  <a:lnTo>
                    <a:pt x="999" y="1066"/>
                  </a:lnTo>
                  <a:lnTo>
                    <a:pt x="1007" y="1083"/>
                  </a:lnTo>
                  <a:lnTo>
                    <a:pt x="1013" y="1087"/>
                  </a:lnTo>
                  <a:lnTo>
                    <a:pt x="1020" y="1093"/>
                  </a:lnTo>
                  <a:lnTo>
                    <a:pt x="1028" y="1100"/>
                  </a:lnTo>
                  <a:lnTo>
                    <a:pt x="1038" y="1107"/>
                  </a:lnTo>
                  <a:lnTo>
                    <a:pt x="1047" y="1115"/>
                  </a:lnTo>
                  <a:lnTo>
                    <a:pt x="1057" y="1123"/>
                  </a:lnTo>
                  <a:lnTo>
                    <a:pt x="1064" y="1131"/>
                  </a:lnTo>
                  <a:lnTo>
                    <a:pt x="1070" y="1138"/>
                  </a:lnTo>
                  <a:lnTo>
                    <a:pt x="1075" y="1147"/>
                  </a:lnTo>
                  <a:lnTo>
                    <a:pt x="1081" y="1157"/>
                  </a:lnTo>
                  <a:lnTo>
                    <a:pt x="1088" y="1169"/>
                  </a:lnTo>
                  <a:lnTo>
                    <a:pt x="1098" y="1182"/>
                  </a:lnTo>
                  <a:lnTo>
                    <a:pt x="1106" y="1195"/>
                  </a:lnTo>
                  <a:lnTo>
                    <a:pt x="1116" y="1208"/>
                  </a:lnTo>
                  <a:lnTo>
                    <a:pt x="1128" y="1218"/>
                  </a:lnTo>
                  <a:lnTo>
                    <a:pt x="1138" y="1225"/>
                  </a:lnTo>
                  <a:lnTo>
                    <a:pt x="1150" y="1232"/>
                  </a:lnTo>
                  <a:lnTo>
                    <a:pt x="1165" y="1240"/>
                  </a:lnTo>
                  <a:lnTo>
                    <a:pt x="1179" y="1250"/>
                  </a:lnTo>
                  <a:lnTo>
                    <a:pt x="1194" y="1261"/>
                  </a:lnTo>
                  <a:lnTo>
                    <a:pt x="1210" y="1271"/>
                  </a:lnTo>
                  <a:lnTo>
                    <a:pt x="1223" y="1281"/>
                  </a:lnTo>
                  <a:lnTo>
                    <a:pt x="1233" y="1288"/>
                  </a:lnTo>
                  <a:lnTo>
                    <a:pt x="1238" y="1293"/>
                  </a:lnTo>
                  <a:lnTo>
                    <a:pt x="1231" y="1304"/>
                  </a:lnTo>
                  <a:lnTo>
                    <a:pt x="1226" y="1317"/>
                  </a:lnTo>
                  <a:lnTo>
                    <a:pt x="1220" y="1330"/>
                  </a:lnTo>
                  <a:lnTo>
                    <a:pt x="1216" y="1341"/>
                  </a:lnTo>
                  <a:lnTo>
                    <a:pt x="1213" y="1352"/>
                  </a:lnTo>
                  <a:lnTo>
                    <a:pt x="1209" y="1365"/>
                  </a:lnTo>
                  <a:lnTo>
                    <a:pt x="1204" y="1378"/>
                  </a:lnTo>
                  <a:lnTo>
                    <a:pt x="1199" y="1388"/>
                  </a:lnTo>
                  <a:lnTo>
                    <a:pt x="1190" y="1398"/>
                  </a:lnTo>
                  <a:lnTo>
                    <a:pt x="1183" y="1406"/>
                  </a:lnTo>
                  <a:lnTo>
                    <a:pt x="1175" y="1416"/>
                  </a:lnTo>
                  <a:lnTo>
                    <a:pt x="1166" y="1422"/>
                  </a:lnTo>
                  <a:lnTo>
                    <a:pt x="1162" y="1426"/>
                  </a:lnTo>
                  <a:lnTo>
                    <a:pt x="1156" y="1432"/>
                  </a:lnTo>
                  <a:lnTo>
                    <a:pt x="1149" y="1437"/>
                  </a:lnTo>
                  <a:lnTo>
                    <a:pt x="1142" y="1444"/>
                  </a:lnTo>
                  <a:lnTo>
                    <a:pt x="1138" y="1450"/>
                  </a:lnTo>
                  <a:lnTo>
                    <a:pt x="1131" y="1457"/>
                  </a:lnTo>
                  <a:lnTo>
                    <a:pt x="1121" y="1466"/>
                  </a:lnTo>
                  <a:lnTo>
                    <a:pt x="1111" y="1474"/>
                  </a:lnTo>
                  <a:lnTo>
                    <a:pt x="1101" y="1483"/>
                  </a:lnTo>
                  <a:lnTo>
                    <a:pt x="1092" y="1490"/>
                  </a:lnTo>
                  <a:lnTo>
                    <a:pt x="1085" y="1497"/>
                  </a:lnTo>
                  <a:lnTo>
                    <a:pt x="1080" y="1503"/>
                  </a:lnTo>
                  <a:lnTo>
                    <a:pt x="1077" y="1504"/>
                  </a:lnTo>
                  <a:lnTo>
                    <a:pt x="1072" y="1505"/>
                  </a:lnTo>
                  <a:lnTo>
                    <a:pt x="1068" y="1507"/>
                  </a:lnTo>
                  <a:lnTo>
                    <a:pt x="1064" y="1508"/>
                  </a:lnTo>
                  <a:lnTo>
                    <a:pt x="1055" y="1495"/>
                  </a:lnTo>
                  <a:lnTo>
                    <a:pt x="1044" y="1480"/>
                  </a:lnTo>
                  <a:lnTo>
                    <a:pt x="1033" y="1460"/>
                  </a:lnTo>
                  <a:lnTo>
                    <a:pt x="1020" y="1440"/>
                  </a:lnTo>
                  <a:lnTo>
                    <a:pt x="1009" y="1420"/>
                  </a:lnTo>
                  <a:lnTo>
                    <a:pt x="1000" y="1400"/>
                  </a:lnTo>
                  <a:lnTo>
                    <a:pt x="993" y="1385"/>
                  </a:lnTo>
                  <a:lnTo>
                    <a:pt x="989" y="1372"/>
                  </a:lnTo>
                  <a:lnTo>
                    <a:pt x="983" y="1368"/>
                  </a:lnTo>
                  <a:lnTo>
                    <a:pt x="976" y="1364"/>
                  </a:lnTo>
                  <a:lnTo>
                    <a:pt x="967" y="1358"/>
                  </a:lnTo>
                  <a:lnTo>
                    <a:pt x="958" y="1351"/>
                  </a:lnTo>
                  <a:lnTo>
                    <a:pt x="948" y="1344"/>
                  </a:lnTo>
                  <a:lnTo>
                    <a:pt x="936" y="1337"/>
                  </a:lnTo>
                  <a:lnTo>
                    <a:pt x="925" y="1330"/>
                  </a:lnTo>
                  <a:lnTo>
                    <a:pt x="912" y="1321"/>
                  </a:lnTo>
                  <a:lnTo>
                    <a:pt x="899" y="1311"/>
                  </a:lnTo>
                  <a:lnTo>
                    <a:pt x="885" y="1303"/>
                  </a:lnTo>
                  <a:lnTo>
                    <a:pt x="874" y="1293"/>
                  </a:lnTo>
                  <a:lnTo>
                    <a:pt x="861" y="1284"/>
                  </a:lnTo>
                  <a:lnTo>
                    <a:pt x="851" y="1277"/>
                  </a:lnTo>
                  <a:lnTo>
                    <a:pt x="843" y="1270"/>
                  </a:lnTo>
                  <a:lnTo>
                    <a:pt x="834" y="1264"/>
                  </a:lnTo>
                  <a:lnTo>
                    <a:pt x="830" y="1260"/>
                  </a:lnTo>
                  <a:lnTo>
                    <a:pt x="816" y="1244"/>
                  </a:lnTo>
                  <a:lnTo>
                    <a:pt x="804" y="1225"/>
                  </a:lnTo>
                  <a:lnTo>
                    <a:pt x="796" y="1202"/>
                  </a:lnTo>
                  <a:lnTo>
                    <a:pt x="796" y="1181"/>
                  </a:lnTo>
                  <a:lnTo>
                    <a:pt x="773" y="1158"/>
                  </a:lnTo>
                  <a:lnTo>
                    <a:pt x="750" y="1131"/>
                  </a:lnTo>
                  <a:lnTo>
                    <a:pt x="731" y="1103"/>
                  </a:lnTo>
                  <a:lnTo>
                    <a:pt x="712" y="1072"/>
                  </a:lnTo>
                  <a:lnTo>
                    <a:pt x="697" y="1042"/>
                  </a:lnTo>
                  <a:lnTo>
                    <a:pt x="684" y="1015"/>
                  </a:lnTo>
                  <a:lnTo>
                    <a:pt x="674" y="991"/>
                  </a:lnTo>
                  <a:lnTo>
                    <a:pt x="670" y="972"/>
                  </a:lnTo>
                  <a:lnTo>
                    <a:pt x="664" y="968"/>
                  </a:lnTo>
                  <a:lnTo>
                    <a:pt x="658" y="962"/>
                  </a:lnTo>
                  <a:lnTo>
                    <a:pt x="653" y="958"/>
                  </a:lnTo>
                  <a:lnTo>
                    <a:pt x="647" y="952"/>
                  </a:lnTo>
                  <a:lnTo>
                    <a:pt x="634" y="937"/>
                  </a:lnTo>
                  <a:lnTo>
                    <a:pt x="623" y="921"/>
                  </a:lnTo>
                  <a:lnTo>
                    <a:pt x="611" y="904"/>
                  </a:lnTo>
                  <a:lnTo>
                    <a:pt x="603" y="889"/>
                  </a:lnTo>
                  <a:lnTo>
                    <a:pt x="594" y="873"/>
                  </a:lnTo>
                  <a:lnTo>
                    <a:pt x="587" y="860"/>
                  </a:lnTo>
                  <a:lnTo>
                    <a:pt x="580" y="849"/>
                  </a:lnTo>
                  <a:lnTo>
                    <a:pt x="576" y="842"/>
                  </a:lnTo>
                  <a:lnTo>
                    <a:pt x="567" y="822"/>
                  </a:lnTo>
                  <a:lnTo>
                    <a:pt x="553" y="782"/>
                  </a:lnTo>
                  <a:lnTo>
                    <a:pt x="535" y="728"/>
                  </a:lnTo>
                  <a:lnTo>
                    <a:pt x="515" y="666"/>
                  </a:lnTo>
                  <a:lnTo>
                    <a:pt x="497" y="604"/>
                  </a:lnTo>
                  <a:lnTo>
                    <a:pt x="480" y="544"/>
                  </a:lnTo>
                  <a:lnTo>
                    <a:pt x="468" y="496"/>
                  </a:lnTo>
                  <a:lnTo>
                    <a:pt x="463" y="465"/>
                  </a:lnTo>
                  <a:lnTo>
                    <a:pt x="444" y="503"/>
                  </a:lnTo>
                  <a:lnTo>
                    <a:pt x="421" y="554"/>
                  </a:lnTo>
                  <a:lnTo>
                    <a:pt x="396" y="609"/>
                  </a:lnTo>
                  <a:lnTo>
                    <a:pt x="370" y="667"/>
                  </a:lnTo>
                  <a:lnTo>
                    <a:pt x="345" y="723"/>
                  </a:lnTo>
                  <a:lnTo>
                    <a:pt x="324" y="770"/>
                  </a:lnTo>
                  <a:lnTo>
                    <a:pt x="308" y="804"/>
                  </a:lnTo>
                  <a:lnTo>
                    <a:pt x="298" y="821"/>
                  </a:lnTo>
                  <a:lnTo>
                    <a:pt x="289" y="830"/>
                  </a:lnTo>
                  <a:lnTo>
                    <a:pt x="282" y="839"/>
                  </a:lnTo>
                  <a:lnTo>
                    <a:pt x="275" y="849"/>
                  </a:lnTo>
                  <a:lnTo>
                    <a:pt x="270" y="859"/>
                  </a:lnTo>
                  <a:lnTo>
                    <a:pt x="267" y="873"/>
                  </a:lnTo>
                  <a:lnTo>
                    <a:pt x="267" y="889"/>
                  </a:lnTo>
                  <a:lnTo>
                    <a:pt x="272" y="908"/>
                  </a:lnTo>
                  <a:lnTo>
                    <a:pt x="284" y="933"/>
                  </a:lnTo>
                  <a:lnTo>
                    <a:pt x="294" y="954"/>
                  </a:lnTo>
                  <a:lnTo>
                    <a:pt x="306" y="982"/>
                  </a:lnTo>
                  <a:lnTo>
                    <a:pt x="321" y="1016"/>
                  </a:lnTo>
                  <a:lnTo>
                    <a:pt x="335" y="1053"/>
                  </a:lnTo>
                  <a:lnTo>
                    <a:pt x="348" y="1091"/>
                  </a:lnTo>
                  <a:lnTo>
                    <a:pt x="359" y="1125"/>
                  </a:lnTo>
                  <a:lnTo>
                    <a:pt x="367" y="1155"/>
                  </a:lnTo>
                  <a:lnTo>
                    <a:pt x="372" y="1178"/>
                  </a:lnTo>
                  <a:lnTo>
                    <a:pt x="376" y="1209"/>
                  </a:lnTo>
                  <a:lnTo>
                    <a:pt x="382" y="1256"/>
                  </a:lnTo>
                  <a:lnTo>
                    <a:pt x="389" y="1314"/>
                  </a:lnTo>
                  <a:lnTo>
                    <a:pt x="397" y="1375"/>
                  </a:lnTo>
                  <a:lnTo>
                    <a:pt x="404" y="1434"/>
                  </a:lnTo>
                  <a:lnTo>
                    <a:pt x="410" y="1488"/>
                  </a:lnTo>
                  <a:lnTo>
                    <a:pt x="414" y="1528"/>
                  </a:lnTo>
                  <a:lnTo>
                    <a:pt x="416" y="1548"/>
                  </a:lnTo>
                  <a:lnTo>
                    <a:pt x="411" y="1551"/>
                  </a:lnTo>
                  <a:lnTo>
                    <a:pt x="402" y="1554"/>
                  </a:lnTo>
                  <a:lnTo>
                    <a:pt x="390" y="1558"/>
                  </a:lnTo>
                  <a:lnTo>
                    <a:pt x="377" y="1561"/>
                  </a:lnTo>
                  <a:lnTo>
                    <a:pt x="363" y="1565"/>
                  </a:lnTo>
                  <a:lnTo>
                    <a:pt x="348" y="1569"/>
                  </a:lnTo>
                  <a:lnTo>
                    <a:pt x="335" y="1572"/>
                  </a:lnTo>
                  <a:lnTo>
                    <a:pt x="324" y="1575"/>
                  </a:lnTo>
                  <a:lnTo>
                    <a:pt x="299" y="1579"/>
                  </a:lnTo>
                  <a:lnTo>
                    <a:pt x="274" y="1582"/>
                  </a:lnTo>
                  <a:lnTo>
                    <a:pt x="246" y="1583"/>
                  </a:lnTo>
                  <a:lnTo>
                    <a:pt x="217" y="1583"/>
                  </a:lnTo>
                  <a:lnTo>
                    <a:pt x="189" y="1580"/>
                  </a:lnTo>
                  <a:lnTo>
                    <a:pt x="163" y="1576"/>
                  </a:lnTo>
                  <a:lnTo>
                    <a:pt x="139" y="1568"/>
                  </a:lnTo>
                  <a:lnTo>
                    <a:pt x="119" y="1558"/>
                  </a:lnTo>
                  <a:lnTo>
                    <a:pt x="115" y="1528"/>
                  </a:lnTo>
                  <a:lnTo>
                    <a:pt x="118" y="1495"/>
                  </a:lnTo>
                  <a:lnTo>
                    <a:pt x="124" y="1464"/>
                  </a:lnTo>
                  <a:lnTo>
                    <a:pt x="128" y="1437"/>
                  </a:lnTo>
                  <a:lnTo>
                    <a:pt x="131" y="1410"/>
                  </a:lnTo>
                  <a:lnTo>
                    <a:pt x="132" y="1378"/>
                  </a:lnTo>
                  <a:lnTo>
                    <a:pt x="133" y="1347"/>
                  </a:lnTo>
                  <a:lnTo>
                    <a:pt x="131" y="1315"/>
                  </a:lnTo>
                  <a:lnTo>
                    <a:pt x="129" y="1307"/>
                  </a:lnTo>
                  <a:lnTo>
                    <a:pt x="128" y="1297"/>
                  </a:lnTo>
                  <a:lnTo>
                    <a:pt x="125" y="1287"/>
                  </a:lnTo>
                  <a:lnTo>
                    <a:pt x="122" y="1276"/>
                  </a:lnTo>
                  <a:lnTo>
                    <a:pt x="112" y="1242"/>
                  </a:lnTo>
                  <a:lnTo>
                    <a:pt x="98" y="1203"/>
                  </a:lnTo>
                  <a:lnTo>
                    <a:pt x="84" y="1164"/>
                  </a:lnTo>
                  <a:lnTo>
                    <a:pt x="68" y="1123"/>
                  </a:lnTo>
                  <a:lnTo>
                    <a:pt x="54" y="1084"/>
                  </a:lnTo>
                  <a:lnTo>
                    <a:pt x="41" y="1050"/>
                  </a:lnTo>
                  <a:lnTo>
                    <a:pt x="30" y="1019"/>
                  </a:lnTo>
                  <a:lnTo>
                    <a:pt x="23" y="996"/>
                  </a:lnTo>
                  <a:lnTo>
                    <a:pt x="11" y="951"/>
                  </a:lnTo>
                  <a:lnTo>
                    <a:pt x="4" y="913"/>
                  </a:lnTo>
                  <a:lnTo>
                    <a:pt x="0" y="880"/>
                  </a:lnTo>
                  <a:lnTo>
                    <a:pt x="0" y="850"/>
                  </a:lnTo>
                  <a:lnTo>
                    <a:pt x="3" y="822"/>
                  </a:lnTo>
                  <a:lnTo>
                    <a:pt x="10" y="795"/>
                  </a:lnTo>
                  <a:lnTo>
                    <a:pt x="21" y="764"/>
                  </a:lnTo>
                  <a:lnTo>
                    <a:pt x="36" y="730"/>
                  </a:lnTo>
                  <a:lnTo>
                    <a:pt x="43" y="706"/>
                  </a:lnTo>
                  <a:lnTo>
                    <a:pt x="54" y="660"/>
                  </a:lnTo>
                  <a:lnTo>
                    <a:pt x="70" y="598"/>
                  </a:lnTo>
                  <a:lnTo>
                    <a:pt x="88" y="524"/>
                  </a:lnTo>
                  <a:lnTo>
                    <a:pt x="108" y="446"/>
                  </a:lnTo>
                  <a:lnTo>
                    <a:pt x="131" y="370"/>
                  </a:lnTo>
                  <a:lnTo>
                    <a:pt x="152" y="299"/>
                  </a:lnTo>
                  <a:lnTo>
                    <a:pt x="172" y="242"/>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2" name="Freeform 56"/>
            <p:cNvSpPr>
              <a:spLocks/>
            </p:cNvSpPr>
            <p:nvPr/>
          </p:nvSpPr>
          <p:spPr bwMode="auto">
            <a:xfrm>
              <a:off x="3436" y="2781"/>
              <a:ext cx="19" cy="95"/>
            </a:xfrm>
            <a:custGeom>
              <a:avLst/>
              <a:gdLst>
                <a:gd name="T0" fmla="*/ 50 w 59"/>
                <a:gd name="T1" fmla="*/ 247 h 286"/>
                <a:gd name="T2" fmla="*/ 53 w 59"/>
                <a:gd name="T3" fmla="*/ 258 h 286"/>
                <a:gd name="T4" fmla="*/ 56 w 59"/>
                <a:gd name="T5" fmla="*/ 268 h 286"/>
                <a:gd name="T6" fmla="*/ 57 w 59"/>
                <a:gd name="T7" fmla="*/ 278 h 286"/>
                <a:gd name="T8" fmla="*/ 59 w 59"/>
                <a:gd name="T9" fmla="*/ 286 h 286"/>
                <a:gd name="T10" fmla="*/ 59 w 59"/>
                <a:gd name="T11" fmla="*/ 250 h 286"/>
                <a:gd name="T12" fmla="*/ 56 w 59"/>
                <a:gd name="T13" fmla="*/ 208 h 286"/>
                <a:gd name="T14" fmla="*/ 49 w 59"/>
                <a:gd name="T15" fmla="*/ 164 h 286"/>
                <a:gd name="T16" fmla="*/ 40 w 59"/>
                <a:gd name="T17" fmla="*/ 122 h 286"/>
                <a:gd name="T18" fmla="*/ 30 w 59"/>
                <a:gd name="T19" fmla="*/ 81 h 286"/>
                <a:gd name="T20" fmla="*/ 20 w 59"/>
                <a:gd name="T21" fmla="*/ 45 h 286"/>
                <a:gd name="T22" fmla="*/ 10 w 59"/>
                <a:gd name="T23" fmla="*/ 18 h 286"/>
                <a:gd name="T24" fmla="*/ 0 w 59"/>
                <a:gd name="T25" fmla="*/ 0 h 286"/>
                <a:gd name="T26" fmla="*/ 6 w 59"/>
                <a:gd name="T27" fmla="*/ 20 h 286"/>
                <a:gd name="T28" fmla="*/ 15 w 59"/>
                <a:gd name="T29" fmla="*/ 48 h 286"/>
                <a:gd name="T30" fmla="*/ 23 w 59"/>
                <a:gd name="T31" fmla="*/ 84 h 286"/>
                <a:gd name="T32" fmla="*/ 32 w 59"/>
                <a:gd name="T33" fmla="*/ 123 h 286"/>
                <a:gd name="T34" fmla="*/ 39 w 59"/>
                <a:gd name="T35" fmla="*/ 162 h 286"/>
                <a:gd name="T36" fmla="*/ 46 w 59"/>
                <a:gd name="T37" fmla="*/ 197 h 286"/>
                <a:gd name="T38" fmla="*/ 49 w 59"/>
                <a:gd name="T39" fmla="*/ 227 h 286"/>
                <a:gd name="T40" fmla="*/ 50 w 59"/>
                <a:gd name="T41" fmla="*/ 247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9" h="286">
                  <a:moveTo>
                    <a:pt x="50" y="247"/>
                  </a:moveTo>
                  <a:lnTo>
                    <a:pt x="53" y="258"/>
                  </a:lnTo>
                  <a:lnTo>
                    <a:pt x="56" y="268"/>
                  </a:lnTo>
                  <a:lnTo>
                    <a:pt x="57" y="278"/>
                  </a:lnTo>
                  <a:lnTo>
                    <a:pt x="59" y="286"/>
                  </a:lnTo>
                  <a:lnTo>
                    <a:pt x="59" y="250"/>
                  </a:lnTo>
                  <a:lnTo>
                    <a:pt x="56" y="208"/>
                  </a:lnTo>
                  <a:lnTo>
                    <a:pt x="49" y="164"/>
                  </a:lnTo>
                  <a:lnTo>
                    <a:pt x="40" y="122"/>
                  </a:lnTo>
                  <a:lnTo>
                    <a:pt x="30" y="81"/>
                  </a:lnTo>
                  <a:lnTo>
                    <a:pt x="20" y="45"/>
                  </a:lnTo>
                  <a:lnTo>
                    <a:pt x="10" y="18"/>
                  </a:lnTo>
                  <a:lnTo>
                    <a:pt x="0" y="0"/>
                  </a:lnTo>
                  <a:lnTo>
                    <a:pt x="6" y="20"/>
                  </a:lnTo>
                  <a:lnTo>
                    <a:pt x="15" y="48"/>
                  </a:lnTo>
                  <a:lnTo>
                    <a:pt x="23" y="84"/>
                  </a:lnTo>
                  <a:lnTo>
                    <a:pt x="32" y="123"/>
                  </a:lnTo>
                  <a:lnTo>
                    <a:pt x="39" y="162"/>
                  </a:lnTo>
                  <a:lnTo>
                    <a:pt x="46" y="197"/>
                  </a:lnTo>
                  <a:lnTo>
                    <a:pt x="49" y="227"/>
                  </a:lnTo>
                  <a:lnTo>
                    <a:pt x="50" y="247"/>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3" name="Freeform 57"/>
            <p:cNvSpPr>
              <a:spLocks/>
            </p:cNvSpPr>
            <p:nvPr/>
          </p:nvSpPr>
          <p:spPr bwMode="auto">
            <a:xfrm>
              <a:off x="3626" y="2732"/>
              <a:ext cx="9" cy="30"/>
            </a:xfrm>
            <a:custGeom>
              <a:avLst/>
              <a:gdLst>
                <a:gd name="T0" fmla="*/ 26 w 26"/>
                <a:gd name="T1" fmla="*/ 90 h 90"/>
                <a:gd name="T2" fmla="*/ 20 w 26"/>
                <a:gd name="T3" fmla="*/ 86 h 90"/>
                <a:gd name="T4" fmla="*/ 14 w 26"/>
                <a:gd name="T5" fmla="*/ 80 h 90"/>
                <a:gd name="T6" fmla="*/ 9 w 26"/>
                <a:gd name="T7" fmla="*/ 76 h 90"/>
                <a:gd name="T8" fmla="*/ 3 w 26"/>
                <a:gd name="T9" fmla="*/ 70 h 90"/>
                <a:gd name="T10" fmla="*/ 0 w 26"/>
                <a:gd name="T11" fmla="*/ 53 h 90"/>
                <a:gd name="T12" fmla="*/ 0 w 26"/>
                <a:gd name="T13" fmla="*/ 29 h 90"/>
                <a:gd name="T14" fmla="*/ 0 w 26"/>
                <a:gd name="T15" fmla="*/ 8 h 90"/>
                <a:gd name="T16" fmla="*/ 1 w 26"/>
                <a:gd name="T17" fmla="*/ 0 h 90"/>
                <a:gd name="T18" fmla="*/ 7 w 26"/>
                <a:gd name="T19" fmla="*/ 12 h 90"/>
                <a:gd name="T20" fmla="*/ 16 w 26"/>
                <a:gd name="T21" fmla="*/ 42 h 90"/>
                <a:gd name="T22" fmla="*/ 23 w 26"/>
                <a:gd name="T23" fmla="*/ 72 h 90"/>
                <a:gd name="T24" fmla="*/ 26 w 26"/>
                <a:gd name="T25"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90">
                  <a:moveTo>
                    <a:pt x="26" y="90"/>
                  </a:moveTo>
                  <a:lnTo>
                    <a:pt x="20" y="86"/>
                  </a:lnTo>
                  <a:lnTo>
                    <a:pt x="14" y="80"/>
                  </a:lnTo>
                  <a:lnTo>
                    <a:pt x="9" y="76"/>
                  </a:lnTo>
                  <a:lnTo>
                    <a:pt x="3" y="70"/>
                  </a:lnTo>
                  <a:lnTo>
                    <a:pt x="0" y="53"/>
                  </a:lnTo>
                  <a:lnTo>
                    <a:pt x="0" y="29"/>
                  </a:lnTo>
                  <a:lnTo>
                    <a:pt x="0" y="8"/>
                  </a:lnTo>
                  <a:lnTo>
                    <a:pt x="1" y="0"/>
                  </a:lnTo>
                  <a:lnTo>
                    <a:pt x="7" y="12"/>
                  </a:lnTo>
                  <a:lnTo>
                    <a:pt x="16" y="42"/>
                  </a:lnTo>
                  <a:lnTo>
                    <a:pt x="23" y="72"/>
                  </a:lnTo>
                  <a:lnTo>
                    <a:pt x="26" y="9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4" name="Freeform 58"/>
            <p:cNvSpPr>
              <a:spLocks/>
            </p:cNvSpPr>
            <p:nvPr/>
          </p:nvSpPr>
          <p:spPr bwMode="auto">
            <a:xfrm>
              <a:off x="3692" y="2740"/>
              <a:ext cx="30" cy="13"/>
            </a:xfrm>
            <a:custGeom>
              <a:avLst/>
              <a:gdLst>
                <a:gd name="T0" fmla="*/ 90 w 90"/>
                <a:gd name="T1" fmla="*/ 37 h 37"/>
                <a:gd name="T2" fmla="*/ 87 w 90"/>
                <a:gd name="T3" fmla="*/ 34 h 37"/>
                <a:gd name="T4" fmla="*/ 84 w 90"/>
                <a:gd name="T5" fmla="*/ 30 h 37"/>
                <a:gd name="T6" fmla="*/ 78 w 90"/>
                <a:gd name="T7" fmla="*/ 26 h 37"/>
                <a:gd name="T8" fmla="*/ 74 w 90"/>
                <a:gd name="T9" fmla="*/ 20 h 37"/>
                <a:gd name="T10" fmla="*/ 68 w 90"/>
                <a:gd name="T11" fmla="*/ 16 h 37"/>
                <a:gd name="T12" fmla="*/ 61 w 90"/>
                <a:gd name="T13" fmla="*/ 10 h 37"/>
                <a:gd name="T14" fmla="*/ 54 w 90"/>
                <a:gd name="T15" fmla="*/ 5 h 37"/>
                <a:gd name="T16" fmla="*/ 47 w 90"/>
                <a:gd name="T17" fmla="*/ 0 h 37"/>
                <a:gd name="T18" fmla="*/ 43 w 90"/>
                <a:gd name="T19" fmla="*/ 0 h 37"/>
                <a:gd name="T20" fmla="*/ 37 w 90"/>
                <a:gd name="T21" fmla="*/ 0 h 37"/>
                <a:gd name="T22" fmla="*/ 30 w 90"/>
                <a:gd name="T23" fmla="*/ 0 h 37"/>
                <a:gd name="T24" fmla="*/ 23 w 90"/>
                <a:gd name="T25" fmla="*/ 0 h 37"/>
                <a:gd name="T26" fmla="*/ 16 w 90"/>
                <a:gd name="T27" fmla="*/ 0 h 37"/>
                <a:gd name="T28" fmla="*/ 9 w 90"/>
                <a:gd name="T29" fmla="*/ 0 h 37"/>
                <a:gd name="T30" fmla="*/ 4 w 90"/>
                <a:gd name="T31" fmla="*/ 2 h 37"/>
                <a:gd name="T32" fmla="*/ 0 w 90"/>
                <a:gd name="T33" fmla="*/ 2 h 37"/>
                <a:gd name="T34" fmla="*/ 12 w 90"/>
                <a:gd name="T35" fmla="*/ 6 h 37"/>
                <a:gd name="T36" fmla="*/ 24 w 90"/>
                <a:gd name="T37" fmla="*/ 10 h 37"/>
                <a:gd name="T38" fmla="*/ 37 w 90"/>
                <a:gd name="T39" fmla="*/ 16 h 37"/>
                <a:gd name="T40" fmla="*/ 51 w 90"/>
                <a:gd name="T41" fmla="*/ 22 h 37"/>
                <a:gd name="T42" fmla="*/ 63 w 90"/>
                <a:gd name="T43" fmla="*/ 26 h 37"/>
                <a:gd name="T44" fmla="*/ 74 w 90"/>
                <a:gd name="T45" fmla="*/ 32 h 37"/>
                <a:gd name="T46" fmla="*/ 84 w 90"/>
                <a:gd name="T47" fmla="*/ 34 h 37"/>
                <a:gd name="T48" fmla="*/ 90 w 90"/>
                <a:gd name="T4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37">
                  <a:moveTo>
                    <a:pt x="90" y="37"/>
                  </a:moveTo>
                  <a:lnTo>
                    <a:pt x="87" y="34"/>
                  </a:lnTo>
                  <a:lnTo>
                    <a:pt x="84" y="30"/>
                  </a:lnTo>
                  <a:lnTo>
                    <a:pt x="78" y="26"/>
                  </a:lnTo>
                  <a:lnTo>
                    <a:pt x="74" y="20"/>
                  </a:lnTo>
                  <a:lnTo>
                    <a:pt x="68" y="16"/>
                  </a:lnTo>
                  <a:lnTo>
                    <a:pt x="61" y="10"/>
                  </a:lnTo>
                  <a:lnTo>
                    <a:pt x="54" y="5"/>
                  </a:lnTo>
                  <a:lnTo>
                    <a:pt x="47" y="0"/>
                  </a:lnTo>
                  <a:lnTo>
                    <a:pt x="43" y="0"/>
                  </a:lnTo>
                  <a:lnTo>
                    <a:pt x="37" y="0"/>
                  </a:lnTo>
                  <a:lnTo>
                    <a:pt x="30" y="0"/>
                  </a:lnTo>
                  <a:lnTo>
                    <a:pt x="23" y="0"/>
                  </a:lnTo>
                  <a:lnTo>
                    <a:pt x="16" y="0"/>
                  </a:lnTo>
                  <a:lnTo>
                    <a:pt x="9" y="0"/>
                  </a:lnTo>
                  <a:lnTo>
                    <a:pt x="4" y="2"/>
                  </a:lnTo>
                  <a:lnTo>
                    <a:pt x="0" y="2"/>
                  </a:lnTo>
                  <a:lnTo>
                    <a:pt x="12" y="6"/>
                  </a:lnTo>
                  <a:lnTo>
                    <a:pt x="24" y="10"/>
                  </a:lnTo>
                  <a:lnTo>
                    <a:pt x="37" y="16"/>
                  </a:lnTo>
                  <a:lnTo>
                    <a:pt x="51" y="22"/>
                  </a:lnTo>
                  <a:lnTo>
                    <a:pt x="63" y="26"/>
                  </a:lnTo>
                  <a:lnTo>
                    <a:pt x="74" y="32"/>
                  </a:lnTo>
                  <a:lnTo>
                    <a:pt x="84" y="34"/>
                  </a:lnTo>
                  <a:lnTo>
                    <a:pt x="90" y="37"/>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5" name="Freeform 59"/>
            <p:cNvSpPr>
              <a:spLocks/>
            </p:cNvSpPr>
            <p:nvPr/>
          </p:nvSpPr>
          <p:spPr bwMode="auto">
            <a:xfrm>
              <a:off x="3692" y="2846"/>
              <a:ext cx="49" cy="49"/>
            </a:xfrm>
            <a:custGeom>
              <a:avLst/>
              <a:gdLst>
                <a:gd name="T0" fmla="*/ 71 w 148"/>
                <a:gd name="T1" fmla="*/ 95 h 146"/>
                <a:gd name="T2" fmla="*/ 84 w 148"/>
                <a:gd name="T3" fmla="*/ 104 h 146"/>
                <a:gd name="T4" fmla="*/ 95 w 148"/>
                <a:gd name="T5" fmla="*/ 111 h 146"/>
                <a:gd name="T6" fmla="*/ 107 w 148"/>
                <a:gd name="T7" fmla="*/ 118 h 146"/>
                <a:gd name="T8" fmla="*/ 117 w 148"/>
                <a:gd name="T9" fmla="*/ 125 h 146"/>
                <a:gd name="T10" fmla="*/ 126 w 148"/>
                <a:gd name="T11" fmla="*/ 132 h 146"/>
                <a:gd name="T12" fmla="*/ 135 w 148"/>
                <a:gd name="T13" fmla="*/ 138 h 146"/>
                <a:gd name="T14" fmla="*/ 142 w 148"/>
                <a:gd name="T15" fmla="*/ 142 h 146"/>
                <a:gd name="T16" fmla="*/ 148 w 148"/>
                <a:gd name="T17" fmla="*/ 146 h 146"/>
                <a:gd name="T18" fmla="*/ 128 w 148"/>
                <a:gd name="T19" fmla="*/ 130 h 146"/>
                <a:gd name="T20" fmla="*/ 107 w 148"/>
                <a:gd name="T21" fmla="*/ 109 h 146"/>
                <a:gd name="T22" fmla="*/ 82 w 148"/>
                <a:gd name="T23" fmla="*/ 85 h 146"/>
                <a:gd name="T24" fmla="*/ 58 w 148"/>
                <a:gd name="T25" fmla="*/ 60 h 146"/>
                <a:gd name="T26" fmla="*/ 37 w 148"/>
                <a:gd name="T27" fmla="*/ 37 h 146"/>
                <a:gd name="T28" fmla="*/ 19 w 148"/>
                <a:gd name="T29" fmla="*/ 17 h 146"/>
                <a:gd name="T30" fmla="*/ 6 w 148"/>
                <a:gd name="T31" fmla="*/ 4 h 146"/>
                <a:gd name="T32" fmla="*/ 0 w 148"/>
                <a:gd name="T33" fmla="*/ 0 h 146"/>
                <a:gd name="T34" fmla="*/ 2 w 148"/>
                <a:gd name="T35" fmla="*/ 4 h 146"/>
                <a:gd name="T36" fmla="*/ 7 w 148"/>
                <a:gd name="T37" fmla="*/ 13 h 146"/>
                <a:gd name="T38" fmla="*/ 16 w 148"/>
                <a:gd name="T39" fmla="*/ 27 h 146"/>
                <a:gd name="T40" fmla="*/ 27 w 148"/>
                <a:gd name="T41" fmla="*/ 43 h 146"/>
                <a:gd name="T42" fmla="*/ 39 w 148"/>
                <a:gd name="T43" fmla="*/ 58 h 146"/>
                <a:gd name="T44" fmla="*/ 51 w 148"/>
                <a:gd name="T45" fmla="*/ 74 h 146"/>
                <a:gd name="T46" fmla="*/ 61 w 148"/>
                <a:gd name="T47" fmla="*/ 87 h 146"/>
                <a:gd name="T48" fmla="*/ 71 w 148"/>
                <a:gd name="T49" fmla="*/ 9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8" h="146">
                  <a:moveTo>
                    <a:pt x="71" y="95"/>
                  </a:moveTo>
                  <a:lnTo>
                    <a:pt x="84" y="104"/>
                  </a:lnTo>
                  <a:lnTo>
                    <a:pt x="95" y="111"/>
                  </a:lnTo>
                  <a:lnTo>
                    <a:pt x="107" y="118"/>
                  </a:lnTo>
                  <a:lnTo>
                    <a:pt x="117" y="125"/>
                  </a:lnTo>
                  <a:lnTo>
                    <a:pt x="126" y="132"/>
                  </a:lnTo>
                  <a:lnTo>
                    <a:pt x="135" y="138"/>
                  </a:lnTo>
                  <a:lnTo>
                    <a:pt x="142" y="142"/>
                  </a:lnTo>
                  <a:lnTo>
                    <a:pt x="148" y="146"/>
                  </a:lnTo>
                  <a:lnTo>
                    <a:pt x="128" y="130"/>
                  </a:lnTo>
                  <a:lnTo>
                    <a:pt x="107" y="109"/>
                  </a:lnTo>
                  <a:lnTo>
                    <a:pt x="82" y="85"/>
                  </a:lnTo>
                  <a:lnTo>
                    <a:pt x="58" y="60"/>
                  </a:lnTo>
                  <a:lnTo>
                    <a:pt x="37" y="37"/>
                  </a:lnTo>
                  <a:lnTo>
                    <a:pt x="19" y="17"/>
                  </a:lnTo>
                  <a:lnTo>
                    <a:pt x="6" y="4"/>
                  </a:lnTo>
                  <a:lnTo>
                    <a:pt x="0" y="0"/>
                  </a:lnTo>
                  <a:lnTo>
                    <a:pt x="2" y="4"/>
                  </a:lnTo>
                  <a:lnTo>
                    <a:pt x="7" y="13"/>
                  </a:lnTo>
                  <a:lnTo>
                    <a:pt x="16" y="27"/>
                  </a:lnTo>
                  <a:lnTo>
                    <a:pt x="27" y="43"/>
                  </a:lnTo>
                  <a:lnTo>
                    <a:pt x="39" y="58"/>
                  </a:lnTo>
                  <a:lnTo>
                    <a:pt x="51" y="74"/>
                  </a:lnTo>
                  <a:lnTo>
                    <a:pt x="61" y="87"/>
                  </a:lnTo>
                  <a:lnTo>
                    <a:pt x="71" y="9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6" name="Freeform 60"/>
            <p:cNvSpPr>
              <a:spLocks/>
            </p:cNvSpPr>
            <p:nvPr/>
          </p:nvSpPr>
          <p:spPr bwMode="auto">
            <a:xfrm>
              <a:off x="3415" y="2683"/>
              <a:ext cx="50" cy="68"/>
            </a:xfrm>
            <a:custGeom>
              <a:avLst/>
              <a:gdLst>
                <a:gd name="T0" fmla="*/ 37 w 151"/>
                <a:gd name="T1" fmla="*/ 0 h 203"/>
                <a:gd name="T2" fmla="*/ 38 w 151"/>
                <a:gd name="T3" fmla="*/ 21 h 203"/>
                <a:gd name="T4" fmla="*/ 45 w 151"/>
                <a:gd name="T5" fmla="*/ 45 h 203"/>
                <a:gd name="T6" fmla="*/ 56 w 151"/>
                <a:gd name="T7" fmla="*/ 71 h 203"/>
                <a:gd name="T8" fmla="*/ 75 w 151"/>
                <a:gd name="T9" fmla="*/ 91 h 203"/>
                <a:gd name="T10" fmla="*/ 86 w 151"/>
                <a:gd name="T11" fmla="*/ 99 h 203"/>
                <a:gd name="T12" fmla="*/ 99 w 151"/>
                <a:gd name="T13" fmla="*/ 110 h 203"/>
                <a:gd name="T14" fmla="*/ 112 w 151"/>
                <a:gd name="T15" fmla="*/ 123 h 203"/>
                <a:gd name="T16" fmla="*/ 123 w 151"/>
                <a:gd name="T17" fmla="*/ 136 h 203"/>
                <a:gd name="T18" fmla="*/ 133 w 151"/>
                <a:gd name="T19" fmla="*/ 150 h 203"/>
                <a:gd name="T20" fmla="*/ 141 w 151"/>
                <a:gd name="T21" fmla="*/ 164 h 203"/>
                <a:gd name="T22" fmla="*/ 149 w 151"/>
                <a:gd name="T23" fmla="*/ 179 h 203"/>
                <a:gd name="T24" fmla="*/ 151 w 151"/>
                <a:gd name="T25" fmla="*/ 193 h 203"/>
                <a:gd name="T26" fmla="*/ 141 w 151"/>
                <a:gd name="T27" fmla="*/ 180 h 203"/>
                <a:gd name="T28" fmla="*/ 130 w 151"/>
                <a:gd name="T29" fmla="*/ 167 h 203"/>
                <a:gd name="T30" fmla="*/ 120 w 151"/>
                <a:gd name="T31" fmla="*/ 156 h 203"/>
                <a:gd name="T32" fmla="*/ 109 w 151"/>
                <a:gd name="T33" fmla="*/ 147 h 203"/>
                <a:gd name="T34" fmla="*/ 100 w 151"/>
                <a:gd name="T35" fmla="*/ 139 h 203"/>
                <a:gd name="T36" fmla="*/ 92 w 151"/>
                <a:gd name="T37" fmla="*/ 133 h 203"/>
                <a:gd name="T38" fmla="*/ 86 w 151"/>
                <a:gd name="T39" fmla="*/ 129 h 203"/>
                <a:gd name="T40" fmla="*/ 82 w 151"/>
                <a:gd name="T41" fmla="*/ 128 h 203"/>
                <a:gd name="T42" fmla="*/ 79 w 151"/>
                <a:gd name="T43" fmla="*/ 128 h 203"/>
                <a:gd name="T44" fmla="*/ 75 w 151"/>
                <a:gd name="T45" fmla="*/ 128 h 203"/>
                <a:gd name="T46" fmla="*/ 71 w 151"/>
                <a:gd name="T47" fmla="*/ 130 h 203"/>
                <a:gd name="T48" fmla="*/ 65 w 151"/>
                <a:gd name="T49" fmla="*/ 133 h 203"/>
                <a:gd name="T50" fmla="*/ 59 w 151"/>
                <a:gd name="T51" fmla="*/ 140 h 203"/>
                <a:gd name="T52" fmla="*/ 54 w 151"/>
                <a:gd name="T53" fmla="*/ 150 h 203"/>
                <a:gd name="T54" fmla="*/ 46 w 151"/>
                <a:gd name="T55" fmla="*/ 159 h 203"/>
                <a:gd name="T56" fmla="*/ 42 w 151"/>
                <a:gd name="T57" fmla="*/ 163 h 203"/>
                <a:gd name="T58" fmla="*/ 38 w 151"/>
                <a:gd name="T59" fmla="*/ 173 h 203"/>
                <a:gd name="T60" fmla="*/ 35 w 151"/>
                <a:gd name="T61" fmla="*/ 184 h 203"/>
                <a:gd name="T62" fmla="*/ 34 w 151"/>
                <a:gd name="T63" fmla="*/ 194 h 203"/>
                <a:gd name="T64" fmla="*/ 35 w 151"/>
                <a:gd name="T65" fmla="*/ 203 h 203"/>
                <a:gd name="T66" fmla="*/ 17 w 151"/>
                <a:gd name="T67" fmla="*/ 173 h 203"/>
                <a:gd name="T68" fmla="*/ 5 w 151"/>
                <a:gd name="T69" fmla="*/ 140 h 203"/>
                <a:gd name="T70" fmla="*/ 1 w 151"/>
                <a:gd name="T71" fmla="*/ 110 h 203"/>
                <a:gd name="T72" fmla="*/ 0 w 151"/>
                <a:gd name="T73" fmla="*/ 86 h 203"/>
                <a:gd name="T74" fmla="*/ 4 w 151"/>
                <a:gd name="T75" fmla="*/ 59 h 203"/>
                <a:gd name="T76" fmla="*/ 14 w 151"/>
                <a:gd name="T77" fmla="*/ 28 h 203"/>
                <a:gd name="T78" fmla="*/ 25 w 151"/>
                <a:gd name="T79" fmla="*/ 4 h 203"/>
                <a:gd name="T80" fmla="*/ 37 w 151"/>
                <a:gd name="T81"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1" h="203">
                  <a:moveTo>
                    <a:pt x="37" y="0"/>
                  </a:moveTo>
                  <a:lnTo>
                    <a:pt x="38" y="21"/>
                  </a:lnTo>
                  <a:lnTo>
                    <a:pt x="45" y="45"/>
                  </a:lnTo>
                  <a:lnTo>
                    <a:pt x="56" y="71"/>
                  </a:lnTo>
                  <a:lnTo>
                    <a:pt x="75" y="91"/>
                  </a:lnTo>
                  <a:lnTo>
                    <a:pt x="86" y="99"/>
                  </a:lnTo>
                  <a:lnTo>
                    <a:pt x="99" y="110"/>
                  </a:lnTo>
                  <a:lnTo>
                    <a:pt x="112" y="123"/>
                  </a:lnTo>
                  <a:lnTo>
                    <a:pt x="123" y="136"/>
                  </a:lnTo>
                  <a:lnTo>
                    <a:pt x="133" y="150"/>
                  </a:lnTo>
                  <a:lnTo>
                    <a:pt x="141" y="164"/>
                  </a:lnTo>
                  <a:lnTo>
                    <a:pt x="149" y="179"/>
                  </a:lnTo>
                  <a:lnTo>
                    <a:pt x="151" y="193"/>
                  </a:lnTo>
                  <a:lnTo>
                    <a:pt x="141" y="180"/>
                  </a:lnTo>
                  <a:lnTo>
                    <a:pt x="130" y="167"/>
                  </a:lnTo>
                  <a:lnTo>
                    <a:pt x="120" y="156"/>
                  </a:lnTo>
                  <a:lnTo>
                    <a:pt x="109" y="147"/>
                  </a:lnTo>
                  <a:lnTo>
                    <a:pt x="100" y="139"/>
                  </a:lnTo>
                  <a:lnTo>
                    <a:pt x="92" y="133"/>
                  </a:lnTo>
                  <a:lnTo>
                    <a:pt x="86" y="129"/>
                  </a:lnTo>
                  <a:lnTo>
                    <a:pt x="82" y="128"/>
                  </a:lnTo>
                  <a:lnTo>
                    <a:pt x="79" y="128"/>
                  </a:lnTo>
                  <a:lnTo>
                    <a:pt x="75" y="128"/>
                  </a:lnTo>
                  <a:lnTo>
                    <a:pt x="71" y="130"/>
                  </a:lnTo>
                  <a:lnTo>
                    <a:pt x="65" y="133"/>
                  </a:lnTo>
                  <a:lnTo>
                    <a:pt x="59" y="140"/>
                  </a:lnTo>
                  <a:lnTo>
                    <a:pt x="54" y="150"/>
                  </a:lnTo>
                  <a:lnTo>
                    <a:pt x="46" y="159"/>
                  </a:lnTo>
                  <a:lnTo>
                    <a:pt x="42" y="163"/>
                  </a:lnTo>
                  <a:lnTo>
                    <a:pt x="38" y="173"/>
                  </a:lnTo>
                  <a:lnTo>
                    <a:pt x="35" y="184"/>
                  </a:lnTo>
                  <a:lnTo>
                    <a:pt x="34" y="194"/>
                  </a:lnTo>
                  <a:lnTo>
                    <a:pt x="35" y="203"/>
                  </a:lnTo>
                  <a:lnTo>
                    <a:pt x="17" y="173"/>
                  </a:lnTo>
                  <a:lnTo>
                    <a:pt x="5" y="140"/>
                  </a:lnTo>
                  <a:lnTo>
                    <a:pt x="1" y="110"/>
                  </a:lnTo>
                  <a:lnTo>
                    <a:pt x="0" y="86"/>
                  </a:lnTo>
                  <a:lnTo>
                    <a:pt x="4" y="59"/>
                  </a:lnTo>
                  <a:lnTo>
                    <a:pt x="14" y="28"/>
                  </a:lnTo>
                  <a:lnTo>
                    <a:pt x="25" y="4"/>
                  </a:lnTo>
                  <a:lnTo>
                    <a:pt x="37"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7" name="Freeform 61"/>
            <p:cNvSpPr>
              <a:spLocks/>
            </p:cNvSpPr>
            <p:nvPr/>
          </p:nvSpPr>
          <p:spPr bwMode="auto">
            <a:xfrm>
              <a:off x="3560" y="2152"/>
              <a:ext cx="295" cy="560"/>
            </a:xfrm>
            <a:custGeom>
              <a:avLst/>
              <a:gdLst>
                <a:gd name="T0" fmla="*/ 287 w 884"/>
                <a:gd name="T1" fmla="*/ 1089 h 1681"/>
                <a:gd name="T2" fmla="*/ 334 w 884"/>
                <a:gd name="T3" fmla="*/ 1301 h 1681"/>
                <a:gd name="T4" fmla="*/ 365 w 884"/>
                <a:gd name="T5" fmla="*/ 1480 h 1681"/>
                <a:gd name="T6" fmla="*/ 386 w 884"/>
                <a:gd name="T7" fmla="*/ 1534 h 1681"/>
                <a:gd name="T8" fmla="*/ 423 w 884"/>
                <a:gd name="T9" fmla="*/ 1569 h 1681"/>
                <a:gd name="T10" fmla="*/ 452 w 884"/>
                <a:gd name="T11" fmla="*/ 1628 h 1681"/>
                <a:gd name="T12" fmla="*/ 476 w 884"/>
                <a:gd name="T13" fmla="*/ 1671 h 1681"/>
                <a:gd name="T14" fmla="*/ 513 w 884"/>
                <a:gd name="T15" fmla="*/ 1649 h 1681"/>
                <a:gd name="T16" fmla="*/ 593 w 884"/>
                <a:gd name="T17" fmla="*/ 1576 h 1681"/>
                <a:gd name="T18" fmla="*/ 605 w 884"/>
                <a:gd name="T19" fmla="*/ 1416 h 1681"/>
                <a:gd name="T20" fmla="*/ 545 w 884"/>
                <a:gd name="T21" fmla="*/ 1318 h 1681"/>
                <a:gd name="T22" fmla="*/ 504 w 884"/>
                <a:gd name="T23" fmla="*/ 1246 h 1681"/>
                <a:gd name="T24" fmla="*/ 408 w 884"/>
                <a:gd name="T25" fmla="*/ 981 h 1681"/>
                <a:gd name="T26" fmla="*/ 284 w 884"/>
                <a:gd name="T27" fmla="*/ 712 h 1681"/>
                <a:gd name="T28" fmla="*/ 332 w 884"/>
                <a:gd name="T29" fmla="*/ 587 h 1681"/>
                <a:gd name="T30" fmla="*/ 386 w 884"/>
                <a:gd name="T31" fmla="*/ 468 h 1681"/>
                <a:gd name="T32" fmla="*/ 483 w 884"/>
                <a:gd name="T33" fmla="*/ 444 h 1681"/>
                <a:gd name="T34" fmla="*/ 595 w 884"/>
                <a:gd name="T35" fmla="*/ 479 h 1681"/>
                <a:gd name="T36" fmla="*/ 640 w 884"/>
                <a:gd name="T37" fmla="*/ 509 h 1681"/>
                <a:gd name="T38" fmla="*/ 697 w 884"/>
                <a:gd name="T39" fmla="*/ 546 h 1681"/>
                <a:gd name="T40" fmla="*/ 775 w 884"/>
                <a:gd name="T41" fmla="*/ 585 h 1681"/>
                <a:gd name="T42" fmla="*/ 813 w 884"/>
                <a:gd name="T43" fmla="*/ 600 h 1681"/>
                <a:gd name="T44" fmla="*/ 853 w 884"/>
                <a:gd name="T45" fmla="*/ 610 h 1681"/>
                <a:gd name="T46" fmla="*/ 880 w 884"/>
                <a:gd name="T47" fmla="*/ 597 h 1681"/>
                <a:gd name="T48" fmla="*/ 874 w 884"/>
                <a:gd name="T49" fmla="*/ 584 h 1681"/>
                <a:gd name="T50" fmla="*/ 856 w 884"/>
                <a:gd name="T51" fmla="*/ 573 h 1681"/>
                <a:gd name="T52" fmla="*/ 839 w 884"/>
                <a:gd name="T53" fmla="*/ 512 h 1681"/>
                <a:gd name="T54" fmla="*/ 852 w 884"/>
                <a:gd name="T55" fmla="*/ 471 h 1681"/>
                <a:gd name="T56" fmla="*/ 779 w 884"/>
                <a:gd name="T57" fmla="*/ 388 h 1681"/>
                <a:gd name="T58" fmla="*/ 703 w 884"/>
                <a:gd name="T59" fmla="*/ 315 h 1681"/>
                <a:gd name="T60" fmla="*/ 676 w 884"/>
                <a:gd name="T61" fmla="*/ 299 h 1681"/>
                <a:gd name="T62" fmla="*/ 608 w 884"/>
                <a:gd name="T63" fmla="*/ 251 h 1681"/>
                <a:gd name="T64" fmla="*/ 498 w 884"/>
                <a:gd name="T65" fmla="*/ 166 h 1681"/>
                <a:gd name="T66" fmla="*/ 460 w 884"/>
                <a:gd name="T67" fmla="*/ 143 h 1681"/>
                <a:gd name="T68" fmla="*/ 423 w 884"/>
                <a:gd name="T69" fmla="*/ 120 h 1681"/>
                <a:gd name="T70" fmla="*/ 409 w 884"/>
                <a:gd name="T71" fmla="*/ 102 h 1681"/>
                <a:gd name="T72" fmla="*/ 399 w 884"/>
                <a:gd name="T73" fmla="*/ 76 h 1681"/>
                <a:gd name="T74" fmla="*/ 362 w 884"/>
                <a:gd name="T75" fmla="*/ 57 h 1681"/>
                <a:gd name="T76" fmla="*/ 339 w 884"/>
                <a:gd name="T77" fmla="*/ 34 h 1681"/>
                <a:gd name="T78" fmla="*/ 307 w 884"/>
                <a:gd name="T79" fmla="*/ 28 h 1681"/>
                <a:gd name="T80" fmla="*/ 288 w 884"/>
                <a:gd name="T81" fmla="*/ 35 h 1681"/>
                <a:gd name="T82" fmla="*/ 278 w 884"/>
                <a:gd name="T83" fmla="*/ 28 h 1681"/>
                <a:gd name="T84" fmla="*/ 222 w 884"/>
                <a:gd name="T85" fmla="*/ 44 h 1681"/>
                <a:gd name="T86" fmla="*/ 182 w 884"/>
                <a:gd name="T87" fmla="*/ 50 h 1681"/>
                <a:gd name="T88" fmla="*/ 128 w 884"/>
                <a:gd name="T89" fmla="*/ 27 h 1681"/>
                <a:gd name="T90" fmla="*/ 97 w 884"/>
                <a:gd name="T91" fmla="*/ 10 h 1681"/>
                <a:gd name="T92" fmla="*/ 98 w 884"/>
                <a:gd name="T93" fmla="*/ 52 h 1681"/>
                <a:gd name="T94" fmla="*/ 46 w 884"/>
                <a:gd name="T95" fmla="*/ 147 h 1681"/>
                <a:gd name="T96" fmla="*/ 0 w 884"/>
                <a:gd name="T97" fmla="*/ 418 h 1681"/>
                <a:gd name="T98" fmla="*/ 47 w 884"/>
                <a:gd name="T99" fmla="*/ 665 h 1681"/>
                <a:gd name="T100" fmla="*/ 107 w 884"/>
                <a:gd name="T101" fmla="*/ 724 h 1681"/>
                <a:gd name="T102" fmla="*/ 161 w 884"/>
                <a:gd name="T103" fmla="*/ 778 h 1681"/>
                <a:gd name="T104" fmla="*/ 225 w 884"/>
                <a:gd name="T105" fmla="*/ 863 h 1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84" h="1681">
                  <a:moveTo>
                    <a:pt x="225" y="863"/>
                  </a:moveTo>
                  <a:lnTo>
                    <a:pt x="237" y="902"/>
                  </a:lnTo>
                  <a:lnTo>
                    <a:pt x="253" y="957"/>
                  </a:lnTo>
                  <a:lnTo>
                    <a:pt x="270" y="1021"/>
                  </a:lnTo>
                  <a:lnTo>
                    <a:pt x="287" y="1089"/>
                  </a:lnTo>
                  <a:lnTo>
                    <a:pt x="303" y="1154"/>
                  </a:lnTo>
                  <a:lnTo>
                    <a:pt x="317" y="1212"/>
                  </a:lnTo>
                  <a:lnTo>
                    <a:pt x="327" y="1256"/>
                  </a:lnTo>
                  <a:lnTo>
                    <a:pt x="331" y="1282"/>
                  </a:lnTo>
                  <a:lnTo>
                    <a:pt x="334" y="1301"/>
                  </a:lnTo>
                  <a:lnTo>
                    <a:pt x="338" y="1331"/>
                  </a:lnTo>
                  <a:lnTo>
                    <a:pt x="344" y="1367"/>
                  </a:lnTo>
                  <a:lnTo>
                    <a:pt x="351" y="1405"/>
                  </a:lnTo>
                  <a:lnTo>
                    <a:pt x="358" y="1445"/>
                  </a:lnTo>
                  <a:lnTo>
                    <a:pt x="365" y="1480"/>
                  </a:lnTo>
                  <a:lnTo>
                    <a:pt x="372" y="1510"/>
                  </a:lnTo>
                  <a:lnTo>
                    <a:pt x="378" y="1530"/>
                  </a:lnTo>
                  <a:lnTo>
                    <a:pt x="381" y="1531"/>
                  </a:lnTo>
                  <a:lnTo>
                    <a:pt x="383" y="1533"/>
                  </a:lnTo>
                  <a:lnTo>
                    <a:pt x="386" y="1534"/>
                  </a:lnTo>
                  <a:lnTo>
                    <a:pt x="389" y="1537"/>
                  </a:lnTo>
                  <a:lnTo>
                    <a:pt x="398" y="1542"/>
                  </a:lnTo>
                  <a:lnTo>
                    <a:pt x="406" y="1551"/>
                  </a:lnTo>
                  <a:lnTo>
                    <a:pt x="415" y="1559"/>
                  </a:lnTo>
                  <a:lnTo>
                    <a:pt x="423" y="1569"/>
                  </a:lnTo>
                  <a:lnTo>
                    <a:pt x="430" y="1581"/>
                  </a:lnTo>
                  <a:lnTo>
                    <a:pt x="437" y="1592"/>
                  </a:lnTo>
                  <a:lnTo>
                    <a:pt x="443" y="1603"/>
                  </a:lnTo>
                  <a:lnTo>
                    <a:pt x="447" y="1615"/>
                  </a:lnTo>
                  <a:lnTo>
                    <a:pt x="452" y="1628"/>
                  </a:lnTo>
                  <a:lnTo>
                    <a:pt x="456" y="1639"/>
                  </a:lnTo>
                  <a:lnTo>
                    <a:pt x="460" y="1649"/>
                  </a:lnTo>
                  <a:lnTo>
                    <a:pt x="464" y="1657"/>
                  </a:lnTo>
                  <a:lnTo>
                    <a:pt x="470" y="1666"/>
                  </a:lnTo>
                  <a:lnTo>
                    <a:pt x="476" y="1671"/>
                  </a:lnTo>
                  <a:lnTo>
                    <a:pt x="483" y="1677"/>
                  </a:lnTo>
                  <a:lnTo>
                    <a:pt x="491" y="1681"/>
                  </a:lnTo>
                  <a:lnTo>
                    <a:pt x="491" y="1673"/>
                  </a:lnTo>
                  <a:lnTo>
                    <a:pt x="500" y="1662"/>
                  </a:lnTo>
                  <a:lnTo>
                    <a:pt x="513" y="1649"/>
                  </a:lnTo>
                  <a:lnTo>
                    <a:pt x="530" y="1635"/>
                  </a:lnTo>
                  <a:lnTo>
                    <a:pt x="548" y="1620"/>
                  </a:lnTo>
                  <a:lnTo>
                    <a:pt x="566" y="1605"/>
                  </a:lnTo>
                  <a:lnTo>
                    <a:pt x="582" y="1591"/>
                  </a:lnTo>
                  <a:lnTo>
                    <a:pt x="593" y="1576"/>
                  </a:lnTo>
                  <a:lnTo>
                    <a:pt x="603" y="1545"/>
                  </a:lnTo>
                  <a:lnTo>
                    <a:pt x="608" y="1498"/>
                  </a:lnTo>
                  <a:lnTo>
                    <a:pt x="609" y="1455"/>
                  </a:lnTo>
                  <a:lnTo>
                    <a:pt x="608" y="1426"/>
                  </a:lnTo>
                  <a:lnTo>
                    <a:pt x="605" y="1416"/>
                  </a:lnTo>
                  <a:lnTo>
                    <a:pt x="596" y="1399"/>
                  </a:lnTo>
                  <a:lnTo>
                    <a:pt x="585" y="1381"/>
                  </a:lnTo>
                  <a:lnTo>
                    <a:pt x="572" y="1360"/>
                  </a:lnTo>
                  <a:lnTo>
                    <a:pt x="558" y="1338"/>
                  </a:lnTo>
                  <a:lnTo>
                    <a:pt x="545" y="1318"/>
                  </a:lnTo>
                  <a:lnTo>
                    <a:pt x="534" y="1303"/>
                  </a:lnTo>
                  <a:lnTo>
                    <a:pt x="527" y="1292"/>
                  </a:lnTo>
                  <a:lnTo>
                    <a:pt x="518" y="1277"/>
                  </a:lnTo>
                  <a:lnTo>
                    <a:pt x="511" y="1263"/>
                  </a:lnTo>
                  <a:lnTo>
                    <a:pt x="504" y="1246"/>
                  </a:lnTo>
                  <a:lnTo>
                    <a:pt x="497" y="1222"/>
                  </a:lnTo>
                  <a:lnTo>
                    <a:pt x="486" y="1187"/>
                  </a:lnTo>
                  <a:lnTo>
                    <a:pt x="466" y="1130"/>
                  </a:lnTo>
                  <a:lnTo>
                    <a:pt x="439" y="1059"/>
                  </a:lnTo>
                  <a:lnTo>
                    <a:pt x="408" y="981"/>
                  </a:lnTo>
                  <a:lnTo>
                    <a:pt x="374" y="902"/>
                  </a:lnTo>
                  <a:lnTo>
                    <a:pt x="341" y="829"/>
                  </a:lnTo>
                  <a:lnTo>
                    <a:pt x="313" y="768"/>
                  </a:lnTo>
                  <a:lnTo>
                    <a:pt x="288" y="727"/>
                  </a:lnTo>
                  <a:lnTo>
                    <a:pt x="284" y="712"/>
                  </a:lnTo>
                  <a:lnTo>
                    <a:pt x="287" y="690"/>
                  </a:lnTo>
                  <a:lnTo>
                    <a:pt x="294" y="665"/>
                  </a:lnTo>
                  <a:lnTo>
                    <a:pt x="305" y="636"/>
                  </a:lnTo>
                  <a:lnTo>
                    <a:pt x="318" y="611"/>
                  </a:lnTo>
                  <a:lnTo>
                    <a:pt x="332" y="587"/>
                  </a:lnTo>
                  <a:lnTo>
                    <a:pt x="344" y="567"/>
                  </a:lnTo>
                  <a:lnTo>
                    <a:pt x="351" y="556"/>
                  </a:lnTo>
                  <a:lnTo>
                    <a:pt x="362" y="536"/>
                  </a:lnTo>
                  <a:lnTo>
                    <a:pt x="375" y="505"/>
                  </a:lnTo>
                  <a:lnTo>
                    <a:pt x="386" y="468"/>
                  </a:lnTo>
                  <a:lnTo>
                    <a:pt x="391" y="427"/>
                  </a:lnTo>
                  <a:lnTo>
                    <a:pt x="405" y="425"/>
                  </a:lnTo>
                  <a:lnTo>
                    <a:pt x="427" y="429"/>
                  </a:lnTo>
                  <a:lnTo>
                    <a:pt x="453" y="435"/>
                  </a:lnTo>
                  <a:lnTo>
                    <a:pt x="483" y="444"/>
                  </a:lnTo>
                  <a:lnTo>
                    <a:pt x="513" y="454"/>
                  </a:lnTo>
                  <a:lnTo>
                    <a:pt x="542" y="462"/>
                  </a:lnTo>
                  <a:lnTo>
                    <a:pt x="568" y="471"/>
                  </a:lnTo>
                  <a:lnTo>
                    <a:pt x="589" y="475"/>
                  </a:lnTo>
                  <a:lnTo>
                    <a:pt x="595" y="479"/>
                  </a:lnTo>
                  <a:lnTo>
                    <a:pt x="602" y="485"/>
                  </a:lnTo>
                  <a:lnTo>
                    <a:pt x="610" y="490"/>
                  </a:lnTo>
                  <a:lnTo>
                    <a:pt x="620" y="496"/>
                  </a:lnTo>
                  <a:lnTo>
                    <a:pt x="630" y="502"/>
                  </a:lnTo>
                  <a:lnTo>
                    <a:pt x="640" y="509"/>
                  </a:lnTo>
                  <a:lnTo>
                    <a:pt x="649" y="515"/>
                  </a:lnTo>
                  <a:lnTo>
                    <a:pt x="657" y="520"/>
                  </a:lnTo>
                  <a:lnTo>
                    <a:pt x="667" y="527"/>
                  </a:lnTo>
                  <a:lnTo>
                    <a:pt x="680" y="536"/>
                  </a:lnTo>
                  <a:lnTo>
                    <a:pt x="697" y="546"/>
                  </a:lnTo>
                  <a:lnTo>
                    <a:pt x="714" y="556"/>
                  </a:lnTo>
                  <a:lnTo>
                    <a:pt x="732" y="566"/>
                  </a:lnTo>
                  <a:lnTo>
                    <a:pt x="749" y="576"/>
                  </a:lnTo>
                  <a:lnTo>
                    <a:pt x="764" y="581"/>
                  </a:lnTo>
                  <a:lnTo>
                    <a:pt x="775" y="585"/>
                  </a:lnTo>
                  <a:lnTo>
                    <a:pt x="781" y="587"/>
                  </a:lnTo>
                  <a:lnTo>
                    <a:pt x="788" y="588"/>
                  </a:lnTo>
                  <a:lnTo>
                    <a:pt x="795" y="593"/>
                  </a:lnTo>
                  <a:lnTo>
                    <a:pt x="805" y="595"/>
                  </a:lnTo>
                  <a:lnTo>
                    <a:pt x="813" y="600"/>
                  </a:lnTo>
                  <a:lnTo>
                    <a:pt x="823" y="602"/>
                  </a:lnTo>
                  <a:lnTo>
                    <a:pt x="832" y="605"/>
                  </a:lnTo>
                  <a:lnTo>
                    <a:pt x="840" y="608"/>
                  </a:lnTo>
                  <a:lnTo>
                    <a:pt x="847" y="610"/>
                  </a:lnTo>
                  <a:lnTo>
                    <a:pt x="853" y="610"/>
                  </a:lnTo>
                  <a:lnTo>
                    <a:pt x="860" y="608"/>
                  </a:lnTo>
                  <a:lnTo>
                    <a:pt x="866" y="607"/>
                  </a:lnTo>
                  <a:lnTo>
                    <a:pt x="871" y="604"/>
                  </a:lnTo>
                  <a:lnTo>
                    <a:pt x="876" y="601"/>
                  </a:lnTo>
                  <a:lnTo>
                    <a:pt x="880" y="597"/>
                  </a:lnTo>
                  <a:lnTo>
                    <a:pt x="884" y="593"/>
                  </a:lnTo>
                  <a:lnTo>
                    <a:pt x="881" y="590"/>
                  </a:lnTo>
                  <a:lnTo>
                    <a:pt x="880" y="588"/>
                  </a:lnTo>
                  <a:lnTo>
                    <a:pt x="877" y="585"/>
                  </a:lnTo>
                  <a:lnTo>
                    <a:pt x="874" y="584"/>
                  </a:lnTo>
                  <a:lnTo>
                    <a:pt x="874" y="583"/>
                  </a:lnTo>
                  <a:lnTo>
                    <a:pt x="874" y="580"/>
                  </a:lnTo>
                  <a:lnTo>
                    <a:pt x="874" y="578"/>
                  </a:lnTo>
                  <a:lnTo>
                    <a:pt x="873" y="577"/>
                  </a:lnTo>
                  <a:lnTo>
                    <a:pt x="856" y="573"/>
                  </a:lnTo>
                  <a:lnTo>
                    <a:pt x="844" y="566"/>
                  </a:lnTo>
                  <a:lnTo>
                    <a:pt x="837" y="554"/>
                  </a:lnTo>
                  <a:lnTo>
                    <a:pt x="834" y="540"/>
                  </a:lnTo>
                  <a:lnTo>
                    <a:pt x="834" y="526"/>
                  </a:lnTo>
                  <a:lnTo>
                    <a:pt x="839" y="512"/>
                  </a:lnTo>
                  <a:lnTo>
                    <a:pt x="844" y="499"/>
                  </a:lnTo>
                  <a:lnTo>
                    <a:pt x="853" y="488"/>
                  </a:lnTo>
                  <a:lnTo>
                    <a:pt x="854" y="483"/>
                  </a:lnTo>
                  <a:lnTo>
                    <a:pt x="854" y="476"/>
                  </a:lnTo>
                  <a:lnTo>
                    <a:pt x="852" y="471"/>
                  </a:lnTo>
                  <a:lnTo>
                    <a:pt x="850" y="466"/>
                  </a:lnTo>
                  <a:lnTo>
                    <a:pt x="842" y="455"/>
                  </a:lnTo>
                  <a:lnTo>
                    <a:pt x="825" y="437"/>
                  </a:lnTo>
                  <a:lnTo>
                    <a:pt x="803" y="414"/>
                  </a:lnTo>
                  <a:lnTo>
                    <a:pt x="779" y="388"/>
                  </a:lnTo>
                  <a:lnTo>
                    <a:pt x="754" y="363"/>
                  </a:lnTo>
                  <a:lnTo>
                    <a:pt x="732" y="342"/>
                  </a:lnTo>
                  <a:lnTo>
                    <a:pt x="715" y="325"/>
                  </a:lnTo>
                  <a:lnTo>
                    <a:pt x="707" y="317"/>
                  </a:lnTo>
                  <a:lnTo>
                    <a:pt x="703" y="315"/>
                  </a:lnTo>
                  <a:lnTo>
                    <a:pt x="698" y="312"/>
                  </a:lnTo>
                  <a:lnTo>
                    <a:pt x="693" y="309"/>
                  </a:lnTo>
                  <a:lnTo>
                    <a:pt x="687" y="305"/>
                  </a:lnTo>
                  <a:lnTo>
                    <a:pt x="681" y="302"/>
                  </a:lnTo>
                  <a:lnTo>
                    <a:pt x="676" y="299"/>
                  </a:lnTo>
                  <a:lnTo>
                    <a:pt x="670" y="295"/>
                  </a:lnTo>
                  <a:lnTo>
                    <a:pt x="664" y="292"/>
                  </a:lnTo>
                  <a:lnTo>
                    <a:pt x="653" y="285"/>
                  </a:lnTo>
                  <a:lnTo>
                    <a:pt x="633" y="271"/>
                  </a:lnTo>
                  <a:lnTo>
                    <a:pt x="608" y="251"/>
                  </a:lnTo>
                  <a:lnTo>
                    <a:pt x="579" y="230"/>
                  </a:lnTo>
                  <a:lnTo>
                    <a:pt x="551" y="207"/>
                  </a:lnTo>
                  <a:lnTo>
                    <a:pt x="527" y="188"/>
                  </a:lnTo>
                  <a:lnTo>
                    <a:pt x="508" y="173"/>
                  </a:lnTo>
                  <a:lnTo>
                    <a:pt x="498" y="166"/>
                  </a:lnTo>
                  <a:lnTo>
                    <a:pt x="491" y="159"/>
                  </a:lnTo>
                  <a:lnTo>
                    <a:pt x="483" y="154"/>
                  </a:lnTo>
                  <a:lnTo>
                    <a:pt x="474" y="153"/>
                  </a:lnTo>
                  <a:lnTo>
                    <a:pt x="466" y="152"/>
                  </a:lnTo>
                  <a:lnTo>
                    <a:pt x="460" y="143"/>
                  </a:lnTo>
                  <a:lnTo>
                    <a:pt x="453" y="136"/>
                  </a:lnTo>
                  <a:lnTo>
                    <a:pt x="444" y="130"/>
                  </a:lnTo>
                  <a:lnTo>
                    <a:pt x="437" y="126"/>
                  </a:lnTo>
                  <a:lnTo>
                    <a:pt x="430" y="123"/>
                  </a:lnTo>
                  <a:lnTo>
                    <a:pt x="423" y="120"/>
                  </a:lnTo>
                  <a:lnTo>
                    <a:pt x="416" y="119"/>
                  </a:lnTo>
                  <a:lnTo>
                    <a:pt x="410" y="119"/>
                  </a:lnTo>
                  <a:lnTo>
                    <a:pt x="410" y="113"/>
                  </a:lnTo>
                  <a:lnTo>
                    <a:pt x="409" y="108"/>
                  </a:lnTo>
                  <a:lnTo>
                    <a:pt x="409" y="102"/>
                  </a:lnTo>
                  <a:lnTo>
                    <a:pt x="408" y="96"/>
                  </a:lnTo>
                  <a:lnTo>
                    <a:pt x="406" y="89"/>
                  </a:lnTo>
                  <a:lnTo>
                    <a:pt x="403" y="84"/>
                  </a:lnTo>
                  <a:lnTo>
                    <a:pt x="402" y="79"/>
                  </a:lnTo>
                  <a:lnTo>
                    <a:pt x="399" y="76"/>
                  </a:lnTo>
                  <a:lnTo>
                    <a:pt x="393" y="72"/>
                  </a:lnTo>
                  <a:lnTo>
                    <a:pt x="385" y="68"/>
                  </a:lnTo>
                  <a:lnTo>
                    <a:pt x="375" y="64"/>
                  </a:lnTo>
                  <a:lnTo>
                    <a:pt x="368" y="61"/>
                  </a:lnTo>
                  <a:lnTo>
                    <a:pt x="362" y="57"/>
                  </a:lnTo>
                  <a:lnTo>
                    <a:pt x="357" y="51"/>
                  </a:lnTo>
                  <a:lnTo>
                    <a:pt x="352" y="45"/>
                  </a:lnTo>
                  <a:lnTo>
                    <a:pt x="349" y="40"/>
                  </a:lnTo>
                  <a:lnTo>
                    <a:pt x="345" y="37"/>
                  </a:lnTo>
                  <a:lnTo>
                    <a:pt x="339" y="34"/>
                  </a:lnTo>
                  <a:lnTo>
                    <a:pt x="334" y="31"/>
                  </a:lnTo>
                  <a:lnTo>
                    <a:pt x="327" y="30"/>
                  </a:lnTo>
                  <a:lnTo>
                    <a:pt x="320" y="28"/>
                  </a:lnTo>
                  <a:lnTo>
                    <a:pt x="313" y="28"/>
                  </a:lnTo>
                  <a:lnTo>
                    <a:pt x="307" y="28"/>
                  </a:lnTo>
                  <a:lnTo>
                    <a:pt x="304" y="28"/>
                  </a:lnTo>
                  <a:lnTo>
                    <a:pt x="300" y="30"/>
                  </a:lnTo>
                  <a:lnTo>
                    <a:pt x="297" y="31"/>
                  </a:lnTo>
                  <a:lnTo>
                    <a:pt x="293" y="33"/>
                  </a:lnTo>
                  <a:lnTo>
                    <a:pt x="288" y="35"/>
                  </a:lnTo>
                  <a:lnTo>
                    <a:pt x="288" y="33"/>
                  </a:lnTo>
                  <a:lnTo>
                    <a:pt x="287" y="31"/>
                  </a:lnTo>
                  <a:lnTo>
                    <a:pt x="284" y="28"/>
                  </a:lnTo>
                  <a:lnTo>
                    <a:pt x="284" y="28"/>
                  </a:lnTo>
                  <a:lnTo>
                    <a:pt x="278" y="28"/>
                  </a:lnTo>
                  <a:lnTo>
                    <a:pt x="270" y="31"/>
                  </a:lnTo>
                  <a:lnTo>
                    <a:pt x="259" y="33"/>
                  </a:lnTo>
                  <a:lnTo>
                    <a:pt x="247" y="37"/>
                  </a:lnTo>
                  <a:lnTo>
                    <a:pt x="235" y="40"/>
                  </a:lnTo>
                  <a:lnTo>
                    <a:pt x="222" y="44"/>
                  </a:lnTo>
                  <a:lnTo>
                    <a:pt x="210" y="50"/>
                  </a:lnTo>
                  <a:lnTo>
                    <a:pt x="200" y="54"/>
                  </a:lnTo>
                  <a:lnTo>
                    <a:pt x="195" y="52"/>
                  </a:lnTo>
                  <a:lnTo>
                    <a:pt x="188" y="51"/>
                  </a:lnTo>
                  <a:lnTo>
                    <a:pt x="182" y="50"/>
                  </a:lnTo>
                  <a:lnTo>
                    <a:pt x="175" y="48"/>
                  </a:lnTo>
                  <a:lnTo>
                    <a:pt x="162" y="44"/>
                  </a:lnTo>
                  <a:lnTo>
                    <a:pt x="151" y="38"/>
                  </a:lnTo>
                  <a:lnTo>
                    <a:pt x="139" y="33"/>
                  </a:lnTo>
                  <a:lnTo>
                    <a:pt x="128" y="27"/>
                  </a:lnTo>
                  <a:lnTo>
                    <a:pt x="118" y="20"/>
                  </a:lnTo>
                  <a:lnTo>
                    <a:pt x="108" y="13"/>
                  </a:lnTo>
                  <a:lnTo>
                    <a:pt x="101" y="7"/>
                  </a:lnTo>
                  <a:lnTo>
                    <a:pt x="94" y="0"/>
                  </a:lnTo>
                  <a:lnTo>
                    <a:pt x="97" y="10"/>
                  </a:lnTo>
                  <a:lnTo>
                    <a:pt x="103" y="18"/>
                  </a:lnTo>
                  <a:lnTo>
                    <a:pt x="107" y="28"/>
                  </a:lnTo>
                  <a:lnTo>
                    <a:pt x="108" y="34"/>
                  </a:lnTo>
                  <a:lnTo>
                    <a:pt x="105" y="40"/>
                  </a:lnTo>
                  <a:lnTo>
                    <a:pt x="98" y="52"/>
                  </a:lnTo>
                  <a:lnTo>
                    <a:pt x="88" y="69"/>
                  </a:lnTo>
                  <a:lnTo>
                    <a:pt x="79" y="88"/>
                  </a:lnTo>
                  <a:lnTo>
                    <a:pt x="66" y="109"/>
                  </a:lnTo>
                  <a:lnTo>
                    <a:pt x="56" y="129"/>
                  </a:lnTo>
                  <a:lnTo>
                    <a:pt x="46" y="147"/>
                  </a:lnTo>
                  <a:lnTo>
                    <a:pt x="39" y="160"/>
                  </a:lnTo>
                  <a:lnTo>
                    <a:pt x="23" y="207"/>
                  </a:lnTo>
                  <a:lnTo>
                    <a:pt x="12" y="268"/>
                  </a:lnTo>
                  <a:lnTo>
                    <a:pt x="3" y="340"/>
                  </a:lnTo>
                  <a:lnTo>
                    <a:pt x="0" y="418"/>
                  </a:lnTo>
                  <a:lnTo>
                    <a:pt x="2" y="493"/>
                  </a:lnTo>
                  <a:lnTo>
                    <a:pt x="9" y="563"/>
                  </a:lnTo>
                  <a:lnTo>
                    <a:pt x="22" y="619"/>
                  </a:lnTo>
                  <a:lnTo>
                    <a:pt x="40" y="658"/>
                  </a:lnTo>
                  <a:lnTo>
                    <a:pt x="47" y="665"/>
                  </a:lnTo>
                  <a:lnTo>
                    <a:pt x="56" y="675"/>
                  </a:lnTo>
                  <a:lnTo>
                    <a:pt x="69" y="686"/>
                  </a:lnTo>
                  <a:lnTo>
                    <a:pt x="81" y="699"/>
                  </a:lnTo>
                  <a:lnTo>
                    <a:pt x="94" y="713"/>
                  </a:lnTo>
                  <a:lnTo>
                    <a:pt x="107" y="724"/>
                  </a:lnTo>
                  <a:lnTo>
                    <a:pt x="117" y="734"/>
                  </a:lnTo>
                  <a:lnTo>
                    <a:pt x="125" y="741"/>
                  </a:lnTo>
                  <a:lnTo>
                    <a:pt x="134" y="750"/>
                  </a:lnTo>
                  <a:lnTo>
                    <a:pt x="145" y="763"/>
                  </a:lnTo>
                  <a:lnTo>
                    <a:pt x="161" y="778"/>
                  </a:lnTo>
                  <a:lnTo>
                    <a:pt x="176" y="797"/>
                  </a:lnTo>
                  <a:lnTo>
                    <a:pt x="192" y="817"/>
                  </a:lnTo>
                  <a:lnTo>
                    <a:pt x="206" y="835"/>
                  </a:lnTo>
                  <a:lnTo>
                    <a:pt x="218" y="851"/>
                  </a:lnTo>
                  <a:lnTo>
                    <a:pt x="225" y="86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8" name="Freeform 62"/>
            <p:cNvSpPr>
              <a:spLocks/>
            </p:cNvSpPr>
            <p:nvPr/>
          </p:nvSpPr>
          <p:spPr bwMode="auto">
            <a:xfrm>
              <a:off x="3379" y="2196"/>
              <a:ext cx="130" cy="242"/>
            </a:xfrm>
            <a:custGeom>
              <a:avLst/>
              <a:gdLst>
                <a:gd name="T0" fmla="*/ 384 w 390"/>
                <a:gd name="T1" fmla="*/ 58 h 726"/>
                <a:gd name="T2" fmla="*/ 371 w 390"/>
                <a:gd name="T3" fmla="*/ 157 h 726"/>
                <a:gd name="T4" fmla="*/ 370 w 390"/>
                <a:gd name="T5" fmla="*/ 215 h 726"/>
                <a:gd name="T6" fmla="*/ 370 w 390"/>
                <a:gd name="T7" fmla="*/ 289 h 726"/>
                <a:gd name="T8" fmla="*/ 369 w 390"/>
                <a:gd name="T9" fmla="*/ 332 h 726"/>
                <a:gd name="T10" fmla="*/ 371 w 390"/>
                <a:gd name="T11" fmla="*/ 377 h 726"/>
                <a:gd name="T12" fmla="*/ 370 w 390"/>
                <a:gd name="T13" fmla="*/ 400 h 726"/>
                <a:gd name="T14" fmla="*/ 370 w 390"/>
                <a:gd name="T15" fmla="*/ 417 h 726"/>
                <a:gd name="T16" fmla="*/ 376 w 390"/>
                <a:gd name="T17" fmla="*/ 441 h 726"/>
                <a:gd name="T18" fmla="*/ 371 w 390"/>
                <a:gd name="T19" fmla="*/ 476 h 726"/>
                <a:gd name="T20" fmla="*/ 360 w 390"/>
                <a:gd name="T21" fmla="*/ 507 h 726"/>
                <a:gd name="T22" fmla="*/ 364 w 390"/>
                <a:gd name="T23" fmla="*/ 531 h 726"/>
                <a:gd name="T24" fmla="*/ 360 w 390"/>
                <a:gd name="T25" fmla="*/ 567 h 726"/>
                <a:gd name="T26" fmla="*/ 337 w 390"/>
                <a:gd name="T27" fmla="*/ 621 h 726"/>
                <a:gd name="T28" fmla="*/ 312 w 390"/>
                <a:gd name="T29" fmla="*/ 672 h 726"/>
                <a:gd name="T30" fmla="*/ 293 w 390"/>
                <a:gd name="T31" fmla="*/ 711 h 726"/>
                <a:gd name="T32" fmla="*/ 292 w 390"/>
                <a:gd name="T33" fmla="*/ 697 h 726"/>
                <a:gd name="T34" fmla="*/ 298 w 390"/>
                <a:gd name="T35" fmla="*/ 646 h 726"/>
                <a:gd name="T36" fmla="*/ 303 w 390"/>
                <a:gd name="T37" fmla="*/ 602 h 726"/>
                <a:gd name="T38" fmla="*/ 306 w 390"/>
                <a:gd name="T39" fmla="*/ 534 h 726"/>
                <a:gd name="T40" fmla="*/ 302 w 390"/>
                <a:gd name="T41" fmla="*/ 496 h 726"/>
                <a:gd name="T42" fmla="*/ 301 w 390"/>
                <a:gd name="T43" fmla="*/ 461 h 726"/>
                <a:gd name="T44" fmla="*/ 298 w 390"/>
                <a:gd name="T45" fmla="*/ 442 h 726"/>
                <a:gd name="T46" fmla="*/ 286 w 390"/>
                <a:gd name="T47" fmla="*/ 444 h 726"/>
                <a:gd name="T48" fmla="*/ 274 w 390"/>
                <a:gd name="T49" fmla="*/ 448 h 726"/>
                <a:gd name="T50" fmla="*/ 261 w 390"/>
                <a:gd name="T51" fmla="*/ 452 h 726"/>
                <a:gd name="T52" fmla="*/ 251 w 390"/>
                <a:gd name="T53" fmla="*/ 455 h 726"/>
                <a:gd name="T54" fmla="*/ 238 w 390"/>
                <a:gd name="T55" fmla="*/ 461 h 726"/>
                <a:gd name="T56" fmla="*/ 223 w 390"/>
                <a:gd name="T57" fmla="*/ 469 h 726"/>
                <a:gd name="T58" fmla="*/ 208 w 390"/>
                <a:gd name="T59" fmla="*/ 479 h 726"/>
                <a:gd name="T60" fmla="*/ 194 w 390"/>
                <a:gd name="T61" fmla="*/ 490 h 726"/>
                <a:gd name="T62" fmla="*/ 157 w 390"/>
                <a:gd name="T63" fmla="*/ 519 h 726"/>
                <a:gd name="T64" fmla="*/ 112 w 390"/>
                <a:gd name="T65" fmla="*/ 551 h 726"/>
                <a:gd name="T66" fmla="*/ 74 w 390"/>
                <a:gd name="T67" fmla="*/ 574 h 726"/>
                <a:gd name="T68" fmla="*/ 37 w 390"/>
                <a:gd name="T69" fmla="*/ 568 h 726"/>
                <a:gd name="T70" fmla="*/ 7 w 390"/>
                <a:gd name="T71" fmla="*/ 527 h 726"/>
                <a:gd name="T72" fmla="*/ 0 w 390"/>
                <a:gd name="T73" fmla="*/ 468 h 726"/>
                <a:gd name="T74" fmla="*/ 11 w 390"/>
                <a:gd name="T75" fmla="*/ 404 h 726"/>
                <a:gd name="T76" fmla="*/ 28 w 390"/>
                <a:gd name="T77" fmla="*/ 370 h 726"/>
                <a:gd name="T78" fmla="*/ 57 w 390"/>
                <a:gd name="T79" fmla="*/ 350 h 726"/>
                <a:gd name="T80" fmla="*/ 93 w 390"/>
                <a:gd name="T81" fmla="*/ 329 h 726"/>
                <a:gd name="T82" fmla="*/ 122 w 390"/>
                <a:gd name="T83" fmla="*/ 313 h 726"/>
                <a:gd name="T84" fmla="*/ 135 w 390"/>
                <a:gd name="T85" fmla="*/ 310 h 726"/>
                <a:gd name="T86" fmla="*/ 150 w 390"/>
                <a:gd name="T87" fmla="*/ 307 h 726"/>
                <a:gd name="T88" fmla="*/ 170 w 390"/>
                <a:gd name="T89" fmla="*/ 305 h 726"/>
                <a:gd name="T90" fmla="*/ 187 w 390"/>
                <a:gd name="T91" fmla="*/ 300 h 726"/>
                <a:gd name="T92" fmla="*/ 191 w 390"/>
                <a:gd name="T93" fmla="*/ 296 h 726"/>
                <a:gd name="T94" fmla="*/ 184 w 390"/>
                <a:gd name="T95" fmla="*/ 295 h 726"/>
                <a:gd name="T96" fmla="*/ 183 w 390"/>
                <a:gd name="T97" fmla="*/ 271 h 726"/>
                <a:gd name="T98" fmla="*/ 204 w 390"/>
                <a:gd name="T99" fmla="*/ 221 h 726"/>
                <a:gd name="T100" fmla="*/ 220 w 390"/>
                <a:gd name="T101" fmla="*/ 194 h 726"/>
                <a:gd name="T102" fmla="*/ 240 w 390"/>
                <a:gd name="T103" fmla="*/ 164 h 726"/>
                <a:gd name="T104" fmla="*/ 261 w 390"/>
                <a:gd name="T105" fmla="*/ 127 h 726"/>
                <a:gd name="T106" fmla="*/ 278 w 390"/>
                <a:gd name="T107" fmla="*/ 98 h 726"/>
                <a:gd name="T108" fmla="*/ 288 w 390"/>
                <a:gd name="T109" fmla="*/ 81 h 726"/>
                <a:gd name="T110" fmla="*/ 298 w 390"/>
                <a:gd name="T111" fmla="*/ 56 h 726"/>
                <a:gd name="T112" fmla="*/ 305 w 390"/>
                <a:gd name="T113" fmla="*/ 44 h 726"/>
                <a:gd name="T114" fmla="*/ 325 w 390"/>
                <a:gd name="T115" fmla="*/ 31 h 726"/>
                <a:gd name="T116" fmla="*/ 352 w 390"/>
                <a:gd name="T117" fmla="*/ 17 h 726"/>
                <a:gd name="T118" fmla="*/ 380 w 390"/>
                <a:gd name="T119" fmla="*/ 4 h 726"/>
                <a:gd name="T120" fmla="*/ 390 w 390"/>
                <a:gd name="T121" fmla="*/ 4 h 726"/>
                <a:gd name="T122" fmla="*/ 390 w 390"/>
                <a:gd name="T123" fmla="*/ 15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0" h="726">
                  <a:moveTo>
                    <a:pt x="390" y="20"/>
                  </a:moveTo>
                  <a:lnTo>
                    <a:pt x="384" y="58"/>
                  </a:lnTo>
                  <a:lnTo>
                    <a:pt x="377" y="108"/>
                  </a:lnTo>
                  <a:lnTo>
                    <a:pt x="371" y="157"/>
                  </a:lnTo>
                  <a:lnTo>
                    <a:pt x="370" y="194"/>
                  </a:lnTo>
                  <a:lnTo>
                    <a:pt x="370" y="215"/>
                  </a:lnTo>
                  <a:lnTo>
                    <a:pt x="370" y="251"/>
                  </a:lnTo>
                  <a:lnTo>
                    <a:pt x="370" y="289"/>
                  </a:lnTo>
                  <a:lnTo>
                    <a:pt x="370" y="317"/>
                  </a:lnTo>
                  <a:lnTo>
                    <a:pt x="369" y="332"/>
                  </a:lnTo>
                  <a:lnTo>
                    <a:pt x="370" y="354"/>
                  </a:lnTo>
                  <a:lnTo>
                    <a:pt x="371" y="377"/>
                  </a:lnTo>
                  <a:lnTo>
                    <a:pt x="371" y="391"/>
                  </a:lnTo>
                  <a:lnTo>
                    <a:pt x="370" y="400"/>
                  </a:lnTo>
                  <a:lnTo>
                    <a:pt x="370" y="408"/>
                  </a:lnTo>
                  <a:lnTo>
                    <a:pt x="370" y="417"/>
                  </a:lnTo>
                  <a:lnTo>
                    <a:pt x="371" y="424"/>
                  </a:lnTo>
                  <a:lnTo>
                    <a:pt x="376" y="441"/>
                  </a:lnTo>
                  <a:lnTo>
                    <a:pt x="376" y="458"/>
                  </a:lnTo>
                  <a:lnTo>
                    <a:pt x="371" y="476"/>
                  </a:lnTo>
                  <a:lnTo>
                    <a:pt x="364" y="493"/>
                  </a:lnTo>
                  <a:lnTo>
                    <a:pt x="360" y="507"/>
                  </a:lnTo>
                  <a:lnTo>
                    <a:pt x="362" y="520"/>
                  </a:lnTo>
                  <a:lnTo>
                    <a:pt x="364" y="531"/>
                  </a:lnTo>
                  <a:lnTo>
                    <a:pt x="367" y="540"/>
                  </a:lnTo>
                  <a:lnTo>
                    <a:pt x="360" y="567"/>
                  </a:lnTo>
                  <a:lnTo>
                    <a:pt x="350" y="594"/>
                  </a:lnTo>
                  <a:lnTo>
                    <a:pt x="337" y="621"/>
                  </a:lnTo>
                  <a:lnTo>
                    <a:pt x="325" y="648"/>
                  </a:lnTo>
                  <a:lnTo>
                    <a:pt x="312" y="672"/>
                  </a:lnTo>
                  <a:lnTo>
                    <a:pt x="301" y="693"/>
                  </a:lnTo>
                  <a:lnTo>
                    <a:pt x="293" y="711"/>
                  </a:lnTo>
                  <a:lnTo>
                    <a:pt x="291" y="726"/>
                  </a:lnTo>
                  <a:lnTo>
                    <a:pt x="292" y="697"/>
                  </a:lnTo>
                  <a:lnTo>
                    <a:pt x="295" y="669"/>
                  </a:lnTo>
                  <a:lnTo>
                    <a:pt x="298" y="646"/>
                  </a:lnTo>
                  <a:lnTo>
                    <a:pt x="301" y="631"/>
                  </a:lnTo>
                  <a:lnTo>
                    <a:pt x="303" y="602"/>
                  </a:lnTo>
                  <a:lnTo>
                    <a:pt x="306" y="567"/>
                  </a:lnTo>
                  <a:lnTo>
                    <a:pt x="306" y="534"/>
                  </a:lnTo>
                  <a:lnTo>
                    <a:pt x="305" y="512"/>
                  </a:lnTo>
                  <a:lnTo>
                    <a:pt x="302" y="496"/>
                  </a:lnTo>
                  <a:lnTo>
                    <a:pt x="301" y="479"/>
                  </a:lnTo>
                  <a:lnTo>
                    <a:pt x="301" y="461"/>
                  </a:lnTo>
                  <a:lnTo>
                    <a:pt x="302" y="441"/>
                  </a:lnTo>
                  <a:lnTo>
                    <a:pt x="298" y="442"/>
                  </a:lnTo>
                  <a:lnTo>
                    <a:pt x="293" y="442"/>
                  </a:lnTo>
                  <a:lnTo>
                    <a:pt x="286" y="444"/>
                  </a:lnTo>
                  <a:lnTo>
                    <a:pt x="281" y="446"/>
                  </a:lnTo>
                  <a:lnTo>
                    <a:pt x="274" y="448"/>
                  </a:lnTo>
                  <a:lnTo>
                    <a:pt x="266" y="449"/>
                  </a:lnTo>
                  <a:lnTo>
                    <a:pt x="261" y="452"/>
                  </a:lnTo>
                  <a:lnTo>
                    <a:pt x="255" y="453"/>
                  </a:lnTo>
                  <a:lnTo>
                    <a:pt x="251" y="455"/>
                  </a:lnTo>
                  <a:lnTo>
                    <a:pt x="245" y="458"/>
                  </a:lnTo>
                  <a:lnTo>
                    <a:pt x="238" y="461"/>
                  </a:lnTo>
                  <a:lnTo>
                    <a:pt x="231" y="465"/>
                  </a:lnTo>
                  <a:lnTo>
                    <a:pt x="223" y="469"/>
                  </a:lnTo>
                  <a:lnTo>
                    <a:pt x="215" y="473"/>
                  </a:lnTo>
                  <a:lnTo>
                    <a:pt x="208" y="479"/>
                  </a:lnTo>
                  <a:lnTo>
                    <a:pt x="203" y="483"/>
                  </a:lnTo>
                  <a:lnTo>
                    <a:pt x="194" y="490"/>
                  </a:lnTo>
                  <a:lnTo>
                    <a:pt x="179" y="503"/>
                  </a:lnTo>
                  <a:lnTo>
                    <a:pt x="157" y="519"/>
                  </a:lnTo>
                  <a:lnTo>
                    <a:pt x="135" y="534"/>
                  </a:lnTo>
                  <a:lnTo>
                    <a:pt x="112" y="551"/>
                  </a:lnTo>
                  <a:lnTo>
                    <a:pt x="91" y="565"/>
                  </a:lnTo>
                  <a:lnTo>
                    <a:pt x="74" y="574"/>
                  </a:lnTo>
                  <a:lnTo>
                    <a:pt x="62" y="578"/>
                  </a:lnTo>
                  <a:lnTo>
                    <a:pt x="37" y="568"/>
                  </a:lnTo>
                  <a:lnTo>
                    <a:pt x="18" y="551"/>
                  </a:lnTo>
                  <a:lnTo>
                    <a:pt x="7" y="527"/>
                  </a:lnTo>
                  <a:lnTo>
                    <a:pt x="1" y="499"/>
                  </a:lnTo>
                  <a:lnTo>
                    <a:pt x="0" y="468"/>
                  </a:lnTo>
                  <a:lnTo>
                    <a:pt x="4" y="435"/>
                  </a:lnTo>
                  <a:lnTo>
                    <a:pt x="11" y="404"/>
                  </a:lnTo>
                  <a:lnTo>
                    <a:pt x="23" y="375"/>
                  </a:lnTo>
                  <a:lnTo>
                    <a:pt x="28" y="370"/>
                  </a:lnTo>
                  <a:lnTo>
                    <a:pt x="41" y="361"/>
                  </a:lnTo>
                  <a:lnTo>
                    <a:pt x="57" y="350"/>
                  </a:lnTo>
                  <a:lnTo>
                    <a:pt x="75" y="339"/>
                  </a:lnTo>
                  <a:lnTo>
                    <a:pt x="93" y="329"/>
                  </a:lnTo>
                  <a:lnTo>
                    <a:pt x="109" y="319"/>
                  </a:lnTo>
                  <a:lnTo>
                    <a:pt x="122" y="313"/>
                  </a:lnTo>
                  <a:lnTo>
                    <a:pt x="129" y="310"/>
                  </a:lnTo>
                  <a:lnTo>
                    <a:pt x="135" y="310"/>
                  </a:lnTo>
                  <a:lnTo>
                    <a:pt x="142" y="309"/>
                  </a:lnTo>
                  <a:lnTo>
                    <a:pt x="150" y="307"/>
                  </a:lnTo>
                  <a:lnTo>
                    <a:pt x="160" y="306"/>
                  </a:lnTo>
                  <a:lnTo>
                    <a:pt x="170" y="305"/>
                  </a:lnTo>
                  <a:lnTo>
                    <a:pt x="180" y="303"/>
                  </a:lnTo>
                  <a:lnTo>
                    <a:pt x="187" y="300"/>
                  </a:lnTo>
                  <a:lnTo>
                    <a:pt x="194" y="297"/>
                  </a:lnTo>
                  <a:lnTo>
                    <a:pt x="191" y="296"/>
                  </a:lnTo>
                  <a:lnTo>
                    <a:pt x="188" y="295"/>
                  </a:lnTo>
                  <a:lnTo>
                    <a:pt x="184" y="295"/>
                  </a:lnTo>
                  <a:lnTo>
                    <a:pt x="179" y="293"/>
                  </a:lnTo>
                  <a:lnTo>
                    <a:pt x="183" y="271"/>
                  </a:lnTo>
                  <a:lnTo>
                    <a:pt x="193" y="245"/>
                  </a:lnTo>
                  <a:lnTo>
                    <a:pt x="204" y="221"/>
                  </a:lnTo>
                  <a:lnTo>
                    <a:pt x="214" y="204"/>
                  </a:lnTo>
                  <a:lnTo>
                    <a:pt x="220" y="194"/>
                  </a:lnTo>
                  <a:lnTo>
                    <a:pt x="230" y="181"/>
                  </a:lnTo>
                  <a:lnTo>
                    <a:pt x="240" y="164"/>
                  </a:lnTo>
                  <a:lnTo>
                    <a:pt x="251" y="144"/>
                  </a:lnTo>
                  <a:lnTo>
                    <a:pt x="261" y="127"/>
                  </a:lnTo>
                  <a:lnTo>
                    <a:pt x="271" y="110"/>
                  </a:lnTo>
                  <a:lnTo>
                    <a:pt x="278" y="98"/>
                  </a:lnTo>
                  <a:lnTo>
                    <a:pt x="282" y="90"/>
                  </a:lnTo>
                  <a:lnTo>
                    <a:pt x="288" y="81"/>
                  </a:lnTo>
                  <a:lnTo>
                    <a:pt x="293" y="68"/>
                  </a:lnTo>
                  <a:lnTo>
                    <a:pt x="298" y="56"/>
                  </a:lnTo>
                  <a:lnTo>
                    <a:pt x="301" y="48"/>
                  </a:lnTo>
                  <a:lnTo>
                    <a:pt x="305" y="44"/>
                  </a:lnTo>
                  <a:lnTo>
                    <a:pt x="313" y="38"/>
                  </a:lnTo>
                  <a:lnTo>
                    <a:pt x="325" y="31"/>
                  </a:lnTo>
                  <a:lnTo>
                    <a:pt x="337" y="24"/>
                  </a:lnTo>
                  <a:lnTo>
                    <a:pt x="352" y="17"/>
                  </a:lnTo>
                  <a:lnTo>
                    <a:pt x="366" y="10"/>
                  </a:lnTo>
                  <a:lnTo>
                    <a:pt x="380" y="4"/>
                  </a:lnTo>
                  <a:lnTo>
                    <a:pt x="390" y="0"/>
                  </a:lnTo>
                  <a:lnTo>
                    <a:pt x="390" y="4"/>
                  </a:lnTo>
                  <a:lnTo>
                    <a:pt x="390" y="10"/>
                  </a:lnTo>
                  <a:lnTo>
                    <a:pt x="390" y="15"/>
                  </a:lnTo>
                  <a:lnTo>
                    <a:pt x="390" y="2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79" name="Freeform 63"/>
            <p:cNvSpPr>
              <a:spLocks/>
            </p:cNvSpPr>
            <p:nvPr/>
          </p:nvSpPr>
          <p:spPr bwMode="auto">
            <a:xfrm>
              <a:off x="3830" y="2307"/>
              <a:ext cx="21" cy="47"/>
            </a:xfrm>
            <a:custGeom>
              <a:avLst/>
              <a:gdLst>
                <a:gd name="T0" fmla="*/ 65 w 65"/>
                <a:gd name="T1" fmla="*/ 118 h 142"/>
                <a:gd name="T2" fmla="*/ 65 w 65"/>
                <a:gd name="T3" fmla="*/ 117 h 142"/>
                <a:gd name="T4" fmla="*/ 65 w 65"/>
                <a:gd name="T5" fmla="*/ 114 h 142"/>
                <a:gd name="T6" fmla="*/ 65 w 65"/>
                <a:gd name="T7" fmla="*/ 112 h 142"/>
                <a:gd name="T8" fmla="*/ 64 w 65"/>
                <a:gd name="T9" fmla="*/ 111 h 142"/>
                <a:gd name="T10" fmla="*/ 47 w 65"/>
                <a:gd name="T11" fmla="*/ 107 h 142"/>
                <a:gd name="T12" fmla="*/ 35 w 65"/>
                <a:gd name="T13" fmla="*/ 100 h 142"/>
                <a:gd name="T14" fmla="*/ 28 w 65"/>
                <a:gd name="T15" fmla="*/ 88 h 142"/>
                <a:gd name="T16" fmla="*/ 25 w 65"/>
                <a:gd name="T17" fmla="*/ 74 h 142"/>
                <a:gd name="T18" fmla="*/ 25 w 65"/>
                <a:gd name="T19" fmla="*/ 60 h 142"/>
                <a:gd name="T20" fmla="*/ 30 w 65"/>
                <a:gd name="T21" fmla="*/ 46 h 142"/>
                <a:gd name="T22" fmla="*/ 35 w 65"/>
                <a:gd name="T23" fmla="*/ 33 h 142"/>
                <a:gd name="T24" fmla="*/ 44 w 65"/>
                <a:gd name="T25" fmla="*/ 22 h 142"/>
                <a:gd name="T26" fmla="*/ 45 w 65"/>
                <a:gd name="T27" fmla="*/ 17 h 142"/>
                <a:gd name="T28" fmla="*/ 45 w 65"/>
                <a:gd name="T29" fmla="*/ 10 h 142"/>
                <a:gd name="T30" fmla="*/ 43 w 65"/>
                <a:gd name="T31" fmla="*/ 5 h 142"/>
                <a:gd name="T32" fmla="*/ 41 w 65"/>
                <a:gd name="T33" fmla="*/ 0 h 142"/>
                <a:gd name="T34" fmla="*/ 27 w 65"/>
                <a:gd name="T35" fmla="*/ 7 h 142"/>
                <a:gd name="T36" fmla="*/ 16 w 65"/>
                <a:gd name="T37" fmla="*/ 15 h 142"/>
                <a:gd name="T38" fmla="*/ 8 w 65"/>
                <a:gd name="T39" fmla="*/ 22 h 142"/>
                <a:gd name="T40" fmla="*/ 3 w 65"/>
                <a:gd name="T41" fmla="*/ 29 h 142"/>
                <a:gd name="T42" fmla="*/ 1 w 65"/>
                <a:gd name="T43" fmla="*/ 36 h 142"/>
                <a:gd name="T44" fmla="*/ 0 w 65"/>
                <a:gd name="T45" fmla="*/ 43 h 142"/>
                <a:gd name="T46" fmla="*/ 1 w 65"/>
                <a:gd name="T47" fmla="*/ 50 h 142"/>
                <a:gd name="T48" fmla="*/ 3 w 65"/>
                <a:gd name="T49" fmla="*/ 57 h 142"/>
                <a:gd name="T50" fmla="*/ 7 w 65"/>
                <a:gd name="T51" fmla="*/ 77 h 142"/>
                <a:gd name="T52" fmla="*/ 14 w 65"/>
                <a:gd name="T53" fmla="*/ 105 h 142"/>
                <a:gd name="T54" fmla="*/ 23 w 65"/>
                <a:gd name="T55" fmla="*/ 132 h 142"/>
                <a:gd name="T56" fmla="*/ 31 w 65"/>
                <a:gd name="T57" fmla="*/ 142 h 142"/>
                <a:gd name="T58" fmla="*/ 40 w 65"/>
                <a:gd name="T59" fmla="*/ 138 h 142"/>
                <a:gd name="T60" fmla="*/ 50 w 65"/>
                <a:gd name="T61" fmla="*/ 129 h 142"/>
                <a:gd name="T62" fmla="*/ 58 w 65"/>
                <a:gd name="T63" fmla="*/ 121 h 142"/>
                <a:gd name="T64" fmla="*/ 65 w 65"/>
                <a:gd name="T65" fmla="*/ 11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5" h="142">
                  <a:moveTo>
                    <a:pt x="65" y="118"/>
                  </a:moveTo>
                  <a:lnTo>
                    <a:pt x="65" y="117"/>
                  </a:lnTo>
                  <a:lnTo>
                    <a:pt x="65" y="114"/>
                  </a:lnTo>
                  <a:lnTo>
                    <a:pt x="65" y="112"/>
                  </a:lnTo>
                  <a:lnTo>
                    <a:pt x="64" y="111"/>
                  </a:lnTo>
                  <a:lnTo>
                    <a:pt x="47" y="107"/>
                  </a:lnTo>
                  <a:lnTo>
                    <a:pt x="35" y="100"/>
                  </a:lnTo>
                  <a:lnTo>
                    <a:pt x="28" y="88"/>
                  </a:lnTo>
                  <a:lnTo>
                    <a:pt x="25" y="74"/>
                  </a:lnTo>
                  <a:lnTo>
                    <a:pt x="25" y="60"/>
                  </a:lnTo>
                  <a:lnTo>
                    <a:pt x="30" y="46"/>
                  </a:lnTo>
                  <a:lnTo>
                    <a:pt x="35" y="33"/>
                  </a:lnTo>
                  <a:lnTo>
                    <a:pt x="44" y="22"/>
                  </a:lnTo>
                  <a:lnTo>
                    <a:pt x="45" y="17"/>
                  </a:lnTo>
                  <a:lnTo>
                    <a:pt x="45" y="10"/>
                  </a:lnTo>
                  <a:lnTo>
                    <a:pt x="43" y="5"/>
                  </a:lnTo>
                  <a:lnTo>
                    <a:pt x="41" y="0"/>
                  </a:lnTo>
                  <a:lnTo>
                    <a:pt x="27" y="7"/>
                  </a:lnTo>
                  <a:lnTo>
                    <a:pt x="16" y="15"/>
                  </a:lnTo>
                  <a:lnTo>
                    <a:pt x="8" y="22"/>
                  </a:lnTo>
                  <a:lnTo>
                    <a:pt x="3" y="29"/>
                  </a:lnTo>
                  <a:lnTo>
                    <a:pt x="1" y="36"/>
                  </a:lnTo>
                  <a:lnTo>
                    <a:pt x="0" y="43"/>
                  </a:lnTo>
                  <a:lnTo>
                    <a:pt x="1" y="50"/>
                  </a:lnTo>
                  <a:lnTo>
                    <a:pt x="3" y="57"/>
                  </a:lnTo>
                  <a:lnTo>
                    <a:pt x="7" y="77"/>
                  </a:lnTo>
                  <a:lnTo>
                    <a:pt x="14" y="105"/>
                  </a:lnTo>
                  <a:lnTo>
                    <a:pt x="23" y="132"/>
                  </a:lnTo>
                  <a:lnTo>
                    <a:pt x="31" y="142"/>
                  </a:lnTo>
                  <a:lnTo>
                    <a:pt x="40" y="138"/>
                  </a:lnTo>
                  <a:lnTo>
                    <a:pt x="50" y="129"/>
                  </a:lnTo>
                  <a:lnTo>
                    <a:pt x="58" y="121"/>
                  </a:lnTo>
                  <a:lnTo>
                    <a:pt x="65" y="118"/>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0" name="Freeform 64"/>
            <p:cNvSpPr>
              <a:spLocks/>
            </p:cNvSpPr>
            <p:nvPr/>
          </p:nvSpPr>
          <p:spPr bwMode="auto">
            <a:xfrm>
              <a:off x="3499" y="2134"/>
              <a:ext cx="103" cy="274"/>
            </a:xfrm>
            <a:custGeom>
              <a:avLst/>
              <a:gdLst>
                <a:gd name="T0" fmla="*/ 11 w 309"/>
                <a:gd name="T1" fmla="*/ 341 h 823"/>
                <a:gd name="T2" fmla="*/ 24 w 309"/>
                <a:gd name="T3" fmla="*/ 243 h 823"/>
                <a:gd name="T4" fmla="*/ 30 w 309"/>
                <a:gd name="T5" fmla="*/ 200 h 823"/>
                <a:gd name="T6" fmla="*/ 30 w 309"/>
                <a:gd name="T7" fmla="*/ 189 h 823"/>
                <a:gd name="T8" fmla="*/ 31 w 309"/>
                <a:gd name="T9" fmla="*/ 173 h 823"/>
                <a:gd name="T10" fmla="*/ 36 w 309"/>
                <a:gd name="T11" fmla="*/ 146 h 823"/>
                <a:gd name="T12" fmla="*/ 44 w 309"/>
                <a:gd name="T13" fmla="*/ 141 h 823"/>
                <a:gd name="T14" fmla="*/ 48 w 309"/>
                <a:gd name="T15" fmla="*/ 121 h 823"/>
                <a:gd name="T16" fmla="*/ 48 w 309"/>
                <a:gd name="T17" fmla="*/ 103 h 823"/>
                <a:gd name="T18" fmla="*/ 70 w 309"/>
                <a:gd name="T19" fmla="*/ 122 h 823"/>
                <a:gd name="T20" fmla="*/ 85 w 309"/>
                <a:gd name="T21" fmla="*/ 146 h 823"/>
                <a:gd name="T22" fmla="*/ 118 w 309"/>
                <a:gd name="T23" fmla="*/ 124 h 823"/>
                <a:gd name="T24" fmla="*/ 169 w 309"/>
                <a:gd name="T25" fmla="*/ 81 h 823"/>
                <a:gd name="T26" fmla="*/ 219 w 309"/>
                <a:gd name="T27" fmla="*/ 34 h 823"/>
                <a:gd name="T28" fmla="*/ 247 w 309"/>
                <a:gd name="T29" fmla="*/ 0 h 823"/>
                <a:gd name="T30" fmla="*/ 260 w 309"/>
                <a:gd name="T31" fmla="*/ 26 h 823"/>
                <a:gd name="T32" fmla="*/ 278 w 309"/>
                <a:gd name="T33" fmla="*/ 53 h 823"/>
                <a:gd name="T34" fmla="*/ 287 w 309"/>
                <a:gd name="T35" fmla="*/ 71 h 823"/>
                <a:gd name="T36" fmla="*/ 292 w 309"/>
                <a:gd name="T37" fmla="*/ 87 h 823"/>
                <a:gd name="T38" fmla="*/ 282 w 309"/>
                <a:gd name="T39" fmla="*/ 105 h 823"/>
                <a:gd name="T40" fmla="*/ 263 w 309"/>
                <a:gd name="T41" fmla="*/ 141 h 823"/>
                <a:gd name="T42" fmla="*/ 240 w 309"/>
                <a:gd name="T43" fmla="*/ 182 h 823"/>
                <a:gd name="T44" fmla="*/ 223 w 309"/>
                <a:gd name="T45" fmla="*/ 213 h 823"/>
                <a:gd name="T46" fmla="*/ 196 w 309"/>
                <a:gd name="T47" fmla="*/ 321 h 823"/>
                <a:gd name="T48" fmla="*/ 184 w 309"/>
                <a:gd name="T49" fmla="*/ 471 h 823"/>
                <a:gd name="T50" fmla="*/ 193 w 309"/>
                <a:gd name="T51" fmla="*/ 616 h 823"/>
                <a:gd name="T52" fmla="*/ 224 w 309"/>
                <a:gd name="T53" fmla="*/ 711 h 823"/>
                <a:gd name="T54" fmla="*/ 240 w 309"/>
                <a:gd name="T55" fmla="*/ 728 h 823"/>
                <a:gd name="T56" fmla="*/ 265 w 309"/>
                <a:gd name="T57" fmla="*/ 752 h 823"/>
                <a:gd name="T58" fmla="*/ 291 w 309"/>
                <a:gd name="T59" fmla="*/ 777 h 823"/>
                <a:gd name="T60" fmla="*/ 309 w 309"/>
                <a:gd name="T61" fmla="*/ 794 h 823"/>
                <a:gd name="T62" fmla="*/ 282 w 309"/>
                <a:gd name="T63" fmla="*/ 801 h 823"/>
                <a:gd name="T64" fmla="*/ 248 w 309"/>
                <a:gd name="T65" fmla="*/ 813 h 823"/>
                <a:gd name="T66" fmla="*/ 217 w 309"/>
                <a:gd name="T67" fmla="*/ 821 h 823"/>
                <a:gd name="T68" fmla="*/ 197 w 309"/>
                <a:gd name="T69" fmla="*/ 821 h 823"/>
                <a:gd name="T70" fmla="*/ 182 w 309"/>
                <a:gd name="T71" fmla="*/ 811 h 823"/>
                <a:gd name="T72" fmla="*/ 162 w 309"/>
                <a:gd name="T73" fmla="*/ 794 h 823"/>
                <a:gd name="T74" fmla="*/ 141 w 309"/>
                <a:gd name="T75" fmla="*/ 775 h 823"/>
                <a:gd name="T76" fmla="*/ 125 w 309"/>
                <a:gd name="T77" fmla="*/ 753 h 823"/>
                <a:gd name="T78" fmla="*/ 114 w 309"/>
                <a:gd name="T79" fmla="*/ 775 h 823"/>
                <a:gd name="T80" fmla="*/ 95 w 309"/>
                <a:gd name="T81" fmla="*/ 790 h 823"/>
                <a:gd name="T82" fmla="*/ 71 w 309"/>
                <a:gd name="T83" fmla="*/ 800 h 823"/>
                <a:gd name="T84" fmla="*/ 47 w 309"/>
                <a:gd name="T85" fmla="*/ 800 h 823"/>
                <a:gd name="T86" fmla="*/ 24 w 309"/>
                <a:gd name="T87" fmla="*/ 756 h 823"/>
                <a:gd name="T88" fmla="*/ 7 w 309"/>
                <a:gd name="T89" fmla="*/ 725 h 823"/>
                <a:gd name="T90" fmla="*/ 2 w 309"/>
                <a:gd name="T91" fmla="*/ 705 h 823"/>
                <a:gd name="T92" fmla="*/ 4 w 309"/>
                <a:gd name="T93" fmla="*/ 678 h 823"/>
                <a:gd name="T94" fmla="*/ 16 w 309"/>
                <a:gd name="T95" fmla="*/ 643 h 823"/>
                <a:gd name="T96" fmla="*/ 11 w 309"/>
                <a:gd name="T97" fmla="*/ 609 h 823"/>
                <a:gd name="T98" fmla="*/ 10 w 309"/>
                <a:gd name="T99" fmla="*/ 593 h 823"/>
                <a:gd name="T100" fmla="*/ 11 w 309"/>
                <a:gd name="T101" fmla="*/ 576 h 823"/>
                <a:gd name="T102" fmla="*/ 10 w 309"/>
                <a:gd name="T103" fmla="*/ 539 h 823"/>
                <a:gd name="T104" fmla="*/ 10 w 309"/>
                <a:gd name="T105" fmla="*/ 502 h 823"/>
                <a:gd name="T106" fmla="*/ 10 w 309"/>
                <a:gd name="T107" fmla="*/ 436 h 823"/>
                <a:gd name="T108" fmla="*/ 10 w 309"/>
                <a:gd name="T109" fmla="*/ 379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9" h="823">
                  <a:moveTo>
                    <a:pt x="10" y="379"/>
                  </a:moveTo>
                  <a:lnTo>
                    <a:pt x="11" y="341"/>
                  </a:lnTo>
                  <a:lnTo>
                    <a:pt x="17" y="291"/>
                  </a:lnTo>
                  <a:lnTo>
                    <a:pt x="24" y="243"/>
                  </a:lnTo>
                  <a:lnTo>
                    <a:pt x="30" y="205"/>
                  </a:lnTo>
                  <a:lnTo>
                    <a:pt x="30" y="200"/>
                  </a:lnTo>
                  <a:lnTo>
                    <a:pt x="30" y="195"/>
                  </a:lnTo>
                  <a:lnTo>
                    <a:pt x="30" y="189"/>
                  </a:lnTo>
                  <a:lnTo>
                    <a:pt x="30" y="185"/>
                  </a:lnTo>
                  <a:lnTo>
                    <a:pt x="31" y="173"/>
                  </a:lnTo>
                  <a:lnTo>
                    <a:pt x="33" y="161"/>
                  </a:lnTo>
                  <a:lnTo>
                    <a:pt x="36" y="146"/>
                  </a:lnTo>
                  <a:lnTo>
                    <a:pt x="40" y="137"/>
                  </a:lnTo>
                  <a:lnTo>
                    <a:pt x="44" y="141"/>
                  </a:lnTo>
                  <a:lnTo>
                    <a:pt x="47" y="132"/>
                  </a:lnTo>
                  <a:lnTo>
                    <a:pt x="48" y="121"/>
                  </a:lnTo>
                  <a:lnTo>
                    <a:pt x="48" y="111"/>
                  </a:lnTo>
                  <a:lnTo>
                    <a:pt x="48" y="103"/>
                  </a:lnTo>
                  <a:lnTo>
                    <a:pt x="58" y="111"/>
                  </a:lnTo>
                  <a:lnTo>
                    <a:pt x="70" y="122"/>
                  </a:lnTo>
                  <a:lnTo>
                    <a:pt x="78" y="135"/>
                  </a:lnTo>
                  <a:lnTo>
                    <a:pt x="85" y="146"/>
                  </a:lnTo>
                  <a:lnTo>
                    <a:pt x="98" y="138"/>
                  </a:lnTo>
                  <a:lnTo>
                    <a:pt x="118" y="124"/>
                  </a:lnTo>
                  <a:lnTo>
                    <a:pt x="142" y="104"/>
                  </a:lnTo>
                  <a:lnTo>
                    <a:pt x="169" y="81"/>
                  </a:lnTo>
                  <a:lnTo>
                    <a:pt x="194" y="57"/>
                  </a:lnTo>
                  <a:lnTo>
                    <a:pt x="219" y="34"/>
                  </a:lnTo>
                  <a:lnTo>
                    <a:pt x="237" y="15"/>
                  </a:lnTo>
                  <a:lnTo>
                    <a:pt x="247" y="0"/>
                  </a:lnTo>
                  <a:lnTo>
                    <a:pt x="251" y="12"/>
                  </a:lnTo>
                  <a:lnTo>
                    <a:pt x="260" y="26"/>
                  </a:lnTo>
                  <a:lnTo>
                    <a:pt x="270" y="42"/>
                  </a:lnTo>
                  <a:lnTo>
                    <a:pt x="278" y="53"/>
                  </a:lnTo>
                  <a:lnTo>
                    <a:pt x="281" y="63"/>
                  </a:lnTo>
                  <a:lnTo>
                    <a:pt x="287" y="71"/>
                  </a:lnTo>
                  <a:lnTo>
                    <a:pt x="291" y="81"/>
                  </a:lnTo>
                  <a:lnTo>
                    <a:pt x="292" y="87"/>
                  </a:lnTo>
                  <a:lnTo>
                    <a:pt x="289" y="93"/>
                  </a:lnTo>
                  <a:lnTo>
                    <a:pt x="282" y="105"/>
                  </a:lnTo>
                  <a:lnTo>
                    <a:pt x="272" y="122"/>
                  </a:lnTo>
                  <a:lnTo>
                    <a:pt x="263" y="141"/>
                  </a:lnTo>
                  <a:lnTo>
                    <a:pt x="250" y="162"/>
                  </a:lnTo>
                  <a:lnTo>
                    <a:pt x="240" y="182"/>
                  </a:lnTo>
                  <a:lnTo>
                    <a:pt x="230" y="200"/>
                  </a:lnTo>
                  <a:lnTo>
                    <a:pt x="223" y="213"/>
                  </a:lnTo>
                  <a:lnTo>
                    <a:pt x="207" y="260"/>
                  </a:lnTo>
                  <a:lnTo>
                    <a:pt x="196" y="321"/>
                  </a:lnTo>
                  <a:lnTo>
                    <a:pt x="187" y="393"/>
                  </a:lnTo>
                  <a:lnTo>
                    <a:pt x="184" y="471"/>
                  </a:lnTo>
                  <a:lnTo>
                    <a:pt x="186" y="546"/>
                  </a:lnTo>
                  <a:lnTo>
                    <a:pt x="193" y="616"/>
                  </a:lnTo>
                  <a:lnTo>
                    <a:pt x="206" y="672"/>
                  </a:lnTo>
                  <a:lnTo>
                    <a:pt x="224" y="711"/>
                  </a:lnTo>
                  <a:lnTo>
                    <a:pt x="231" y="718"/>
                  </a:lnTo>
                  <a:lnTo>
                    <a:pt x="240" y="728"/>
                  </a:lnTo>
                  <a:lnTo>
                    <a:pt x="253" y="739"/>
                  </a:lnTo>
                  <a:lnTo>
                    <a:pt x="265" y="752"/>
                  </a:lnTo>
                  <a:lnTo>
                    <a:pt x="278" y="766"/>
                  </a:lnTo>
                  <a:lnTo>
                    <a:pt x="291" y="777"/>
                  </a:lnTo>
                  <a:lnTo>
                    <a:pt x="301" y="787"/>
                  </a:lnTo>
                  <a:lnTo>
                    <a:pt x="309" y="794"/>
                  </a:lnTo>
                  <a:lnTo>
                    <a:pt x="298" y="797"/>
                  </a:lnTo>
                  <a:lnTo>
                    <a:pt x="282" y="801"/>
                  </a:lnTo>
                  <a:lnTo>
                    <a:pt x="265" y="807"/>
                  </a:lnTo>
                  <a:lnTo>
                    <a:pt x="248" y="813"/>
                  </a:lnTo>
                  <a:lnTo>
                    <a:pt x="231" y="819"/>
                  </a:lnTo>
                  <a:lnTo>
                    <a:pt x="217" y="821"/>
                  </a:lnTo>
                  <a:lnTo>
                    <a:pt x="204" y="823"/>
                  </a:lnTo>
                  <a:lnTo>
                    <a:pt x="197" y="821"/>
                  </a:lnTo>
                  <a:lnTo>
                    <a:pt x="190" y="817"/>
                  </a:lnTo>
                  <a:lnTo>
                    <a:pt x="182" y="811"/>
                  </a:lnTo>
                  <a:lnTo>
                    <a:pt x="172" y="803"/>
                  </a:lnTo>
                  <a:lnTo>
                    <a:pt x="162" y="794"/>
                  </a:lnTo>
                  <a:lnTo>
                    <a:pt x="150" y="784"/>
                  </a:lnTo>
                  <a:lnTo>
                    <a:pt x="141" y="775"/>
                  </a:lnTo>
                  <a:lnTo>
                    <a:pt x="132" y="763"/>
                  </a:lnTo>
                  <a:lnTo>
                    <a:pt x="125" y="753"/>
                  </a:lnTo>
                  <a:lnTo>
                    <a:pt x="121" y="765"/>
                  </a:lnTo>
                  <a:lnTo>
                    <a:pt x="114" y="775"/>
                  </a:lnTo>
                  <a:lnTo>
                    <a:pt x="105" y="783"/>
                  </a:lnTo>
                  <a:lnTo>
                    <a:pt x="95" y="790"/>
                  </a:lnTo>
                  <a:lnTo>
                    <a:pt x="84" y="796"/>
                  </a:lnTo>
                  <a:lnTo>
                    <a:pt x="71" y="800"/>
                  </a:lnTo>
                  <a:lnTo>
                    <a:pt x="58" y="801"/>
                  </a:lnTo>
                  <a:lnTo>
                    <a:pt x="47" y="800"/>
                  </a:lnTo>
                  <a:lnTo>
                    <a:pt x="36" y="779"/>
                  </a:lnTo>
                  <a:lnTo>
                    <a:pt x="24" y="756"/>
                  </a:lnTo>
                  <a:lnTo>
                    <a:pt x="14" y="738"/>
                  </a:lnTo>
                  <a:lnTo>
                    <a:pt x="7" y="725"/>
                  </a:lnTo>
                  <a:lnTo>
                    <a:pt x="4" y="716"/>
                  </a:lnTo>
                  <a:lnTo>
                    <a:pt x="2" y="705"/>
                  </a:lnTo>
                  <a:lnTo>
                    <a:pt x="0" y="692"/>
                  </a:lnTo>
                  <a:lnTo>
                    <a:pt x="4" y="678"/>
                  </a:lnTo>
                  <a:lnTo>
                    <a:pt x="11" y="661"/>
                  </a:lnTo>
                  <a:lnTo>
                    <a:pt x="16" y="643"/>
                  </a:lnTo>
                  <a:lnTo>
                    <a:pt x="16" y="626"/>
                  </a:lnTo>
                  <a:lnTo>
                    <a:pt x="11" y="609"/>
                  </a:lnTo>
                  <a:lnTo>
                    <a:pt x="10" y="602"/>
                  </a:lnTo>
                  <a:lnTo>
                    <a:pt x="10" y="593"/>
                  </a:lnTo>
                  <a:lnTo>
                    <a:pt x="10" y="585"/>
                  </a:lnTo>
                  <a:lnTo>
                    <a:pt x="11" y="576"/>
                  </a:lnTo>
                  <a:lnTo>
                    <a:pt x="11" y="562"/>
                  </a:lnTo>
                  <a:lnTo>
                    <a:pt x="10" y="539"/>
                  </a:lnTo>
                  <a:lnTo>
                    <a:pt x="9" y="517"/>
                  </a:lnTo>
                  <a:lnTo>
                    <a:pt x="10" y="502"/>
                  </a:lnTo>
                  <a:lnTo>
                    <a:pt x="10" y="474"/>
                  </a:lnTo>
                  <a:lnTo>
                    <a:pt x="10" y="436"/>
                  </a:lnTo>
                  <a:lnTo>
                    <a:pt x="10" y="400"/>
                  </a:lnTo>
                  <a:lnTo>
                    <a:pt x="10" y="37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1" name="Freeform 65"/>
            <p:cNvSpPr>
              <a:spLocks/>
            </p:cNvSpPr>
            <p:nvPr/>
          </p:nvSpPr>
          <p:spPr bwMode="auto">
            <a:xfrm>
              <a:off x="3536" y="2363"/>
              <a:ext cx="5" cy="10"/>
            </a:xfrm>
            <a:custGeom>
              <a:avLst/>
              <a:gdLst>
                <a:gd name="T0" fmla="*/ 4 w 16"/>
                <a:gd name="T1" fmla="*/ 0 h 30"/>
                <a:gd name="T2" fmla="*/ 6 w 16"/>
                <a:gd name="T3" fmla="*/ 3 h 30"/>
                <a:gd name="T4" fmla="*/ 9 w 16"/>
                <a:gd name="T5" fmla="*/ 4 h 30"/>
                <a:gd name="T6" fmla="*/ 12 w 16"/>
                <a:gd name="T7" fmla="*/ 7 h 30"/>
                <a:gd name="T8" fmla="*/ 14 w 16"/>
                <a:gd name="T9" fmla="*/ 11 h 30"/>
                <a:gd name="T10" fmla="*/ 16 w 16"/>
                <a:gd name="T11" fmla="*/ 17 h 30"/>
                <a:gd name="T12" fmla="*/ 16 w 16"/>
                <a:gd name="T13" fmla="*/ 23 h 30"/>
                <a:gd name="T14" fmla="*/ 14 w 16"/>
                <a:gd name="T15" fmla="*/ 28 h 30"/>
                <a:gd name="T16" fmla="*/ 10 w 16"/>
                <a:gd name="T17" fmla="*/ 30 h 30"/>
                <a:gd name="T18" fmla="*/ 6 w 16"/>
                <a:gd name="T19" fmla="*/ 28 h 30"/>
                <a:gd name="T20" fmla="*/ 3 w 16"/>
                <a:gd name="T21" fmla="*/ 26 h 30"/>
                <a:gd name="T22" fmla="*/ 0 w 16"/>
                <a:gd name="T23" fmla="*/ 21 h 30"/>
                <a:gd name="T24" fmla="*/ 0 w 16"/>
                <a:gd name="T25" fmla="*/ 16 h 30"/>
                <a:gd name="T26" fmla="*/ 2 w 16"/>
                <a:gd name="T27" fmla="*/ 11 h 30"/>
                <a:gd name="T28" fmla="*/ 3 w 16"/>
                <a:gd name="T29" fmla="*/ 7 h 30"/>
                <a:gd name="T30" fmla="*/ 4 w 16"/>
                <a:gd name="T31" fmla="*/ 3 h 30"/>
                <a:gd name="T32" fmla="*/ 4 w 16"/>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0">
                  <a:moveTo>
                    <a:pt x="4" y="0"/>
                  </a:moveTo>
                  <a:lnTo>
                    <a:pt x="6" y="3"/>
                  </a:lnTo>
                  <a:lnTo>
                    <a:pt x="9" y="4"/>
                  </a:lnTo>
                  <a:lnTo>
                    <a:pt x="12" y="7"/>
                  </a:lnTo>
                  <a:lnTo>
                    <a:pt x="14" y="11"/>
                  </a:lnTo>
                  <a:lnTo>
                    <a:pt x="16" y="17"/>
                  </a:lnTo>
                  <a:lnTo>
                    <a:pt x="16" y="23"/>
                  </a:lnTo>
                  <a:lnTo>
                    <a:pt x="14" y="28"/>
                  </a:lnTo>
                  <a:lnTo>
                    <a:pt x="10" y="30"/>
                  </a:lnTo>
                  <a:lnTo>
                    <a:pt x="6" y="28"/>
                  </a:lnTo>
                  <a:lnTo>
                    <a:pt x="3" y="26"/>
                  </a:lnTo>
                  <a:lnTo>
                    <a:pt x="0" y="21"/>
                  </a:lnTo>
                  <a:lnTo>
                    <a:pt x="0" y="16"/>
                  </a:lnTo>
                  <a:lnTo>
                    <a:pt x="2" y="11"/>
                  </a:lnTo>
                  <a:lnTo>
                    <a:pt x="3" y="7"/>
                  </a:lnTo>
                  <a:lnTo>
                    <a:pt x="4" y="3"/>
                  </a:lnTo>
                  <a:lnTo>
                    <a:pt x="4"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2" name="Freeform 66"/>
            <p:cNvSpPr>
              <a:spLocks/>
            </p:cNvSpPr>
            <p:nvPr/>
          </p:nvSpPr>
          <p:spPr bwMode="auto">
            <a:xfrm>
              <a:off x="3509" y="2179"/>
              <a:ext cx="43" cy="41"/>
            </a:xfrm>
            <a:custGeom>
              <a:avLst/>
              <a:gdLst>
                <a:gd name="T0" fmla="*/ 0 w 129"/>
                <a:gd name="T1" fmla="*/ 70 h 122"/>
                <a:gd name="T2" fmla="*/ 0 w 129"/>
                <a:gd name="T3" fmla="*/ 65 h 122"/>
                <a:gd name="T4" fmla="*/ 0 w 129"/>
                <a:gd name="T5" fmla="*/ 60 h 122"/>
                <a:gd name="T6" fmla="*/ 0 w 129"/>
                <a:gd name="T7" fmla="*/ 54 h 122"/>
                <a:gd name="T8" fmla="*/ 0 w 129"/>
                <a:gd name="T9" fmla="*/ 50 h 122"/>
                <a:gd name="T10" fmla="*/ 1 w 129"/>
                <a:gd name="T11" fmla="*/ 38 h 122"/>
                <a:gd name="T12" fmla="*/ 3 w 129"/>
                <a:gd name="T13" fmla="*/ 26 h 122"/>
                <a:gd name="T14" fmla="*/ 6 w 129"/>
                <a:gd name="T15" fmla="*/ 11 h 122"/>
                <a:gd name="T16" fmla="*/ 10 w 129"/>
                <a:gd name="T17" fmla="*/ 2 h 122"/>
                <a:gd name="T18" fmla="*/ 20 w 129"/>
                <a:gd name="T19" fmla="*/ 9 h 122"/>
                <a:gd name="T20" fmla="*/ 31 w 129"/>
                <a:gd name="T21" fmla="*/ 19 h 122"/>
                <a:gd name="T22" fmla="*/ 41 w 129"/>
                <a:gd name="T23" fmla="*/ 30 h 122"/>
                <a:gd name="T24" fmla="*/ 48 w 129"/>
                <a:gd name="T25" fmla="*/ 37 h 122"/>
                <a:gd name="T26" fmla="*/ 47 w 129"/>
                <a:gd name="T27" fmla="*/ 38 h 122"/>
                <a:gd name="T28" fmla="*/ 45 w 129"/>
                <a:gd name="T29" fmla="*/ 41 h 122"/>
                <a:gd name="T30" fmla="*/ 44 w 129"/>
                <a:gd name="T31" fmla="*/ 43 h 122"/>
                <a:gd name="T32" fmla="*/ 42 w 129"/>
                <a:gd name="T33" fmla="*/ 46 h 122"/>
                <a:gd name="T34" fmla="*/ 51 w 129"/>
                <a:gd name="T35" fmla="*/ 41 h 122"/>
                <a:gd name="T36" fmla="*/ 62 w 129"/>
                <a:gd name="T37" fmla="*/ 40 h 122"/>
                <a:gd name="T38" fmla="*/ 72 w 129"/>
                <a:gd name="T39" fmla="*/ 41 h 122"/>
                <a:gd name="T40" fmla="*/ 81 w 129"/>
                <a:gd name="T41" fmla="*/ 46 h 122"/>
                <a:gd name="T42" fmla="*/ 84 w 129"/>
                <a:gd name="T43" fmla="*/ 40 h 122"/>
                <a:gd name="T44" fmla="*/ 88 w 129"/>
                <a:gd name="T45" fmla="*/ 33 h 122"/>
                <a:gd name="T46" fmla="*/ 92 w 129"/>
                <a:gd name="T47" fmla="*/ 26 h 122"/>
                <a:gd name="T48" fmla="*/ 98 w 129"/>
                <a:gd name="T49" fmla="*/ 19 h 122"/>
                <a:gd name="T50" fmla="*/ 105 w 129"/>
                <a:gd name="T51" fmla="*/ 13 h 122"/>
                <a:gd name="T52" fmla="*/ 112 w 129"/>
                <a:gd name="T53" fmla="*/ 7 h 122"/>
                <a:gd name="T54" fmla="*/ 119 w 129"/>
                <a:gd name="T55" fmla="*/ 3 h 122"/>
                <a:gd name="T56" fmla="*/ 128 w 129"/>
                <a:gd name="T57" fmla="*/ 0 h 122"/>
                <a:gd name="T58" fmla="*/ 129 w 129"/>
                <a:gd name="T59" fmla="*/ 34 h 122"/>
                <a:gd name="T60" fmla="*/ 126 w 129"/>
                <a:gd name="T61" fmla="*/ 71 h 122"/>
                <a:gd name="T62" fmla="*/ 120 w 129"/>
                <a:gd name="T63" fmla="*/ 102 h 122"/>
                <a:gd name="T64" fmla="*/ 112 w 129"/>
                <a:gd name="T65" fmla="*/ 122 h 122"/>
                <a:gd name="T66" fmla="*/ 101 w 129"/>
                <a:gd name="T67" fmla="*/ 114 h 122"/>
                <a:gd name="T68" fmla="*/ 89 w 129"/>
                <a:gd name="T69" fmla="*/ 101 h 122"/>
                <a:gd name="T70" fmla="*/ 79 w 129"/>
                <a:gd name="T71" fmla="*/ 88 h 122"/>
                <a:gd name="T72" fmla="*/ 74 w 129"/>
                <a:gd name="T73" fmla="*/ 75 h 122"/>
                <a:gd name="T74" fmla="*/ 69 w 129"/>
                <a:gd name="T75" fmla="*/ 77 h 122"/>
                <a:gd name="T76" fmla="*/ 64 w 129"/>
                <a:gd name="T77" fmla="*/ 78 h 122"/>
                <a:gd name="T78" fmla="*/ 57 w 129"/>
                <a:gd name="T79" fmla="*/ 77 h 122"/>
                <a:gd name="T80" fmla="*/ 52 w 129"/>
                <a:gd name="T81" fmla="*/ 74 h 122"/>
                <a:gd name="T82" fmla="*/ 47 w 129"/>
                <a:gd name="T83" fmla="*/ 87 h 122"/>
                <a:gd name="T84" fmla="*/ 37 w 129"/>
                <a:gd name="T85" fmla="*/ 99 h 122"/>
                <a:gd name="T86" fmla="*/ 24 w 129"/>
                <a:gd name="T87" fmla="*/ 111 h 122"/>
                <a:gd name="T88" fmla="*/ 11 w 129"/>
                <a:gd name="T89" fmla="*/ 116 h 122"/>
                <a:gd name="T90" fmla="*/ 7 w 129"/>
                <a:gd name="T91" fmla="*/ 104 h 122"/>
                <a:gd name="T92" fmla="*/ 3 w 129"/>
                <a:gd name="T93" fmla="*/ 91 h 122"/>
                <a:gd name="T94" fmla="*/ 1 w 129"/>
                <a:gd name="T95" fmla="*/ 78 h 122"/>
                <a:gd name="T96" fmla="*/ 0 w 129"/>
                <a:gd name="T97" fmla="*/ 7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9" h="122">
                  <a:moveTo>
                    <a:pt x="0" y="70"/>
                  </a:moveTo>
                  <a:lnTo>
                    <a:pt x="0" y="65"/>
                  </a:lnTo>
                  <a:lnTo>
                    <a:pt x="0" y="60"/>
                  </a:lnTo>
                  <a:lnTo>
                    <a:pt x="0" y="54"/>
                  </a:lnTo>
                  <a:lnTo>
                    <a:pt x="0" y="50"/>
                  </a:lnTo>
                  <a:lnTo>
                    <a:pt x="1" y="38"/>
                  </a:lnTo>
                  <a:lnTo>
                    <a:pt x="3" y="26"/>
                  </a:lnTo>
                  <a:lnTo>
                    <a:pt x="6" y="11"/>
                  </a:lnTo>
                  <a:lnTo>
                    <a:pt x="10" y="2"/>
                  </a:lnTo>
                  <a:lnTo>
                    <a:pt x="20" y="9"/>
                  </a:lnTo>
                  <a:lnTo>
                    <a:pt x="31" y="19"/>
                  </a:lnTo>
                  <a:lnTo>
                    <a:pt x="41" y="30"/>
                  </a:lnTo>
                  <a:lnTo>
                    <a:pt x="48" y="37"/>
                  </a:lnTo>
                  <a:lnTo>
                    <a:pt x="47" y="38"/>
                  </a:lnTo>
                  <a:lnTo>
                    <a:pt x="45" y="41"/>
                  </a:lnTo>
                  <a:lnTo>
                    <a:pt x="44" y="43"/>
                  </a:lnTo>
                  <a:lnTo>
                    <a:pt x="42" y="46"/>
                  </a:lnTo>
                  <a:lnTo>
                    <a:pt x="51" y="41"/>
                  </a:lnTo>
                  <a:lnTo>
                    <a:pt x="62" y="40"/>
                  </a:lnTo>
                  <a:lnTo>
                    <a:pt x="72" y="41"/>
                  </a:lnTo>
                  <a:lnTo>
                    <a:pt x="81" y="46"/>
                  </a:lnTo>
                  <a:lnTo>
                    <a:pt x="84" y="40"/>
                  </a:lnTo>
                  <a:lnTo>
                    <a:pt x="88" y="33"/>
                  </a:lnTo>
                  <a:lnTo>
                    <a:pt x="92" y="26"/>
                  </a:lnTo>
                  <a:lnTo>
                    <a:pt x="98" y="19"/>
                  </a:lnTo>
                  <a:lnTo>
                    <a:pt x="105" y="13"/>
                  </a:lnTo>
                  <a:lnTo>
                    <a:pt x="112" y="7"/>
                  </a:lnTo>
                  <a:lnTo>
                    <a:pt x="119" y="3"/>
                  </a:lnTo>
                  <a:lnTo>
                    <a:pt x="128" y="0"/>
                  </a:lnTo>
                  <a:lnTo>
                    <a:pt x="129" y="34"/>
                  </a:lnTo>
                  <a:lnTo>
                    <a:pt x="126" y="71"/>
                  </a:lnTo>
                  <a:lnTo>
                    <a:pt x="120" y="102"/>
                  </a:lnTo>
                  <a:lnTo>
                    <a:pt x="112" y="122"/>
                  </a:lnTo>
                  <a:lnTo>
                    <a:pt x="101" y="114"/>
                  </a:lnTo>
                  <a:lnTo>
                    <a:pt x="89" y="101"/>
                  </a:lnTo>
                  <a:lnTo>
                    <a:pt x="79" y="88"/>
                  </a:lnTo>
                  <a:lnTo>
                    <a:pt x="74" y="75"/>
                  </a:lnTo>
                  <a:lnTo>
                    <a:pt x="69" y="77"/>
                  </a:lnTo>
                  <a:lnTo>
                    <a:pt x="64" y="78"/>
                  </a:lnTo>
                  <a:lnTo>
                    <a:pt x="57" y="77"/>
                  </a:lnTo>
                  <a:lnTo>
                    <a:pt x="52" y="74"/>
                  </a:lnTo>
                  <a:lnTo>
                    <a:pt x="47" y="87"/>
                  </a:lnTo>
                  <a:lnTo>
                    <a:pt x="37" y="99"/>
                  </a:lnTo>
                  <a:lnTo>
                    <a:pt x="24" y="111"/>
                  </a:lnTo>
                  <a:lnTo>
                    <a:pt x="11" y="116"/>
                  </a:lnTo>
                  <a:lnTo>
                    <a:pt x="7" y="104"/>
                  </a:lnTo>
                  <a:lnTo>
                    <a:pt x="3" y="91"/>
                  </a:lnTo>
                  <a:lnTo>
                    <a:pt x="1" y="78"/>
                  </a:lnTo>
                  <a:lnTo>
                    <a:pt x="0" y="7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3" name="Freeform 67"/>
            <p:cNvSpPr>
              <a:spLocks/>
            </p:cNvSpPr>
            <p:nvPr/>
          </p:nvSpPr>
          <p:spPr bwMode="auto">
            <a:xfrm>
              <a:off x="3670" y="2579"/>
              <a:ext cx="20" cy="85"/>
            </a:xfrm>
            <a:custGeom>
              <a:avLst/>
              <a:gdLst>
                <a:gd name="T0" fmla="*/ 58 w 58"/>
                <a:gd name="T1" fmla="*/ 255 h 255"/>
                <a:gd name="T2" fmla="*/ 55 w 58"/>
                <a:gd name="T3" fmla="*/ 252 h 255"/>
                <a:gd name="T4" fmla="*/ 52 w 58"/>
                <a:gd name="T5" fmla="*/ 251 h 255"/>
                <a:gd name="T6" fmla="*/ 50 w 58"/>
                <a:gd name="T7" fmla="*/ 249 h 255"/>
                <a:gd name="T8" fmla="*/ 47 w 58"/>
                <a:gd name="T9" fmla="*/ 248 h 255"/>
                <a:gd name="T10" fmla="*/ 41 w 58"/>
                <a:gd name="T11" fmla="*/ 228 h 255"/>
                <a:gd name="T12" fmla="*/ 34 w 58"/>
                <a:gd name="T13" fmla="*/ 198 h 255"/>
                <a:gd name="T14" fmla="*/ 27 w 58"/>
                <a:gd name="T15" fmla="*/ 163 h 255"/>
                <a:gd name="T16" fmla="*/ 20 w 58"/>
                <a:gd name="T17" fmla="*/ 123 h 255"/>
                <a:gd name="T18" fmla="*/ 13 w 58"/>
                <a:gd name="T19" fmla="*/ 85 h 255"/>
                <a:gd name="T20" fmla="*/ 7 w 58"/>
                <a:gd name="T21" fmla="*/ 49 h 255"/>
                <a:gd name="T22" fmla="*/ 3 w 58"/>
                <a:gd name="T23" fmla="*/ 19 h 255"/>
                <a:gd name="T24" fmla="*/ 0 w 58"/>
                <a:gd name="T25" fmla="*/ 0 h 255"/>
                <a:gd name="T26" fmla="*/ 6 w 58"/>
                <a:gd name="T27" fmla="*/ 21 h 255"/>
                <a:gd name="T28" fmla="*/ 11 w 58"/>
                <a:gd name="T29" fmla="*/ 52 h 255"/>
                <a:gd name="T30" fmla="*/ 20 w 58"/>
                <a:gd name="T31" fmla="*/ 92 h 255"/>
                <a:gd name="T32" fmla="*/ 28 w 58"/>
                <a:gd name="T33" fmla="*/ 133 h 255"/>
                <a:gd name="T34" fmla="*/ 37 w 58"/>
                <a:gd name="T35" fmla="*/ 175 h 255"/>
                <a:gd name="T36" fmla="*/ 45 w 58"/>
                <a:gd name="T37" fmla="*/ 212 h 255"/>
                <a:gd name="T38" fmla="*/ 52 w 58"/>
                <a:gd name="T39" fmla="*/ 239 h 255"/>
                <a:gd name="T40" fmla="*/ 58 w 58"/>
                <a:gd name="T41" fmla="*/ 25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 h="255">
                  <a:moveTo>
                    <a:pt x="58" y="255"/>
                  </a:moveTo>
                  <a:lnTo>
                    <a:pt x="55" y="252"/>
                  </a:lnTo>
                  <a:lnTo>
                    <a:pt x="52" y="251"/>
                  </a:lnTo>
                  <a:lnTo>
                    <a:pt x="50" y="249"/>
                  </a:lnTo>
                  <a:lnTo>
                    <a:pt x="47" y="248"/>
                  </a:lnTo>
                  <a:lnTo>
                    <a:pt x="41" y="228"/>
                  </a:lnTo>
                  <a:lnTo>
                    <a:pt x="34" y="198"/>
                  </a:lnTo>
                  <a:lnTo>
                    <a:pt x="27" y="163"/>
                  </a:lnTo>
                  <a:lnTo>
                    <a:pt x="20" y="123"/>
                  </a:lnTo>
                  <a:lnTo>
                    <a:pt x="13" y="85"/>
                  </a:lnTo>
                  <a:lnTo>
                    <a:pt x="7" y="49"/>
                  </a:lnTo>
                  <a:lnTo>
                    <a:pt x="3" y="19"/>
                  </a:lnTo>
                  <a:lnTo>
                    <a:pt x="0" y="0"/>
                  </a:lnTo>
                  <a:lnTo>
                    <a:pt x="6" y="21"/>
                  </a:lnTo>
                  <a:lnTo>
                    <a:pt x="11" y="52"/>
                  </a:lnTo>
                  <a:lnTo>
                    <a:pt x="20" y="92"/>
                  </a:lnTo>
                  <a:lnTo>
                    <a:pt x="28" y="133"/>
                  </a:lnTo>
                  <a:lnTo>
                    <a:pt x="37" y="175"/>
                  </a:lnTo>
                  <a:lnTo>
                    <a:pt x="45" y="212"/>
                  </a:lnTo>
                  <a:lnTo>
                    <a:pt x="52" y="239"/>
                  </a:lnTo>
                  <a:lnTo>
                    <a:pt x="58" y="25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4" name="Freeform 68"/>
            <p:cNvSpPr>
              <a:spLocks/>
            </p:cNvSpPr>
            <p:nvPr/>
          </p:nvSpPr>
          <p:spPr bwMode="auto">
            <a:xfrm>
              <a:off x="3756" y="2302"/>
              <a:ext cx="23" cy="23"/>
            </a:xfrm>
            <a:custGeom>
              <a:avLst/>
              <a:gdLst>
                <a:gd name="T0" fmla="*/ 68 w 68"/>
                <a:gd name="T1" fmla="*/ 69 h 69"/>
                <a:gd name="T2" fmla="*/ 60 w 68"/>
                <a:gd name="T3" fmla="*/ 64 h 69"/>
                <a:gd name="T4" fmla="*/ 51 w 68"/>
                <a:gd name="T5" fmla="*/ 58 h 69"/>
                <a:gd name="T6" fmla="*/ 41 w 68"/>
                <a:gd name="T7" fmla="*/ 51 h 69"/>
                <a:gd name="T8" fmla="*/ 31 w 68"/>
                <a:gd name="T9" fmla="*/ 45 h 69"/>
                <a:gd name="T10" fmla="*/ 21 w 68"/>
                <a:gd name="T11" fmla="*/ 39 h 69"/>
                <a:gd name="T12" fmla="*/ 13 w 68"/>
                <a:gd name="T13" fmla="*/ 34 h 69"/>
                <a:gd name="T14" fmla="*/ 6 w 68"/>
                <a:gd name="T15" fmla="*/ 28 h 69"/>
                <a:gd name="T16" fmla="*/ 0 w 68"/>
                <a:gd name="T17" fmla="*/ 24 h 69"/>
                <a:gd name="T18" fmla="*/ 2 w 68"/>
                <a:gd name="T19" fmla="*/ 18 h 69"/>
                <a:gd name="T20" fmla="*/ 4 w 68"/>
                <a:gd name="T21" fmla="*/ 11 h 69"/>
                <a:gd name="T22" fmla="*/ 6 w 68"/>
                <a:gd name="T23" fmla="*/ 4 h 69"/>
                <a:gd name="T24" fmla="*/ 6 w 68"/>
                <a:gd name="T25" fmla="*/ 0 h 69"/>
                <a:gd name="T26" fmla="*/ 13 w 68"/>
                <a:gd name="T27" fmla="*/ 7 h 69"/>
                <a:gd name="T28" fmla="*/ 20 w 68"/>
                <a:gd name="T29" fmla="*/ 17 h 69"/>
                <a:gd name="T30" fmla="*/ 30 w 68"/>
                <a:gd name="T31" fmla="*/ 27 h 69"/>
                <a:gd name="T32" fmla="*/ 38 w 68"/>
                <a:gd name="T33" fmla="*/ 38 h 69"/>
                <a:gd name="T34" fmla="*/ 47 w 68"/>
                <a:gd name="T35" fmla="*/ 49 h 69"/>
                <a:gd name="T36" fmla="*/ 55 w 68"/>
                <a:gd name="T37" fmla="*/ 58 h 69"/>
                <a:gd name="T38" fmla="*/ 63 w 68"/>
                <a:gd name="T39" fmla="*/ 65 h 69"/>
                <a:gd name="T40" fmla="*/ 68 w 68"/>
                <a:gd name="T4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69">
                  <a:moveTo>
                    <a:pt x="68" y="69"/>
                  </a:moveTo>
                  <a:lnTo>
                    <a:pt x="60" y="64"/>
                  </a:lnTo>
                  <a:lnTo>
                    <a:pt x="51" y="58"/>
                  </a:lnTo>
                  <a:lnTo>
                    <a:pt x="41" y="51"/>
                  </a:lnTo>
                  <a:lnTo>
                    <a:pt x="31" y="45"/>
                  </a:lnTo>
                  <a:lnTo>
                    <a:pt x="21" y="39"/>
                  </a:lnTo>
                  <a:lnTo>
                    <a:pt x="13" y="34"/>
                  </a:lnTo>
                  <a:lnTo>
                    <a:pt x="6" y="28"/>
                  </a:lnTo>
                  <a:lnTo>
                    <a:pt x="0" y="24"/>
                  </a:lnTo>
                  <a:lnTo>
                    <a:pt x="2" y="18"/>
                  </a:lnTo>
                  <a:lnTo>
                    <a:pt x="4" y="11"/>
                  </a:lnTo>
                  <a:lnTo>
                    <a:pt x="6" y="4"/>
                  </a:lnTo>
                  <a:lnTo>
                    <a:pt x="6" y="0"/>
                  </a:lnTo>
                  <a:lnTo>
                    <a:pt x="13" y="7"/>
                  </a:lnTo>
                  <a:lnTo>
                    <a:pt x="20" y="17"/>
                  </a:lnTo>
                  <a:lnTo>
                    <a:pt x="30" y="27"/>
                  </a:lnTo>
                  <a:lnTo>
                    <a:pt x="38" y="38"/>
                  </a:lnTo>
                  <a:lnTo>
                    <a:pt x="47" y="49"/>
                  </a:lnTo>
                  <a:lnTo>
                    <a:pt x="55" y="58"/>
                  </a:lnTo>
                  <a:lnTo>
                    <a:pt x="63" y="65"/>
                  </a:lnTo>
                  <a:lnTo>
                    <a:pt x="68" y="6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5" name="Freeform 69"/>
            <p:cNvSpPr>
              <a:spLocks/>
            </p:cNvSpPr>
            <p:nvPr/>
          </p:nvSpPr>
          <p:spPr bwMode="auto">
            <a:xfrm>
              <a:off x="3686" y="2184"/>
              <a:ext cx="11" cy="32"/>
            </a:xfrm>
            <a:custGeom>
              <a:avLst/>
              <a:gdLst>
                <a:gd name="T0" fmla="*/ 31 w 31"/>
                <a:gd name="T1" fmla="*/ 23 h 97"/>
                <a:gd name="T2" fmla="*/ 31 w 31"/>
                <a:gd name="T3" fmla="*/ 17 h 97"/>
                <a:gd name="T4" fmla="*/ 30 w 31"/>
                <a:gd name="T5" fmla="*/ 12 h 97"/>
                <a:gd name="T6" fmla="*/ 30 w 31"/>
                <a:gd name="T7" fmla="*/ 6 h 97"/>
                <a:gd name="T8" fmla="*/ 29 w 31"/>
                <a:gd name="T9" fmla="*/ 0 h 97"/>
                <a:gd name="T10" fmla="*/ 16 w 31"/>
                <a:gd name="T11" fmla="*/ 22 h 97"/>
                <a:gd name="T12" fmla="*/ 6 w 31"/>
                <a:gd name="T13" fmla="*/ 47 h 97"/>
                <a:gd name="T14" fmla="*/ 0 w 31"/>
                <a:gd name="T15" fmla="*/ 73 h 97"/>
                <a:gd name="T16" fmla="*/ 2 w 31"/>
                <a:gd name="T17" fmla="*/ 97 h 97"/>
                <a:gd name="T18" fmla="*/ 7 w 31"/>
                <a:gd name="T19" fmla="*/ 70 h 97"/>
                <a:gd name="T20" fmla="*/ 13 w 31"/>
                <a:gd name="T21" fmla="*/ 47 h 97"/>
                <a:gd name="T22" fmla="*/ 21 w 31"/>
                <a:gd name="T23" fmla="*/ 30 h 97"/>
                <a:gd name="T24" fmla="*/ 31 w 31"/>
                <a:gd name="T25" fmla="*/ 2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97">
                  <a:moveTo>
                    <a:pt x="31" y="23"/>
                  </a:moveTo>
                  <a:lnTo>
                    <a:pt x="31" y="17"/>
                  </a:lnTo>
                  <a:lnTo>
                    <a:pt x="30" y="12"/>
                  </a:lnTo>
                  <a:lnTo>
                    <a:pt x="30" y="6"/>
                  </a:lnTo>
                  <a:lnTo>
                    <a:pt x="29" y="0"/>
                  </a:lnTo>
                  <a:lnTo>
                    <a:pt x="16" y="22"/>
                  </a:lnTo>
                  <a:lnTo>
                    <a:pt x="6" y="47"/>
                  </a:lnTo>
                  <a:lnTo>
                    <a:pt x="0" y="73"/>
                  </a:lnTo>
                  <a:lnTo>
                    <a:pt x="2" y="97"/>
                  </a:lnTo>
                  <a:lnTo>
                    <a:pt x="7" y="70"/>
                  </a:lnTo>
                  <a:lnTo>
                    <a:pt x="13" y="47"/>
                  </a:lnTo>
                  <a:lnTo>
                    <a:pt x="21" y="30"/>
                  </a:lnTo>
                  <a:lnTo>
                    <a:pt x="31" y="2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6" name="Freeform 70"/>
            <p:cNvSpPr>
              <a:spLocks/>
            </p:cNvSpPr>
            <p:nvPr/>
          </p:nvSpPr>
          <p:spPr bwMode="auto">
            <a:xfrm>
              <a:off x="3596" y="2168"/>
              <a:ext cx="31" cy="62"/>
            </a:xfrm>
            <a:custGeom>
              <a:avLst/>
              <a:gdLst>
                <a:gd name="T0" fmla="*/ 93 w 93"/>
                <a:gd name="T1" fmla="*/ 6 h 187"/>
                <a:gd name="T2" fmla="*/ 88 w 93"/>
                <a:gd name="T3" fmla="*/ 4 h 187"/>
                <a:gd name="T4" fmla="*/ 81 w 93"/>
                <a:gd name="T5" fmla="*/ 3 h 187"/>
                <a:gd name="T6" fmla="*/ 75 w 93"/>
                <a:gd name="T7" fmla="*/ 2 h 187"/>
                <a:gd name="T8" fmla="*/ 68 w 93"/>
                <a:gd name="T9" fmla="*/ 0 h 187"/>
                <a:gd name="T10" fmla="*/ 55 w 93"/>
                <a:gd name="T11" fmla="*/ 23 h 187"/>
                <a:gd name="T12" fmla="*/ 42 w 93"/>
                <a:gd name="T13" fmla="*/ 50 h 187"/>
                <a:gd name="T14" fmla="*/ 31 w 93"/>
                <a:gd name="T15" fmla="*/ 78 h 187"/>
                <a:gd name="T16" fmla="*/ 23 w 93"/>
                <a:gd name="T17" fmla="*/ 106 h 187"/>
                <a:gd name="T18" fmla="*/ 14 w 93"/>
                <a:gd name="T19" fmla="*/ 133 h 187"/>
                <a:gd name="T20" fmla="*/ 8 w 93"/>
                <a:gd name="T21" fmla="*/ 157 h 187"/>
                <a:gd name="T22" fmla="*/ 3 w 93"/>
                <a:gd name="T23" fmla="*/ 176 h 187"/>
                <a:gd name="T24" fmla="*/ 0 w 93"/>
                <a:gd name="T25" fmla="*/ 187 h 187"/>
                <a:gd name="T26" fmla="*/ 11 w 93"/>
                <a:gd name="T27" fmla="*/ 162 h 187"/>
                <a:gd name="T28" fmla="*/ 24 w 93"/>
                <a:gd name="T29" fmla="*/ 133 h 187"/>
                <a:gd name="T30" fmla="*/ 38 w 93"/>
                <a:gd name="T31" fmla="*/ 105 h 187"/>
                <a:gd name="T32" fmla="*/ 52 w 93"/>
                <a:gd name="T33" fmla="*/ 78 h 187"/>
                <a:gd name="T34" fmla="*/ 65 w 93"/>
                <a:gd name="T35" fmla="*/ 53 h 187"/>
                <a:gd name="T36" fmla="*/ 78 w 93"/>
                <a:gd name="T37" fmla="*/ 31 h 187"/>
                <a:gd name="T38" fmla="*/ 88 w 93"/>
                <a:gd name="T39" fmla="*/ 16 h 187"/>
                <a:gd name="T40" fmla="*/ 93 w 93"/>
                <a:gd name="T41" fmla="*/ 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187">
                  <a:moveTo>
                    <a:pt x="93" y="6"/>
                  </a:moveTo>
                  <a:lnTo>
                    <a:pt x="88" y="4"/>
                  </a:lnTo>
                  <a:lnTo>
                    <a:pt x="81" y="3"/>
                  </a:lnTo>
                  <a:lnTo>
                    <a:pt x="75" y="2"/>
                  </a:lnTo>
                  <a:lnTo>
                    <a:pt x="68" y="0"/>
                  </a:lnTo>
                  <a:lnTo>
                    <a:pt x="55" y="23"/>
                  </a:lnTo>
                  <a:lnTo>
                    <a:pt x="42" y="50"/>
                  </a:lnTo>
                  <a:lnTo>
                    <a:pt x="31" y="78"/>
                  </a:lnTo>
                  <a:lnTo>
                    <a:pt x="23" y="106"/>
                  </a:lnTo>
                  <a:lnTo>
                    <a:pt x="14" y="133"/>
                  </a:lnTo>
                  <a:lnTo>
                    <a:pt x="8" y="157"/>
                  </a:lnTo>
                  <a:lnTo>
                    <a:pt x="3" y="176"/>
                  </a:lnTo>
                  <a:lnTo>
                    <a:pt x="0" y="187"/>
                  </a:lnTo>
                  <a:lnTo>
                    <a:pt x="11" y="162"/>
                  </a:lnTo>
                  <a:lnTo>
                    <a:pt x="24" y="133"/>
                  </a:lnTo>
                  <a:lnTo>
                    <a:pt x="38" y="105"/>
                  </a:lnTo>
                  <a:lnTo>
                    <a:pt x="52" y="78"/>
                  </a:lnTo>
                  <a:lnTo>
                    <a:pt x="65" y="53"/>
                  </a:lnTo>
                  <a:lnTo>
                    <a:pt x="78" y="31"/>
                  </a:lnTo>
                  <a:lnTo>
                    <a:pt x="88" y="16"/>
                  </a:lnTo>
                  <a:lnTo>
                    <a:pt x="93" y="6"/>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7" name="Freeform 71"/>
            <p:cNvSpPr>
              <a:spLocks/>
            </p:cNvSpPr>
            <p:nvPr/>
          </p:nvSpPr>
          <p:spPr bwMode="auto">
            <a:xfrm>
              <a:off x="3132" y="2180"/>
              <a:ext cx="499" cy="539"/>
            </a:xfrm>
            <a:custGeom>
              <a:avLst/>
              <a:gdLst>
                <a:gd name="T0" fmla="*/ 1110 w 1495"/>
                <a:gd name="T1" fmla="*/ 349 h 1615"/>
                <a:gd name="T2" fmla="*/ 1108 w 1495"/>
                <a:gd name="T3" fmla="*/ 378 h 1615"/>
                <a:gd name="T4" fmla="*/ 1110 w 1495"/>
                <a:gd name="T5" fmla="*/ 470 h 1615"/>
                <a:gd name="T6" fmla="*/ 1103 w 1495"/>
                <a:gd name="T7" fmla="*/ 577 h 1615"/>
                <a:gd name="T8" fmla="*/ 1159 w 1495"/>
                <a:gd name="T9" fmla="*/ 701 h 1615"/>
                <a:gd name="T10" fmla="*/ 1223 w 1495"/>
                <a:gd name="T11" fmla="*/ 922 h 1615"/>
                <a:gd name="T12" fmla="*/ 1316 w 1495"/>
                <a:gd name="T13" fmla="*/ 1109 h 1615"/>
                <a:gd name="T14" fmla="*/ 1370 w 1495"/>
                <a:gd name="T15" fmla="*/ 1272 h 1615"/>
                <a:gd name="T16" fmla="*/ 1413 w 1495"/>
                <a:gd name="T17" fmla="*/ 1384 h 1615"/>
                <a:gd name="T18" fmla="*/ 1476 w 1495"/>
                <a:gd name="T19" fmla="*/ 1512 h 1615"/>
                <a:gd name="T20" fmla="*/ 1495 w 1495"/>
                <a:gd name="T21" fmla="*/ 1573 h 1615"/>
                <a:gd name="T22" fmla="*/ 1459 w 1495"/>
                <a:gd name="T23" fmla="*/ 1600 h 1615"/>
                <a:gd name="T24" fmla="*/ 1414 w 1495"/>
                <a:gd name="T25" fmla="*/ 1614 h 1615"/>
                <a:gd name="T26" fmla="*/ 1349 w 1495"/>
                <a:gd name="T27" fmla="*/ 1602 h 1615"/>
                <a:gd name="T28" fmla="*/ 1244 w 1495"/>
                <a:gd name="T29" fmla="*/ 1597 h 1615"/>
                <a:gd name="T30" fmla="*/ 1208 w 1495"/>
                <a:gd name="T31" fmla="*/ 1520 h 1615"/>
                <a:gd name="T32" fmla="*/ 1159 w 1495"/>
                <a:gd name="T33" fmla="*/ 1481 h 1615"/>
                <a:gd name="T34" fmla="*/ 1149 w 1495"/>
                <a:gd name="T35" fmla="*/ 1425 h 1615"/>
                <a:gd name="T36" fmla="*/ 1105 w 1495"/>
                <a:gd name="T37" fmla="*/ 1432 h 1615"/>
                <a:gd name="T38" fmla="*/ 1045 w 1495"/>
                <a:gd name="T39" fmla="*/ 1451 h 1615"/>
                <a:gd name="T40" fmla="*/ 980 w 1495"/>
                <a:gd name="T41" fmla="*/ 1502 h 1615"/>
                <a:gd name="T42" fmla="*/ 920 w 1495"/>
                <a:gd name="T43" fmla="*/ 1500 h 1615"/>
                <a:gd name="T44" fmla="*/ 854 w 1495"/>
                <a:gd name="T45" fmla="*/ 1505 h 1615"/>
                <a:gd name="T46" fmla="*/ 952 w 1495"/>
                <a:gd name="T47" fmla="*/ 1309 h 1615"/>
                <a:gd name="T48" fmla="*/ 936 w 1495"/>
                <a:gd name="T49" fmla="*/ 1264 h 1615"/>
                <a:gd name="T50" fmla="*/ 868 w 1495"/>
                <a:gd name="T51" fmla="*/ 1254 h 1615"/>
                <a:gd name="T52" fmla="*/ 779 w 1495"/>
                <a:gd name="T53" fmla="*/ 1305 h 1615"/>
                <a:gd name="T54" fmla="*/ 716 w 1495"/>
                <a:gd name="T55" fmla="*/ 1344 h 1615"/>
                <a:gd name="T56" fmla="*/ 706 w 1495"/>
                <a:gd name="T57" fmla="*/ 1400 h 1615"/>
                <a:gd name="T58" fmla="*/ 651 w 1495"/>
                <a:gd name="T59" fmla="*/ 1516 h 1615"/>
                <a:gd name="T60" fmla="*/ 600 w 1495"/>
                <a:gd name="T61" fmla="*/ 1571 h 1615"/>
                <a:gd name="T62" fmla="*/ 458 w 1495"/>
                <a:gd name="T63" fmla="*/ 1573 h 1615"/>
                <a:gd name="T64" fmla="*/ 336 w 1495"/>
                <a:gd name="T65" fmla="*/ 1431 h 1615"/>
                <a:gd name="T66" fmla="*/ 292 w 1495"/>
                <a:gd name="T67" fmla="*/ 1408 h 1615"/>
                <a:gd name="T68" fmla="*/ 252 w 1495"/>
                <a:gd name="T69" fmla="*/ 1462 h 1615"/>
                <a:gd name="T70" fmla="*/ 232 w 1495"/>
                <a:gd name="T71" fmla="*/ 1439 h 1615"/>
                <a:gd name="T72" fmla="*/ 190 w 1495"/>
                <a:gd name="T73" fmla="*/ 1415 h 1615"/>
                <a:gd name="T74" fmla="*/ 99 w 1495"/>
                <a:gd name="T75" fmla="*/ 1306 h 1615"/>
                <a:gd name="T76" fmla="*/ 62 w 1495"/>
                <a:gd name="T77" fmla="*/ 1262 h 1615"/>
                <a:gd name="T78" fmla="*/ 32 w 1495"/>
                <a:gd name="T79" fmla="*/ 1240 h 1615"/>
                <a:gd name="T80" fmla="*/ 18 w 1495"/>
                <a:gd name="T81" fmla="*/ 1183 h 1615"/>
                <a:gd name="T82" fmla="*/ 93 w 1495"/>
                <a:gd name="T83" fmla="*/ 1133 h 1615"/>
                <a:gd name="T84" fmla="*/ 231 w 1495"/>
                <a:gd name="T85" fmla="*/ 1057 h 1615"/>
                <a:gd name="T86" fmla="*/ 295 w 1495"/>
                <a:gd name="T87" fmla="*/ 950 h 1615"/>
                <a:gd name="T88" fmla="*/ 391 w 1495"/>
                <a:gd name="T89" fmla="*/ 926 h 1615"/>
                <a:gd name="T90" fmla="*/ 479 w 1495"/>
                <a:gd name="T91" fmla="*/ 908 h 1615"/>
                <a:gd name="T92" fmla="*/ 537 w 1495"/>
                <a:gd name="T93" fmla="*/ 894 h 1615"/>
                <a:gd name="T94" fmla="*/ 574 w 1495"/>
                <a:gd name="T95" fmla="*/ 872 h 1615"/>
                <a:gd name="T96" fmla="*/ 647 w 1495"/>
                <a:gd name="T97" fmla="*/ 811 h 1615"/>
                <a:gd name="T98" fmla="*/ 712 w 1495"/>
                <a:gd name="T99" fmla="*/ 726 h 1615"/>
                <a:gd name="T100" fmla="*/ 811 w 1495"/>
                <a:gd name="T101" fmla="*/ 619 h 1615"/>
                <a:gd name="T102" fmla="*/ 817 w 1495"/>
                <a:gd name="T103" fmla="*/ 508 h 1615"/>
                <a:gd name="T104" fmla="*/ 848 w 1495"/>
                <a:gd name="T105" fmla="*/ 461 h 1615"/>
                <a:gd name="T106" fmla="*/ 896 w 1495"/>
                <a:gd name="T107" fmla="*/ 273 h 1615"/>
                <a:gd name="T108" fmla="*/ 859 w 1495"/>
                <a:gd name="T109" fmla="*/ 132 h 1615"/>
                <a:gd name="T110" fmla="*/ 825 w 1495"/>
                <a:gd name="T111" fmla="*/ 42 h 1615"/>
                <a:gd name="T112" fmla="*/ 739 w 1495"/>
                <a:gd name="T113" fmla="*/ 22 h 1615"/>
                <a:gd name="T114" fmla="*/ 756 w 1495"/>
                <a:gd name="T115" fmla="*/ 5 h 1615"/>
                <a:gd name="T116" fmla="*/ 820 w 1495"/>
                <a:gd name="T117" fmla="*/ 19 h 1615"/>
                <a:gd name="T118" fmla="*/ 889 w 1495"/>
                <a:gd name="T119" fmla="*/ 111 h 1615"/>
                <a:gd name="T120" fmla="*/ 979 w 1495"/>
                <a:gd name="T121" fmla="*/ 188 h 1615"/>
                <a:gd name="T122" fmla="*/ 1098 w 1495"/>
                <a:gd name="T123" fmla="*/ 227 h 1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95" h="1615">
                  <a:moveTo>
                    <a:pt x="1110" y="246"/>
                  </a:moveTo>
                  <a:lnTo>
                    <a:pt x="1123" y="266"/>
                  </a:lnTo>
                  <a:lnTo>
                    <a:pt x="1129" y="284"/>
                  </a:lnTo>
                  <a:lnTo>
                    <a:pt x="1129" y="302"/>
                  </a:lnTo>
                  <a:lnTo>
                    <a:pt x="1126" y="319"/>
                  </a:lnTo>
                  <a:lnTo>
                    <a:pt x="1119" y="336"/>
                  </a:lnTo>
                  <a:lnTo>
                    <a:pt x="1110" y="349"/>
                  </a:lnTo>
                  <a:lnTo>
                    <a:pt x="1102" y="361"/>
                  </a:lnTo>
                  <a:lnTo>
                    <a:pt x="1095" y="369"/>
                  </a:lnTo>
                  <a:lnTo>
                    <a:pt x="1099" y="368"/>
                  </a:lnTo>
                  <a:lnTo>
                    <a:pt x="1102" y="366"/>
                  </a:lnTo>
                  <a:lnTo>
                    <a:pt x="1106" y="365"/>
                  </a:lnTo>
                  <a:lnTo>
                    <a:pt x="1109" y="363"/>
                  </a:lnTo>
                  <a:lnTo>
                    <a:pt x="1108" y="378"/>
                  </a:lnTo>
                  <a:lnTo>
                    <a:pt x="1109" y="400"/>
                  </a:lnTo>
                  <a:lnTo>
                    <a:pt x="1110" y="423"/>
                  </a:lnTo>
                  <a:lnTo>
                    <a:pt x="1110" y="437"/>
                  </a:lnTo>
                  <a:lnTo>
                    <a:pt x="1109" y="446"/>
                  </a:lnTo>
                  <a:lnTo>
                    <a:pt x="1109" y="454"/>
                  </a:lnTo>
                  <a:lnTo>
                    <a:pt x="1109" y="463"/>
                  </a:lnTo>
                  <a:lnTo>
                    <a:pt x="1110" y="470"/>
                  </a:lnTo>
                  <a:lnTo>
                    <a:pt x="1115" y="487"/>
                  </a:lnTo>
                  <a:lnTo>
                    <a:pt x="1115" y="504"/>
                  </a:lnTo>
                  <a:lnTo>
                    <a:pt x="1110" y="522"/>
                  </a:lnTo>
                  <a:lnTo>
                    <a:pt x="1103" y="539"/>
                  </a:lnTo>
                  <a:lnTo>
                    <a:pt x="1099" y="553"/>
                  </a:lnTo>
                  <a:lnTo>
                    <a:pt x="1101" y="566"/>
                  </a:lnTo>
                  <a:lnTo>
                    <a:pt x="1103" y="577"/>
                  </a:lnTo>
                  <a:lnTo>
                    <a:pt x="1106" y="586"/>
                  </a:lnTo>
                  <a:lnTo>
                    <a:pt x="1113" y="599"/>
                  </a:lnTo>
                  <a:lnTo>
                    <a:pt x="1123" y="617"/>
                  </a:lnTo>
                  <a:lnTo>
                    <a:pt x="1135" y="640"/>
                  </a:lnTo>
                  <a:lnTo>
                    <a:pt x="1146" y="661"/>
                  </a:lnTo>
                  <a:lnTo>
                    <a:pt x="1153" y="678"/>
                  </a:lnTo>
                  <a:lnTo>
                    <a:pt x="1159" y="701"/>
                  </a:lnTo>
                  <a:lnTo>
                    <a:pt x="1164" y="729"/>
                  </a:lnTo>
                  <a:lnTo>
                    <a:pt x="1171" y="762"/>
                  </a:lnTo>
                  <a:lnTo>
                    <a:pt x="1179" y="796"/>
                  </a:lnTo>
                  <a:lnTo>
                    <a:pt x="1187" y="830"/>
                  </a:lnTo>
                  <a:lnTo>
                    <a:pt x="1197" y="864"/>
                  </a:lnTo>
                  <a:lnTo>
                    <a:pt x="1210" y="896"/>
                  </a:lnTo>
                  <a:lnTo>
                    <a:pt x="1223" y="922"/>
                  </a:lnTo>
                  <a:lnTo>
                    <a:pt x="1237" y="950"/>
                  </a:lnTo>
                  <a:lnTo>
                    <a:pt x="1251" y="980"/>
                  </a:lnTo>
                  <a:lnTo>
                    <a:pt x="1266" y="1011"/>
                  </a:lnTo>
                  <a:lnTo>
                    <a:pt x="1282" y="1041"/>
                  </a:lnTo>
                  <a:lnTo>
                    <a:pt x="1295" y="1068"/>
                  </a:lnTo>
                  <a:lnTo>
                    <a:pt x="1308" y="1091"/>
                  </a:lnTo>
                  <a:lnTo>
                    <a:pt x="1316" y="1109"/>
                  </a:lnTo>
                  <a:lnTo>
                    <a:pt x="1325" y="1129"/>
                  </a:lnTo>
                  <a:lnTo>
                    <a:pt x="1333" y="1156"/>
                  </a:lnTo>
                  <a:lnTo>
                    <a:pt x="1344" y="1187"/>
                  </a:lnTo>
                  <a:lnTo>
                    <a:pt x="1354" y="1223"/>
                  </a:lnTo>
                  <a:lnTo>
                    <a:pt x="1359" y="1240"/>
                  </a:lnTo>
                  <a:lnTo>
                    <a:pt x="1364" y="1255"/>
                  </a:lnTo>
                  <a:lnTo>
                    <a:pt x="1370" y="1272"/>
                  </a:lnTo>
                  <a:lnTo>
                    <a:pt x="1374" y="1289"/>
                  </a:lnTo>
                  <a:lnTo>
                    <a:pt x="1380" y="1305"/>
                  </a:lnTo>
                  <a:lnTo>
                    <a:pt x="1386" y="1319"/>
                  </a:lnTo>
                  <a:lnTo>
                    <a:pt x="1391" y="1335"/>
                  </a:lnTo>
                  <a:lnTo>
                    <a:pt x="1397" y="1347"/>
                  </a:lnTo>
                  <a:lnTo>
                    <a:pt x="1404" y="1363"/>
                  </a:lnTo>
                  <a:lnTo>
                    <a:pt x="1413" y="1384"/>
                  </a:lnTo>
                  <a:lnTo>
                    <a:pt x="1424" y="1407"/>
                  </a:lnTo>
                  <a:lnTo>
                    <a:pt x="1435" y="1432"/>
                  </a:lnTo>
                  <a:lnTo>
                    <a:pt x="1447" y="1455"/>
                  </a:lnTo>
                  <a:lnTo>
                    <a:pt x="1457" y="1478"/>
                  </a:lnTo>
                  <a:lnTo>
                    <a:pt x="1466" y="1493"/>
                  </a:lnTo>
                  <a:lnTo>
                    <a:pt x="1472" y="1505"/>
                  </a:lnTo>
                  <a:lnTo>
                    <a:pt x="1476" y="1512"/>
                  </a:lnTo>
                  <a:lnTo>
                    <a:pt x="1481" y="1520"/>
                  </a:lnTo>
                  <a:lnTo>
                    <a:pt x="1485" y="1530"/>
                  </a:lnTo>
                  <a:lnTo>
                    <a:pt x="1488" y="1540"/>
                  </a:lnTo>
                  <a:lnTo>
                    <a:pt x="1489" y="1550"/>
                  </a:lnTo>
                  <a:lnTo>
                    <a:pt x="1492" y="1559"/>
                  </a:lnTo>
                  <a:lnTo>
                    <a:pt x="1493" y="1567"/>
                  </a:lnTo>
                  <a:lnTo>
                    <a:pt x="1495" y="1573"/>
                  </a:lnTo>
                  <a:lnTo>
                    <a:pt x="1495" y="1583"/>
                  </a:lnTo>
                  <a:lnTo>
                    <a:pt x="1491" y="1591"/>
                  </a:lnTo>
                  <a:lnTo>
                    <a:pt x="1482" y="1595"/>
                  </a:lnTo>
                  <a:lnTo>
                    <a:pt x="1474" y="1597"/>
                  </a:lnTo>
                  <a:lnTo>
                    <a:pt x="1469" y="1597"/>
                  </a:lnTo>
                  <a:lnTo>
                    <a:pt x="1464" y="1598"/>
                  </a:lnTo>
                  <a:lnTo>
                    <a:pt x="1459" y="1600"/>
                  </a:lnTo>
                  <a:lnTo>
                    <a:pt x="1454" y="1601"/>
                  </a:lnTo>
                  <a:lnTo>
                    <a:pt x="1448" y="1604"/>
                  </a:lnTo>
                  <a:lnTo>
                    <a:pt x="1442" y="1607"/>
                  </a:lnTo>
                  <a:lnTo>
                    <a:pt x="1435" y="1608"/>
                  </a:lnTo>
                  <a:lnTo>
                    <a:pt x="1430" y="1611"/>
                  </a:lnTo>
                  <a:lnTo>
                    <a:pt x="1422" y="1612"/>
                  </a:lnTo>
                  <a:lnTo>
                    <a:pt x="1414" y="1614"/>
                  </a:lnTo>
                  <a:lnTo>
                    <a:pt x="1404" y="1615"/>
                  </a:lnTo>
                  <a:lnTo>
                    <a:pt x="1394" y="1614"/>
                  </a:lnTo>
                  <a:lnTo>
                    <a:pt x="1384" y="1614"/>
                  </a:lnTo>
                  <a:lnTo>
                    <a:pt x="1373" y="1612"/>
                  </a:lnTo>
                  <a:lnTo>
                    <a:pt x="1364" y="1610"/>
                  </a:lnTo>
                  <a:lnTo>
                    <a:pt x="1357" y="1605"/>
                  </a:lnTo>
                  <a:lnTo>
                    <a:pt x="1349" y="1602"/>
                  </a:lnTo>
                  <a:lnTo>
                    <a:pt x="1335" y="1600"/>
                  </a:lnTo>
                  <a:lnTo>
                    <a:pt x="1318" y="1598"/>
                  </a:lnTo>
                  <a:lnTo>
                    <a:pt x="1299" y="1598"/>
                  </a:lnTo>
                  <a:lnTo>
                    <a:pt x="1282" y="1598"/>
                  </a:lnTo>
                  <a:lnTo>
                    <a:pt x="1265" y="1598"/>
                  </a:lnTo>
                  <a:lnTo>
                    <a:pt x="1252" y="1598"/>
                  </a:lnTo>
                  <a:lnTo>
                    <a:pt x="1244" y="1597"/>
                  </a:lnTo>
                  <a:lnTo>
                    <a:pt x="1235" y="1587"/>
                  </a:lnTo>
                  <a:lnTo>
                    <a:pt x="1232" y="1568"/>
                  </a:lnTo>
                  <a:lnTo>
                    <a:pt x="1230" y="1547"/>
                  </a:lnTo>
                  <a:lnTo>
                    <a:pt x="1228" y="1530"/>
                  </a:lnTo>
                  <a:lnTo>
                    <a:pt x="1223" y="1527"/>
                  </a:lnTo>
                  <a:lnTo>
                    <a:pt x="1217" y="1525"/>
                  </a:lnTo>
                  <a:lnTo>
                    <a:pt x="1208" y="1520"/>
                  </a:lnTo>
                  <a:lnTo>
                    <a:pt x="1200" y="1516"/>
                  </a:lnTo>
                  <a:lnTo>
                    <a:pt x="1194" y="1513"/>
                  </a:lnTo>
                  <a:lnTo>
                    <a:pt x="1187" y="1510"/>
                  </a:lnTo>
                  <a:lnTo>
                    <a:pt x="1181" y="1507"/>
                  </a:lnTo>
                  <a:lnTo>
                    <a:pt x="1174" y="1505"/>
                  </a:lnTo>
                  <a:lnTo>
                    <a:pt x="1163" y="1496"/>
                  </a:lnTo>
                  <a:lnTo>
                    <a:pt x="1159" y="1481"/>
                  </a:lnTo>
                  <a:lnTo>
                    <a:pt x="1159" y="1466"/>
                  </a:lnTo>
                  <a:lnTo>
                    <a:pt x="1164" y="1454"/>
                  </a:lnTo>
                  <a:lnTo>
                    <a:pt x="1163" y="1448"/>
                  </a:lnTo>
                  <a:lnTo>
                    <a:pt x="1162" y="1438"/>
                  </a:lnTo>
                  <a:lnTo>
                    <a:pt x="1159" y="1430"/>
                  </a:lnTo>
                  <a:lnTo>
                    <a:pt x="1156" y="1421"/>
                  </a:lnTo>
                  <a:lnTo>
                    <a:pt x="1149" y="1425"/>
                  </a:lnTo>
                  <a:lnTo>
                    <a:pt x="1142" y="1428"/>
                  </a:lnTo>
                  <a:lnTo>
                    <a:pt x="1135" y="1430"/>
                  </a:lnTo>
                  <a:lnTo>
                    <a:pt x="1126" y="1431"/>
                  </a:lnTo>
                  <a:lnTo>
                    <a:pt x="1120" y="1431"/>
                  </a:lnTo>
                  <a:lnTo>
                    <a:pt x="1116" y="1432"/>
                  </a:lnTo>
                  <a:lnTo>
                    <a:pt x="1110" y="1432"/>
                  </a:lnTo>
                  <a:lnTo>
                    <a:pt x="1105" y="1432"/>
                  </a:lnTo>
                  <a:lnTo>
                    <a:pt x="1098" y="1434"/>
                  </a:lnTo>
                  <a:lnTo>
                    <a:pt x="1092" y="1434"/>
                  </a:lnTo>
                  <a:lnTo>
                    <a:pt x="1088" y="1434"/>
                  </a:lnTo>
                  <a:lnTo>
                    <a:pt x="1082" y="1434"/>
                  </a:lnTo>
                  <a:lnTo>
                    <a:pt x="1071" y="1437"/>
                  </a:lnTo>
                  <a:lnTo>
                    <a:pt x="1059" y="1442"/>
                  </a:lnTo>
                  <a:lnTo>
                    <a:pt x="1045" y="1451"/>
                  </a:lnTo>
                  <a:lnTo>
                    <a:pt x="1032" y="1461"/>
                  </a:lnTo>
                  <a:lnTo>
                    <a:pt x="1020" y="1471"/>
                  </a:lnTo>
                  <a:lnTo>
                    <a:pt x="1008" y="1481"/>
                  </a:lnTo>
                  <a:lnTo>
                    <a:pt x="1000" y="1489"/>
                  </a:lnTo>
                  <a:lnTo>
                    <a:pt x="993" y="1495"/>
                  </a:lnTo>
                  <a:lnTo>
                    <a:pt x="987" y="1499"/>
                  </a:lnTo>
                  <a:lnTo>
                    <a:pt x="980" y="1502"/>
                  </a:lnTo>
                  <a:lnTo>
                    <a:pt x="973" y="1503"/>
                  </a:lnTo>
                  <a:lnTo>
                    <a:pt x="966" y="1505"/>
                  </a:lnTo>
                  <a:lnTo>
                    <a:pt x="957" y="1505"/>
                  </a:lnTo>
                  <a:lnTo>
                    <a:pt x="947" y="1505"/>
                  </a:lnTo>
                  <a:lnTo>
                    <a:pt x="939" y="1503"/>
                  </a:lnTo>
                  <a:lnTo>
                    <a:pt x="929" y="1502"/>
                  </a:lnTo>
                  <a:lnTo>
                    <a:pt x="920" y="1500"/>
                  </a:lnTo>
                  <a:lnTo>
                    <a:pt x="912" y="1499"/>
                  </a:lnTo>
                  <a:lnTo>
                    <a:pt x="903" y="1499"/>
                  </a:lnTo>
                  <a:lnTo>
                    <a:pt x="895" y="1499"/>
                  </a:lnTo>
                  <a:lnTo>
                    <a:pt x="885" y="1500"/>
                  </a:lnTo>
                  <a:lnTo>
                    <a:pt x="876" y="1502"/>
                  </a:lnTo>
                  <a:lnTo>
                    <a:pt x="865" y="1503"/>
                  </a:lnTo>
                  <a:lnTo>
                    <a:pt x="854" y="1505"/>
                  </a:lnTo>
                  <a:lnTo>
                    <a:pt x="866" y="1485"/>
                  </a:lnTo>
                  <a:lnTo>
                    <a:pt x="882" y="1458"/>
                  </a:lnTo>
                  <a:lnTo>
                    <a:pt x="898" y="1427"/>
                  </a:lnTo>
                  <a:lnTo>
                    <a:pt x="913" y="1393"/>
                  </a:lnTo>
                  <a:lnTo>
                    <a:pt x="929" y="1360"/>
                  </a:lnTo>
                  <a:lnTo>
                    <a:pt x="942" y="1332"/>
                  </a:lnTo>
                  <a:lnTo>
                    <a:pt x="952" y="1309"/>
                  </a:lnTo>
                  <a:lnTo>
                    <a:pt x="959" y="1295"/>
                  </a:lnTo>
                  <a:lnTo>
                    <a:pt x="957" y="1291"/>
                  </a:lnTo>
                  <a:lnTo>
                    <a:pt x="954" y="1288"/>
                  </a:lnTo>
                  <a:lnTo>
                    <a:pt x="953" y="1285"/>
                  </a:lnTo>
                  <a:lnTo>
                    <a:pt x="950" y="1282"/>
                  </a:lnTo>
                  <a:lnTo>
                    <a:pt x="943" y="1272"/>
                  </a:lnTo>
                  <a:lnTo>
                    <a:pt x="936" y="1264"/>
                  </a:lnTo>
                  <a:lnTo>
                    <a:pt x="927" y="1258"/>
                  </a:lnTo>
                  <a:lnTo>
                    <a:pt x="920" y="1254"/>
                  </a:lnTo>
                  <a:lnTo>
                    <a:pt x="910" y="1251"/>
                  </a:lnTo>
                  <a:lnTo>
                    <a:pt x="902" y="1249"/>
                  </a:lnTo>
                  <a:lnTo>
                    <a:pt x="892" y="1249"/>
                  </a:lnTo>
                  <a:lnTo>
                    <a:pt x="881" y="1251"/>
                  </a:lnTo>
                  <a:lnTo>
                    <a:pt x="868" y="1254"/>
                  </a:lnTo>
                  <a:lnTo>
                    <a:pt x="854" y="1258"/>
                  </a:lnTo>
                  <a:lnTo>
                    <a:pt x="840" y="1264"/>
                  </a:lnTo>
                  <a:lnTo>
                    <a:pt x="825" y="1271"/>
                  </a:lnTo>
                  <a:lnTo>
                    <a:pt x="813" y="1279"/>
                  </a:lnTo>
                  <a:lnTo>
                    <a:pt x="800" y="1288"/>
                  </a:lnTo>
                  <a:lnTo>
                    <a:pt x="788" y="1296"/>
                  </a:lnTo>
                  <a:lnTo>
                    <a:pt x="779" y="1305"/>
                  </a:lnTo>
                  <a:lnTo>
                    <a:pt x="770" y="1312"/>
                  </a:lnTo>
                  <a:lnTo>
                    <a:pt x="760" y="1319"/>
                  </a:lnTo>
                  <a:lnTo>
                    <a:pt x="752" y="1326"/>
                  </a:lnTo>
                  <a:lnTo>
                    <a:pt x="742" y="1332"/>
                  </a:lnTo>
                  <a:lnTo>
                    <a:pt x="733" y="1337"/>
                  </a:lnTo>
                  <a:lnTo>
                    <a:pt x="725" y="1342"/>
                  </a:lnTo>
                  <a:lnTo>
                    <a:pt x="716" y="1344"/>
                  </a:lnTo>
                  <a:lnTo>
                    <a:pt x="709" y="1346"/>
                  </a:lnTo>
                  <a:lnTo>
                    <a:pt x="705" y="1353"/>
                  </a:lnTo>
                  <a:lnTo>
                    <a:pt x="703" y="1367"/>
                  </a:lnTo>
                  <a:lnTo>
                    <a:pt x="703" y="1381"/>
                  </a:lnTo>
                  <a:lnTo>
                    <a:pt x="703" y="1388"/>
                  </a:lnTo>
                  <a:lnTo>
                    <a:pt x="706" y="1394"/>
                  </a:lnTo>
                  <a:lnTo>
                    <a:pt x="706" y="1400"/>
                  </a:lnTo>
                  <a:lnTo>
                    <a:pt x="701" y="1404"/>
                  </a:lnTo>
                  <a:lnTo>
                    <a:pt x="695" y="1410"/>
                  </a:lnTo>
                  <a:lnTo>
                    <a:pt x="688" y="1422"/>
                  </a:lnTo>
                  <a:lnTo>
                    <a:pt x="676" y="1449"/>
                  </a:lnTo>
                  <a:lnTo>
                    <a:pt x="664" y="1479"/>
                  </a:lnTo>
                  <a:lnTo>
                    <a:pt x="654" y="1507"/>
                  </a:lnTo>
                  <a:lnTo>
                    <a:pt x="651" y="1516"/>
                  </a:lnTo>
                  <a:lnTo>
                    <a:pt x="647" y="1525"/>
                  </a:lnTo>
                  <a:lnTo>
                    <a:pt x="642" y="1530"/>
                  </a:lnTo>
                  <a:lnTo>
                    <a:pt x="640" y="1534"/>
                  </a:lnTo>
                  <a:lnTo>
                    <a:pt x="632" y="1542"/>
                  </a:lnTo>
                  <a:lnTo>
                    <a:pt x="624" y="1550"/>
                  </a:lnTo>
                  <a:lnTo>
                    <a:pt x="613" y="1560"/>
                  </a:lnTo>
                  <a:lnTo>
                    <a:pt x="600" y="1571"/>
                  </a:lnTo>
                  <a:lnTo>
                    <a:pt x="587" y="1581"/>
                  </a:lnTo>
                  <a:lnTo>
                    <a:pt x="574" y="1591"/>
                  </a:lnTo>
                  <a:lnTo>
                    <a:pt x="563" y="1598"/>
                  </a:lnTo>
                  <a:lnTo>
                    <a:pt x="554" y="1604"/>
                  </a:lnTo>
                  <a:lnTo>
                    <a:pt x="520" y="1600"/>
                  </a:lnTo>
                  <a:lnTo>
                    <a:pt x="489" y="1590"/>
                  </a:lnTo>
                  <a:lnTo>
                    <a:pt x="458" y="1573"/>
                  </a:lnTo>
                  <a:lnTo>
                    <a:pt x="430" y="1551"/>
                  </a:lnTo>
                  <a:lnTo>
                    <a:pt x="404" y="1527"/>
                  </a:lnTo>
                  <a:lnTo>
                    <a:pt x="381" y="1500"/>
                  </a:lnTo>
                  <a:lnTo>
                    <a:pt x="362" y="1472"/>
                  </a:lnTo>
                  <a:lnTo>
                    <a:pt x="346" y="1445"/>
                  </a:lnTo>
                  <a:lnTo>
                    <a:pt x="342" y="1438"/>
                  </a:lnTo>
                  <a:lnTo>
                    <a:pt x="336" y="1431"/>
                  </a:lnTo>
                  <a:lnTo>
                    <a:pt x="330" y="1425"/>
                  </a:lnTo>
                  <a:lnTo>
                    <a:pt x="323" y="1418"/>
                  </a:lnTo>
                  <a:lnTo>
                    <a:pt x="315" y="1412"/>
                  </a:lnTo>
                  <a:lnTo>
                    <a:pt x="308" y="1408"/>
                  </a:lnTo>
                  <a:lnTo>
                    <a:pt x="302" y="1405"/>
                  </a:lnTo>
                  <a:lnTo>
                    <a:pt x="296" y="1403"/>
                  </a:lnTo>
                  <a:lnTo>
                    <a:pt x="292" y="1408"/>
                  </a:lnTo>
                  <a:lnTo>
                    <a:pt x="288" y="1415"/>
                  </a:lnTo>
                  <a:lnTo>
                    <a:pt x="282" y="1422"/>
                  </a:lnTo>
                  <a:lnTo>
                    <a:pt x="276" y="1430"/>
                  </a:lnTo>
                  <a:lnTo>
                    <a:pt x="271" y="1438"/>
                  </a:lnTo>
                  <a:lnTo>
                    <a:pt x="265" y="1447"/>
                  </a:lnTo>
                  <a:lnTo>
                    <a:pt x="258" y="1455"/>
                  </a:lnTo>
                  <a:lnTo>
                    <a:pt x="252" y="1462"/>
                  </a:lnTo>
                  <a:lnTo>
                    <a:pt x="245" y="1462"/>
                  </a:lnTo>
                  <a:lnTo>
                    <a:pt x="237" y="1462"/>
                  </a:lnTo>
                  <a:lnTo>
                    <a:pt x="225" y="1462"/>
                  </a:lnTo>
                  <a:lnTo>
                    <a:pt x="215" y="1461"/>
                  </a:lnTo>
                  <a:lnTo>
                    <a:pt x="218" y="1454"/>
                  </a:lnTo>
                  <a:lnTo>
                    <a:pt x="225" y="1445"/>
                  </a:lnTo>
                  <a:lnTo>
                    <a:pt x="232" y="1439"/>
                  </a:lnTo>
                  <a:lnTo>
                    <a:pt x="238" y="1437"/>
                  </a:lnTo>
                  <a:lnTo>
                    <a:pt x="242" y="1435"/>
                  </a:lnTo>
                  <a:lnTo>
                    <a:pt x="244" y="1432"/>
                  </a:lnTo>
                  <a:lnTo>
                    <a:pt x="242" y="1431"/>
                  </a:lnTo>
                  <a:lnTo>
                    <a:pt x="237" y="1430"/>
                  </a:lnTo>
                  <a:lnTo>
                    <a:pt x="213" y="1424"/>
                  </a:lnTo>
                  <a:lnTo>
                    <a:pt x="190" y="1415"/>
                  </a:lnTo>
                  <a:lnTo>
                    <a:pt x="169" y="1403"/>
                  </a:lnTo>
                  <a:lnTo>
                    <a:pt x="149" y="1387"/>
                  </a:lnTo>
                  <a:lnTo>
                    <a:pt x="133" y="1370"/>
                  </a:lnTo>
                  <a:lnTo>
                    <a:pt x="119" y="1352"/>
                  </a:lnTo>
                  <a:lnTo>
                    <a:pt x="109" y="1332"/>
                  </a:lnTo>
                  <a:lnTo>
                    <a:pt x="103" y="1313"/>
                  </a:lnTo>
                  <a:lnTo>
                    <a:pt x="99" y="1306"/>
                  </a:lnTo>
                  <a:lnTo>
                    <a:pt x="95" y="1298"/>
                  </a:lnTo>
                  <a:lnTo>
                    <a:pt x="91" y="1288"/>
                  </a:lnTo>
                  <a:lnTo>
                    <a:pt x="88" y="1281"/>
                  </a:lnTo>
                  <a:lnTo>
                    <a:pt x="81" y="1278"/>
                  </a:lnTo>
                  <a:lnTo>
                    <a:pt x="74" y="1274"/>
                  </a:lnTo>
                  <a:lnTo>
                    <a:pt x="67" y="1268"/>
                  </a:lnTo>
                  <a:lnTo>
                    <a:pt x="62" y="1262"/>
                  </a:lnTo>
                  <a:lnTo>
                    <a:pt x="58" y="1262"/>
                  </a:lnTo>
                  <a:lnTo>
                    <a:pt x="54" y="1262"/>
                  </a:lnTo>
                  <a:lnTo>
                    <a:pt x="48" y="1262"/>
                  </a:lnTo>
                  <a:lnTo>
                    <a:pt x="42" y="1262"/>
                  </a:lnTo>
                  <a:lnTo>
                    <a:pt x="38" y="1259"/>
                  </a:lnTo>
                  <a:lnTo>
                    <a:pt x="34" y="1251"/>
                  </a:lnTo>
                  <a:lnTo>
                    <a:pt x="32" y="1240"/>
                  </a:lnTo>
                  <a:lnTo>
                    <a:pt x="30" y="1231"/>
                  </a:lnTo>
                  <a:lnTo>
                    <a:pt x="23" y="1224"/>
                  </a:lnTo>
                  <a:lnTo>
                    <a:pt x="13" y="1215"/>
                  </a:lnTo>
                  <a:lnTo>
                    <a:pt x="6" y="1206"/>
                  </a:lnTo>
                  <a:lnTo>
                    <a:pt x="0" y="1194"/>
                  </a:lnTo>
                  <a:lnTo>
                    <a:pt x="7" y="1190"/>
                  </a:lnTo>
                  <a:lnTo>
                    <a:pt x="18" y="1183"/>
                  </a:lnTo>
                  <a:lnTo>
                    <a:pt x="30" y="1176"/>
                  </a:lnTo>
                  <a:lnTo>
                    <a:pt x="42" y="1167"/>
                  </a:lnTo>
                  <a:lnTo>
                    <a:pt x="57" y="1159"/>
                  </a:lnTo>
                  <a:lnTo>
                    <a:pt x="68" y="1150"/>
                  </a:lnTo>
                  <a:lnTo>
                    <a:pt x="78" y="1143"/>
                  </a:lnTo>
                  <a:lnTo>
                    <a:pt x="85" y="1139"/>
                  </a:lnTo>
                  <a:lnTo>
                    <a:pt x="93" y="1133"/>
                  </a:lnTo>
                  <a:lnTo>
                    <a:pt x="108" y="1123"/>
                  </a:lnTo>
                  <a:lnTo>
                    <a:pt x="125" y="1112"/>
                  </a:lnTo>
                  <a:lnTo>
                    <a:pt x="146" y="1099"/>
                  </a:lnTo>
                  <a:lnTo>
                    <a:pt x="169" y="1086"/>
                  </a:lnTo>
                  <a:lnTo>
                    <a:pt x="190" y="1075"/>
                  </a:lnTo>
                  <a:lnTo>
                    <a:pt x="213" y="1064"/>
                  </a:lnTo>
                  <a:lnTo>
                    <a:pt x="231" y="1057"/>
                  </a:lnTo>
                  <a:lnTo>
                    <a:pt x="231" y="1028"/>
                  </a:lnTo>
                  <a:lnTo>
                    <a:pt x="238" y="997"/>
                  </a:lnTo>
                  <a:lnTo>
                    <a:pt x="248" y="970"/>
                  </a:lnTo>
                  <a:lnTo>
                    <a:pt x="258" y="957"/>
                  </a:lnTo>
                  <a:lnTo>
                    <a:pt x="265" y="956"/>
                  </a:lnTo>
                  <a:lnTo>
                    <a:pt x="278" y="953"/>
                  </a:lnTo>
                  <a:lnTo>
                    <a:pt x="295" y="950"/>
                  </a:lnTo>
                  <a:lnTo>
                    <a:pt x="312" y="947"/>
                  </a:lnTo>
                  <a:lnTo>
                    <a:pt x="330" y="945"/>
                  </a:lnTo>
                  <a:lnTo>
                    <a:pt x="349" y="942"/>
                  </a:lnTo>
                  <a:lnTo>
                    <a:pt x="363" y="938"/>
                  </a:lnTo>
                  <a:lnTo>
                    <a:pt x="374" y="935"/>
                  </a:lnTo>
                  <a:lnTo>
                    <a:pt x="383" y="930"/>
                  </a:lnTo>
                  <a:lnTo>
                    <a:pt x="391" y="926"/>
                  </a:lnTo>
                  <a:lnTo>
                    <a:pt x="401" y="923"/>
                  </a:lnTo>
                  <a:lnTo>
                    <a:pt x="413" y="919"/>
                  </a:lnTo>
                  <a:lnTo>
                    <a:pt x="424" y="915"/>
                  </a:lnTo>
                  <a:lnTo>
                    <a:pt x="437" y="912"/>
                  </a:lnTo>
                  <a:lnTo>
                    <a:pt x="451" y="909"/>
                  </a:lnTo>
                  <a:lnTo>
                    <a:pt x="468" y="908"/>
                  </a:lnTo>
                  <a:lnTo>
                    <a:pt x="479" y="908"/>
                  </a:lnTo>
                  <a:lnTo>
                    <a:pt x="491" y="906"/>
                  </a:lnTo>
                  <a:lnTo>
                    <a:pt x="499" y="905"/>
                  </a:lnTo>
                  <a:lnTo>
                    <a:pt x="508" y="904"/>
                  </a:lnTo>
                  <a:lnTo>
                    <a:pt x="516" y="902"/>
                  </a:lnTo>
                  <a:lnTo>
                    <a:pt x="523" y="899"/>
                  </a:lnTo>
                  <a:lnTo>
                    <a:pt x="530" y="896"/>
                  </a:lnTo>
                  <a:lnTo>
                    <a:pt x="537" y="894"/>
                  </a:lnTo>
                  <a:lnTo>
                    <a:pt x="542" y="891"/>
                  </a:lnTo>
                  <a:lnTo>
                    <a:pt x="547" y="889"/>
                  </a:lnTo>
                  <a:lnTo>
                    <a:pt x="552" y="887"/>
                  </a:lnTo>
                  <a:lnTo>
                    <a:pt x="557" y="882"/>
                  </a:lnTo>
                  <a:lnTo>
                    <a:pt x="563" y="879"/>
                  </a:lnTo>
                  <a:lnTo>
                    <a:pt x="569" y="877"/>
                  </a:lnTo>
                  <a:lnTo>
                    <a:pt x="574" y="872"/>
                  </a:lnTo>
                  <a:lnTo>
                    <a:pt x="580" y="868"/>
                  </a:lnTo>
                  <a:lnTo>
                    <a:pt x="593" y="860"/>
                  </a:lnTo>
                  <a:lnTo>
                    <a:pt x="606" y="850"/>
                  </a:lnTo>
                  <a:lnTo>
                    <a:pt x="617" y="841"/>
                  </a:lnTo>
                  <a:lnTo>
                    <a:pt x="628" y="831"/>
                  </a:lnTo>
                  <a:lnTo>
                    <a:pt x="638" y="821"/>
                  </a:lnTo>
                  <a:lnTo>
                    <a:pt x="647" y="811"/>
                  </a:lnTo>
                  <a:lnTo>
                    <a:pt x="655" y="803"/>
                  </a:lnTo>
                  <a:lnTo>
                    <a:pt x="664" y="793"/>
                  </a:lnTo>
                  <a:lnTo>
                    <a:pt x="674" y="780"/>
                  </a:lnTo>
                  <a:lnTo>
                    <a:pt x="684" y="766"/>
                  </a:lnTo>
                  <a:lnTo>
                    <a:pt x="693" y="753"/>
                  </a:lnTo>
                  <a:lnTo>
                    <a:pt x="702" y="740"/>
                  </a:lnTo>
                  <a:lnTo>
                    <a:pt x="712" y="726"/>
                  </a:lnTo>
                  <a:lnTo>
                    <a:pt x="722" y="712"/>
                  </a:lnTo>
                  <a:lnTo>
                    <a:pt x="735" y="697"/>
                  </a:lnTo>
                  <a:lnTo>
                    <a:pt x="749" y="681"/>
                  </a:lnTo>
                  <a:lnTo>
                    <a:pt x="763" y="665"/>
                  </a:lnTo>
                  <a:lnTo>
                    <a:pt x="779" y="650"/>
                  </a:lnTo>
                  <a:lnTo>
                    <a:pt x="794" y="634"/>
                  </a:lnTo>
                  <a:lnTo>
                    <a:pt x="811" y="619"/>
                  </a:lnTo>
                  <a:lnTo>
                    <a:pt x="824" y="604"/>
                  </a:lnTo>
                  <a:lnTo>
                    <a:pt x="832" y="589"/>
                  </a:lnTo>
                  <a:lnTo>
                    <a:pt x="835" y="573"/>
                  </a:lnTo>
                  <a:lnTo>
                    <a:pt x="835" y="556"/>
                  </a:lnTo>
                  <a:lnTo>
                    <a:pt x="831" y="541"/>
                  </a:lnTo>
                  <a:lnTo>
                    <a:pt x="825" y="524"/>
                  </a:lnTo>
                  <a:lnTo>
                    <a:pt x="817" y="508"/>
                  </a:lnTo>
                  <a:lnTo>
                    <a:pt x="807" y="492"/>
                  </a:lnTo>
                  <a:lnTo>
                    <a:pt x="804" y="490"/>
                  </a:lnTo>
                  <a:lnTo>
                    <a:pt x="801" y="485"/>
                  </a:lnTo>
                  <a:lnTo>
                    <a:pt x="798" y="482"/>
                  </a:lnTo>
                  <a:lnTo>
                    <a:pt x="796" y="480"/>
                  </a:lnTo>
                  <a:lnTo>
                    <a:pt x="824" y="473"/>
                  </a:lnTo>
                  <a:lnTo>
                    <a:pt x="848" y="461"/>
                  </a:lnTo>
                  <a:lnTo>
                    <a:pt x="866" y="447"/>
                  </a:lnTo>
                  <a:lnTo>
                    <a:pt x="879" y="429"/>
                  </a:lnTo>
                  <a:lnTo>
                    <a:pt x="889" y="406"/>
                  </a:lnTo>
                  <a:lnTo>
                    <a:pt x="896" y="376"/>
                  </a:lnTo>
                  <a:lnTo>
                    <a:pt x="899" y="341"/>
                  </a:lnTo>
                  <a:lnTo>
                    <a:pt x="899" y="300"/>
                  </a:lnTo>
                  <a:lnTo>
                    <a:pt x="896" y="273"/>
                  </a:lnTo>
                  <a:lnTo>
                    <a:pt x="892" y="248"/>
                  </a:lnTo>
                  <a:lnTo>
                    <a:pt x="885" y="224"/>
                  </a:lnTo>
                  <a:lnTo>
                    <a:pt x="878" y="203"/>
                  </a:lnTo>
                  <a:lnTo>
                    <a:pt x="871" y="182"/>
                  </a:lnTo>
                  <a:lnTo>
                    <a:pt x="865" y="163"/>
                  </a:lnTo>
                  <a:lnTo>
                    <a:pt x="861" y="146"/>
                  </a:lnTo>
                  <a:lnTo>
                    <a:pt x="859" y="132"/>
                  </a:lnTo>
                  <a:lnTo>
                    <a:pt x="858" y="119"/>
                  </a:lnTo>
                  <a:lnTo>
                    <a:pt x="857" y="107"/>
                  </a:lnTo>
                  <a:lnTo>
                    <a:pt x="852" y="93"/>
                  </a:lnTo>
                  <a:lnTo>
                    <a:pt x="848" y="78"/>
                  </a:lnTo>
                  <a:lnTo>
                    <a:pt x="841" y="66"/>
                  </a:lnTo>
                  <a:lnTo>
                    <a:pt x="834" y="53"/>
                  </a:lnTo>
                  <a:lnTo>
                    <a:pt x="825" y="42"/>
                  </a:lnTo>
                  <a:lnTo>
                    <a:pt x="817" y="33"/>
                  </a:lnTo>
                  <a:lnTo>
                    <a:pt x="806" y="26"/>
                  </a:lnTo>
                  <a:lnTo>
                    <a:pt x="793" y="20"/>
                  </a:lnTo>
                  <a:lnTo>
                    <a:pt x="780" y="17"/>
                  </a:lnTo>
                  <a:lnTo>
                    <a:pt x="767" y="16"/>
                  </a:lnTo>
                  <a:lnTo>
                    <a:pt x="753" y="17"/>
                  </a:lnTo>
                  <a:lnTo>
                    <a:pt x="739" y="22"/>
                  </a:lnTo>
                  <a:lnTo>
                    <a:pt x="726" y="27"/>
                  </a:lnTo>
                  <a:lnTo>
                    <a:pt x="712" y="36"/>
                  </a:lnTo>
                  <a:lnTo>
                    <a:pt x="720" y="26"/>
                  </a:lnTo>
                  <a:lnTo>
                    <a:pt x="729" y="19"/>
                  </a:lnTo>
                  <a:lnTo>
                    <a:pt x="737" y="12"/>
                  </a:lnTo>
                  <a:lnTo>
                    <a:pt x="747" y="7"/>
                  </a:lnTo>
                  <a:lnTo>
                    <a:pt x="756" y="5"/>
                  </a:lnTo>
                  <a:lnTo>
                    <a:pt x="763" y="2"/>
                  </a:lnTo>
                  <a:lnTo>
                    <a:pt x="769" y="0"/>
                  </a:lnTo>
                  <a:lnTo>
                    <a:pt x="774" y="0"/>
                  </a:lnTo>
                  <a:lnTo>
                    <a:pt x="786" y="2"/>
                  </a:lnTo>
                  <a:lnTo>
                    <a:pt x="797" y="6"/>
                  </a:lnTo>
                  <a:lnTo>
                    <a:pt x="808" y="12"/>
                  </a:lnTo>
                  <a:lnTo>
                    <a:pt x="820" y="19"/>
                  </a:lnTo>
                  <a:lnTo>
                    <a:pt x="831" y="29"/>
                  </a:lnTo>
                  <a:lnTo>
                    <a:pt x="841" y="42"/>
                  </a:lnTo>
                  <a:lnTo>
                    <a:pt x="848" y="54"/>
                  </a:lnTo>
                  <a:lnTo>
                    <a:pt x="854" y="71"/>
                  </a:lnTo>
                  <a:lnTo>
                    <a:pt x="864" y="83"/>
                  </a:lnTo>
                  <a:lnTo>
                    <a:pt x="875" y="97"/>
                  </a:lnTo>
                  <a:lnTo>
                    <a:pt x="889" y="111"/>
                  </a:lnTo>
                  <a:lnTo>
                    <a:pt x="903" y="127"/>
                  </a:lnTo>
                  <a:lnTo>
                    <a:pt x="918" y="142"/>
                  </a:lnTo>
                  <a:lnTo>
                    <a:pt x="930" y="155"/>
                  </a:lnTo>
                  <a:lnTo>
                    <a:pt x="943" y="166"/>
                  </a:lnTo>
                  <a:lnTo>
                    <a:pt x="953" y="173"/>
                  </a:lnTo>
                  <a:lnTo>
                    <a:pt x="964" y="180"/>
                  </a:lnTo>
                  <a:lnTo>
                    <a:pt x="979" y="188"/>
                  </a:lnTo>
                  <a:lnTo>
                    <a:pt x="996" y="196"/>
                  </a:lnTo>
                  <a:lnTo>
                    <a:pt x="1015" y="206"/>
                  </a:lnTo>
                  <a:lnTo>
                    <a:pt x="1037" y="213"/>
                  </a:lnTo>
                  <a:lnTo>
                    <a:pt x="1057" y="219"/>
                  </a:lnTo>
                  <a:lnTo>
                    <a:pt x="1076" y="222"/>
                  </a:lnTo>
                  <a:lnTo>
                    <a:pt x="1093" y="222"/>
                  </a:lnTo>
                  <a:lnTo>
                    <a:pt x="1098" y="227"/>
                  </a:lnTo>
                  <a:lnTo>
                    <a:pt x="1102" y="234"/>
                  </a:lnTo>
                  <a:lnTo>
                    <a:pt x="1106" y="241"/>
                  </a:lnTo>
                  <a:lnTo>
                    <a:pt x="1110" y="246"/>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8" name="Freeform 72"/>
            <p:cNvSpPr>
              <a:spLocks/>
            </p:cNvSpPr>
            <p:nvPr/>
          </p:nvSpPr>
          <p:spPr bwMode="auto">
            <a:xfrm>
              <a:off x="3247" y="2909"/>
              <a:ext cx="69" cy="112"/>
            </a:xfrm>
            <a:custGeom>
              <a:avLst/>
              <a:gdLst>
                <a:gd name="T0" fmla="*/ 58 w 205"/>
                <a:gd name="T1" fmla="*/ 2 h 336"/>
                <a:gd name="T2" fmla="*/ 51 w 205"/>
                <a:gd name="T3" fmla="*/ 6 h 336"/>
                <a:gd name="T4" fmla="*/ 42 w 205"/>
                <a:gd name="T5" fmla="*/ 12 h 336"/>
                <a:gd name="T6" fmla="*/ 34 w 205"/>
                <a:gd name="T7" fmla="*/ 17 h 336"/>
                <a:gd name="T8" fmla="*/ 25 w 205"/>
                <a:gd name="T9" fmla="*/ 24 h 336"/>
                <a:gd name="T10" fmla="*/ 18 w 205"/>
                <a:gd name="T11" fmla="*/ 33 h 336"/>
                <a:gd name="T12" fmla="*/ 12 w 205"/>
                <a:gd name="T13" fmla="*/ 41 h 336"/>
                <a:gd name="T14" fmla="*/ 8 w 205"/>
                <a:gd name="T15" fmla="*/ 50 h 336"/>
                <a:gd name="T16" fmla="*/ 5 w 205"/>
                <a:gd name="T17" fmla="*/ 60 h 336"/>
                <a:gd name="T18" fmla="*/ 2 w 205"/>
                <a:gd name="T19" fmla="*/ 78 h 336"/>
                <a:gd name="T20" fmla="*/ 1 w 205"/>
                <a:gd name="T21" fmla="*/ 97 h 336"/>
                <a:gd name="T22" fmla="*/ 0 w 205"/>
                <a:gd name="T23" fmla="*/ 116 h 336"/>
                <a:gd name="T24" fmla="*/ 4 w 205"/>
                <a:gd name="T25" fmla="*/ 139 h 336"/>
                <a:gd name="T26" fmla="*/ 7 w 205"/>
                <a:gd name="T27" fmla="*/ 160 h 336"/>
                <a:gd name="T28" fmla="*/ 5 w 205"/>
                <a:gd name="T29" fmla="*/ 183 h 336"/>
                <a:gd name="T30" fmla="*/ 2 w 205"/>
                <a:gd name="T31" fmla="*/ 204 h 336"/>
                <a:gd name="T32" fmla="*/ 1 w 205"/>
                <a:gd name="T33" fmla="*/ 220 h 336"/>
                <a:gd name="T34" fmla="*/ 17 w 205"/>
                <a:gd name="T35" fmla="*/ 220 h 336"/>
                <a:gd name="T36" fmla="*/ 21 w 205"/>
                <a:gd name="T37" fmla="*/ 203 h 336"/>
                <a:gd name="T38" fmla="*/ 26 w 205"/>
                <a:gd name="T39" fmla="*/ 187 h 336"/>
                <a:gd name="T40" fmla="*/ 32 w 205"/>
                <a:gd name="T41" fmla="*/ 175 h 336"/>
                <a:gd name="T42" fmla="*/ 39 w 205"/>
                <a:gd name="T43" fmla="*/ 169 h 336"/>
                <a:gd name="T44" fmla="*/ 39 w 205"/>
                <a:gd name="T45" fmla="*/ 194 h 336"/>
                <a:gd name="T46" fmla="*/ 39 w 205"/>
                <a:gd name="T47" fmla="*/ 233 h 336"/>
                <a:gd name="T48" fmla="*/ 41 w 205"/>
                <a:gd name="T49" fmla="*/ 270 h 336"/>
                <a:gd name="T50" fmla="*/ 45 w 205"/>
                <a:gd name="T51" fmla="*/ 289 h 336"/>
                <a:gd name="T52" fmla="*/ 51 w 205"/>
                <a:gd name="T53" fmla="*/ 294 h 336"/>
                <a:gd name="T54" fmla="*/ 61 w 205"/>
                <a:gd name="T55" fmla="*/ 301 h 336"/>
                <a:gd name="T56" fmla="*/ 75 w 205"/>
                <a:gd name="T57" fmla="*/ 309 h 336"/>
                <a:gd name="T58" fmla="*/ 92 w 205"/>
                <a:gd name="T59" fmla="*/ 319 h 336"/>
                <a:gd name="T60" fmla="*/ 113 w 205"/>
                <a:gd name="T61" fmla="*/ 328 h 336"/>
                <a:gd name="T62" fmla="*/ 136 w 205"/>
                <a:gd name="T63" fmla="*/ 333 h 336"/>
                <a:gd name="T64" fmla="*/ 161 w 205"/>
                <a:gd name="T65" fmla="*/ 336 h 336"/>
                <a:gd name="T66" fmla="*/ 190 w 205"/>
                <a:gd name="T67" fmla="*/ 335 h 336"/>
                <a:gd name="T68" fmla="*/ 202 w 205"/>
                <a:gd name="T69" fmla="*/ 329 h 336"/>
                <a:gd name="T70" fmla="*/ 205 w 205"/>
                <a:gd name="T71" fmla="*/ 321 h 336"/>
                <a:gd name="T72" fmla="*/ 202 w 205"/>
                <a:gd name="T73" fmla="*/ 309 h 336"/>
                <a:gd name="T74" fmla="*/ 194 w 205"/>
                <a:gd name="T75" fmla="*/ 298 h 336"/>
                <a:gd name="T76" fmla="*/ 188 w 205"/>
                <a:gd name="T77" fmla="*/ 295 h 336"/>
                <a:gd name="T78" fmla="*/ 180 w 205"/>
                <a:gd name="T79" fmla="*/ 294 h 336"/>
                <a:gd name="T80" fmla="*/ 168 w 205"/>
                <a:gd name="T81" fmla="*/ 291 h 336"/>
                <a:gd name="T82" fmla="*/ 161 w 205"/>
                <a:gd name="T83" fmla="*/ 289 h 336"/>
                <a:gd name="T84" fmla="*/ 156 w 205"/>
                <a:gd name="T85" fmla="*/ 292 h 336"/>
                <a:gd name="T86" fmla="*/ 148 w 205"/>
                <a:gd name="T87" fmla="*/ 295 h 336"/>
                <a:gd name="T88" fmla="*/ 143 w 205"/>
                <a:gd name="T89" fmla="*/ 297 h 336"/>
                <a:gd name="T90" fmla="*/ 137 w 205"/>
                <a:gd name="T91" fmla="*/ 297 h 336"/>
                <a:gd name="T92" fmla="*/ 129 w 205"/>
                <a:gd name="T93" fmla="*/ 295 h 336"/>
                <a:gd name="T94" fmla="*/ 122 w 205"/>
                <a:gd name="T95" fmla="*/ 292 h 336"/>
                <a:gd name="T96" fmla="*/ 114 w 205"/>
                <a:gd name="T97" fmla="*/ 287 h 336"/>
                <a:gd name="T98" fmla="*/ 109 w 205"/>
                <a:gd name="T99" fmla="*/ 281 h 336"/>
                <a:gd name="T100" fmla="*/ 102 w 205"/>
                <a:gd name="T101" fmla="*/ 275 h 336"/>
                <a:gd name="T102" fmla="*/ 97 w 205"/>
                <a:gd name="T103" fmla="*/ 268 h 336"/>
                <a:gd name="T104" fmla="*/ 92 w 205"/>
                <a:gd name="T105" fmla="*/ 261 h 336"/>
                <a:gd name="T106" fmla="*/ 87 w 205"/>
                <a:gd name="T107" fmla="*/ 255 h 336"/>
                <a:gd name="T108" fmla="*/ 78 w 205"/>
                <a:gd name="T109" fmla="*/ 221 h 336"/>
                <a:gd name="T110" fmla="*/ 70 w 205"/>
                <a:gd name="T111" fmla="*/ 162 h 336"/>
                <a:gd name="T112" fmla="*/ 68 w 205"/>
                <a:gd name="T113" fmla="*/ 97 h 336"/>
                <a:gd name="T114" fmla="*/ 72 w 205"/>
                <a:gd name="T115" fmla="*/ 47 h 336"/>
                <a:gd name="T116" fmla="*/ 76 w 205"/>
                <a:gd name="T117" fmla="*/ 20 h 336"/>
                <a:gd name="T118" fmla="*/ 75 w 205"/>
                <a:gd name="T119" fmla="*/ 6 h 336"/>
                <a:gd name="T120" fmla="*/ 68 w 205"/>
                <a:gd name="T121" fmla="*/ 0 h 336"/>
                <a:gd name="T122" fmla="*/ 58 w 205"/>
                <a:gd name="T123" fmla="*/ 2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5" h="336">
                  <a:moveTo>
                    <a:pt x="58" y="2"/>
                  </a:moveTo>
                  <a:lnTo>
                    <a:pt x="51" y="6"/>
                  </a:lnTo>
                  <a:lnTo>
                    <a:pt x="42" y="12"/>
                  </a:lnTo>
                  <a:lnTo>
                    <a:pt x="34" y="17"/>
                  </a:lnTo>
                  <a:lnTo>
                    <a:pt x="25" y="24"/>
                  </a:lnTo>
                  <a:lnTo>
                    <a:pt x="18" y="33"/>
                  </a:lnTo>
                  <a:lnTo>
                    <a:pt x="12" y="41"/>
                  </a:lnTo>
                  <a:lnTo>
                    <a:pt x="8" y="50"/>
                  </a:lnTo>
                  <a:lnTo>
                    <a:pt x="5" y="60"/>
                  </a:lnTo>
                  <a:lnTo>
                    <a:pt x="2" y="78"/>
                  </a:lnTo>
                  <a:lnTo>
                    <a:pt x="1" y="97"/>
                  </a:lnTo>
                  <a:lnTo>
                    <a:pt x="0" y="116"/>
                  </a:lnTo>
                  <a:lnTo>
                    <a:pt x="4" y="139"/>
                  </a:lnTo>
                  <a:lnTo>
                    <a:pt x="7" y="160"/>
                  </a:lnTo>
                  <a:lnTo>
                    <a:pt x="5" y="183"/>
                  </a:lnTo>
                  <a:lnTo>
                    <a:pt x="2" y="204"/>
                  </a:lnTo>
                  <a:lnTo>
                    <a:pt x="1" y="220"/>
                  </a:lnTo>
                  <a:lnTo>
                    <a:pt x="17" y="220"/>
                  </a:lnTo>
                  <a:lnTo>
                    <a:pt x="21" y="203"/>
                  </a:lnTo>
                  <a:lnTo>
                    <a:pt x="26" y="187"/>
                  </a:lnTo>
                  <a:lnTo>
                    <a:pt x="32" y="175"/>
                  </a:lnTo>
                  <a:lnTo>
                    <a:pt x="39" y="169"/>
                  </a:lnTo>
                  <a:lnTo>
                    <a:pt x="39" y="194"/>
                  </a:lnTo>
                  <a:lnTo>
                    <a:pt x="39" y="233"/>
                  </a:lnTo>
                  <a:lnTo>
                    <a:pt x="41" y="270"/>
                  </a:lnTo>
                  <a:lnTo>
                    <a:pt x="45" y="289"/>
                  </a:lnTo>
                  <a:lnTo>
                    <a:pt x="51" y="294"/>
                  </a:lnTo>
                  <a:lnTo>
                    <a:pt x="61" y="301"/>
                  </a:lnTo>
                  <a:lnTo>
                    <a:pt x="75" y="309"/>
                  </a:lnTo>
                  <a:lnTo>
                    <a:pt x="92" y="319"/>
                  </a:lnTo>
                  <a:lnTo>
                    <a:pt x="113" y="328"/>
                  </a:lnTo>
                  <a:lnTo>
                    <a:pt x="136" y="333"/>
                  </a:lnTo>
                  <a:lnTo>
                    <a:pt x="161" y="336"/>
                  </a:lnTo>
                  <a:lnTo>
                    <a:pt x="190" y="335"/>
                  </a:lnTo>
                  <a:lnTo>
                    <a:pt x="202" y="329"/>
                  </a:lnTo>
                  <a:lnTo>
                    <a:pt x="205" y="321"/>
                  </a:lnTo>
                  <a:lnTo>
                    <a:pt x="202" y="309"/>
                  </a:lnTo>
                  <a:lnTo>
                    <a:pt x="194" y="298"/>
                  </a:lnTo>
                  <a:lnTo>
                    <a:pt x="188" y="295"/>
                  </a:lnTo>
                  <a:lnTo>
                    <a:pt x="180" y="294"/>
                  </a:lnTo>
                  <a:lnTo>
                    <a:pt x="168" y="291"/>
                  </a:lnTo>
                  <a:lnTo>
                    <a:pt x="161" y="289"/>
                  </a:lnTo>
                  <a:lnTo>
                    <a:pt x="156" y="292"/>
                  </a:lnTo>
                  <a:lnTo>
                    <a:pt x="148" y="295"/>
                  </a:lnTo>
                  <a:lnTo>
                    <a:pt x="143" y="297"/>
                  </a:lnTo>
                  <a:lnTo>
                    <a:pt x="137" y="297"/>
                  </a:lnTo>
                  <a:lnTo>
                    <a:pt x="129" y="295"/>
                  </a:lnTo>
                  <a:lnTo>
                    <a:pt x="122" y="292"/>
                  </a:lnTo>
                  <a:lnTo>
                    <a:pt x="114" y="287"/>
                  </a:lnTo>
                  <a:lnTo>
                    <a:pt x="109" y="281"/>
                  </a:lnTo>
                  <a:lnTo>
                    <a:pt x="102" y="275"/>
                  </a:lnTo>
                  <a:lnTo>
                    <a:pt x="97" y="268"/>
                  </a:lnTo>
                  <a:lnTo>
                    <a:pt x="92" y="261"/>
                  </a:lnTo>
                  <a:lnTo>
                    <a:pt x="87" y="255"/>
                  </a:lnTo>
                  <a:lnTo>
                    <a:pt x="78" y="221"/>
                  </a:lnTo>
                  <a:lnTo>
                    <a:pt x="70" y="162"/>
                  </a:lnTo>
                  <a:lnTo>
                    <a:pt x="68" y="97"/>
                  </a:lnTo>
                  <a:lnTo>
                    <a:pt x="72" y="47"/>
                  </a:lnTo>
                  <a:lnTo>
                    <a:pt x="76" y="20"/>
                  </a:lnTo>
                  <a:lnTo>
                    <a:pt x="75" y="6"/>
                  </a:lnTo>
                  <a:lnTo>
                    <a:pt x="68" y="0"/>
                  </a:lnTo>
                  <a:lnTo>
                    <a:pt x="58" y="2"/>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89" name="Freeform 73"/>
            <p:cNvSpPr>
              <a:spLocks/>
            </p:cNvSpPr>
            <p:nvPr/>
          </p:nvSpPr>
          <p:spPr bwMode="auto">
            <a:xfrm>
              <a:off x="3493" y="2949"/>
              <a:ext cx="113" cy="71"/>
            </a:xfrm>
            <a:custGeom>
              <a:avLst/>
              <a:gdLst>
                <a:gd name="T0" fmla="*/ 269 w 340"/>
                <a:gd name="T1" fmla="*/ 155 h 213"/>
                <a:gd name="T2" fmla="*/ 254 w 340"/>
                <a:gd name="T3" fmla="*/ 145 h 213"/>
                <a:gd name="T4" fmla="*/ 252 w 340"/>
                <a:gd name="T5" fmla="*/ 152 h 213"/>
                <a:gd name="T6" fmla="*/ 245 w 340"/>
                <a:gd name="T7" fmla="*/ 165 h 213"/>
                <a:gd name="T8" fmla="*/ 225 w 340"/>
                <a:gd name="T9" fmla="*/ 169 h 213"/>
                <a:gd name="T10" fmla="*/ 207 w 340"/>
                <a:gd name="T11" fmla="*/ 166 h 213"/>
                <a:gd name="T12" fmla="*/ 195 w 340"/>
                <a:gd name="T13" fmla="*/ 159 h 213"/>
                <a:gd name="T14" fmla="*/ 178 w 340"/>
                <a:gd name="T15" fmla="*/ 142 h 213"/>
                <a:gd name="T16" fmla="*/ 159 w 340"/>
                <a:gd name="T17" fmla="*/ 121 h 213"/>
                <a:gd name="T18" fmla="*/ 139 w 340"/>
                <a:gd name="T19" fmla="*/ 97 h 213"/>
                <a:gd name="T20" fmla="*/ 122 w 340"/>
                <a:gd name="T21" fmla="*/ 74 h 213"/>
                <a:gd name="T22" fmla="*/ 105 w 340"/>
                <a:gd name="T23" fmla="*/ 50 h 213"/>
                <a:gd name="T24" fmla="*/ 81 w 340"/>
                <a:gd name="T25" fmla="*/ 26 h 213"/>
                <a:gd name="T26" fmla="*/ 45 w 340"/>
                <a:gd name="T27" fmla="*/ 7 h 213"/>
                <a:gd name="T28" fmla="*/ 8 w 340"/>
                <a:gd name="T29" fmla="*/ 20 h 213"/>
                <a:gd name="T30" fmla="*/ 0 w 340"/>
                <a:gd name="T31" fmla="*/ 63 h 213"/>
                <a:gd name="T32" fmla="*/ 17 w 340"/>
                <a:gd name="T33" fmla="*/ 95 h 213"/>
                <a:gd name="T34" fmla="*/ 31 w 340"/>
                <a:gd name="T35" fmla="*/ 129 h 213"/>
                <a:gd name="T36" fmla="*/ 32 w 340"/>
                <a:gd name="T37" fmla="*/ 155 h 213"/>
                <a:gd name="T38" fmla="*/ 31 w 340"/>
                <a:gd name="T39" fmla="*/ 197 h 213"/>
                <a:gd name="T40" fmla="*/ 34 w 340"/>
                <a:gd name="T41" fmla="*/ 213 h 213"/>
                <a:gd name="T42" fmla="*/ 44 w 340"/>
                <a:gd name="T43" fmla="*/ 213 h 213"/>
                <a:gd name="T44" fmla="*/ 54 w 340"/>
                <a:gd name="T45" fmla="*/ 213 h 213"/>
                <a:gd name="T46" fmla="*/ 75 w 340"/>
                <a:gd name="T47" fmla="*/ 211 h 213"/>
                <a:gd name="T48" fmla="*/ 85 w 340"/>
                <a:gd name="T49" fmla="*/ 193 h 213"/>
                <a:gd name="T50" fmla="*/ 93 w 340"/>
                <a:gd name="T51" fmla="*/ 148 h 213"/>
                <a:gd name="T52" fmla="*/ 102 w 340"/>
                <a:gd name="T53" fmla="*/ 140 h 213"/>
                <a:gd name="T54" fmla="*/ 119 w 340"/>
                <a:gd name="T55" fmla="*/ 162 h 213"/>
                <a:gd name="T56" fmla="*/ 136 w 340"/>
                <a:gd name="T57" fmla="*/ 186 h 213"/>
                <a:gd name="T58" fmla="*/ 151 w 340"/>
                <a:gd name="T59" fmla="*/ 203 h 213"/>
                <a:gd name="T60" fmla="*/ 167 w 340"/>
                <a:gd name="T61" fmla="*/ 209 h 213"/>
                <a:gd name="T62" fmla="*/ 214 w 340"/>
                <a:gd name="T63" fmla="*/ 211 h 213"/>
                <a:gd name="T64" fmla="*/ 273 w 340"/>
                <a:gd name="T65" fmla="*/ 213 h 213"/>
                <a:gd name="T66" fmla="*/ 322 w 340"/>
                <a:gd name="T67" fmla="*/ 213 h 213"/>
                <a:gd name="T68" fmla="*/ 340 w 340"/>
                <a:gd name="T69" fmla="*/ 204 h 213"/>
                <a:gd name="T70" fmla="*/ 330 w 340"/>
                <a:gd name="T71" fmla="*/ 186 h 213"/>
                <a:gd name="T72" fmla="*/ 320 w 340"/>
                <a:gd name="T73" fmla="*/ 179 h 213"/>
                <a:gd name="T74" fmla="*/ 312 w 340"/>
                <a:gd name="T75" fmla="*/ 175 h 213"/>
                <a:gd name="T76" fmla="*/ 299 w 340"/>
                <a:gd name="T77" fmla="*/ 169 h 213"/>
                <a:gd name="T78" fmla="*/ 285 w 340"/>
                <a:gd name="T79" fmla="*/ 16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0" h="213">
                  <a:moveTo>
                    <a:pt x="278" y="159"/>
                  </a:moveTo>
                  <a:lnTo>
                    <a:pt x="269" y="155"/>
                  </a:lnTo>
                  <a:lnTo>
                    <a:pt x="261" y="149"/>
                  </a:lnTo>
                  <a:lnTo>
                    <a:pt x="254" y="145"/>
                  </a:lnTo>
                  <a:lnTo>
                    <a:pt x="249" y="142"/>
                  </a:lnTo>
                  <a:lnTo>
                    <a:pt x="252" y="152"/>
                  </a:lnTo>
                  <a:lnTo>
                    <a:pt x="251" y="160"/>
                  </a:lnTo>
                  <a:lnTo>
                    <a:pt x="245" y="165"/>
                  </a:lnTo>
                  <a:lnTo>
                    <a:pt x="237" y="167"/>
                  </a:lnTo>
                  <a:lnTo>
                    <a:pt x="225" y="169"/>
                  </a:lnTo>
                  <a:lnTo>
                    <a:pt x="215" y="167"/>
                  </a:lnTo>
                  <a:lnTo>
                    <a:pt x="207" y="166"/>
                  </a:lnTo>
                  <a:lnTo>
                    <a:pt x="201" y="163"/>
                  </a:lnTo>
                  <a:lnTo>
                    <a:pt x="195" y="159"/>
                  </a:lnTo>
                  <a:lnTo>
                    <a:pt x="188" y="152"/>
                  </a:lnTo>
                  <a:lnTo>
                    <a:pt x="178" y="142"/>
                  </a:lnTo>
                  <a:lnTo>
                    <a:pt x="168" y="132"/>
                  </a:lnTo>
                  <a:lnTo>
                    <a:pt x="159" y="121"/>
                  </a:lnTo>
                  <a:lnTo>
                    <a:pt x="149" y="108"/>
                  </a:lnTo>
                  <a:lnTo>
                    <a:pt x="139" y="97"/>
                  </a:lnTo>
                  <a:lnTo>
                    <a:pt x="130" y="85"/>
                  </a:lnTo>
                  <a:lnTo>
                    <a:pt x="122" y="74"/>
                  </a:lnTo>
                  <a:lnTo>
                    <a:pt x="115" y="63"/>
                  </a:lnTo>
                  <a:lnTo>
                    <a:pt x="105" y="50"/>
                  </a:lnTo>
                  <a:lnTo>
                    <a:pt x="93" y="37"/>
                  </a:lnTo>
                  <a:lnTo>
                    <a:pt x="81" y="26"/>
                  </a:lnTo>
                  <a:lnTo>
                    <a:pt x="65" y="16"/>
                  </a:lnTo>
                  <a:lnTo>
                    <a:pt x="45" y="7"/>
                  </a:lnTo>
                  <a:lnTo>
                    <a:pt x="22" y="0"/>
                  </a:lnTo>
                  <a:lnTo>
                    <a:pt x="8" y="20"/>
                  </a:lnTo>
                  <a:lnTo>
                    <a:pt x="1" y="41"/>
                  </a:lnTo>
                  <a:lnTo>
                    <a:pt x="0" y="63"/>
                  </a:lnTo>
                  <a:lnTo>
                    <a:pt x="7" y="80"/>
                  </a:lnTo>
                  <a:lnTo>
                    <a:pt x="17" y="95"/>
                  </a:lnTo>
                  <a:lnTo>
                    <a:pt x="25" y="114"/>
                  </a:lnTo>
                  <a:lnTo>
                    <a:pt x="31" y="129"/>
                  </a:lnTo>
                  <a:lnTo>
                    <a:pt x="32" y="140"/>
                  </a:lnTo>
                  <a:lnTo>
                    <a:pt x="32" y="155"/>
                  </a:lnTo>
                  <a:lnTo>
                    <a:pt x="32" y="176"/>
                  </a:lnTo>
                  <a:lnTo>
                    <a:pt x="31" y="197"/>
                  </a:lnTo>
                  <a:lnTo>
                    <a:pt x="31" y="213"/>
                  </a:lnTo>
                  <a:lnTo>
                    <a:pt x="34" y="213"/>
                  </a:lnTo>
                  <a:lnTo>
                    <a:pt x="39" y="213"/>
                  </a:lnTo>
                  <a:lnTo>
                    <a:pt x="44" y="213"/>
                  </a:lnTo>
                  <a:lnTo>
                    <a:pt x="48" y="213"/>
                  </a:lnTo>
                  <a:lnTo>
                    <a:pt x="54" y="213"/>
                  </a:lnTo>
                  <a:lnTo>
                    <a:pt x="65" y="211"/>
                  </a:lnTo>
                  <a:lnTo>
                    <a:pt x="75" y="211"/>
                  </a:lnTo>
                  <a:lnTo>
                    <a:pt x="82" y="210"/>
                  </a:lnTo>
                  <a:lnTo>
                    <a:pt x="85" y="193"/>
                  </a:lnTo>
                  <a:lnTo>
                    <a:pt x="89" y="170"/>
                  </a:lnTo>
                  <a:lnTo>
                    <a:pt x="93" y="148"/>
                  </a:lnTo>
                  <a:lnTo>
                    <a:pt x="95" y="133"/>
                  </a:lnTo>
                  <a:lnTo>
                    <a:pt x="102" y="140"/>
                  </a:lnTo>
                  <a:lnTo>
                    <a:pt x="110" y="150"/>
                  </a:lnTo>
                  <a:lnTo>
                    <a:pt x="119" y="162"/>
                  </a:lnTo>
                  <a:lnTo>
                    <a:pt x="127" y="175"/>
                  </a:lnTo>
                  <a:lnTo>
                    <a:pt x="136" y="186"/>
                  </a:lnTo>
                  <a:lnTo>
                    <a:pt x="144" y="196"/>
                  </a:lnTo>
                  <a:lnTo>
                    <a:pt x="151" y="203"/>
                  </a:lnTo>
                  <a:lnTo>
                    <a:pt x="157" y="207"/>
                  </a:lnTo>
                  <a:lnTo>
                    <a:pt x="167" y="209"/>
                  </a:lnTo>
                  <a:lnTo>
                    <a:pt x="188" y="210"/>
                  </a:lnTo>
                  <a:lnTo>
                    <a:pt x="214" y="211"/>
                  </a:lnTo>
                  <a:lnTo>
                    <a:pt x="244" y="211"/>
                  </a:lnTo>
                  <a:lnTo>
                    <a:pt x="273" y="213"/>
                  </a:lnTo>
                  <a:lnTo>
                    <a:pt x="300" y="213"/>
                  </a:lnTo>
                  <a:lnTo>
                    <a:pt x="322" y="213"/>
                  </a:lnTo>
                  <a:lnTo>
                    <a:pt x="334" y="211"/>
                  </a:lnTo>
                  <a:lnTo>
                    <a:pt x="340" y="204"/>
                  </a:lnTo>
                  <a:lnTo>
                    <a:pt x="337" y="194"/>
                  </a:lnTo>
                  <a:lnTo>
                    <a:pt x="330" y="186"/>
                  </a:lnTo>
                  <a:lnTo>
                    <a:pt x="323" y="180"/>
                  </a:lnTo>
                  <a:lnTo>
                    <a:pt x="320" y="179"/>
                  </a:lnTo>
                  <a:lnTo>
                    <a:pt x="316" y="176"/>
                  </a:lnTo>
                  <a:lnTo>
                    <a:pt x="312" y="175"/>
                  </a:lnTo>
                  <a:lnTo>
                    <a:pt x="306" y="172"/>
                  </a:lnTo>
                  <a:lnTo>
                    <a:pt x="299" y="169"/>
                  </a:lnTo>
                  <a:lnTo>
                    <a:pt x="292" y="165"/>
                  </a:lnTo>
                  <a:lnTo>
                    <a:pt x="285" y="162"/>
                  </a:lnTo>
                  <a:lnTo>
                    <a:pt x="278" y="15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0" name="Freeform 74"/>
            <p:cNvSpPr>
              <a:spLocks/>
            </p:cNvSpPr>
            <p:nvPr/>
          </p:nvSpPr>
          <p:spPr bwMode="auto">
            <a:xfrm>
              <a:off x="3242" y="2186"/>
              <a:ext cx="190" cy="162"/>
            </a:xfrm>
            <a:custGeom>
              <a:avLst/>
              <a:gdLst>
                <a:gd name="T0" fmla="*/ 538 w 571"/>
                <a:gd name="T1" fmla="*/ 431 h 486"/>
                <a:gd name="T2" fmla="*/ 571 w 571"/>
                <a:gd name="T3" fmla="*/ 325 h 486"/>
                <a:gd name="T4" fmla="*/ 557 w 571"/>
                <a:gd name="T5" fmla="*/ 208 h 486"/>
                <a:gd name="T6" fmla="*/ 533 w 571"/>
                <a:gd name="T7" fmla="*/ 130 h 486"/>
                <a:gd name="T8" fmla="*/ 524 w 571"/>
                <a:gd name="T9" fmla="*/ 77 h 486"/>
                <a:gd name="T10" fmla="*/ 497 w 571"/>
                <a:gd name="T11" fmla="*/ 26 h 486"/>
                <a:gd name="T12" fmla="*/ 452 w 571"/>
                <a:gd name="T13" fmla="*/ 1 h 486"/>
                <a:gd name="T14" fmla="*/ 398 w 571"/>
                <a:gd name="T15" fmla="*/ 11 h 486"/>
                <a:gd name="T16" fmla="*/ 361 w 571"/>
                <a:gd name="T17" fmla="*/ 34 h 486"/>
                <a:gd name="T18" fmla="*/ 333 w 571"/>
                <a:gd name="T19" fmla="*/ 60 h 486"/>
                <a:gd name="T20" fmla="*/ 310 w 571"/>
                <a:gd name="T21" fmla="*/ 84 h 486"/>
                <a:gd name="T22" fmla="*/ 285 w 571"/>
                <a:gd name="T23" fmla="*/ 105 h 486"/>
                <a:gd name="T24" fmla="*/ 218 w 571"/>
                <a:gd name="T25" fmla="*/ 139 h 486"/>
                <a:gd name="T26" fmla="*/ 129 w 571"/>
                <a:gd name="T27" fmla="*/ 201 h 486"/>
                <a:gd name="T28" fmla="*/ 90 w 571"/>
                <a:gd name="T29" fmla="*/ 231 h 486"/>
                <a:gd name="T30" fmla="*/ 66 w 571"/>
                <a:gd name="T31" fmla="*/ 247 h 486"/>
                <a:gd name="T32" fmla="*/ 38 w 571"/>
                <a:gd name="T33" fmla="*/ 261 h 486"/>
                <a:gd name="T34" fmla="*/ 7 w 571"/>
                <a:gd name="T35" fmla="*/ 292 h 486"/>
                <a:gd name="T36" fmla="*/ 5 w 571"/>
                <a:gd name="T37" fmla="*/ 371 h 486"/>
                <a:gd name="T38" fmla="*/ 29 w 571"/>
                <a:gd name="T39" fmla="*/ 435 h 486"/>
                <a:gd name="T40" fmla="*/ 56 w 571"/>
                <a:gd name="T41" fmla="*/ 475 h 486"/>
                <a:gd name="T42" fmla="*/ 102 w 571"/>
                <a:gd name="T43" fmla="*/ 481 h 486"/>
                <a:gd name="T44" fmla="*/ 121 w 571"/>
                <a:gd name="T45" fmla="*/ 486 h 486"/>
                <a:gd name="T46" fmla="*/ 161 w 571"/>
                <a:gd name="T47" fmla="*/ 483 h 486"/>
                <a:gd name="T48" fmla="*/ 198 w 571"/>
                <a:gd name="T49" fmla="*/ 466 h 486"/>
                <a:gd name="T50" fmla="*/ 221 w 571"/>
                <a:gd name="T51" fmla="*/ 454 h 486"/>
                <a:gd name="T52" fmla="*/ 243 w 571"/>
                <a:gd name="T53" fmla="*/ 448 h 486"/>
                <a:gd name="T54" fmla="*/ 272 w 571"/>
                <a:gd name="T55" fmla="*/ 434 h 486"/>
                <a:gd name="T56" fmla="*/ 266 w 571"/>
                <a:gd name="T57" fmla="*/ 411 h 486"/>
                <a:gd name="T58" fmla="*/ 238 w 571"/>
                <a:gd name="T59" fmla="*/ 421 h 486"/>
                <a:gd name="T60" fmla="*/ 208 w 571"/>
                <a:gd name="T61" fmla="*/ 420 h 486"/>
                <a:gd name="T62" fmla="*/ 192 w 571"/>
                <a:gd name="T63" fmla="*/ 411 h 486"/>
                <a:gd name="T64" fmla="*/ 208 w 571"/>
                <a:gd name="T65" fmla="*/ 363 h 486"/>
                <a:gd name="T66" fmla="*/ 218 w 571"/>
                <a:gd name="T67" fmla="*/ 335 h 486"/>
                <a:gd name="T68" fmla="*/ 234 w 571"/>
                <a:gd name="T69" fmla="*/ 313 h 486"/>
                <a:gd name="T70" fmla="*/ 234 w 571"/>
                <a:gd name="T71" fmla="*/ 292 h 486"/>
                <a:gd name="T72" fmla="*/ 207 w 571"/>
                <a:gd name="T73" fmla="*/ 305 h 486"/>
                <a:gd name="T74" fmla="*/ 190 w 571"/>
                <a:gd name="T75" fmla="*/ 325 h 486"/>
                <a:gd name="T76" fmla="*/ 168 w 571"/>
                <a:gd name="T77" fmla="*/ 319 h 486"/>
                <a:gd name="T78" fmla="*/ 154 w 571"/>
                <a:gd name="T79" fmla="*/ 308 h 486"/>
                <a:gd name="T80" fmla="*/ 201 w 571"/>
                <a:gd name="T81" fmla="*/ 295 h 486"/>
                <a:gd name="T82" fmla="*/ 235 w 571"/>
                <a:gd name="T83" fmla="*/ 284 h 486"/>
                <a:gd name="T84" fmla="*/ 278 w 571"/>
                <a:gd name="T85" fmla="*/ 261 h 486"/>
                <a:gd name="T86" fmla="*/ 347 w 571"/>
                <a:gd name="T87" fmla="*/ 224 h 486"/>
                <a:gd name="T88" fmla="*/ 358 w 571"/>
                <a:gd name="T89" fmla="*/ 225 h 486"/>
                <a:gd name="T90" fmla="*/ 367 w 571"/>
                <a:gd name="T91" fmla="*/ 308 h 486"/>
                <a:gd name="T92" fmla="*/ 411 w 571"/>
                <a:gd name="T93" fmla="*/ 400 h 486"/>
                <a:gd name="T94" fmla="*/ 435 w 571"/>
                <a:gd name="T95" fmla="*/ 430 h 486"/>
                <a:gd name="T96" fmla="*/ 463 w 571"/>
                <a:gd name="T97" fmla="*/ 459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1" h="486">
                  <a:moveTo>
                    <a:pt x="468" y="464"/>
                  </a:moveTo>
                  <a:lnTo>
                    <a:pt x="496" y="457"/>
                  </a:lnTo>
                  <a:lnTo>
                    <a:pt x="520" y="445"/>
                  </a:lnTo>
                  <a:lnTo>
                    <a:pt x="538" y="431"/>
                  </a:lnTo>
                  <a:lnTo>
                    <a:pt x="551" y="413"/>
                  </a:lnTo>
                  <a:lnTo>
                    <a:pt x="561" y="390"/>
                  </a:lnTo>
                  <a:lnTo>
                    <a:pt x="568" y="360"/>
                  </a:lnTo>
                  <a:lnTo>
                    <a:pt x="571" y="325"/>
                  </a:lnTo>
                  <a:lnTo>
                    <a:pt x="571" y="284"/>
                  </a:lnTo>
                  <a:lnTo>
                    <a:pt x="568" y="257"/>
                  </a:lnTo>
                  <a:lnTo>
                    <a:pt x="564" y="232"/>
                  </a:lnTo>
                  <a:lnTo>
                    <a:pt x="557" y="208"/>
                  </a:lnTo>
                  <a:lnTo>
                    <a:pt x="550" y="187"/>
                  </a:lnTo>
                  <a:lnTo>
                    <a:pt x="543" y="166"/>
                  </a:lnTo>
                  <a:lnTo>
                    <a:pt x="537" y="147"/>
                  </a:lnTo>
                  <a:lnTo>
                    <a:pt x="533" y="130"/>
                  </a:lnTo>
                  <a:lnTo>
                    <a:pt x="531" y="116"/>
                  </a:lnTo>
                  <a:lnTo>
                    <a:pt x="530" y="103"/>
                  </a:lnTo>
                  <a:lnTo>
                    <a:pt x="529" y="91"/>
                  </a:lnTo>
                  <a:lnTo>
                    <a:pt x="524" y="77"/>
                  </a:lnTo>
                  <a:lnTo>
                    <a:pt x="520" y="62"/>
                  </a:lnTo>
                  <a:lnTo>
                    <a:pt x="513" y="50"/>
                  </a:lnTo>
                  <a:lnTo>
                    <a:pt x="506" y="37"/>
                  </a:lnTo>
                  <a:lnTo>
                    <a:pt x="497" y="26"/>
                  </a:lnTo>
                  <a:lnTo>
                    <a:pt x="489" y="17"/>
                  </a:lnTo>
                  <a:lnTo>
                    <a:pt x="478" y="10"/>
                  </a:lnTo>
                  <a:lnTo>
                    <a:pt x="465" y="4"/>
                  </a:lnTo>
                  <a:lnTo>
                    <a:pt x="452" y="1"/>
                  </a:lnTo>
                  <a:lnTo>
                    <a:pt x="439" y="0"/>
                  </a:lnTo>
                  <a:lnTo>
                    <a:pt x="425" y="1"/>
                  </a:lnTo>
                  <a:lnTo>
                    <a:pt x="411" y="6"/>
                  </a:lnTo>
                  <a:lnTo>
                    <a:pt x="398" y="11"/>
                  </a:lnTo>
                  <a:lnTo>
                    <a:pt x="384" y="20"/>
                  </a:lnTo>
                  <a:lnTo>
                    <a:pt x="377" y="24"/>
                  </a:lnTo>
                  <a:lnTo>
                    <a:pt x="368" y="28"/>
                  </a:lnTo>
                  <a:lnTo>
                    <a:pt x="361" y="34"/>
                  </a:lnTo>
                  <a:lnTo>
                    <a:pt x="354" y="40"/>
                  </a:lnTo>
                  <a:lnTo>
                    <a:pt x="346" y="47"/>
                  </a:lnTo>
                  <a:lnTo>
                    <a:pt x="340" y="52"/>
                  </a:lnTo>
                  <a:lnTo>
                    <a:pt x="333" y="60"/>
                  </a:lnTo>
                  <a:lnTo>
                    <a:pt x="327" y="65"/>
                  </a:lnTo>
                  <a:lnTo>
                    <a:pt x="321" y="72"/>
                  </a:lnTo>
                  <a:lnTo>
                    <a:pt x="316" y="78"/>
                  </a:lnTo>
                  <a:lnTo>
                    <a:pt x="310" y="84"/>
                  </a:lnTo>
                  <a:lnTo>
                    <a:pt x="304" y="91"/>
                  </a:lnTo>
                  <a:lnTo>
                    <a:pt x="299" y="95"/>
                  </a:lnTo>
                  <a:lnTo>
                    <a:pt x="292" y="101"/>
                  </a:lnTo>
                  <a:lnTo>
                    <a:pt x="285" y="105"/>
                  </a:lnTo>
                  <a:lnTo>
                    <a:pt x="276" y="108"/>
                  </a:lnTo>
                  <a:lnTo>
                    <a:pt x="260" y="115"/>
                  </a:lnTo>
                  <a:lnTo>
                    <a:pt x="241" y="125"/>
                  </a:lnTo>
                  <a:lnTo>
                    <a:pt x="218" y="139"/>
                  </a:lnTo>
                  <a:lnTo>
                    <a:pt x="194" y="155"/>
                  </a:lnTo>
                  <a:lnTo>
                    <a:pt x="170" y="172"/>
                  </a:lnTo>
                  <a:lnTo>
                    <a:pt x="147" y="187"/>
                  </a:lnTo>
                  <a:lnTo>
                    <a:pt x="129" y="201"/>
                  </a:lnTo>
                  <a:lnTo>
                    <a:pt x="116" y="211"/>
                  </a:lnTo>
                  <a:lnTo>
                    <a:pt x="106" y="218"/>
                  </a:lnTo>
                  <a:lnTo>
                    <a:pt x="99" y="225"/>
                  </a:lnTo>
                  <a:lnTo>
                    <a:pt x="90" y="231"/>
                  </a:lnTo>
                  <a:lnTo>
                    <a:pt x="85" y="235"/>
                  </a:lnTo>
                  <a:lnTo>
                    <a:pt x="79" y="240"/>
                  </a:lnTo>
                  <a:lnTo>
                    <a:pt x="72" y="244"/>
                  </a:lnTo>
                  <a:lnTo>
                    <a:pt x="66" y="247"/>
                  </a:lnTo>
                  <a:lnTo>
                    <a:pt x="61" y="250"/>
                  </a:lnTo>
                  <a:lnTo>
                    <a:pt x="53" y="252"/>
                  </a:lnTo>
                  <a:lnTo>
                    <a:pt x="46" y="257"/>
                  </a:lnTo>
                  <a:lnTo>
                    <a:pt x="38" y="261"/>
                  </a:lnTo>
                  <a:lnTo>
                    <a:pt x="29" y="267"/>
                  </a:lnTo>
                  <a:lnTo>
                    <a:pt x="21" y="274"/>
                  </a:lnTo>
                  <a:lnTo>
                    <a:pt x="14" y="282"/>
                  </a:lnTo>
                  <a:lnTo>
                    <a:pt x="7" y="292"/>
                  </a:lnTo>
                  <a:lnTo>
                    <a:pt x="2" y="303"/>
                  </a:lnTo>
                  <a:lnTo>
                    <a:pt x="0" y="325"/>
                  </a:lnTo>
                  <a:lnTo>
                    <a:pt x="0" y="347"/>
                  </a:lnTo>
                  <a:lnTo>
                    <a:pt x="5" y="371"/>
                  </a:lnTo>
                  <a:lnTo>
                    <a:pt x="17" y="393"/>
                  </a:lnTo>
                  <a:lnTo>
                    <a:pt x="18" y="405"/>
                  </a:lnTo>
                  <a:lnTo>
                    <a:pt x="22" y="421"/>
                  </a:lnTo>
                  <a:lnTo>
                    <a:pt x="29" y="435"/>
                  </a:lnTo>
                  <a:lnTo>
                    <a:pt x="38" y="445"/>
                  </a:lnTo>
                  <a:lnTo>
                    <a:pt x="42" y="458"/>
                  </a:lnTo>
                  <a:lnTo>
                    <a:pt x="49" y="468"/>
                  </a:lnTo>
                  <a:lnTo>
                    <a:pt x="56" y="475"/>
                  </a:lnTo>
                  <a:lnTo>
                    <a:pt x="66" y="479"/>
                  </a:lnTo>
                  <a:lnTo>
                    <a:pt x="78" y="482"/>
                  </a:lnTo>
                  <a:lnTo>
                    <a:pt x="89" y="482"/>
                  </a:lnTo>
                  <a:lnTo>
                    <a:pt x="102" y="481"/>
                  </a:lnTo>
                  <a:lnTo>
                    <a:pt x="114" y="476"/>
                  </a:lnTo>
                  <a:lnTo>
                    <a:pt x="117" y="481"/>
                  </a:lnTo>
                  <a:lnTo>
                    <a:pt x="119" y="485"/>
                  </a:lnTo>
                  <a:lnTo>
                    <a:pt x="121" y="486"/>
                  </a:lnTo>
                  <a:lnTo>
                    <a:pt x="126" y="486"/>
                  </a:lnTo>
                  <a:lnTo>
                    <a:pt x="139" y="486"/>
                  </a:lnTo>
                  <a:lnTo>
                    <a:pt x="150" y="485"/>
                  </a:lnTo>
                  <a:lnTo>
                    <a:pt x="161" y="483"/>
                  </a:lnTo>
                  <a:lnTo>
                    <a:pt x="171" y="481"/>
                  </a:lnTo>
                  <a:lnTo>
                    <a:pt x="181" y="476"/>
                  </a:lnTo>
                  <a:lnTo>
                    <a:pt x="190" y="472"/>
                  </a:lnTo>
                  <a:lnTo>
                    <a:pt x="198" y="466"/>
                  </a:lnTo>
                  <a:lnTo>
                    <a:pt x="204" y="459"/>
                  </a:lnTo>
                  <a:lnTo>
                    <a:pt x="209" y="457"/>
                  </a:lnTo>
                  <a:lnTo>
                    <a:pt x="215" y="455"/>
                  </a:lnTo>
                  <a:lnTo>
                    <a:pt x="221" y="454"/>
                  </a:lnTo>
                  <a:lnTo>
                    <a:pt x="228" y="451"/>
                  </a:lnTo>
                  <a:lnTo>
                    <a:pt x="234" y="451"/>
                  </a:lnTo>
                  <a:lnTo>
                    <a:pt x="239" y="449"/>
                  </a:lnTo>
                  <a:lnTo>
                    <a:pt x="243" y="448"/>
                  </a:lnTo>
                  <a:lnTo>
                    <a:pt x="248" y="448"/>
                  </a:lnTo>
                  <a:lnTo>
                    <a:pt x="255" y="445"/>
                  </a:lnTo>
                  <a:lnTo>
                    <a:pt x="265" y="441"/>
                  </a:lnTo>
                  <a:lnTo>
                    <a:pt x="272" y="434"/>
                  </a:lnTo>
                  <a:lnTo>
                    <a:pt x="276" y="427"/>
                  </a:lnTo>
                  <a:lnTo>
                    <a:pt x="275" y="420"/>
                  </a:lnTo>
                  <a:lnTo>
                    <a:pt x="272" y="414"/>
                  </a:lnTo>
                  <a:lnTo>
                    <a:pt x="266" y="411"/>
                  </a:lnTo>
                  <a:lnTo>
                    <a:pt x="262" y="411"/>
                  </a:lnTo>
                  <a:lnTo>
                    <a:pt x="255" y="415"/>
                  </a:lnTo>
                  <a:lnTo>
                    <a:pt x="246" y="418"/>
                  </a:lnTo>
                  <a:lnTo>
                    <a:pt x="238" y="421"/>
                  </a:lnTo>
                  <a:lnTo>
                    <a:pt x="232" y="421"/>
                  </a:lnTo>
                  <a:lnTo>
                    <a:pt x="226" y="421"/>
                  </a:lnTo>
                  <a:lnTo>
                    <a:pt x="217" y="420"/>
                  </a:lnTo>
                  <a:lnTo>
                    <a:pt x="208" y="420"/>
                  </a:lnTo>
                  <a:lnTo>
                    <a:pt x="200" y="421"/>
                  </a:lnTo>
                  <a:lnTo>
                    <a:pt x="198" y="418"/>
                  </a:lnTo>
                  <a:lnTo>
                    <a:pt x="195" y="414"/>
                  </a:lnTo>
                  <a:lnTo>
                    <a:pt x="192" y="411"/>
                  </a:lnTo>
                  <a:lnTo>
                    <a:pt x="191" y="407"/>
                  </a:lnTo>
                  <a:lnTo>
                    <a:pt x="194" y="391"/>
                  </a:lnTo>
                  <a:lnTo>
                    <a:pt x="200" y="377"/>
                  </a:lnTo>
                  <a:lnTo>
                    <a:pt x="208" y="363"/>
                  </a:lnTo>
                  <a:lnTo>
                    <a:pt x="215" y="349"/>
                  </a:lnTo>
                  <a:lnTo>
                    <a:pt x="217" y="345"/>
                  </a:lnTo>
                  <a:lnTo>
                    <a:pt x="217" y="340"/>
                  </a:lnTo>
                  <a:lnTo>
                    <a:pt x="218" y="335"/>
                  </a:lnTo>
                  <a:lnTo>
                    <a:pt x="218" y="332"/>
                  </a:lnTo>
                  <a:lnTo>
                    <a:pt x="224" y="326"/>
                  </a:lnTo>
                  <a:lnTo>
                    <a:pt x="229" y="319"/>
                  </a:lnTo>
                  <a:lnTo>
                    <a:pt x="234" y="313"/>
                  </a:lnTo>
                  <a:lnTo>
                    <a:pt x="236" y="308"/>
                  </a:lnTo>
                  <a:lnTo>
                    <a:pt x="236" y="302"/>
                  </a:lnTo>
                  <a:lnTo>
                    <a:pt x="236" y="296"/>
                  </a:lnTo>
                  <a:lnTo>
                    <a:pt x="234" y="292"/>
                  </a:lnTo>
                  <a:lnTo>
                    <a:pt x="228" y="292"/>
                  </a:lnTo>
                  <a:lnTo>
                    <a:pt x="221" y="296"/>
                  </a:lnTo>
                  <a:lnTo>
                    <a:pt x="214" y="301"/>
                  </a:lnTo>
                  <a:lnTo>
                    <a:pt x="207" y="305"/>
                  </a:lnTo>
                  <a:lnTo>
                    <a:pt x="201" y="309"/>
                  </a:lnTo>
                  <a:lnTo>
                    <a:pt x="197" y="315"/>
                  </a:lnTo>
                  <a:lnTo>
                    <a:pt x="194" y="320"/>
                  </a:lnTo>
                  <a:lnTo>
                    <a:pt x="190" y="325"/>
                  </a:lnTo>
                  <a:lnTo>
                    <a:pt x="187" y="329"/>
                  </a:lnTo>
                  <a:lnTo>
                    <a:pt x="180" y="325"/>
                  </a:lnTo>
                  <a:lnTo>
                    <a:pt x="174" y="322"/>
                  </a:lnTo>
                  <a:lnTo>
                    <a:pt x="168" y="319"/>
                  </a:lnTo>
                  <a:lnTo>
                    <a:pt x="160" y="319"/>
                  </a:lnTo>
                  <a:lnTo>
                    <a:pt x="158" y="315"/>
                  </a:lnTo>
                  <a:lnTo>
                    <a:pt x="157" y="310"/>
                  </a:lnTo>
                  <a:lnTo>
                    <a:pt x="154" y="308"/>
                  </a:lnTo>
                  <a:lnTo>
                    <a:pt x="151" y="303"/>
                  </a:lnTo>
                  <a:lnTo>
                    <a:pt x="171" y="301"/>
                  </a:lnTo>
                  <a:lnTo>
                    <a:pt x="188" y="298"/>
                  </a:lnTo>
                  <a:lnTo>
                    <a:pt x="201" y="295"/>
                  </a:lnTo>
                  <a:lnTo>
                    <a:pt x="212" y="292"/>
                  </a:lnTo>
                  <a:lnTo>
                    <a:pt x="221" y="289"/>
                  </a:lnTo>
                  <a:lnTo>
                    <a:pt x="228" y="286"/>
                  </a:lnTo>
                  <a:lnTo>
                    <a:pt x="235" y="284"/>
                  </a:lnTo>
                  <a:lnTo>
                    <a:pt x="241" y="281"/>
                  </a:lnTo>
                  <a:lnTo>
                    <a:pt x="249" y="276"/>
                  </a:lnTo>
                  <a:lnTo>
                    <a:pt x="262" y="269"/>
                  </a:lnTo>
                  <a:lnTo>
                    <a:pt x="278" y="261"/>
                  </a:lnTo>
                  <a:lnTo>
                    <a:pt x="295" y="250"/>
                  </a:lnTo>
                  <a:lnTo>
                    <a:pt x="313" y="240"/>
                  </a:lnTo>
                  <a:lnTo>
                    <a:pt x="331" y="231"/>
                  </a:lnTo>
                  <a:lnTo>
                    <a:pt x="347" y="224"/>
                  </a:lnTo>
                  <a:lnTo>
                    <a:pt x="360" y="220"/>
                  </a:lnTo>
                  <a:lnTo>
                    <a:pt x="360" y="221"/>
                  </a:lnTo>
                  <a:lnTo>
                    <a:pt x="360" y="224"/>
                  </a:lnTo>
                  <a:lnTo>
                    <a:pt x="358" y="225"/>
                  </a:lnTo>
                  <a:lnTo>
                    <a:pt x="358" y="228"/>
                  </a:lnTo>
                  <a:lnTo>
                    <a:pt x="356" y="254"/>
                  </a:lnTo>
                  <a:lnTo>
                    <a:pt x="360" y="279"/>
                  </a:lnTo>
                  <a:lnTo>
                    <a:pt x="367" y="308"/>
                  </a:lnTo>
                  <a:lnTo>
                    <a:pt x="377" y="335"/>
                  </a:lnTo>
                  <a:lnTo>
                    <a:pt x="388" y="360"/>
                  </a:lnTo>
                  <a:lnTo>
                    <a:pt x="399" y="381"/>
                  </a:lnTo>
                  <a:lnTo>
                    <a:pt x="411" y="400"/>
                  </a:lnTo>
                  <a:lnTo>
                    <a:pt x="418" y="411"/>
                  </a:lnTo>
                  <a:lnTo>
                    <a:pt x="422" y="415"/>
                  </a:lnTo>
                  <a:lnTo>
                    <a:pt x="428" y="421"/>
                  </a:lnTo>
                  <a:lnTo>
                    <a:pt x="435" y="430"/>
                  </a:lnTo>
                  <a:lnTo>
                    <a:pt x="442" y="437"/>
                  </a:lnTo>
                  <a:lnTo>
                    <a:pt x="451" y="445"/>
                  </a:lnTo>
                  <a:lnTo>
                    <a:pt x="458" y="454"/>
                  </a:lnTo>
                  <a:lnTo>
                    <a:pt x="463" y="459"/>
                  </a:lnTo>
                  <a:lnTo>
                    <a:pt x="468" y="464"/>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1" name="Freeform 75"/>
            <p:cNvSpPr>
              <a:spLocks/>
            </p:cNvSpPr>
            <p:nvPr/>
          </p:nvSpPr>
          <p:spPr bwMode="auto">
            <a:xfrm>
              <a:off x="3267" y="2597"/>
              <a:ext cx="185" cy="411"/>
            </a:xfrm>
            <a:custGeom>
              <a:avLst/>
              <a:gdLst>
                <a:gd name="T0" fmla="*/ 134 w 556"/>
                <a:gd name="T1" fmla="*/ 838 h 1233"/>
                <a:gd name="T2" fmla="*/ 119 w 556"/>
                <a:gd name="T3" fmla="*/ 905 h 1233"/>
                <a:gd name="T4" fmla="*/ 106 w 556"/>
                <a:gd name="T5" fmla="*/ 950 h 1233"/>
                <a:gd name="T6" fmla="*/ 96 w 556"/>
                <a:gd name="T7" fmla="*/ 997 h 1233"/>
                <a:gd name="T8" fmla="*/ 96 w 556"/>
                <a:gd name="T9" fmla="*/ 1031 h 1233"/>
                <a:gd name="T10" fmla="*/ 96 w 556"/>
                <a:gd name="T11" fmla="*/ 1078 h 1233"/>
                <a:gd name="T12" fmla="*/ 98 w 556"/>
                <a:gd name="T13" fmla="*/ 1121 h 1233"/>
                <a:gd name="T14" fmla="*/ 103 w 556"/>
                <a:gd name="T15" fmla="*/ 1189 h 1233"/>
                <a:gd name="T16" fmla="*/ 90 w 556"/>
                <a:gd name="T17" fmla="*/ 1231 h 1233"/>
                <a:gd name="T18" fmla="*/ 68 w 556"/>
                <a:gd name="T19" fmla="*/ 1230 h 1233"/>
                <a:gd name="T20" fmla="*/ 51 w 556"/>
                <a:gd name="T21" fmla="*/ 1217 h 1233"/>
                <a:gd name="T22" fmla="*/ 35 w 556"/>
                <a:gd name="T23" fmla="*/ 1200 h 1233"/>
                <a:gd name="T24" fmla="*/ 20 w 556"/>
                <a:gd name="T25" fmla="*/ 1157 h 1233"/>
                <a:gd name="T26" fmla="*/ 10 w 556"/>
                <a:gd name="T27" fmla="*/ 1033 h 1233"/>
                <a:gd name="T28" fmla="*/ 18 w 556"/>
                <a:gd name="T29" fmla="*/ 956 h 1233"/>
                <a:gd name="T30" fmla="*/ 10 w 556"/>
                <a:gd name="T31" fmla="*/ 936 h 1233"/>
                <a:gd name="T32" fmla="*/ 10 w 556"/>
                <a:gd name="T33" fmla="*/ 923 h 1233"/>
                <a:gd name="T34" fmla="*/ 24 w 556"/>
                <a:gd name="T35" fmla="*/ 887 h 1233"/>
                <a:gd name="T36" fmla="*/ 34 w 556"/>
                <a:gd name="T37" fmla="*/ 850 h 1233"/>
                <a:gd name="T38" fmla="*/ 41 w 556"/>
                <a:gd name="T39" fmla="*/ 816 h 1233"/>
                <a:gd name="T40" fmla="*/ 51 w 556"/>
                <a:gd name="T41" fmla="*/ 763 h 1233"/>
                <a:gd name="T42" fmla="*/ 69 w 556"/>
                <a:gd name="T43" fmla="*/ 634 h 1233"/>
                <a:gd name="T44" fmla="*/ 79 w 556"/>
                <a:gd name="T45" fmla="*/ 546 h 1233"/>
                <a:gd name="T46" fmla="*/ 105 w 556"/>
                <a:gd name="T47" fmla="*/ 473 h 1233"/>
                <a:gd name="T48" fmla="*/ 147 w 556"/>
                <a:gd name="T49" fmla="*/ 400 h 1233"/>
                <a:gd name="T50" fmla="*/ 204 w 556"/>
                <a:gd name="T51" fmla="*/ 331 h 1233"/>
                <a:gd name="T52" fmla="*/ 237 w 556"/>
                <a:gd name="T53" fmla="*/ 297 h 1233"/>
                <a:gd name="T54" fmla="*/ 237 w 556"/>
                <a:gd name="T55" fmla="*/ 290 h 1233"/>
                <a:gd name="T56" fmla="*/ 239 w 556"/>
                <a:gd name="T57" fmla="*/ 281 h 1233"/>
                <a:gd name="T58" fmla="*/ 248 w 556"/>
                <a:gd name="T59" fmla="*/ 267 h 1233"/>
                <a:gd name="T60" fmla="*/ 261 w 556"/>
                <a:gd name="T61" fmla="*/ 230 h 1233"/>
                <a:gd name="T62" fmla="*/ 285 w 556"/>
                <a:gd name="T63" fmla="*/ 173 h 1233"/>
                <a:gd name="T64" fmla="*/ 298 w 556"/>
                <a:gd name="T65" fmla="*/ 155 h 1233"/>
                <a:gd name="T66" fmla="*/ 303 w 556"/>
                <a:gd name="T67" fmla="*/ 145 h 1233"/>
                <a:gd name="T68" fmla="*/ 300 w 556"/>
                <a:gd name="T69" fmla="*/ 132 h 1233"/>
                <a:gd name="T70" fmla="*/ 302 w 556"/>
                <a:gd name="T71" fmla="*/ 104 h 1233"/>
                <a:gd name="T72" fmla="*/ 313 w 556"/>
                <a:gd name="T73" fmla="*/ 95 h 1233"/>
                <a:gd name="T74" fmla="*/ 330 w 556"/>
                <a:gd name="T75" fmla="*/ 88 h 1233"/>
                <a:gd name="T76" fmla="*/ 349 w 556"/>
                <a:gd name="T77" fmla="*/ 77 h 1233"/>
                <a:gd name="T78" fmla="*/ 367 w 556"/>
                <a:gd name="T79" fmla="*/ 63 h 1233"/>
                <a:gd name="T80" fmla="*/ 385 w 556"/>
                <a:gd name="T81" fmla="*/ 47 h 1233"/>
                <a:gd name="T82" fmla="*/ 410 w 556"/>
                <a:gd name="T83" fmla="*/ 30 h 1233"/>
                <a:gd name="T84" fmla="*/ 437 w 556"/>
                <a:gd name="T85" fmla="*/ 15 h 1233"/>
                <a:gd name="T86" fmla="*/ 465 w 556"/>
                <a:gd name="T87" fmla="*/ 5 h 1233"/>
                <a:gd name="T88" fmla="*/ 489 w 556"/>
                <a:gd name="T89" fmla="*/ 0 h 1233"/>
                <a:gd name="T90" fmla="*/ 507 w 556"/>
                <a:gd name="T91" fmla="*/ 2 h 1233"/>
                <a:gd name="T92" fmla="*/ 524 w 556"/>
                <a:gd name="T93" fmla="*/ 9 h 1233"/>
                <a:gd name="T94" fmla="*/ 540 w 556"/>
                <a:gd name="T95" fmla="*/ 23 h 1233"/>
                <a:gd name="T96" fmla="*/ 550 w 556"/>
                <a:gd name="T97" fmla="*/ 36 h 1233"/>
                <a:gd name="T98" fmla="*/ 554 w 556"/>
                <a:gd name="T99" fmla="*/ 42 h 1233"/>
                <a:gd name="T100" fmla="*/ 549 w 556"/>
                <a:gd name="T101" fmla="*/ 60 h 1233"/>
                <a:gd name="T102" fmla="*/ 526 w 556"/>
                <a:gd name="T103" fmla="*/ 111 h 1233"/>
                <a:gd name="T104" fmla="*/ 495 w 556"/>
                <a:gd name="T105" fmla="*/ 178 h 1233"/>
                <a:gd name="T106" fmla="*/ 463 w 556"/>
                <a:gd name="T107" fmla="*/ 236 h 1233"/>
                <a:gd name="T108" fmla="*/ 442 w 556"/>
                <a:gd name="T109" fmla="*/ 271 h 1233"/>
                <a:gd name="T110" fmla="*/ 415 w 556"/>
                <a:gd name="T111" fmla="*/ 319 h 1233"/>
                <a:gd name="T112" fmla="*/ 383 w 556"/>
                <a:gd name="T113" fmla="*/ 373 h 1233"/>
                <a:gd name="T114" fmla="*/ 350 w 556"/>
                <a:gd name="T115" fmla="*/ 414 h 1233"/>
                <a:gd name="T116" fmla="*/ 322 w 556"/>
                <a:gd name="T117" fmla="*/ 458 h 1233"/>
                <a:gd name="T118" fmla="*/ 271 w 556"/>
                <a:gd name="T119" fmla="*/ 558 h 1233"/>
                <a:gd name="T120" fmla="*/ 207 w 556"/>
                <a:gd name="T121" fmla="*/ 677 h 1233"/>
                <a:gd name="T122" fmla="*/ 156 w 556"/>
                <a:gd name="T123" fmla="*/ 777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56" h="1233">
                  <a:moveTo>
                    <a:pt x="143" y="811"/>
                  </a:moveTo>
                  <a:lnTo>
                    <a:pt x="134" y="838"/>
                  </a:lnTo>
                  <a:lnTo>
                    <a:pt x="126" y="872"/>
                  </a:lnTo>
                  <a:lnTo>
                    <a:pt x="119" y="905"/>
                  </a:lnTo>
                  <a:lnTo>
                    <a:pt x="112" y="929"/>
                  </a:lnTo>
                  <a:lnTo>
                    <a:pt x="106" y="950"/>
                  </a:lnTo>
                  <a:lnTo>
                    <a:pt x="100" y="974"/>
                  </a:lnTo>
                  <a:lnTo>
                    <a:pt x="96" y="997"/>
                  </a:lnTo>
                  <a:lnTo>
                    <a:pt x="95" y="1014"/>
                  </a:lnTo>
                  <a:lnTo>
                    <a:pt x="96" y="1031"/>
                  </a:lnTo>
                  <a:lnTo>
                    <a:pt x="96" y="1054"/>
                  </a:lnTo>
                  <a:lnTo>
                    <a:pt x="96" y="1078"/>
                  </a:lnTo>
                  <a:lnTo>
                    <a:pt x="96" y="1098"/>
                  </a:lnTo>
                  <a:lnTo>
                    <a:pt x="98" y="1121"/>
                  </a:lnTo>
                  <a:lnTo>
                    <a:pt x="100" y="1153"/>
                  </a:lnTo>
                  <a:lnTo>
                    <a:pt x="103" y="1189"/>
                  </a:lnTo>
                  <a:lnTo>
                    <a:pt x="103" y="1225"/>
                  </a:lnTo>
                  <a:lnTo>
                    <a:pt x="90" y="1231"/>
                  </a:lnTo>
                  <a:lnTo>
                    <a:pt x="79" y="1233"/>
                  </a:lnTo>
                  <a:lnTo>
                    <a:pt x="68" y="1230"/>
                  </a:lnTo>
                  <a:lnTo>
                    <a:pt x="59" y="1224"/>
                  </a:lnTo>
                  <a:lnTo>
                    <a:pt x="51" y="1217"/>
                  </a:lnTo>
                  <a:lnTo>
                    <a:pt x="42" y="1208"/>
                  </a:lnTo>
                  <a:lnTo>
                    <a:pt x="35" y="1200"/>
                  </a:lnTo>
                  <a:lnTo>
                    <a:pt x="29" y="1191"/>
                  </a:lnTo>
                  <a:lnTo>
                    <a:pt x="20" y="1157"/>
                  </a:lnTo>
                  <a:lnTo>
                    <a:pt x="12" y="1098"/>
                  </a:lnTo>
                  <a:lnTo>
                    <a:pt x="10" y="1033"/>
                  </a:lnTo>
                  <a:lnTo>
                    <a:pt x="14" y="983"/>
                  </a:lnTo>
                  <a:lnTo>
                    <a:pt x="18" y="956"/>
                  </a:lnTo>
                  <a:lnTo>
                    <a:pt x="17" y="942"/>
                  </a:lnTo>
                  <a:lnTo>
                    <a:pt x="10" y="936"/>
                  </a:lnTo>
                  <a:lnTo>
                    <a:pt x="0" y="938"/>
                  </a:lnTo>
                  <a:lnTo>
                    <a:pt x="10" y="923"/>
                  </a:lnTo>
                  <a:lnTo>
                    <a:pt x="17" y="906"/>
                  </a:lnTo>
                  <a:lnTo>
                    <a:pt x="24" y="887"/>
                  </a:lnTo>
                  <a:lnTo>
                    <a:pt x="29" y="868"/>
                  </a:lnTo>
                  <a:lnTo>
                    <a:pt x="34" y="850"/>
                  </a:lnTo>
                  <a:lnTo>
                    <a:pt x="38" y="831"/>
                  </a:lnTo>
                  <a:lnTo>
                    <a:pt x="41" y="816"/>
                  </a:lnTo>
                  <a:lnTo>
                    <a:pt x="44" y="803"/>
                  </a:lnTo>
                  <a:lnTo>
                    <a:pt x="51" y="763"/>
                  </a:lnTo>
                  <a:lnTo>
                    <a:pt x="61" y="701"/>
                  </a:lnTo>
                  <a:lnTo>
                    <a:pt x="69" y="634"/>
                  </a:lnTo>
                  <a:lnTo>
                    <a:pt x="75" y="582"/>
                  </a:lnTo>
                  <a:lnTo>
                    <a:pt x="79" y="546"/>
                  </a:lnTo>
                  <a:lnTo>
                    <a:pt x="89" y="509"/>
                  </a:lnTo>
                  <a:lnTo>
                    <a:pt x="105" y="473"/>
                  </a:lnTo>
                  <a:lnTo>
                    <a:pt x="125" y="436"/>
                  </a:lnTo>
                  <a:lnTo>
                    <a:pt x="147" y="400"/>
                  </a:lnTo>
                  <a:lnTo>
                    <a:pt x="174" y="365"/>
                  </a:lnTo>
                  <a:lnTo>
                    <a:pt x="204" y="331"/>
                  </a:lnTo>
                  <a:lnTo>
                    <a:pt x="237" y="300"/>
                  </a:lnTo>
                  <a:lnTo>
                    <a:pt x="237" y="297"/>
                  </a:lnTo>
                  <a:lnTo>
                    <a:pt x="237" y="293"/>
                  </a:lnTo>
                  <a:lnTo>
                    <a:pt x="237" y="290"/>
                  </a:lnTo>
                  <a:lnTo>
                    <a:pt x="237" y="285"/>
                  </a:lnTo>
                  <a:lnTo>
                    <a:pt x="239" y="281"/>
                  </a:lnTo>
                  <a:lnTo>
                    <a:pt x="244" y="276"/>
                  </a:lnTo>
                  <a:lnTo>
                    <a:pt x="248" y="267"/>
                  </a:lnTo>
                  <a:lnTo>
                    <a:pt x="251" y="258"/>
                  </a:lnTo>
                  <a:lnTo>
                    <a:pt x="261" y="230"/>
                  </a:lnTo>
                  <a:lnTo>
                    <a:pt x="273" y="200"/>
                  </a:lnTo>
                  <a:lnTo>
                    <a:pt x="285" y="173"/>
                  </a:lnTo>
                  <a:lnTo>
                    <a:pt x="292" y="161"/>
                  </a:lnTo>
                  <a:lnTo>
                    <a:pt x="298" y="155"/>
                  </a:lnTo>
                  <a:lnTo>
                    <a:pt x="303" y="151"/>
                  </a:lnTo>
                  <a:lnTo>
                    <a:pt x="303" y="145"/>
                  </a:lnTo>
                  <a:lnTo>
                    <a:pt x="300" y="139"/>
                  </a:lnTo>
                  <a:lnTo>
                    <a:pt x="300" y="132"/>
                  </a:lnTo>
                  <a:lnTo>
                    <a:pt x="300" y="118"/>
                  </a:lnTo>
                  <a:lnTo>
                    <a:pt x="302" y="104"/>
                  </a:lnTo>
                  <a:lnTo>
                    <a:pt x="306" y="97"/>
                  </a:lnTo>
                  <a:lnTo>
                    <a:pt x="313" y="95"/>
                  </a:lnTo>
                  <a:lnTo>
                    <a:pt x="322" y="93"/>
                  </a:lnTo>
                  <a:lnTo>
                    <a:pt x="330" y="88"/>
                  </a:lnTo>
                  <a:lnTo>
                    <a:pt x="339" y="83"/>
                  </a:lnTo>
                  <a:lnTo>
                    <a:pt x="349" y="77"/>
                  </a:lnTo>
                  <a:lnTo>
                    <a:pt x="357" y="70"/>
                  </a:lnTo>
                  <a:lnTo>
                    <a:pt x="367" y="63"/>
                  </a:lnTo>
                  <a:lnTo>
                    <a:pt x="376" y="56"/>
                  </a:lnTo>
                  <a:lnTo>
                    <a:pt x="385" y="47"/>
                  </a:lnTo>
                  <a:lnTo>
                    <a:pt x="397" y="39"/>
                  </a:lnTo>
                  <a:lnTo>
                    <a:pt x="410" y="30"/>
                  </a:lnTo>
                  <a:lnTo>
                    <a:pt x="422" y="22"/>
                  </a:lnTo>
                  <a:lnTo>
                    <a:pt x="437" y="15"/>
                  </a:lnTo>
                  <a:lnTo>
                    <a:pt x="451" y="9"/>
                  </a:lnTo>
                  <a:lnTo>
                    <a:pt x="465" y="5"/>
                  </a:lnTo>
                  <a:lnTo>
                    <a:pt x="478" y="2"/>
                  </a:lnTo>
                  <a:lnTo>
                    <a:pt x="489" y="0"/>
                  </a:lnTo>
                  <a:lnTo>
                    <a:pt x="499" y="0"/>
                  </a:lnTo>
                  <a:lnTo>
                    <a:pt x="507" y="2"/>
                  </a:lnTo>
                  <a:lnTo>
                    <a:pt x="517" y="5"/>
                  </a:lnTo>
                  <a:lnTo>
                    <a:pt x="524" y="9"/>
                  </a:lnTo>
                  <a:lnTo>
                    <a:pt x="533" y="15"/>
                  </a:lnTo>
                  <a:lnTo>
                    <a:pt x="540" y="23"/>
                  </a:lnTo>
                  <a:lnTo>
                    <a:pt x="547" y="33"/>
                  </a:lnTo>
                  <a:lnTo>
                    <a:pt x="550" y="36"/>
                  </a:lnTo>
                  <a:lnTo>
                    <a:pt x="551" y="39"/>
                  </a:lnTo>
                  <a:lnTo>
                    <a:pt x="554" y="42"/>
                  </a:lnTo>
                  <a:lnTo>
                    <a:pt x="556" y="46"/>
                  </a:lnTo>
                  <a:lnTo>
                    <a:pt x="549" y="60"/>
                  </a:lnTo>
                  <a:lnTo>
                    <a:pt x="539" y="83"/>
                  </a:lnTo>
                  <a:lnTo>
                    <a:pt x="526" y="111"/>
                  </a:lnTo>
                  <a:lnTo>
                    <a:pt x="510" y="144"/>
                  </a:lnTo>
                  <a:lnTo>
                    <a:pt x="495" y="178"/>
                  </a:lnTo>
                  <a:lnTo>
                    <a:pt x="479" y="209"/>
                  </a:lnTo>
                  <a:lnTo>
                    <a:pt x="463" y="236"/>
                  </a:lnTo>
                  <a:lnTo>
                    <a:pt x="451" y="256"/>
                  </a:lnTo>
                  <a:lnTo>
                    <a:pt x="442" y="271"/>
                  </a:lnTo>
                  <a:lnTo>
                    <a:pt x="429" y="294"/>
                  </a:lnTo>
                  <a:lnTo>
                    <a:pt x="415" y="319"/>
                  </a:lnTo>
                  <a:lnTo>
                    <a:pt x="400" y="346"/>
                  </a:lnTo>
                  <a:lnTo>
                    <a:pt x="383" y="373"/>
                  </a:lnTo>
                  <a:lnTo>
                    <a:pt x="366" y="396"/>
                  </a:lnTo>
                  <a:lnTo>
                    <a:pt x="350" y="414"/>
                  </a:lnTo>
                  <a:lnTo>
                    <a:pt x="336" y="426"/>
                  </a:lnTo>
                  <a:lnTo>
                    <a:pt x="322" y="458"/>
                  </a:lnTo>
                  <a:lnTo>
                    <a:pt x="299" y="504"/>
                  </a:lnTo>
                  <a:lnTo>
                    <a:pt x="271" y="558"/>
                  </a:lnTo>
                  <a:lnTo>
                    <a:pt x="239" y="617"/>
                  </a:lnTo>
                  <a:lnTo>
                    <a:pt x="207" y="677"/>
                  </a:lnTo>
                  <a:lnTo>
                    <a:pt x="178" y="731"/>
                  </a:lnTo>
                  <a:lnTo>
                    <a:pt x="156" y="777"/>
                  </a:lnTo>
                  <a:lnTo>
                    <a:pt x="143" y="81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2" name="Freeform 76"/>
            <p:cNvSpPr>
              <a:spLocks/>
            </p:cNvSpPr>
            <p:nvPr/>
          </p:nvSpPr>
          <p:spPr bwMode="auto">
            <a:xfrm>
              <a:off x="3500" y="2654"/>
              <a:ext cx="85" cy="352"/>
            </a:xfrm>
            <a:custGeom>
              <a:avLst/>
              <a:gdLst>
                <a:gd name="T0" fmla="*/ 246 w 254"/>
                <a:gd name="T1" fmla="*/ 181 h 1055"/>
                <a:gd name="T2" fmla="*/ 215 w 254"/>
                <a:gd name="T3" fmla="*/ 177 h 1055"/>
                <a:gd name="T4" fmla="*/ 179 w 254"/>
                <a:gd name="T5" fmla="*/ 177 h 1055"/>
                <a:gd name="T6" fmla="*/ 149 w 254"/>
                <a:gd name="T7" fmla="*/ 177 h 1055"/>
                <a:gd name="T8" fmla="*/ 132 w 254"/>
                <a:gd name="T9" fmla="*/ 166 h 1055"/>
                <a:gd name="T10" fmla="*/ 127 w 254"/>
                <a:gd name="T11" fmla="*/ 126 h 1055"/>
                <a:gd name="T12" fmla="*/ 120 w 254"/>
                <a:gd name="T13" fmla="*/ 106 h 1055"/>
                <a:gd name="T14" fmla="*/ 105 w 254"/>
                <a:gd name="T15" fmla="*/ 99 h 1055"/>
                <a:gd name="T16" fmla="*/ 91 w 254"/>
                <a:gd name="T17" fmla="*/ 92 h 1055"/>
                <a:gd name="T18" fmla="*/ 78 w 254"/>
                <a:gd name="T19" fmla="*/ 86 h 1055"/>
                <a:gd name="T20" fmla="*/ 60 w 254"/>
                <a:gd name="T21" fmla="*/ 75 h 1055"/>
                <a:gd name="T22" fmla="*/ 56 w 254"/>
                <a:gd name="T23" fmla="*/ 45 h 1055"/>
                <a:gd name="T24" fmla="*/ 60 w 254"/>
                <a:gd name="T25" fmla="*/ 27 h 1055"/>
                <a:gd name="T26" fmla="*/ 56 w 254"/>
                <a:gd name="T27" fmla="*/ 9 h 1055"/>
                <a:gd name="T28" fmla="*/ 46 w 254"/>
                <a:gd name="T29" fmla="*/ 4 h 1055"/>
                <a:gd name="T30" fmla="*/ 32 w 254"/>
                <a:gd name="T31" fmla="*/ 9 h 1055"/>
                <a:gd name="T32" fmla="*/ 27 w 254"/>
                <a:gd name="T33" fmla="*/ 58 h 1055"/>
                <a:gd name="T34" fmla="*/ 39 w 254"/>
                <a:gd name="T35" fmla="*/ 184 h 1055"/>
                <a:gd name="T36" fmla="*/ 33 w 254"/>
                <a:gd name="T37" fmla="*/ 252 h 1055"/>
                <a:gd name="T38" fmla="*/ 13 w 254"/>
                <a:gd name="T39" fmla="*/ 319 h 1055"/>
                <a:gd name="T40" fmla="*/ 5 w 254"/>
                <a:gd name="T41" fmla="*/ 394 h 1055"/>
                <a:gd name="T42" fmla="*/ 13 w 254"/>
                <a:gd name="T43" fmla="*/ 474 h 1055"/>
                <a:gd name="T44" fmla="*/ 26 w 254"/>
                <a:gd name="T45" fmla="*/ 532 h 1055"/>
                <a:gd name="T46" fmla="*/ 27 w 254"/>
                <a:gd name="T47" fmla="*/ 591 h 1055"/>
                <a:gd name="T48" fmla="*/ 36 w 254"/>
                <a:gd name="T49" fmla="*/ 666 h 1055"/>
                <a:gd name="T50" fmla="*/ 37 w 254"/>
                <a:gd name="T51" fmla="*/ 770 h 1055"/>
                <a:gd name="T52" fmla="*/ 22 w 254"/>
                <a:gd name="T53" fmla="*/ 836 h 1055"/>
                <a:gd name="T54" fmla="*/ 7 w 254"/>
                <a:gd name="T55" fmla="*/ 872 h 1055"/>
                <a:gd name="T56" fmla="*/ 23 w 254"/>
                <a:gd name="T57" fmla="*/ 893 h 1055"/>
                <a:gd name="T58" fmla="*/ 59 w 254"/>
                <a:gd name="T59" fmla="*/ 912 h 1055"/>
                <a:gd name="T60" fmla="*/ 83 w 254"/>
                <a:gd name="T61" fmla="*/ 936 h 1055"/>
                <a:gd name="T62" fmla="*/ 100 w 254"/>
                <a:gd name="T63" fmla="*/ 960 h 1055"/>
                <a:gd name="T64" fmla="*/ 117 w 254"/>
                <a:gd name="T65" fmla="*/ 983 h 1055"/>
                <a:gd name="T66" fmla="*/ 137 w 254"/>
                <a:gd name="T67" fmla="*/ 1007 h 1055"/>
                <a:gd name="T68" fmla="*/ 156 w 254"/>
                <a:gd name="T69" fmla="*/ 1028 h 1055"/>
                <a:gd name="T70" fmla="*/ 173 w 254"/>
                <a:gd name="T71" fmla="*/ 1045 h 1055"/>
                <a:gd name="T72" fmla="*/ 185 w 254"/>
                <a:gd name="T73" fmla="*/ 1052 h 1055"/>
                <a:gd name="T74" fmla="*/ 203 w 254"/>
                <a:gd name="T75" fmla="*/ 1055 h 1055"/>
                <a:gd name="T76" fmla="*/ 223 w 254"/>
                <a:gd name="T77" fmla="*/ 1051 h 1055"/>
                <a:gd name="T78" fmla="*/ 230 w 254"/>
                <a:gd name="T79" fmla="*/ 1038 h 1055"/>
                <a:gd name="T80" fmla="*/ 223 w 254"/>
                <a:gd name="T81" fmla="*/ 1015 h 1055"/>
                <a:gd name="T82" fmla="*/ 210 w 254"/>
                <a:gd name="T83" fmla="*/ 985 h 1055"/>
                <a:gd name="T84" fmla="*/ 200 w 254"/>
                <a:gd name="T85" fmla="*/ 967 h 1055"/>
                <a:gd name="T86" fmla="*/ 189 w 254"/>
                <a:gd name="T87" fmla="*/ 946 h 1055"/>
                <a:gd name="T88" fmla="*/ 173 w 254"/>
                <a:gd name="T89" fmla="*/ 916 h 1055"/>
                <a:gd name="T90" fmla="*/ 159 w 254"/>
                <a:gd name="T91" fmla="*/ 882 h 1055"/>
                <a:gd name="T92" fmla="*/ 148 w 254"/>
                <a:gd name="T93" fmla="*/ 811 h 1055"/>
                <a:gd name="T94" fmla="*/ 155 w 254"/>
                <a:gd name="T95" fmla="*/ 676 h 1055"/>
                <a:gd name="T96" fmla="*/ 185 w 254"/>
                <a:gd name="T97" fmla="*/ 561 h 1055"/>
                <a:gd name="T98" fmla="*/ 203 w 254"/>
                <a:gd name="T99" fmla="*/ 479 h 1055"/>
                <a:gd name="T100" fmla="*/ 215 w 254"/>
                <a:gd name="T101" fmla="*/ 400 h 1055"/>
                <a:gd name="T102" fmla="*/ 220 w 254"/>
                <a:gd name="T103" fmla="*/ 339 h 1055"/>
                <a:gd name="T104" fmla="*/ 226 w 254"/>
                <a:gd name="T105" fmla="*/ 284 h 1055"/>
                <a:gd name="T106" fmla="*/ 246 w 254"/>
                <a:gd name="T107" fmla="*/ 208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4" h="1055">
                  <a:moveTo>
                    <a:pt x="254" y="184"/>
                  </a:moveTo>
                  <a:lnTo>
                    <a:pt x="246" y="181"/>
                  </a:lnTo>
                  <a:lnTo>
                    <a:pt x="232" y="179"/>
                  </a:lnTo>
                  <a:lnTo>
                    <a:pt x="215" y="177"/>
                  </a:lnTo>
                  <a:lnTo>
                    <a:pt x="196" y="177"/>
                  </a:lnTo>
                  <a:lnTo>
                    <a:pt x="179" y="177"/>
                  </a:lnTo>
                  <a:lnTo>
                    <a:pt x="162" y="177"/>
                  </a:lnTo>
                  <a:lnTo>
                    <a:pt x="149" y="177"/>
                  </a:lnTo>
                  <a:lnTo>
                    <a:pt x="141" y="176"/>
                  </a:lnTo>
                  <a:lnTo>
                    <a:pt x="132" y="166"/>
                  </a:lnTo>
                  <a:lnTo>
                    <a:pt x="129" y="147"/>
                  </a:lnTo>
                  <a:lnTo>
                    <a:pt x="127" y="126"/>
                  </a:lnTo>
                  <a:lnTo>
                    <a:pt x="125" y="109"/>
                  </a:lnTo>
                  <a:lnTo>
                    <a:pt x="120" y="106"/>
                  </a:lnTo>
                  <a:lnTo>
                    <a:pt x="114" y="104"/>
                  </a:lnTo>
                  <a:lnTo>
                    <a:pt x="105" y="99"/>
                  </a:lnTo>
                  <a:lnTo>
                    <a:pt x="97" y="95"/>
                  </a:lnTo>
                  <a:lnTo>
                    <a:pt x="91" y="92"/>
                  </a:lnTo>
                  <a:lnTo>
                    <a:pt x="84" y="89"/>
                  </a:lnTo>
                  <a:lnTo>
                    <a:pt x="78" y="86"/>
                  </a:lnTo>
                  <a:lnTo>
                    <a:pt x="71" y="84"/>
                  </a:lnTo>
                  <a:lnTo>
                    <a:pt x="60" y="75"/>
                  </a:lnTo>
                  <a:lnTo>
                    <a:pt x="56" y="60"/>
                  </a:lnTo>
                  <a:lnTo>
                    <a:pt x="56" y="45"/>
                  </a:lnTo>
                  <a:lnTo>
                    <a:pt x="61" y="33"/>
                  </a:lnTo>
                  <a:lnTo>
                    <a:pt x="60" y="27"/>
                  </a:lnTo>
                  <a:lnTo>
                    <a:pt x="59" y="17"/>
                  </a:lnTo>
                  <a:lnTo>
                    <a:pt x="56" y="9"/>
                  </a:lnTo>
                  <a:lnTo>
                    <a:pt x="53" y="0"/>
                  </a:lnTo>
                  <a:lnTo>
                    <a:pt x="46" y="4"/>
                  </a:lnTo>
                  <a:lnTo>
                    <a:pt x="39" y="7"/>
                  </a:lnTo>
                  <a:lnTo>
                    <a:pt x="32" y="9"/>
                  </a:lnTo>
                  <a:lnTo>
                    <a:pt x="23" y="10"/>
                  </a:lnTo>
                  <a:lnTo>
                    <a:pt x="27" y="58"/>
                  </a:lnTo>
                  <a:lnTo>
                    <a:pt x="33" y="122"/>
                  </a:lnTo>
                  <a:lnTo>
                    <a:pt x="39" y="184"/>
                  </a:lnTo>
                  <a:lnTo>
                    <a:pt x="46" y="223"/>
                  </a:lnTo>
                  <a:lnTo>
                    <a:pt x="33" y="252"/>
                  </a:lnTo>
                  <a:lnTo>
                    <a:pt x="22" y="285"/>
                  </a:lnTo>
                  <a:lnTo>
                    <a:pt x="13" y="319"/>
                  </a:lnTo>
                  <a:lnTo>
                    <a:pt x="7" y="356"/>
                  </a:lnTo>
                  <a:lnTo>
                    <a:pt x="5" y="394"/>
                  </a:lnTo>
                  <a:lnTo>
                    <a:pt x="7" y="432"/>
                  </a:lnTo>
                  <a:lnTo>
                    <a:pt x="13" y="474"/>
                  </a:lnTo>
                  <a:lnTo>
                    <a:pt x="23" y="515"/>
                  </a:lnTo>
                  <a:lnTo>
                    <a:pt x="26" y="532"/>
                  </a:lnTo>
                  <a:lnTo>
                    <a:pt x="26" y="559"/>
                  </a:lnTo>
                  <a:lnTo>
                    <a:pt x="27" y="591"/>
                  </a:lnTo>
                  <a:lnTo>
                    <a:pt x="32" y="625"/>
                  </a:lnTo>
                  <a:lnTo>
                    <a:pt x="36" y="666"/>
                  </a:lnTo>
                  <a:lnTo>
                    <a:pt x="39" y="719"/>
                  </a:lnTo>
                  <a:lnTo>
                    <a:pt x="37" y="770"/>
                  </a:lnTo>
                  <a:lnTo>
                    <a:pt x="30" y="812"/>
                  </a:lnTo>
                  <a:lnTo>
                    <a:pt x="22" y="836"/>
                  </a:lnTo>
                  <a:lnTo>
                    <a:pt x="15" y="856"/>
                  </a:lnTo>
                  <a:lnTo>
                    <a:pt x="7" y="872"/>
                  </a:lnTo>
                  <a:lnTo>
                    <a:pt x="0" y="886"/>
                  </a:lnTo>
                  <a:lnTo>
                    <a:pt x="23" y="893"/>
                  </a:lnTo>
                  <a:lnTo>
                    <a:pt x="43" y="902"/>
                  </a:lnTo>
                  <a:lnTo>
                    <a:pt x="59" y="912"/>
                  </a:lnTo>
                  <a:lnTo>
                    <a:pt x="71" y="923"/>
                  </a:lnTo>
                  <a:lnTo>
                    <a:pt x="83" y="936"/>
                  </a:lnTo>
                  <a:lnTo>
                    <a:pt x="93" y="949"/>
                  </a:lnTo>
                  <a:lnTo>
                    <a:pt x="100" y="960"/>
                  </a:lnTo>
                  <a:lnTo>
                    <a:pt x="108" y="971"/>
                  </a:lnTo>
                  <a:lnTo>
                    <a:pt x="117" y="983"/>
                  </a:lnTo>
                  <a:lnTo>
                    <a:pt x="127" y="994"/>
                  </a:lnTo>
                  <a:lnTo>
                    <a:pt x="137" y="1007"/>
                  </a:lnTo>
                  <a:lnTo>
                    <a:pt x="146" y="1018"/>
                  </a:lnTo>
                  <a:lnTo>
                    <a:pt x="156" y="1028"/>
                  </a:lnTo>
                  <a:lnTo>
                    <a:pt x="166" y="1038"/>
                  </a:lnTo>
                  <a:lnTo>
                    <a:pt x="173" y="1045"/>
                  </a:lnTo>
                  <a:lnTo>
                    <a:pt x="179" y="1049"/>
                  </a:lnTo>
                  <a:lnTo>
                    <a:pt x="185" y="1052"/>
                  </a:lnTo>
                  <a:lnTo>
                    <a:pt x="193" y="1053"/>
                  </a:lnTo>
                  <a:lnTo>
                    <a:pt x="203" y="1055"/>
                  </a:lnTo>
                  <a:lnTo>
                    <a:pt x="215" y="1053"/>
                  </a:lnTo>
                  <a:lnTo>
                    <a:pt x="223" y="1051"/>
                  </a:lnTo>
                  <a:lnTo>
                    <a:pt x="229" y="1046"/>
                  </a:lnTo>
                  <a:lnTo>
                    <a:pt x="230" y="1038"/>
                  </a:lnTo>
                  <a:lnTo>
                    <a:pt x="227" y="1028"/>
                  </a:lnTo>
                  <a:lnTo>
                    <a:pt x="223" y="1015"/>
                  </a:lnTo>
                  <a:lnTo>
                    <a:pt x="217" y="1000"/>
                  </a:lnTo>
                  <a:lnTo>
                    <a:pt x="210" y="985"/>
                  </a:lnTo>
                  <a:lnTo>
                    <a:pt x="205" y="974"/>
                  </a:lnTo>
                  <a:lnTo>
                    <a:pt x="200" y="967"/>
                  </a:lnTo>
                  <a:lnTo>
                    <a:pt x="195" y="958"/>
                  </a:lnTo>
                  <a:lnTo>
                    <a:pt x="189" y="946"/>
                  </a:lnTo>
                  <a:lnTo>
                    <a:pt x="180" y="931"/>
                  </a:lnTo>
                  <a:lnTo>
                    <a:pt x="173" y="916"/>
                  </a:lnTo>
                  <a:lnTo>
                    <a:pt x="166" y="899"/>
                  </a:lnTo>
                  <a:lnTo>
                    <a:pt x="159" y="882"/>
                  </a:lnTo>
                  <a:lnTo>
                    <a:pt x="155" y="865"/>
                  </a:lnTo>
                  <a:lnTo>
                    <a:pt x="148" y="811"/>
                  </a:lnTo>
                  <a:lnTo>
                    <a:pt x="148" y="746"/>
                  </a:lnTo>
                  <a:lnTo>
                    <a:pt x="155" y="676"/>
                  </a:lnTo>
                  <a:lnTo>
                    <a:pt x="173" y="601"/>
                  </a:lnTo>
                  <a:lnTo>
                    <a:pt x="185" y="561"/>
                  </a:lnTo>
                  <a:lnTo>
                    <a:pt x="195" y="520"/>
                  </a:lnTo>
                  <a:lnTo>
                    <a:pt x="203" y="479"/>
                  </a:lnTo>
                  <a:lnTo>
                    <a:pt x="210" y="438"/>
                  </a:lnTo>
                  <a:lnTo>
                    <a:pt x="215" y="400"/>
                  </a:lnTo>
                  <a:lnTo>
                    <a:pt x="219" y="366"/>
                  </a:lnTo>
                  <a:lnTo>
                    <a:pt x="220" y="339"/>
                  </a:lnTo>
                  <a:lnTo>
                    <a:pt x="222" y="319"/>
                  </a:lnTo>
                  <a:lnTo>
                    <a:pt x="226" y="284"/>
                  </a:lnTo>
                  <a:lnTo>
                    <a:pt x="234" y="244"/>
                  </a:lnTo>
                  <a:lnTo>
                    <a:pt x="246" y="208"/>
                  </a:lnTo>
                  <a:lnTo>
                    <a:pt x="254" y="184"/>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3" name="Freeform 77"/>
            <p:cNvSpPr>
              <a:spLocks/>
            </p:cNvSpPr>
            <p:nvPr/>
          </p:nvSpPr>
          <p:spPr bwMode="auto">
            <a:xfrm>
              <a:off x="3301" y="2039"/>
              <a:ext cx="196" cy="215"/>
            </a:xfrm>
            <a:custGeom>
              <a:avLst/>
              <a:gdLst>
                <a:gd name="T0" fmla="*/ 570 w 587"/>
                <a:gd name="T1" fmla="*/ 624 h 647"/>
                <a:gd name="T2" fmla="*/ 549 w 587"/>
                <a:gd name="T3" fmla="*/ 591 h 647"/>
                <a:gd name="T4" fmla="*/ 524 w 587"/>
                <a:gd name="T5" fmla="*/ 539 h 647"/>
                <a:gd name="T6" fmla="*/ 508 w 587"/>
                <a:gd name="T7" fmla="*/ 518 h 647"/>
                <a:gd name="T8" fmla="*/ 484 w 587"/>
                <a:gd name="T9" fmla="*/ 498 h 647"/>
                <a:gd name="T10" fmla="*/ 460 w 587"/>
                <a:gd name="T11" fmla="*/ 479 h 647"/>
                <a:gd name="T12" fmla="*/ 439 w 587"/>
                <a:gd name="T13" fmla="*/ 373 h 647"/>
                <a:gd name="T14" fmla="*/ 444 w 587"/>
                <a:gd name="T15" fmla="*/ 336 h 647"/>
                <a:gd name="T16" fmla="*/ 458 w 587"/>
                <a:gd name="T17" fmla="*/ 296 h 647"/>
                <a:gd name="T18" fmla="*/ 444 w 587"/>
                <a:gd name="T19" fmla="*/ 262 h 647"/>
                <a:gd name="T20" fmla="*/ 427 w 587"/>
                <a:gd name="T21" fmla="*/ 190 h 647"/>
                <a:gd name="T22" fmla="*/ 390 w 587"/>
                <a:gd name="T23" fmla="*/ 140 h 647"/>
                <a:gd name="T24" fmla="*/ 385 w 587"/>
                <a:gd name="T25" fmla="*/ 123 h 647"/>
                <a:gd name="T26" fmla="*/ 372 w 587"/>
                <a:gd name="T27" fmla="*/ 125 h 647"/>
                <a:gd name="T28" fmla="*/ 360 w 587"/>
                <a:gd name="T29" fmla="*/ 106 h 647"/>
                <a:gd name="T30" fmla="*/ 339 w 587"/>
                <a:gd name="T31" fmla="*/ 92 h 647"/>
                <a:gd name="T32" fmla="*/ 324 w 587"/>
                <a:gd name="T33" fmla="*/ 82 h 647"/>
                <a:gd name="T34" fmla="*/ 295 w 587"/>
                <a:gd name="T35" fmla="*/ 70 h 647"/>
                <a:gd name="T36" fmla="*/ 305 w 587"/>
                <a:gd name="T37" fmla="*/ 60 h 647"/>
                <a:gd name="T38" fmla="*/ 341 w 587"/>
                <a:gd name="T39" fmla="*/ 27 h 647"/>
                <a:gd name="T40" fmla="*/ 325 w 587"/>
                <a:gd name="T41" fmla="*/ 27 h 647"/>
                <a:gd name="T42" fmla="*/ 311 w 587"/>
                <a:gd name="T43" fmla="*/ 7 h 647"/>
                <a:gd name="T44" fmla="*/ 284 w 587"/>
                <a:gd name="T45" fmla="*/ 6 h 647"/>
                <a:gd name="T46" fmla="*/ 263 w 587"/>
                <a:gd name="T47" fmla="*/ 1 h 647"/>
                <a:gd name="T48" fmla="*/ 241 w 587"/>
                <a:gd name="T49" fmla="*/ 3 h 647"/>
                <a:gd name="T50" fmla="*/ 219 w 587"/>
                <a:gd name="T51" fmla="*/ 7 h 647"/>
                <a:gd name="T52" fmla="*/ 197 w 587"/>
                <a:gd name="T53" fmla="*/ 6 h 647"/>
                <a:gd name="T54" fmla="*/ 169 w 587"/>
                <a:gd name="T55" fmla="*/ 4 h 647"/>
                <a:gd name="T56" fmla="*/ 136 w 587"/>
                <a:gd name="T57" fmla="*/ 21 h 647"/>
                <a:gd name="T58" fmla="*/ 115 w 587"/>
                <a:gd name="T59" fmla="*/ 62 h 647"/>
                <a:gd name="T60" fmla="*/ 100 w 587"/>
                <a:gd name="T61" fmla="*/ 75 h 647"/>
                <a:gd name="T62" fmla="*/ 61 w 587"/>
                <a:gd name="T63" fmla="*/ 78 h 647"/>
                <a:gd name="T64" fmla="*/ 36 w 587"/>
                <a:gd name="T65" fmla="*/ 95 h 647"/>
                <a:gd name="T66" fmla="*/ 14 w 587"/>
                <a:gd name="T67" fmla="*/ 129 h 647"/>
                <a:gd name="T68" fmla="*/ 3 w 587"/>
                <a:gd name="T69" fmla="*/ 206 h 647"/>
                <a:gd name="T70" fmla="*/ 24 w 587"/>
                <a:gd name="T71" fmla="*/ 258 h 647"/>
                <a:gd name="T72" fmla="*/ 60 w 587"/>
                <a:gd name="T73" fmla="*/ 281 h 647"/>
                <a:gd name="T74" fmla="*/ 81 w 587"/>
                <a:gd name="T75" fmla="*/ 308 h 647"/>
                <a:gd name="T76" fmla="*/ 118 w 587"/>
                <a:gd name="T77" fmla="*/ 330 h 647"/>
                <a:gd name="T78" fmla="*/ 148 w 587"/>
                <a:gd name="T79" fmla="*/ 335 h 647"/>
                <a:gd name="T80" fmla="*/ 153 w 587"/>
                <a:gd name="T81" fmla="*/ 323 h 647"/>
                <a:gd name="T82" fmla="*/ 172 w 587"/>
                <a:gd name="T83" fmla="*/ 339 h 647"/>
                <a:gd name="T84" fmla="*/ 199 w 587"/>
                <a:gd name="T85" fmla="*/ 350 h 647"/>
                <a:gd name="T86" fmla="*/ 229 w 587"/>
                <a:gd name="T87" fmla="*/ 346 h 647"/>
                <a:gd name="T88" fmla="*/ 210 w 587"/>
                <a:gd name="T89" fmla="*/ 353 h 647"/>
                <a:gd name="T90" fmla="*/ 226 w 587"/>
                <a:gd name="T91" fmla="*/ 367 h 647"/>
                <a:gd name="T92" fmla="*/ 251 w 587"/>
                <a:gd name="T93" fmla="*/ 367 h 647"/>
                <a:gd name="T94" fmla="*/ 268 w 587"/>
                <a:gd name="T95" fmla="*/ 411 h 647"/>
                <a:gd name="T96" fmla="*/ 302 w 587"/>
                <a:gd name="T97" fmla="*/ 437 h 647"/>
                <a:gd name="T98" fmla="*/ 342 w 587"/>
                <a:gd name="T99" fmla="*/ 479 h 647"/>
                <a:gd name="T100" fmla="*/ 383 w 587"/>
                <a:gd name="T101" fmla="*/ 536 h 647"/>
                <a:gd name="T102" fmla="*/ 437 w 587"/>
                <a:gd name="T103" fmla="*/ 591 h 647"/>
                <a:gd name="T104" fmla="*/ 490 w 587"/>
                <a:gd name="T105" fmla="*/ 621 h 647"/>
                <a:gd name="T106" fmla="*/ 570 w 587"/>
                <a:gd name="T107" fmla="*/ 647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7" h="647">
                  <a:moveTo>
                    <a:pt x="587" y="647"/>
                  </a:moveTo>
                  <a:lnTo>
                    <a:pt x="582" y="639"/>
                  </a:lnTo>
                  <a:lnTo>
                    <a:pt x="576" y="632"/>
                  </a:lnTo>
                  <a:lnTo>
                    <a:pt x="570" y="624"/>
                  </a:lnTo>
                  <a:lnTo>
                    <a:pt x="566" y="617"/>
                  </a:lnTo>
                  <a:lnTo>
                    <a:pt x="560" y="608"/>
                  </a:lnTo>
                  <a:lnTo>
                    <a:pt x="555" y="600"/>
                  </a:lnTo>
                  <a:lnTo>
                    <a:pt x="549" y="591"/>
                  </a:lnTo>
                  <a:lnTo>
                    <a:pt x="545" y="583"/>
                  </a:lnTo>
                  <a:lnTo>
                    <a:pt x="536" y="567"/>
                  </a:lnTo>
                  <a:lnTo>
                    <a:pt x="529" y="552"/>
                  </a:lnTo>
                  <a:lnTo>
                    <a:pt x="524" y="539"/>
                  </a:lnTo>
                  <a:lnTo>
                    <a:pt x="521" y="529"/>
                  </a:lnTo>
                  <a:lnTo>
                    <a:pt x="518" y="526"/>
                  </a:lnTo>
                  <a:lnTo>
                    <a:pt x="514" y="522"/>
                  </a:lnTo>
                  <a:lnTo>
                    <a:pt x="508" y="518"/>
                  </a:lnTo>
                  <a:lnTo>
                    <a:pt x="502" y="512"/>
                  </a:lnTo>
                  <a:lnTo>
                    <a:pt x="497" y="508"/>
                  </a:lnTo>
                  <a:lnTo>
                    <a:pt x="490" y="502"/>
                  </a:lnTo>
                  <a:lnTo>
                    <a:pt x="484" y="498"/>
                  </a:lnTo>
                  <a:lnTo>
                    <a:pt x="477" y="492"/>
                  </a:lnTo>
                  <a:lnTo>
                    <a:pt x="471" y="488"/>
                  </a:lnTo>
                  <a:lnTo>
                    <a:pt x="465" y="484"/>
                  </a:lnTo>
                  <a:lnTo>
                    <a:pt x="460" y="479"/>
                  </a:lnTo>
                  <a:lnTo>
                    <a:pt x="456" y="476"/>
                  </a:lnTo>
                  <a:lnTo>
                    <a:pt x="454" y="440"/>
                  </a:lnTo>
                  <a:lnTo>
                    <a:pt x="447" y="403"/>
                  </a:lnTo>
                  <a:lnTo>
                    <a:pt x="439" y="373"/>
                  </a:lnTo>
                  <a:lnTo>
                    <a:pt x="431" y="353"/>
                  </a:lnTo>
                  <a:lnTo>
                    <a:pt x="436" y="347"/>
                  </a:lnTo>
                  <a:lnTo>
                    <a:pt x="440" y="342"/>
                  </a:lnTo>
                  <a:lnTo>
                    <a:pt x="444" y="336"/>
                  </a:lnTo>
                  <a:lnTo>
                    <a:pt x="447" y="332"/>
                  </a:lnTo>
                  <a:lnTo>
                    <a:pt x="454" y="319"/>
                  </a:lnTo>
                  <a:lnTo>
                    <a:pt x="458" y="308"/>
                  </a:lnTo>
                  <a:lnTo>
                    <a:pt x="458" y="296"/>
                  </a:lnTo>
                  <a:lnTo>
                    <a:pt x="456" y="285"/>
                  </a:lnTo>
                  <a:lnTo>
                    <a:pt x="453" y="278"/>
                  </a:lnTo>
                  <a:lnTo>
                    <a:pt x="448" y="269"/>
                  </a:lnTo>
                  <a:lnTo>
                    <a:pt x="444" y="262"/>
                  </a:lnTo>
                  <a:lnTo>
                    <a:pt x="441" y="255"/>
                  </a:lnTo>
                  <a:lnTo>
                    <a:pt x="440" y="241"/>
                  </a:lnTo>
                  <a:lnTo>
                    <a:pt x="434" y="216"/>
                  </a:lnTo>
                  <a:lnTo>
                    <a:pt x="427" y="190"/>
                  </a:lnTo>
                  <a:lnTo>
                    <a:pt x="420" y="173"/>
                  </a:lnTo>
                  <a:lnTo>
                    <a:pt x="413" y="162"/>
                  </a:lnTo>
                  <a:lnTo>
                    <a:pt x="402" y="150"/>
                  </a:lnTo>
                  <a:lnTo>
                    <a:pt x="390" y="140"/>
                  </a:lnTo>
                  <a:lnTo>
                    <a:pt x="379" y="132"/>
                  </a:lnTo>
                  <a:lnTo>
                    <a:pt x="382" y="130"/>
                  </a:lnTo>
                  <a:lnTo>
                    <a:pt x="383" y="128"/>
                  </a:lnTo>
                  <a:lnTo>
                    <a:pt x="385" y="123"/>
                  </a:lnTo>
                  <a:lnTo>
                    <a:pt x="385" y="121"/>
                  </a:lnTo>
                  <a:lnTo>
                    <a:pt x="382" y="122"/>
                  </a:lnTo>
                  <a:lnTo>
                    <a:pt x="378" y="123"/>
                  </a:lnTo>
                  <a:lnTo>
                    <a:pt x="372" y="125"/>
                  </a:lnTo>
                  <a:lnTo>
                    <a:pt x="368" y="125"/>
                  </a:lnTo>
                  <a:lnTo>
                    <a:pt x="366" y="119"/>
                  </a:lnTo>
                  <a:lnTo>
                    <a:pt x="363" y="112"/>
                  </a:lnTo>
                  <a:lnTo>
                    <a:pt x="360" y="106"/>
                  </a:lnTo>
                  <a:lnTo>
                    <a:pt x="355" y="101"/>
                  </a:lnTo>
                  <a:lnTo>
                    <a:pt x="349" y="96"/>
                  </a:lnTo>
                  <a:lnTo>
                    <a:pt x="345" y="95"/>
                  </a:lnTo>
                  <a:lnTo>
                    <a:pt x="339" y="92"/>
                  </a:lnTo>
                  <a:lnTo>
                    <a:pt x="335" y="91"/>
                  </a:lnTo>
                  <a:lnTo>
                    <a:pt x="331" y="88"/>
                  </a:lnTo>
                  <a:lnTo>
                    <a:pt x="328" y="85"/>
                  </a:lnTo>
                  <a:lnTo>
                    <a:pt x="324" y="82"/>
                  </a:lnTo>
                  <a:lnTo>
                    <a:pt x="319" y="79"/>
                  </a:lnTo>
                  <a:lnTo>
                    <a:pt x="314" y="75"/>
                  </a:lnTo>
                  <a:lnTo>
                    <a:pt x="305" y="71"/>
                  </a:lnTo>
                  <a:lnTo>
                    <a:pt x="295" y="70"/>
                  </a:lnTo>
                  <a:lnTo>
                    <a:pt x="282" y="68"/>
                  </a:lnTo>
                  <a:lnTo>
                    <a:pt x="288" y="64"/>
                  </a:lnTo>
                  <a:lnTo>
                    <a:pt x="295" y="61"/>
                  </a:lnTo>
                  <a:lnTo>
                    <a:pt x="305" y="60"/>
                  </a:lnTo>
                  <a:lnTo>
                    <a:pt x="319" y="60"/>
                  </a:lnTo>
                  <a:lnTo>
                    <a:pt x="334" y="55"/>
                  </a:lnTo>
                  <a:lnTo>
                    <a:pt x="341" y="43"/>
                  </a:lnTo>
                  <a:lnTo>
                    <a:pt x="341" y="27"/>
                  </a:lnTo>
                  <a:lnTo>
                    <a:pt x="331" y="10"/>
                  </a:lnTo>
                  <a:lnTo>
                    <a:pt x="331" y="16"/>
                  </a:lnTo>
                  <a:lnTo>
                    <a:pt x="329" y="21"/>
                  </a:lnTo>
                  <a:lnTo>
                    <a:pt x="325" y="27"/>
                  </a:lnTo>
                  <a:lnTo>
                    <a:pt x="319" y="30"/>
                  </a:lnTo>
                  <a:lnTo>
                    <a:pt x="319" y="20"/>
                  </a:lnTo>
                  <a:lnTo>
                    <a:pt x="317" y="13"/>
                  </a:lnTo>
                  <a:lnTo>
                    <a:pt x="311" y="7"/>
                  </a:lnTo>
                  <a:lnTo>
                    <a:pt x="304" y="4"/>
                  </a:lnTo>
                  <a:lnTo>
                    <a:pt x="298" y="3"/>
                  </a:lnTo>
                  <a:lnTo>
                    <a:pt x="291" y="4"/>
                  </a:lnTo>
                  <a:lnTo>
                    <a:pt x="284" y="6"/>
                  </a:lnTo>
                  <a:lnTo>
                    <a:pt x="280" y="7"/>
                  </a:lnTo>
                  <a:lnTo>
                    <a:pt x="275" y="6"/>
                  </a:lnTo>
                  <a:lnTo>
                    <a:pt x="270" y="4"/>
                  </a:lnTo>
                  <a:lnTo>
                    <a:pt x="263" y="1"/>
                  </a:lnTo>
                  <a:lnTo>
                    <a:pt x="257" y="0"/>
                  </a:lnTo>
                  <a:lnTo>
                    <a:pt x="253" y="0"/>
                  </a:lnTo>
                  <a:lnTo>
                    <a:pt x="247" y="1"/>
                  </a:lnTo>
                  <a:lnTo>
                    <a:pt x="241" y="3"/>
                  </a:lnTo>
                  <a:lnTo>
                    <a:pt x="236" y="3"/>
                  </a:lnTo>
                  <a:lnTo>
                    <a:pt x="230" y="4"/>
                  </a:lnTo>
                  <a:lnTo>
                    <a:pt x="224" y="6"/>
                  </a:lnTo>
                  <a:lnTo>
                    <a:pt x="219" y="7"/>
                  </a:lnTo>
                  <a:lnTo>
                    <a:pt x="213" y="7"/>
                  </a:lnTo>
                  <a:lnTo>
                    <a:pt x="209" y="7"/>
                  </a:lnTo>
                  <a:lnTo>
                    <a:pt x="203" y="6"/>
                  </a:lnTo>
                  <a:lnTo>
                    <a:pt x="197" y="6"/>
                  </a:lnTo>
                  <a:lnTo>
                    <a:pt x="192" y="4"/>
                  </a:lnTo>
                  <a:lnTo>
                    <a:pt x="185" y="4"/>
                  </a:lnTo>
                  <a:lnTo>
                    <a:pt x="178" y="3"/>
                  </a:lnTo>
                  <a:lnTo>
                    <a:pt x="169" y="4"/>
                  </a:lnTo>
                  <a:lnTo>
                    <a:pt x="162" y="4"/>
                  </a:lnTo>
                  <a:lnTo>
                    <a:pt x="152" y="7"/>
                  </a:lnTo>
                  <a:lnTo>
                    <a:pt x="143" y="13"/>
                  </a:lnTo>
                  <a:lnTo>
                    <a:pt x="136" y="21"/>
                  </a:lnTo>
                  <a:lnTo>
                    <a:pt x="129" y="31"/>
                  </a:lnTo>
                  <a:lnTo>
                    <a:pt x="124" y="41"/>
                  </a:lnTo>
                  <a:lnTo>
                    <a:pt x="119" y="53"/>
                  </a:lnTo>
                  <a:lnTo>
                    <a:pt x="115" y="62"/>
                  </a:lnTo>
                  <a:lnTo>
                    <a:pt x="112" y="72"/>
                  </a:lnTo>
                  <a:lnTo>
                    <a:pt x="108" y="74"/>
                  </a:lnTo>
                  <a:lnTo>
                    <a:pt x="104" y="75"/>
                  </a:lnTo>
                  <a:lnTo>
                    <a:pt x="100" y="75"/>
                  </a:lnTo>
                  <a:lnTo>
                    <a:pt x="95" y="75"/>
                  </a:lnTo>
                  <a:lnTo>
                    <a:pt x="82" y="74"/>
                  </a:lnTo>
                  <a:lnTo>
                    <a:pt x="71" y="75"/>
                  </a:lnTo>
                  <a:lnTo>
                    <a:pt x="61" y="78"/>
                  </a:lnTo>
                  <a:lnTo>
                    <a:pt x="53" y="82"/>
                  </a:lnTo>
                  <a:lnTo>
                    <a:pt x="44" y="87"/>
                  </a:lnTo>
                  <a:lnTo>
                    <a:pt x="40" y="92"/>
                  </a:lnTo>
                  <a:lnTo>
                    <a:pt x="36" y="95"/>
                  </a:lnTo>
                  <a:lnTo>
                    <a:pt x="34" y="98"/>
                  </a:lnTo>
                  <a:lnTo>
                    <a:pt x="30" y="105"/>
                  </a:lnTo>
                  <a:lnTo>
                    <a:pt x="23" y="116"/>
                  </a:lnTo>
                  <a:lnTo>
                    <a:pt x="14" y="129"/>
                  </a:lnTo>
                  <a:lnTo>
                    <a:pt x="6" y="142"/>
                  </a:lnTo>
                  <a:lnTo>
                    <a:pt x="2" y="159"/>
                  </a:lnTo>
                  <a:lnTo>
                    <a:pt x="0" y="182"/>
                  </a:lnTo>
                  <a:lnTo>
                    <a:pt x="3" y="206"/>
                  </a:lnTo>
                  <a:lnTo>
                    <a:pt x="9" y="230"/>
                  </a:lnTo>
                  <a:lnTo>
                    <a:pt x="13" y="240"/>
                  </a:lnTo>
                  <a:lnTo>
                    <a:pt x="17" y="250"/>
                  </a:lnTo>
                  <a:lnTo>
                    <a:pt x="24" y="258"/>
                  </a:lnTo>
                  <a:lnTo>
                    <a:pt x="31" y="265"/>
                  </a:lnTo>
                  <a:lnTo>
                    <a:pt x="40" y="272"/>
                  </a:lnTo>
                  <a:lnTo>
                    <a:pt x="48" y="277"/>
                  </a:lnTo>
                  <a:lnTo>
                    <a:pt x="60" y="281"/>
                  </a:lnTo>
                  <a:lnTo>
                    <a:pt x="73" y="284"/>
                  </a:lnTo>
                  <a:lnTo>
                    <a:pt x="71" y="291"/>
                  </a:lnTo>
                  <a:lnTo>
                    <a:pt x="74" y="299"/>
                  </a:lnTo>
                  <a:lnTo>
                    <a:pt x="81" y="308"/>
                  </a:lnTo>
                  <a:lnTo>
                    <a:pt x="90" y="315"/>
                  </a:lnTo>
                  <a:lnTo>
                    <a:pt x="100" y="322"/>
                  </a:lnTo>
                  <a:lnTo>
                    <a:pt x="108" y="328"/>
                  </a:lnTo>
                  <a:lnTo>
                    <a:pt x="118" y="330"/>
                  </a:lnTo>
                  <a:lnTo>
                    <a:pt x="124" y="332"/>
                  </a:lnTo>
                  <a:lnTo>
                    <a:pt x="134" y="332"/>
                  </a:lnTo>
                  <a:lnTo>
                    <a:pt x="141" y="333"/>
                  </a:lnTo>
                  <a:lnTo>
                    <a:pt x="148" y="335"/>
                  </a:lnTo>
                  <a:lnTo>
                    <a:pt x="156" y="337"/>
                  </a:lnTo>
                  <a:lnTo>
                    <a:pt x="152" y="332"/>
                  </a:lnTo>
                  <a:lnTo>
                    <a:pt x="152" y="328"/>
                  </a:lnTo>
                  <a:lnTo>
                    <a:pt x="153" y="323"/>
                  </a:lnTo>
                  <a:lnTo>
                    <a:pt x="155" y="318"/>
                  </a:lnTo>
                  <a:lnTo>
                    <a:pt x="159" y="326"/>
                  </a:lnTo>
                  <a:lnTo>
                    <a:pt x="165" y="333"/>
                  </a:lnTo>
                  <a:lnTo>
                    <a:pt x="172" y="339"/>
                  </a:lnTo>
                  <a:lnTo>
                    <a:pt x="179" y="343"/>
                  </a:lnTo>
                  <a:lnTo>
                    <a:pt x="186" y="346"/>
                  </a:lnTo>
                  <a:lnTo>
                    <a:pt x="193" y="349"/>
                  </a:lnTo>
                  <a:lnTo>
                    <a:pt x="199" y="350"/>
                  </a:lnTo>
                  <a:lnTo>
                    <a:pt x="202" y="350"/>
                  </a:lnTo>
                  <a:lnTo>
                    <a:pt x="207" y="349"/>
                  </a:lnTo>
                  <a:lnTo>
                    <a:pt x="217" y="347"/>
                  </a:lnTo>
                  <a:lnTo>
                    <a:pt x="229" y="346"/>
                  </a:lnTo>
                  <a:lnTo>
                    <a:pt x="240" y="346"/>
                  </a:lnTo>
                  <a:lnTo>
                    <a:pt x="231" y="346"/>
                  </a:lnTo>
                  <a:lnTo>
                    <a:pt x="220" y="349"/>
                  </a:lnTo>
                  <a:lnTo>
                    <a:pt x="210" y="353"/>
                  </a:lnTo>
                  <a:lnTo>
                    <a:pt x="204" y="357"/>
                  </a:lnTo>
                  <a:lnTo>
                    <a:pt x="212" y="362"/>
                  </a:lnTo>
                  <a:lnTo>
                    <a:pt x="219" y="366"/>
                  </a:lnTo>
                  <a:lnTo>
                    <a:pt x="226" y="367"/>
                  </a:lnTo>
                  <a:lnTo>
                    <a:pt x="231" y="369"/>
                  </a:lnTo>
                  <a:lnTo>
                    <a:pt x="239" y="369"/>
                  </a:lnTo>
                  <a:lnTo>
                    <a:pt x="244" y="369"/>
                  </a:lnTo>
                  <a:lnTo>
                    <a:pt x="251" y="367"/>
                  </a:lnTo>
                  <a:lnTo>
                    <a:pt x="257" y="366"/>
                  </a:lnTo>
                  <a:lnTo>
                    <a:pt x="264" y="377"/>
                  </a:lnTo>
                  <a:lnTo>
                    <a:pt x="267" y="393"/>
                  </a:lnTo>
                  <a:lnTo>
                    <a:pt x="268" y="411"/>
                  </a:lnTo>
                  <a:lnTo>
                    <a:pt x="268" y="425"/>
                  </a:lnTo>
                  <a:lnTo>
                    <a:pt x="280" y="427"/>
                  </a:lnTo>
                  <a:lnTo>
                    <a:pt x="291" y="431"/>
                  </a:lnTo>
                  <a:lnTo>
                    <a:pt x="302" y="437"/>
                  </a:lnTo>
                  <a:lnTo>
                    <a:pt x="314" y="444"/>
                  </a:lnTo>
                  <a:lnTo>
                    <a:pt x="325" y="454"/>
                  </a:lnTo>
                  <a:lnTo>
                    <a:pt x="335" y="467"/>
                  </a:lnTo>
                  <a:lnTo>
                    <a:pt x="342" y="479"/>
                  </a:lnTo>
                  <a:lnTo>
                    <a:pt x="348" y="496"/>
                  </a:lnTo>
                  <a:lnTo>
                    <a:pt x="358" y="508"/>
                  </a:lnTo>
                  <a:lnTo>
                    <a:pt x="369" y="522"/>
                  </a:lnTo>
                  <a:lnTo>
                    <a:pt x="383" y="536"/>
                  </a:lnTo>
                  <a:lnTo>
                    <a:pt x="397" y="552"/>
                  </a:lnTo>
                  <a:lnTo>
                    <a:pt x="412" y="567"/>
                  </a:lnTo>
                  <a:lnTo>
                    <a:pt x="424" y="580"/>
                  </a:lnTo>
                  <a:lnTo>
                    <a:pt x="437" y="591"/>
                  </a:lnTo>
                  <a:lnTo>
                    <a:pt x="447" y="598"/>
                  </a:lnTo>
                  <a:lnTo>
                    <a:pt x="458" y="605"/>
                  </a:lnTo>
                  <a:lnTo>
                    <a:pt x="473" y="613"/>
                  </a:lnTo>
                  <a:lnTo>
                    <a:pt x="490" y="621"/>
                  </a:lnTo>
                  <a:lnTo>
                    <a:pt x="509" y="631"/>
                  </a:lnTo>
                  <a:lnTo>
                    <a:pt x="531" y="638"/>
                  </a:lnTo>
                  <a:lnTo>
                    <a:pt x="551" y="644"/>
                  </a:lnTo>
                  <a:lnTo>
                    <a:pt x="570" y="647"/>
                  </a:lnTo>
                  <a:lnTo>
                    <a:pt x="587" y="647"/>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4" name="Freeform 78"/>
            <p:cNvSpPr>
              <a:spLocks/>
            </p:cNvSpPr>
            <p:nvPr/>
          </p:nvSpPr>
          <p:spPr bwMode="auto">
            <a:xfrm>
              <a:off x="3249" y="2909"/>
              <a:ext cx="22" cy="20"/>
            </a:xfrm>
            <a:custGeom>
              <a:avLst/>
              <a:gdLst>
                <a:gd name="T0" fmla="*/ 53 w 65"/>
                <a:gd name="T1" fmla="*/ 0 h 58"/>
                <a:gd name="T2" fmla="*/ 46 w 65"/>
                <a:gd name="T3" fmla="*/ 4 h 58"/>
                <a:gd name="T4" fmla="*/ 37 w 65"/>
                <a:gd name="T5" fmla="*/ 10 h 58"/>
                <a:gd name="T6" fmla="*/ 29 w 65"/>
                <a:gd name="T7" fmla="*/ 15 h 58"/>
                <a:gd name="T8" fmla="*/ 20 w 65"/>
                <a:gd name="T9" fmla="*/ 22 h 58"/>
                <a:gd name="T10" fmla="*/ 13 w 65"/>
                <a:gd name="T11" fmla="*/ 31 h 58"/>
                <a:gd name="T12" fmla="*/ 7 w 65"/>
                <a:gd name="T13" fmla="*/ 39 h 58"/>
                <a:gd name="T14" fmla="*/ 3 w 65"/>
                <a:gd name="T15" fmla="*/ 48 h 58"/>
                <a:gd name="T16" fmla="*/ 0 w 65"/>
                <a:gd name="T17" fmla="*/ 58 h 58"/>
                <a:gd name="T18" fmla="*/ 14 w 65"/>
                <a:gd name="T19" fmla="*/ 42 h 58"/>
                <a:gd name="T20" fmla="*/ 29 w 65"/>
                <a:gd name="T21" fmla="*/ 31 h 58"/>
                <a:gd name="T22" fmla="*/ 41 w 65"/>
                <a:gd name="T23" fmla="*/ 22 h 58"/>
                <a:gd name="T24" fmla="*/ 54 w 65"/>
                <a:gd name="T25" fmla="*/ 17 h 58"/>
                <a:gd name="T26" fmla="*/ 61 w 65"/>
                <a:gd name="T27" fmla="*/ 12 h 58"/>
                <a:gd name="T28" fmla="*/ 65 w 65"/>
                <a:gd name="T29" fmla="*/ 8 h 58"/>
                <a:gd name="T30" fmla="*/ 63 w 65"/>
                <a:gd name="T31" fmla="*/ 5 h 58"/>
                <a:gd name="T32" fmla="*/ 53 w 65"/>
                <a:gd name="T33"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58">
                  <a:moveTo>
                    <a:pt x="53" y="0"/>
                  </a:moveTo>
                  <a:lnTo>
                    <a:pt x="46" y="4"/>
                  </a:lnTo>
                  <a:lnTo>
                    <a:pt x="37" y="10"/>
                  </a:lnTo>
                  <a:lnTo>
                    <a:pt x="29" y="15"/>
                  </a:lnTo>
                  <a:lnTo>
                    <a:pt x="20" y="22"/>
                  </a:lnTo>
                  <a:lnTo>
                    <a:pt x="13" y="31"/>
                  </a:lnTo>
                  <a:lnTo>
                    <a:pt x="7" y="39"/>
                  </a:lnTo>
                  <a:lnTo>
                    <a:pt x="3" y="48"/>
                  </a:lnTo>
                  <a:lnTo>
                    <a:pt x="0" y="58"/>
                  </a:lnTo>
                  <a:lnTo>
                    <a:pt x="14" y="42"/>
                  </a:lnTo>
                  <a:lnTo>
                    <a:pt x="29" y="31"/>
                  </a:lnTo>
                  <a:lnTo>
                    <a:pt x="41" y="22"/>
                  </a:lnTo>
                  <a:lnTo>
                    <a:pt x="54" y="17"/>
                  </a:lnTo>
                  <a:lnTo>
                    <a:pt x="61" y="12"/>
                  </a:lnTo>
                  <a:lnTo>
                    <a:pt x="65" y="8"/>
                  </a:lnTo>
                  <a:lnTo>
                    <a:pt x="63" y="5"/>
                  </a:lnTo>
                  <a:lnTo>
                    <a:pt x="53"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5" name="Freeform 79"/>
            <p:cNvSpPr>
              <a:spLocks/>
            </p:cNvSpPr>
            <p:nvPr/>
          </p:nvSpPr>
          <p:spPr bwMode="auto">
            <a:xfrm>
              <a:off x="3293" y="3005"/>
              <a:ext cx="19" cy="5"/>
            </a:xfrm>
            <a:custGeom>
              <a:avLst/>
              <a:gdLst>
                <a:gd name="T0" fmla="*/ 57 w 57"/>
                <a:gd name="T1" fmla="*/ 9 h 16"/>
                <a:gd name="T2" fmla="*/ 51 w 57"/>
                <a:gd name="T3" fmla="*/ 6 h 16"/>
                <a:gd name="T4" fmla="*/ 43 w 57"/>
                <a:gd name="T5" fmla="*/ 5 h 16"/>
                <a:gd name="T6" fmla="*/ 31 w 57"/>
                <a:gd name="T7" fmla="*/ 2 h 16"/>
                <a:gd name="T8" fmla="*/ 24 w 57"/>
                <a:gd name="T9" fmla="*/ 0 h 16"/>
                <a:gd name="T10" fmla="*/ 19 w 57"/>
                <a:gd name="T11" fmla="*/ 3 h 16"/>
                <a:gd name="T12" fmla="*/ 11 w 57"/>
                <a:gd name="T13" fmla="*/ 6 h 16"/>
                <a:gd name="T14" fmla="*/ 6 w 57"/>
                <a:gd name="T15" fmla="*/ 8 h 16"/>
                <a:gd name="T16" fmla="*/ 0 w 57"/>
                <a:gd name="T17" fmla="*/ 8 h 16"/>
                <a:gd name="T18" fmla="*/ 7 w 57"/>
                <a:gd name="T19" fmla="*/ 12 h 16"/>
                <a:gd name="T20" fmla="*/ 14 w 57"/>
                <a:gd name="T21" fmla="*/ 15 h 16"/>
                <a:gd name="T22" fmla="*/ 20 w 57"/>
                <a:gd name="T23" fmla="*/ 16 h 16"/>
                <a:gd name="T24" fmla="*/ 27 w 57"/>
                <a:gd name="T25" fmla="*/ 16 h 16"/>
                <a:gd name="T26" fmla="*/ 34 w 57"/>
                <a:gd name="T27" fmla="*/ 16 h 16"/>
                <a:gd name="T28" fmla="*/ 41 w 57"/>
                <a:gd name="T29" fmla="*/ 15 h 16"/>
                <a:gd name="T30" fmla="*/ 50 w 57"/>
                <a:gd name="T31" fmla="*/ 12 h 16"/>
                <a:gd name="T32" fmla="*/ 57 w 57"/>
                <a:gd name="T33"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7" h="16">
                  <a:moveTo>
                    <a:pt x="57" y="9"/>
                  </a:moveTo>
                  <a:lnTo>
                    <a:pt x="51" y="6"/>
                  </a:lnTo>
                  <a:lnTo>
                    <a:pt x="43" y="5"/>
                  </a:lnTo>
                  <a:lnTo>
                    <a:pt x="31" y="2"/>
                  </a:lnTo>
                  <a:lnTo>
                    <a:pt x="24" y="0"/>
                  </a:lnTo>
                  <a:lnTo>
                    <a:pt x="19" y="3"/>
                  </a:lnTo>
                  <a:lnTo>
                    <a:pt x="11" y="6"/>
                  </a:lnTo>
                  <a:lnTo>
                    <a:pt x="6" y="8"/>
                  </a:lnTo>
                  <a:lnTo>
                    <a:pt x="0" y="8"/>
                  </a:lnTo>
                  <a:lnTo>
                    <a:pt x="7" y="12"/>
                  </a:lnTo>
                  <a:lnTo>
                    <a:pt x="14" y="15"/>
                  </a:lnTo>
                  <a:lnTo>
                    <a:pt x="20" y="16"/>
                  </a:lnTo>
                  <a:lnTo>
                    <a:pt x="27" y="16"/>
                  </a:lnTo>
                  <a:lnTo>
                    <a:pt x="34" y="16"/>
                  </a:lnTo>
                  <a:lnTo>
                    <a:pt x="41" y="15"/>
                  </a:lnTo>
                  <a:lnTo>
                    <a:pt x="50" y="12"/>
                  </a:lnTo>
                  <a:lnTo>
                    <a:pt x="57" y="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6" name="Freeform 80"/>
            <p:cNvSpPr>
              <a:spLocks/>
            </p:cNvSpPr>
            <p:nvPr/>
          </p:nvSpPr>
          <p:spPr bwMode="auto">
            <a:xfrm>
              <a:off x="3560" y="2997"/>
              <a:ext cx="25" cy="11"/>
            </a:xfrm>
            <a:custGeom>
              <a:avLst/>
              <a:gdLst>
                <a:gd name="T0" fmla="*/ 77 w 77"/>
                <a:gd name="T1" fmla="*/ 17 h 35"/>
                <a:gd name="T2" fmla="*/ 68 w 77"/>
                <a:gd name="T3" fmla="*/ 13 h 35"/>
                <a:gd name="T4" fmla="*/ 60 w 77"/>
                <a:gd name="T5" fmla="*/ 7 h 35"/>
                <a:gd name="T6" fmla="*/ 53 w 77"/>
                <a:gd name="T7" fmla="*/ 3 h 35"/>
                <a:gd name="T8" fmla="*/ 48 w 77"/>
                <a:gd name="T9" fmla="*/ 0 h 35"/>
                <a:gd name="T10" fmla="*/ 51 w 77"/>
                <a:gd name="T11" fmla="*/ 10 h 35"/>
                <a:gd name="T12" fmla="*/ 50 w 77"/>
                <a:gd name="T13" fmla="*/ 18 h 35"/>
                <a:gd name="T14" fmla="*/ 44 w 77"/>
                <a:gd name="T15" fmla="*/ 23 h 35"/>
                <a:gd name="T16" fmla="*/ 36 w 77"/>
                <a:gd name="T17" fmla="*/ 25 h 35"/>
                <a:gd name="T18" fmla="*/ 24 w 77"/>
                <a:gd name="T19" fmla="*/ 27 h 35"/>
                <a:gd name="T20" fmla="*/ 14 w 77"/>
                <a:gd name="T21" fmla="*/ 25 h 35"/>
                <a:gd name="T22" fmla="*/ 6 w 77"/>
                <a:gd name="T23" fmla="*/ 24 h 35"/>
                <a:gd name="T24" fmla="*/ 0 w 77"/>
                <a:gd name="T25" fmla="*/ 21 h 35"/>
                <a:gd name="T26" fmla="*/ 16 w 77"/>
                <a:gd name="T27" fmla="*/ 28 h 35"/>
                <a:gd name="T28" fmla="*/ 28 w 77"/>
                <a:gd name="T29" fmla="*/ 34 h 35"/>
                <a:gd name="T30" fmla="*/ 40 w 77"/>
                <a:gd name="T31" fmla="*/ 35 h 35"/>
                <a:gd name="T32" fmla="*/ 51 w 77"/>
                <a:gd name="T33" fmla="*/ 35 h 35"/>
                <a:gd name="T34" fmla="*/ 60 w 77"/>
                <a:gd name="T35" fmla="*/ 33 h 35"/>
                <a:gd name="T36" fmla="*/ 67 w 77"/>
                <a:gd name="T37" fmla="*/ 28 h 35"/>
                <a:gd name="T38" fmla="*/ 72 w 77"/>
                <a:gd name="T39" fmla="*/ 24 h 35"/>
                <a:gd name="T40" fmla="*/ 77 w 77"/>
                <a:gd name="T41"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 h="35">
                  <a:moveTo>
                    <a:pt x="77" y="17"/>
                  </a:moveTo>
                  <a:lnTo>
                    <a:pt x="68" y="13"/>
                  </a:lnTo>
                  <a:lnTo>
                    <a:pt x="60" y="7"/>
                  </a:lnTo>
                  <a:lnTo>
                    <a:pt x="53" y="3"/>
                  </a:lnTo>
                  <a:lnTo>
                    <a:pt x="48" y="0"/>
                  </a:lnTo>
                  <a:lnTo>
                    <a:pt x="51" y="10"/>
                  </a:lnTo>
                  <a:lnTo>
                    <a:pt x="50" y="18"/>
                  </a:lnTo>
                  <a:lnTo>
                    <a:pt x="44" y="23"/>
                  </a:lnTo>
                  <a:lnTo>
                    <a:pt x="36" y="25"/>
                  </a:lnTo>
                  <a:lnTo>
                    <a:pt x="24" y="27"/>
                  </a:lnTo>
                  <a:lnTo>
                    <a:pt x="14" y="25"/>
                  </a:lnTo>
                  <a:lnTo>
                    <a:pt x="6" y="24"/>
                  </a:lnTo>
                  <a:lnTo>
                    <a:pt x="0" y="21"/>
                  </a:lnTo>
                  <a:lnTo>
                    <a:pt x="16" y="28"/>
                  </a:lnTo>
                  <a:lnTo>
                    <a:pt x="28" y="34"/>
                  </a:lnTo>
                  <a:lnTo>
                    <a:pt x="40" y="35"/>
                  </a:lnTo>
                  <a:lnTo>
                    <a:pt x="51" y="35"/>
                  </a:lnTo>
                  <a:lnTo>
                    <a:pt x="60" y="33"/>
                  </a:lnTo>
                  <a:lnTo>
                    <a:pt x="67" y="28"/>
                  </a:lnTo>
                  <a:lnTo>
                    <a:pt x="72" y="24"/>
                  </a:lnTo>
                  <a:lnTo>
                    <a:pt x="77" y="17"/>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7" name="Freeform 81"/>
            <p:cNvSpPr>
              <a:spLocks/>
            </p:cNvSpPr>
            <p:nvPr/>
          </p:nvSpPr>
          <p:spPr bwMode="auto">
            <a:xfrm>
              <a:off x="3493" y="2949"/>
              <a:ext cx="43" cy="71"/>
            </a:xfrm>
            <a:custGeom>
              <a:avLst/>
              <a:gdLst>
                <a:gd name="T0" fmla="*/ 48 w 130"/>
                <a:gd name="T1" fmla="*/ 213 h 213"/>
                <a:gd name="T2" fmla="*/ 44 w 130"/>
                <a:gd name="T3" fmla="*/ 213 h 213"/>
                <a:gd name="T4" fmla="*/ 39 w 130"/>
                <a:gd name="T5" fmla="*/ 213 h 213"/>
                <a:gd name="T6" fmla="*/ 34 w 130"/>
                <a:gd name="T7" fmla="*/ 213 h 213"/>
                <a:gd name="T8" fmla="*/ 31 w 130"/>
                <a:gd name="T9" fmla="*/ 213 h 213"/>
                <a:gd name="T10" fmla="*/ 31 w 130"/>
                <a:gd name="T11" fmla="*/ 197 h 213"/>
                <a:gd name="T12" fmla="*/ 32 w 130"/>
                <a:gd name="T13" fmla="*/ 176 h 213"/>
                <a:gd name="T14" fmla="*/ 32 w 130"/>
                <a:gd name="T15" fmla="*/ 155 h 213"/>
                <a:gd name="T16" fmla="*/ 32 w 130"/>
                <a:gd name="T17" fmla="*/ 140 h 213"/>
                <a:gd name="T18" fmla="*/ 31 w 130"/>
                <a:gd name="T19" fmla="*/ 129 h 213"/>
                <a:gd name="T20" fmla="*/ 25 w 130"/>
                <a:gd name="T21" fmla="*/ 114 h 213"/>
                <a:gd name="T22" fmla="*/ 17 w 130"/>
                <a:gd name="T23" fmla="*/ 95 h 213"/>
                <a:gd name="T24" fmla="*/ 7 w 130"/>
                <a:gd name="T25" fmla="*/ 80 h 213"/>
                <a:gd name="T26" fmla="*/ 0 w 130"/>
                <a:gd name="T27" fmla="*/ 63 h 213"/>
                <a:gd name="T28" fmla="*/ 1 w 130"/>
                <a:gd name="T29" fmla="*/ 41 h 213"/>
                <a:gd name="T30" fmla="*/ 8 w 130"/>
                <a:gd name="T31" fmla="*/ 20 h 213"/>
                <a:gd name="T32" fmla="*/ 22 w 130"/>
                <a:gd name="T33" fmla="*/ 0 h 213"/>
                <a:gd name="T34" fmla="*/ 45 w 130"/>
                <a:gd name="T35" fmla="*/ 7 h 213"/>
                <a:gd name="T36" fmla="*/ 65 w 130"/>
                <a:gd name="T37" fmla="*/ 16 h 213"/>
                <a:gd name="T38" fmla="*/ 81 w 130"/>
                <a:gd name="T39" fmla="*/ 26 h 213"/>
                <a:gd name="T40" fmla="*/ 93 w 130"/>
                <a:gd name="T41" fmla="*/ 37 h 213"/>
                <a:gd name="T42" fmla="*/ 105 w 130"/>
                <a:gd name="T43" fmla="*/ 50 h 213"/>
                <a:gd name="T44" fmla="*/ 115 w 130"/>
                <a:gd name="T45" fmla="*/ 63 h 213"/>
                <a:gd name="T46" fmla="*/ 122 w 130"/>
                <a:gd name="T47" fmla="*/ 74 h 213"/>
                <a:gd name="T48" fmla="*/ 130 w 130"/>
                <a:gd name="T49" fmla="*/ 85 h 213"/>
                <a:gd name="T50" fmla="*/ 122 w 130"/>
                <a:gd name="T51" fmla="*/ 78 h 213"/>
                <a:gd name="T52" fmla="*/ 112 w 130"/>
                <a:gd name="T53" fmla="*/ 68 h 213"/>
                <a:gd name="T54" fmla="*/ 100 w 130"/>
                <a:gd name="T55" fmla="*/ 57 h 213"/>
                <a:gd name="T56" fmla="*/ 89 w 130"/>
                <a:gd name="T57" fmla="*/ 45 h 213"/>
                <a:gd name="T58" fmla="*/ 76 w 130"/>
                <a:gd name="T59" fmla="*/ 34 h 213"/>
                <a:gd name="T60" fmla="*/ 65 w 130"/>
                <a:gd name="T61" fmla="*/ 26 h 213"/>
                <a:gd name="T62" fmla="*/ 55 w 130"/>
                <a:gd name="T63" fmla="*/ 20 h 213"/>
                <a:gd name="T64" fmla="*/ 46 w 130"/>
                <a:gd name="T65" fmla="*/ 17 h 213"/>
                <a:gd name="T66" fmla="*/ 37 w 130"/>
                <a:gd name="T67" fmla="*/ 27 h 213"/>
                <a:gd name="T68" fmla="*/ 29 w 130"/>
                <a:gd name="T69" fmla="*/ 43 h 213"/>
                <a:gd name="T70" fmla="*/ 28 w 130"/>
                <a:gd name="T71" fmla="*/ 63 h 213"/>
                <a:gd name="T72" fmla="*/ 34 w 130"/>
                <a:gd name="T73" fmla="*/ 87 h 213"/>
                <a:gd name="T74" fmla="*/ 42 w 130"/>
                <a:gd name="T75" fmla="*/ 91 h 213"/>
                <a:gd name="T76" fmla="*/ 51 w 130"/>
                <a:gd name="T77" fmla="*/ 95 h 213"/>
                <a:gd name="T78" fmla="*/ 58 w 130"/>
                <a:gd name="T79" fmla="*/ 102 h 213"/>
                <a:gd name="T80" fmla="*/ 65 w 130"/>
                <a:gd name="T81" fmla="*/ 108 h 213"/>
                <a:gd name="T82" fmla="*/ 52 w 130"/>
                <a:gd name="T83" fmla="*/ 126 h 213"/>
                <a:gd name="T84" fmla="*/ 46 w 130"/>
                <a:gd name="T85" fmla="*/ 157 h 213"/>
                <a:gd name="T86" fmla="*/ 45 w 130"/>
                <a:gd name="T87" fmla="*/ 190 h 213"/>
                <a:gd name="T88" fmla="*/ 48 w 130"/>
                <a:gd name="T89"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0" h="213">
                  <a:moveTo>
                    <a:pt x="48" y="213"/>
                  </a:moveTo>
                  <a:lnTo>
                    <a:pt x="44" y="213"/>
                  </a:lnTo>
                  <a:lnTo>
                    <a:pt x="39" y="213"/>
                  </a:lnTo>
                  <a:lnTo>
                    <a:pt x="34" y="213"/>
                  </a:lnTo>
                  <a:lnTo>
                    <a:pt x="31" y="213"/>
                  </a:lnTo>
                  <a:lnTo>
                    <a:pt x="31" y="197"/>
                  </a:lnTo>
                  <a:lnTo>
                    <a:pt x="32" y="176"/>
                  </a:lnTo>
                  <a:lnTo>
                    <a:pt x="32" y="155"/>
                  </a:lnTo>
                  <a:lnTo>
                    <a:pt x="32" y="140"/>
                  </a:lnTo>
                  <a:lnTo>
                    <a:pt x="31" y="129"/>
                  </a:lnTo>
                  <a:lnTo>
                    <a:pt x="25" y="114"/>
                  </a:lnTo>
                  <a:lnTo>
                    <a:pt x="17" y="95"/>
                  </a:lnTo>
                  <a:lnTo>
                    <a:pt x="7" y="80"/>
                  </a:lnTo>
                  <a:lnTo>
                    <a:pt x="0" y="63"/>
                  </a:lnTo>
                  <a:lnTo>
                    <a:pt x="1" y="41"/>
                  </a:lnTo>
                  <a:lnTo>
                    <a:pt x="8" y="20"/>
                  </a:lnTo>
                  <a:lnTo>
                    <a:pt x="22" y="0"/>
                  </a:lnTo>
                  <a:lnTo>
                    <a:pt x="45" y="7"/>
                  </a:lnTo>
                  <a:lnTo>
                    <a:pt x="65" y="16"/>
                  </a:lnTo>
                  <a:lnTo>
                    <a:pt x="81" y="26"/>
                  </a:lnTo>
                  <a:lnTo>
                    <a:pt x="93" y="37"/>
                  </a:lnTo>
                  <a:lnTo>
                    <a:pt x="105" y="50"/>
                  </a:lnTo>
                  <a:lnTo>
                    <a:pt x="115" y="63"/>
                  </a:lnTo>
                  <a:lnTo>
                    <a:pt x="122" y="74"/>
                  </a:lnTo>
                  <a:lnTo>
                    <a:pt x="130" y="85"/>
                  </a:lnTo>
                  <a:lnTo>
                    <a:pt x="122" y="78"/>
                  </a:lnTo>
                  <a:lnTo>
                    <a:pt x="112" y="68"/>
                  </a:lnTo>
                  <a:lnTo>
                    <a:pt x="100" y="57"/>
                  </a:lnTo>
                  <a:lnTo>
                    <a:pt x="89" y="45"/>
                  </a:lnTo>
                  <a:lnTo>
                    <a:pt x="76" y="34"/>
                  </a:lnTo>
                  <a:lnTo>
                    <a:pt x="65" y="26"/>
                  </a:lnTo>
                  <a:lnTo>
                    <a:pt x="55" y="20"/>
                  </a:lnTo>
                  <a:lnTo>
                    <a:pt x="46" y="17"/>
                  </a:lnTo>
                  <a:lnTo>
                    <a:pt x="37" y="27"/>
                  </a:lnTo>
                  <a:lnTo>
                    <a:pt x="29" y="43"/>
                  </a:lnTo>
                  <a:lnTo>
                    <a:pt x="28" y="63"/>
                  </a:lnTo>
                  <a:lnTo>
                    <a:pt x="34" y="87"/>
                  </a:lnTo>
                  <a:lnTo>
                    <a:pt x="42" y="91"/>
                  </a:lnTo>
                  <a:lnTo>
                    <a:pt x="51" y="95"/>
                  </a:lnTo>
                  <a:lnTo>
                    <a:pt x="58" y="102"/>
                  </a:lnTo>
                  <a:lnTo>
                    <a:pt x="65" y="108"/>
                  </a:lnTo>
                  <a:lnTo>
                    <a:pt x="52" y="126"/>
                  </a:lnTo>
                  <a:lnTo>
                    <a:pt x="46" y="157"/>
                  </a:lnTo>
                  <a:lnTo>
                    <a:pt x="45" y="190"/>
                  </a:lnTo>
                  <a:lnTo>
                    <a:pt x="48" y="21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8" name="Freeform 82"/>
            <p:cNvSpPr>
              <a:spLocks/>
            </p:cNvSpPr>
            <p:nvPr/>
          </p:nvSpPr>
          <p:spPr bwMode="auto">
            <a:xfrm>
              <a:off x="3585" y="2704"/>
              <a:ext cx="46" cy="15"/>
            </a:xfrm>
            <a:custGeom>
              <a:avLst/>
              <a:gdLst>
                <a:gd name="T0" fmla="*/ 138 w 138"/>
                <a:gd name="T1" fmla="*/ 3 h 45"/>
                <a:gd name="T2" fmla="*/ 134 w 138"/>
                <a:gd name="T3" fmla="*/ 0 h 45"/>
                <a:gd name="T4" fmla="*/ 126 w 138"/>
                <a:gd name="T5" fmla="*/ 0 h 45"/>
                <a:gd name="T6" fmla="*/ 119 w 138"/>
                <a:gd name="T7" fmla="*/ 3 h 45"/>
                <a:gd name="T8" fmla="*/ 111 w 138"/>
                <a:gd name="T9" fmla="*/ 6 h 45"/>
                <a:gd name="T10" fmla="*/ 101 w 138"/>
                <a:gd name="T11" fmla="*/ 11 h 45"/>
                <a:gd name="T12" fmla="*/ 91 w 138"/>
                <a:gd name="T13" fmla="*/ 17 h 45"/>
                <a:gd name="T14" fmla="*/ 83 w 138"/>
                <a:gd name="T15" fmla="*/ 21 h 45"/>
                <a:gd name="T16" fmla="*/ 74 w 138"/>
                <a:gd name="T17" fmla="*/ 25 h 45"/>
                <a:gd name="T18" fmla="*/ 67 w 138"/>
                <a:gd name="T19" fmla="*/ 28 h 45"/>
                <a:gd name="T20" fmla="*/ 58 w 138"/>
                <a:gd name="T21" fmla="*/ 30 h 45"/>
                <a:gd name="T22" fmla="*/ 48 w 138"/>
                <a:gd name="T23" fmla="*/ 32 h 45"/>
                <a:gd name="T24" fmla="*/ 39 w 138"/>
                <a:gd name="T25" fmla="*/ 34 h 45"/>
                <a:gd name="T26" fmla="*/ 29 w 138"/>
                <a:gd name="T27" fmla="*/ 35 h 45"/>
                <a:gd name="T28" fmla="*/ 17 w 138"/>
                <a:gd name="T29" fmla="*/ 35 h 45"/>
                <a:gd name="T30" fmla="*/ 9 w 138"/>
                <a:gd name="T31" fmla="*/ 35 h 45"/>
                <a:gd name="T32" fmla="*/ 0 w 138"/>
                <a:gd name="T33" fmla="*/ 35 h 45"/>
                <a:gd name="T34" fmla="*/ 7 w 138"/>
                <a:gd name="T35" fmla="*/ 40 h 45"/>
                <a:gd name="T36" fmla="*/ 16 w 138"/>
                <a:gd name="T37" fmla="*/ 42 h 45"/>
                <a:gd name="T38" fmla="*/ 27 w 138"/>
                <a:gd name="T39" fmla="*/ 44 h 45"/>
                <a:gd name="T40" fmla="*/ 37 w 138"/>
                <a:gd name="T41" fmla="*/ 44 h 45"/>
                <a:gd name="T42" fmla="*/ 47 w 138"/>
                <a:gd name="T43" fmla="*/ 45 h 45"/>
                <a:gd name="T44" fmla="*/ 57 w 138"/>
                <a:gd name="T45" fmla="*/ 44 h 45"/>
                <a:gd name="T46" fmla="*/ 65 w 138"/>
                <a:gd name="T47" fmla="*/ 42 h 45"/>
                <a:gd name="T48" fmla="*/ 73 w 138"/>
                <a:gd name="T49" fmla="*/ 41 h 45"/>
                <a:gd name="T50" fmla="*/ 78 w 138"/>
                <a:gd name="T51" fmla="*/ 38 h 45"/>
                <a:gd name="T52" fmla="*/ 85 w 138"/>
                <a:gd name="T53" fmla="*/ 37 h 45"/>
                <a:gd name="T54" fmla="*/ 91 w 138"/>
                <a:gd name="T55" fmla="*/ 34 h 45"/>
                <a:gd name="T56" fmla="*/ 97 w 138"/>
                <a:gd name="T57" fmla="*/ 31 h 45"/>
                <a:gd name="T58" fmla="*/ 102 w 138"/>
                <a:gd name="T59" fmla="*/ 30 h 45"/>
                <a:gd name="T60" fmla="*/ 107 w 138"/>
                <a:gd name="T61" fmla="*/ 28 h 45"/>
                <a:gd name="T62" fmla="*/ 112 w 138"/>
                <a:gd name="T63" fmla="*/ 27 h 45"/>
                <a:gd name="T64" fmla="*/ 117 w 138"/>
                <a:gd name="T65" fmla="*/ 27 h 45"/>
                <a:gd name="T66" fmla="*/ 125 w 138"/>
                <a:gd name="T67" fmla="*/ 25 h 45"/>
                <a:gd name="T68" fmla="*/ 134 w 138"/>
                <a:gd name="T69" fmla="*/ 21 h 45"/>
                <a:gd name="T70" fmla="*/ 138 w 138"/>
                <a:gd name="T71" fmla="*/ 13 h 45"/>
                <a:gd name="T72" fmla="*/ 138 w 138"/>
                <a:gd name="T73" fmla="*/ 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8" h="45">
                  <a:moveTo>
                    <a:pt x="138" y="3"/>
                  </a:moveTo>
                  <a:lnTo>
                    <a:pt x="134" y="0"/>
                  </a:lnTo>
                  <a:lnTo>
                    <a:pt x="126" y="0"/>
                  </a:lnTo>
                  <a:lnTo>
                    <a:pt x="119" y="3"/>
                  </a:lnTo>
                  <a:lnTo>
                    <a:pt x="111" y="6"/>
                  </a:lnTo>
                  <a:lnTo>
                    <a:pt x="101" y="11"/>
                  </a:lnTo>
                  <a:lnTo>
                    <a:pt x="91" y="17"/>
                  </a:lnTo>
                  <a:lnTo>
                    <a:pt x="83" y="21"/>
                  </a:lnTo>
                  <a:lnTo>
                    <a:pt x="74" y="25"/>
                  </a:lnTo>
                  <a:lnTo>
                    <a:pt x="67" y="28"/>
                  </a:lnTo>
                  <a:lnTo>
                    <a:pt x="58" y="30"/>
                  </a:lnTo>
                  <a:lnTo>
                    <a:pt x="48" y="32"/>
                  </a:lnTo>
                  <a:lnTo>
                    <a:pt x="39" y="34"/>
                  </a:lnTo>
                  <a:lnTo>
                    <a:pt x="29" y="35"/>
                  </a:lnTo>
                  <a:lnTo>
                    <a:pt x="17" y="35"/>
                  </a:lnTo>
                  <a:lnTo>
                    <a:pt x="9" y="35"/>
                  </a:lnTo>
                  <a:lnTo>
                    <a:pt x="0" y="35"/>
                  </a:lnTo>
                  <a:lnTo>
                    <a:pt x="7" y="40"/>
                  </a:lnTo>
                  <a:lnTo>
                    <a:pt x="16" y="42"/>
                  </a:lnTo>
                  <a:lnTo>
                    <a:pt x="27" y="44"/>
                  </a:lnTo>
                  <a:lnTo>
                    <a:pt x="37" y="44"/>
                  </a:lnTo>
                  <a:lnTo>
                    <a:pt x="47" y="45"/>
                  </a:lnTo>
                  <a:lnTo>
                    <a:pt x="57" y="44"/>
                  </a:lnTo>
                  <a:lnTo>
                    <a:pt x="65" y="42"/>
                  </a:lnTo>
                  <a:lnTo>
                    <a:pt x="73" y="41"/>
                  </a:lnTo>
                  <a:lnTo>
                    <a:pt x="78" y="38"/>
                  </a:lnTo>
                  <a:lnTo>
                    <a:pt x="85" y="37"/>
                  </a:lnTo>
                  <a:lnTo>
                    <a:pt x="91" y="34"/>
                  </a:lnTo>
                  <a:lnTo>
                    <a:pt x="97" y="31"/>
                  </a:lnTo>
                  <a:lnTo>
                    <a:pt x="102" y="30"/>
                  </a:lnTo>
                  <a:lnTo>
                    <a:pt x="107" y="28"/>
                  </a:lnTo>
                  <a:lnTo>
                    <a:pt x="112" y="27"/>
                  </a:lnTo>
                  <a:lnTo>
                    <a:pt x="117" y="27"/>
                  </a:lnTo>
                  <a:lnTo>
                    <a:pt x="125" y="25"/>
                  </a:lnTo>
                  <a:lnTo>
                    <a:pt x="134" y="21"/>
                  </a:lnTo>
                  <a:lnTo>
                    <a:pt x="138" y="13"/>
                  </a:lnTo>
                  <a:lnTo>
                    <a:pt x="138" y="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99" name="Freeform 83"/>
            <p:cNvSpPr>
              <a:spLocks/>
            </p:cNvSpPr>
            <p:nvPr/>
          </p:nvSpPr>
          <p:spPr bwMode="auto">
            <a:xfrm>
              <a:off x="3370" y="2180"/>
              <a:ext cx="127" cy="80"/>
            </a:xfrm>
            <a:custGeom>
              <a:avLst/>
              <a:gdLst>
                <a:gd name="T0" fmla="*/ 364 w 383"/>
                <a:gd name="T1" fmla="*/ 222 h 239"/>
                <a:gd name="T2" fmla="*/ 325 w 383"/>
                <a:gd name="T3" fmla="*/ 213 h 239"/>
                <a:gd name="T4" fmla="*/ 284 w 383"/>
                <a:gd name="T5" fmla="*/ 196 h 239"/>
                <a:gd name="T6" fmla="*/ 252 w 383"/>
                <a:gd name="T7" fmla="*/ 180 h 239"/>
                <a:gd name="T8" fmla="*/ 231 w 383"/>
                <a:gd name="T9" fmla="*/ 166 h 239"/>
                <a:gd name="T10" fmla="*/ 206 w 383"/>
                <a:gd name="T11" fmla="*/ 142 h 239"/>
                <a:gd name="T12" fmla="*/ 177 w 383"/>
                <a:gd name="T13" fmla="*/ 111 h 239"/>
                <a:gd name="T14" fmla="*/ 152 w 383"/>
                <a:gd name="T15" fmla="*/ 83 h 239"/>
                <a:gd name="T16" fmla="*/ 136 w 383"/>
                <a:gd name="T17" fmla="*/ 54 h 239"/>
                <a:gd name="T18" fmla="*/ 119 w 383"/>
                <a:gd name="T19" fmla="*/ 29 h 239"/>
                <a:gd name="T20" fmla="*/ 96 w 383"/>
                <a:gd name="T21" fmla="*/ 12 h 239"/>
                <a:gd name="T22" fmla="*/ 74 w 383"/>
                <a:gd name="T23" fmla="*/ 2 h 239"/>
                <a:gd name="T24" fmla="*/ 57 w 383"/>
                <a:gd name="T25" fmla="*/ 0 h 239"/>
                <a:gd name="T26" fmla="*/ 44 w 383"/>
                <a:gd name="T27" fmla="*/ 5 h 239"/>
                <a:gd name="T28" fmla="*/ 25 w 383"/>
                <a:gd name="T29" fmla="*/ 12 h 239"/>
                <a:gd name="T30" fmla="*/ 8 w 383"/>
                <a:gd name="T31" fmla="*/ 26 h 239"/>
                <a:gd name="T32" fmla="*/ 14 w 383"/>
                <a:gd name="T33" fmla="*/ 27 h 239"/>
                <a:gd name="T34" fmla="*/ 41 w 383"/>
                <a:gd name="T35" fmla="*/ 17 h 239"/>
                <a:gd name="T36" fmla="*/ 68 w 383"/>
                <a:gd name="T37" fmla="*/ 17 h 239"/>
                <a:gd name="T38" fmla="*/ 94 w 383"/>
                <a:gd name="T39" fmla="*/ 26 h 239"/>
                <a:gd name="T40" fmla="*/ 113 w 383"/>
                <a:gd name="T41" fmla="*/ 42 h 239"/>
                <a:gd name="T42" fmla="*/ 129 w 383"/>
                <a:gd name="T43" fmla="*/ 66 h 239"/>
                <a:gd name="T44" fmla="*/ 140 w 383"/>
                <a:gd name="T45" fmla="*/ 93 h 239"/>
                <a:gd name="T46" fmla="*/ 146 w 383"/>
                <a:gd name="T47" fmla="*/ 119 h 239"/>
                <a:gd name="T48" fmla="*/ 149 w 383"/>
                <a:gd name="T49" fmla="*/ 121 h 239"/>
                <a:gd name="T50" fmla="*/ 149 w 383"/>
                <a:gd name="T51" fmla="*/ 105 h 239"/>
                <a:gd name="T52" fmla="*/ 159 w 383"/>
                <a:gd name="T53" fmla="*/ 108 h 239"/>
                <a:gd name="T54" fmla="*/ 179 w 383"/>
                <a:gd name="T55" fmla="*/ 129 h 239"/>
                <a:gd name="T56" fmla="*/ 187 w 383"/>
                <a:gd name="T57" fmla="*/ 145 h 239"/>
                <a:gd name="T58" fmla="*/ 191 w 383"/>
                <a:gd name="T59" fmla="*/ 162 h 239"/>
                <a:gd name="T60" fmla="*/ 198 w 383"/>
                <a:gd name="T61" fmla="*/ 168 h 239"/>
                <a:gd name="T62" fmla="*/ 207 w 383"/>
                <a:gd name="T63" fmla="*/ 163 h 239"/>
                <a:gd name="T64" fmla="*/ 214 w 383"/>
                <a:gd name="T65" fmla="*/ 162 h 239"/>
                <a:gd name="T66" fmla="*/ 221 w 383"/>
                <a:gd name="T67" fmla="*/ 168 h 239"/>
                <a:gd name="T68" fmla="*/ 223 w 383"/>
                <a:gd name="T69" fmla="*/ 173 h 239"/>
                <a:gd name="T70" fmla="*/ 223 w 383"/>
                <a:gd name="T71" fmla="*/ 183 h 239"/>
                <a:gd name="T72" fmla="*/ 227 w 383"/>
                <a:gd name="T73" fmla="*/ 189 h 239"/>
                <a:gd name="T74" fmla="*/ 231 w 383"/>
                <a:gd name="T75" fmla="*/ 192 h 239"/>
                <a:gd name="T76" fmla="*/ 237 w 383"/>
                <a:gd name="T77" fmla="*/ 190 h 239"/>
                <a:gd name="T78" fmla="*/ 242 w 383"/>
                <a:gd name="T79" fmla="*/ 188 h 239"/>
                <a:gd name="T80" fmla="*/ 250 w 383"/>
                <a:gd name="T81" fmla="*/ 189 h 239"/>
                <a:gd name="T82" fmla="*/ 259 w 383"/>
                <a:gd name="T83" fmla="*/ 195 h 239"/>
                <a:gd name="T84" fmla="*/ 264 w 383"/>
                <a:gd name="T85" fmla="*/ 202 h 239"/>
                <a:gd name="T86" fmla="*/ 269 w 383"/>
                <a:gd name="T87" fmla="*/ 214 h 239"/>
                <a:gd name="T88" fmla="*/ 278 w 383"/>
                <a:gd name="T89" fmla="*/ 216 h 239"/>
                <a:gd name="T90" fmla="*/ 284 w 383"/>
                <a:gd name="T91" fmla="*/ 210 h 239"/>
                <a:gd name="T92" fmla="*/ 288 w 383"/>
                <a:gd name="T93" fmla="*/ 206 h 239"/>
                <a:gd name="T94" fmla="*/ 296 w 383"/>
                <a:gd name="T95" fmla="*/ 209 h 239"/>
                <a:gd name="T96" fmla="*/ 303 w 383"/>
                <a:gd name="T97" fmla="*/ 213 h 239"/>
                <a:gd name="T98" fmla="*/ 308 w 383"/>
                <a:gd name="T99" fmla="*/ 222 h 239"/>
                <a:gd name="T100" fmla="*/ 313 w 383"/>
                <a:gd name="T101" fmla="*/ 226 h 239"/>
                <a:gd name="T102" fmla="*/ 322 w 383"/>
                <a:gd name="T103" fmla="*/ 229 h 239"/>
                <a:gd name="T104" fmla="*/ 328 w 383"/>
                <a:gd name="T105" fmla="*/ 226 h 239"/>
                <a:gd name="T106" fmla="*/ 332 w 383"/>
                <a:gd name="T107" fmla="*/ 220 h 239"/>
                <a:gd name="T108" fmla="*/ 337 w 383"/>
                <a:gd name="T109" fmla="*/ 222 h 239"/>
                <a:gd name="T110" fmla="*/ 349 w 383"/>
                <a:gd name="T111" fmla="*/ 223 h 239"/>
                <a:gd name="T112" fmla="*/ 354 w 383"/>
                <a:gd name="T113" fmla="*/ 227 h 239"/>
                <a:gd name="T114" fmla="*/ 362 w 383"/>
                <a:gd name="T115" fmla="*/ 236 h 239"/>
                <a:gd name="T116" fmla="*/ 369 w 383"/>
                <a:gd name="T117" fmla="*/ 239 h 239"/>
                <a:gd name="T118" fmla="*/ 377 w 383"/>
                <a:gd name="T119" fmla="*/ 239 h 239"/>
                <a:gd name="T120" fmla="*/ 381 w 383"/>
                <a:gd name="T121" fmla="*/ 236 h 239"/>
                <a:gd name="T122" fmla="*/ 383 w 383"/>
                <a:gd name="T123" fmla="*/ 226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3" h="239">
                  <a:moveTo>
                    <a:pt x="381" y="222"/>
                  </a:moveTo>
                  <a:lnTo>
                    <a:pt x="364" y="222"/>
                  </a:lnTo>
                  <a:lnTo>
                    <a:pt x="345" y="219"/>
                  </a:lnTo>
                  <a:lnTo>
                    <a:pt x="325" y="213"/>
                  </a:lnTo>
                  <a:lnTo>
                    <a:pt x="303" y="206"/>
                  </a:lnTo>
                  <a:lnTo>
                    <a:pt x="284" y="196"/>
                  </a:lnTo>
                  <a:lnTo>
                    <a:pt x="267" y="188"/>
                  </a:lnTo>
                  <a:lnTo>
                    <a:pt x="252" y="180"/>
                  </a:lnTo>
                  <a:lnTo>
                    <a:pt x="241" y="173"/>
                  </a:lnTo>
                  <a:lnTo>
                    <a:pt x="231" y="166"/>
                  </a:lnTo>
                  <a:lnTo>
                    <a:pt x="218" y="155"/>
                  </a:lnTo>
                  <a:lnTo>
                    <a:pt x="206" y="142"/>
                  </a:lnTo>
                  <a:lnTo>
                    <a:pt x="191" y="127"/>
                  </a:lnTo>
                  <a:lnTo>
                    <a:pt x="177" y="111"/>
                  </a:lnTo>
                  <a:lnTo>
                    <a:pt x="163" y="97"/>
                  </a:lnTo>
                  <a:lnTo>
                    <a:pt x="152" y="83"/>
                  </a:lnTo>
                  <a:lnTo>
                    <a:pt x="142" y="71"/>
                  </a:lnTo>
                  <a:lnTo>
                    <a:pt x="136" y="54"/>
                  </a:lnTo>
                  <a:lnTo>
                    <a:pt x="129" y="42"/>
                  </a:lnTo>
                  <a:lnTo>
                    <a:pt x="119" y="29"/>
                  </a:lnTo>
                  <a:lnTo>
                    <a:pt x="108" y="19"/>
                  </a:lnTo>
                  <a:lnTo>
                    <a:pt x="96" y="12"/>
                  </a:lnTo>
                  <a:lnTo>
                    <a:pt x="85" y="6"/>
                  </a:lnTo>
                  <a:lnTo>
                    <a:pt x="74" y="2"/>
                  </a:lnTo>
                  <a:lnTo>
                    <a:pt x="62" y="0"/>
                  </a:lnTo>
                  <a:lnTo>
                    <a:pt x="57" y="0"/>
                  </a:lnTo>
                  <a:lnTo>
                    <a:pt x="51" y="2"/>
                  </a:lnTo>
                  <a:lnTo>
                    <a:pt x="44" y="5"/>
                  </a:lnTo>
                  <a:lnTo>
                    <a:pt x="35" y="7"/>
                  </a:lnTo>
                  <a:lnTo>
                    <a:pt x="25" y="12"/>
                  </a:lnTo>
                  <a:lnTo>
                    <a:pt x="17" y="19"/>
                  </a:lnTo>
                  <a:lnTo>
                    <a:pt x="8" y="26"/>
                  </a:lnTo>
                  <a:lnTo>
                    <a:pt x="0" y="36"/>
                  </a:lnTo>
                  <a:lnTo>
                    <a:pt x="14" y="27"/>
                  </a:lnTo>
                  <a:lnTo>
                    <a:pt x="27" y="22"/>
                  </a:lnTo>
                  <a:lnTo>
                    <a:pt x="41" y="17"/>
                  </a:lnTo>
                  <a:lnTo>
                    <a:pt x="55" y="16"/>
                  </a:lnTo>
                  <a:lnTo>
                    <a:pt x="68" y="17"/>
                  </a:lnTo>
                  <a:lnTo>
                    <a:pt x="81" y="20"/>
                  </a:lnTo>
                  <a:lnTo>
                    <a:pt x="94" y="26"/>
                  </a:lnTo>
                  <a:lnTo>
                    <a:pt x="105" y="33"/>
                  </a:lnTo>
                  <a:lnTo>
                    <a:pt x="113" y="42"/>
                  </a:lnTo>
                  <a:lnTo>
                    <a:pt x="122" y="53"/>
                  </a:lnTo>
                  <a:lnTo>
                    <a:pt x="129" y="66"/>
                  </a:lnTo>
                  <a:lnTo>
                    <a:pt x="136" y="78"/>
                  </a:lnTo>
                  <a:lnTo>
                    <a:pt x="140" y="93"/>
                  </a:lnTo>
                  <a:lnTo>
                    <a:pt x="145" y="107"/>
                  </a:lnTo>
                  <a:lnTo>
                    <a:pt x="146" y="119"/>
                  </a:lnTo>
                  <a:lnTo>
                    <a:pt x="147" y="132"/>
                  </a:lnTo>
                  <a:lnTo>
                    <a:pt x="149" y="121"/>
                  </a:lnTo>
                  <a:lnTo>
                    <a:pt x="149" y="112"/>
                  </a:lnTo>
                  <a:lnTo>
                    <a:pt x="149" y="105"/>
                  </a:lnTo>
                  <a:lnTo>
                    <a:pt x="149" y="98"/>
                  </a:lnTo>
                  <a:lnTo>
                    <a:pt x="159" y="108"/>
                  </a:lnTo>
                  <a:lnTo>
                    <a:pt x="169" y="119"/>
                  </a:lnTo>
                  <a:lnTo>
                    <a:pt x="179" y="129"/>
                  </a:lnTo>
                  <a:lnTo>
                    <a:pt x="184" y="138"/>
                  </a:lnTo>
                  <a:lnTo>
                    <a:pt x="187" y="145"/>
                  </a:lnTo>
                  <a:lnTo>
                    <a:pt x="190" y="154"/>
                  </a:lnTo>
                  <a:lnTo>
                    <a:pt x="191" y="162"/>
                  </a:lnTo>
                  <a:lnTo>
                    <a:pt x="191" y="169"/>
                  </a:lnTo>
                  <a:lnTo>
                    <a:pt x="198" y="168"/>
                  </a:lnTo>
                  <a:lnTo>
                    <a:pt x="203" y="165"/>
                  </a:lnTo>
                  <a:lnTo>
                    <a:pt x="207" y="163"/>
                  </a:lnTo>
                  <a:lnTo>
                    <a:pt x="210" y="162"/>
                  </a:lnTo>
                  <a:lnTo>
                    <a:pt x="214" y="162"/>
                  </a:lnTo>
                  <a:lnTo>
                    <a:pt x="217" y="163"/>
                  </a:lnTo>
                  <a:lnTo>
                    <a:pt x="221" y="168"/>
                  </a:lnTo>
                  <a:lnTo>
                    <a:pt x="223" y="171"/>
                  </a:lnTo>
                  <a:lnTo>
                    <a:pt x="223" y="173"/>
                  </a:lnTo>
                  <a:lnTo>
                    <a:pt x="223" y="179"/>
                  </a:lnTo>
                  <a:lnTo>
                    <a:pt x="223" y="183"/>
                  </a:lnTo>
                  <a:lnTo>
                    <a:pt x="224" y="186"/>
                  </a:lnTo>
                  <a:lnTo>
                    <a:pt x="227" y="189"/>
                  </a:lnTo>
                  <a:lnTo>
                    <a:pt x="230" y="190"/>
                  </a:lnTo>
                  <a:lnTo>
                    <a:pt x="231" y="192"/>
                  </a:lnTo>
                  <a:lnTo>
                    <a:pt x="234" y="192"/>
                  </a:lnTo>
                  <a:lnTo>
                    <a:pt x="237" y="190"/>
                  </a:lnTo>
                  <a:lnTo>
                    <a:pt x="240" y="189"/>
                  </a:lnTo>
                  <a:lnTo>
                    <a:pt x="242" y="188"/>
                  </a:lnTo>
                  <a:lnTo>
                    <a:pt x="245" y="188"/>
                  </a:lnTo>
                  <a:lnTo>
                    <a:pt x="250" y="189"/>
                  </a:lnTo>
                  <a:lnTo>
                    <a:pt x="254" y="192"/>
                  </a:lnTo>
                  <a:lnTo>
                    <a:pt x="259" y="195"/>
                  </a:lnTo>
                  <a:lnTo>
                    <a:pt x="262" y="197"/>
                  </a:lnTo>
                  <a:lnTo>
                    <a:pt x="264" y="202"/>
                  </a:lnTo>
                  <a:lnTo>
                    <a:pt x="267" y="209"/>
                  </a:lnTo>
                  <a:lnTo>
                    <a:pt x="269" y="214"/>
                  </a:lnTo>
                  <a:lnTo>
                    <a:pt x="274" y="217"/>
                  </a:lnTo>
                  <a:lnTo>
                    <a:pt x="278" y="216"/>
                  </a:lnTo>
                  <a:lnTo>
                    <a:pt x="281" y="214"/>
                  </a:lnTo>
                  <a:lnTo>
                    <a:pt x="284" y="210"/>
                  </a:lnTo>
                  <a:lnTo>
                    <a:pt x="285" y="207"/>
                  </a:lnTo>
                  <a:lnTo>
                    <a:pt x="288" y="206"/>
                  </a:lnTo>
                  <a:lnTo>
                    <a:pt x="292" y="206"/>
                  </a:lnTo>
                  <a:lnTo>
                    <a:pt x="296" y="209"/>
                  </a:lnTo>
                  <a:lnTo>
                    <a:pt x="301" y="210"/>
                  </a:lnTo>
                  <a:lnTo>
                    <a:pt x="303" y="213"/>
                  </a:lnTo>
                  <a:lnTo>
                    <a:pt x="306" y="217"/>
                  </a:lnTo>
                  <a:lnTo>
                    <a:pt x="308" y="222"/>
                  </a:lnTo>
                  <a:lnTo>
                    <a:pt x="311" y="224"/>
                  </a:lnTo>
                  <a:lnTo>
                    <a:pt x="313" y="226"/>
                  </a:lnTo>
                  <a:lnTo>
                    <a:pt x="318" y="227"/>
                  </a:lnTo>
                  <a:lnTo>
                    <a:pt x="322" y="229"/>
                  </a:lnTo>
                  <a:lnTo>
                    <a:pt x="325" y="229"/>
                  </a:lnTo>
                  <a:lnTo>
                    <a:pt x="328" y="226"/>
                  </a:lnTo>
                  <a:lnTo>
                    <a:pt x="330" y="223"/>
                  </a:lnTo>
                  <a:lnTo>
                    <a:pt x="332" y="220"/>
                  </a:lnTo>
                  <a:lnTo>
                    <a:pt x="335" y="220"/>
                  </a:lnTo>
                  <a:lnTo>
                    <a:pt x="337" y="222"/>
                  </a:lnTo>
                  <a:lnTo>
                    <a:pt x="343" y="222"/>
                  </a:lnTo>
                  <a:lnTo>
                    <a:pt x="349" y="223"/>
                  </a:lnTo>
                  <a:lnTo>
                    <a:pt x="352" y="224"/>
                  </a:lnTo>
                  <a:lnTo>
                    <a:pt x="354" y="227"/>
                  </a:lnTo>
                  <a:lnTo>
                    <a:pt x="359" y="231"/>
                  </a:lnTo>
                  <a:lnTo>
                    <a:pt x="362" y="236"/>
                  </a:lnTo>
                  <a:lnTo>
                    <a:pt x="366" y="239"/>
                  </a:lnTo>
                  <a:lnTo>
                    <a:pt x="369" y="239"/>
                  </a:lnTo>
                  <a:lnTo>
                    <a:pt x="373" y="239"/>
                  </a:lnTo>
                  <a:lnTo>
                    <a:pt x="377" y="239"/>
                  </a:lnTo>
                  <a:lnTo>
                    <a:pt x="380" y="239"/>
                  </a:lnTo>
                  <a:lnTo>
                    <a:pt x="381" y="236"/>
                  </a:lnTo>
                  <a:lnTo>
                    <a:pt x="383" y="231"/>
                  </a:lnTo>
                  <a:lnTo>
                    <a:pt x="383" y="226"/>
                  </a:lnTo>
                  <a:lnTo>
                    <a:pt x="381" y="222"/>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0" name="Freeform 84"/>
            <p:cNvSpPr>
              <a:spLocks/>
            </p:cNvSpPr>
            <p:nvPr/>
          </p:nvSpPr>
          <p:spPr bwMode="auto">
            <a:xfrm>
              <a:off x="3398" y="2248"/>
              <a:ext cx="38" cy="96"/>
            </a:xfrm>
            <a:custGeom>
              <a:avLst/>
              <a:gdLst>
                <a:gd name="T0" fmla="*/ 11 w 116"/>
                <a:gd name="T1" fmla="*/ 289 h 289"/>
                <a:gd name="T2" fmla="*/ 8 w 116"/>
                <a:gd name="T3" fmla="*/ 287 h 289"/>
                <a:gd name="T4" fmla="*/ 5 w 116"/>
                <a:gd name="T5" fmla="*/ 282 h 289"/>
                <a:gd name="T6" fmla="*/ 2 w 116"/>
                <a:gd name="T7" fmla="*/ 279 h 289"/>
                <a:gd name="T8" fmla="*/ 0 w 116"/>
                <a:gd name="T9" fmla="*/ 277 h 289"/>
                <a:gd name="T10" fmla="*/ 28 w 116"/>
                <a:gd name="T11" fmla="*/ 270 h 289"/>
                <a:gd name="T12" fmla="*/ 52 w 116"/>
                <a:gd name="T13" fmla="*/ 258 h 289"/>
                <a:gd name="T14" fmla="*/ 70 w 116"/>
                <a:gd name="T15" fmla="*/ 244 h 289"/>
                <a:gd name="T16" fmla="*/ 83 w 116"/>
                <a:gd name="T17" fmla="*/ 226 h 289"/>
                <a:gd name="T18" fmla="*/ 93 w 116"/>
                <a:gd name="T19" fmla="*/ 203 h 289"/>
                <a:gd name="T20" fmla="*/ 100 w 116"/>
                <a:gd name="T21" fmla="*/ 173 h 289"/>
                <a:gd name="T22" fmla="*/ 103 w 116"/>
                <a:gd name="T23" fmla="*/ 138 h 289"/>
                <a:gd name="T24" fmla="*/ 103 w 116"/>
                <a:gd name="T25" fmla="*/ 97 h 289"/>
                <a:gd name="T26" fmla="*/ 100 w 116"/>
                <a:gd name="T27" fmla="*/ 70 h 289"/>
                <a:gd name="T28" fmla="*/ 96 w 116"/>
                <a:gd name="T29" fmla="*/ 45 h 289"/>
                <a:gd name="T30" fmla="*/ 89 w 116"/>
                <a:gd name="T31" fmla="*/ 21 h 289"/>
                <a:gd name="T32" fmla="*/ 82 w 116"/>
                <a:gd name="T33" fmla="*/ 0 h 289"/>
                <a:gd name="T34" fmla="*/ 102 w 116"/>
                <a:gd name="T35" fmla="*/ 48 h 289"/>
                <a:gd name="T36" fmla="*/ 113 w 116"/>
                <a:gd name="T37" fmla="*/ 97 h 289"/>
                <a:gd name="T38" fmla="*/ 116 w 116"/>
                <a:gd name="T39" fmla="*/ 145 h 289"/>
                <a:gd name="T40" fmla="*/ 113 w 116"/>
                <a:gd name="T41" fmla="*/ 187 h 289"/>
                <a:gd name="T42" fmla="*/ 100 w 116"/>
                <a:gd name="T43" fmla="*/ 226 h 289"/>
                <a:gd name="T44" fmla="*/ 79 w 116"/>
                <a:gd name="T45" fmla="*/ 257 h 289"/>
                <a:gd name="T46" fmla="*/ 49 w 116"/>
                <a:gd name="T47" fmla="*/ 279 h 289"/>
                <a:gd name="T48" fmla="*/ 11 w 116"/>
                <a:gd name="T4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6" h="289">
                  <a:moveTo>
                    <a:pt x="11" y="289"/>
                  </a:moveTo>
                  <a:lnTo>
                    <a:pt x="8" y="287"/>
                  </a:lnTo>
                  <a:lnTo>
                    <a:pt x="5" y="282"/>
                  </a:lnTo>
                  <a:lnTo>
                    <a:pt x="2" y="279"/>
                  </a:lnTo>
                  <a:lnTo>
                    <a:pt x="0" y="277"/>
                  </a:lnTo>
                  <a:lnTo>
                    <a:pt x="28" y="270"/>
                  </a:lnTo>
                  <a:lnTo>
                    <a:pt x="52" y="258"/>
                  </a:lnTo>
                  <a:lnTo>
                    <a:pt x="70" y="244"/>
                  </a:lnTo>
                  <a:lnTo>
                    <a:pt x="83" y="226"/>
                  </a:lnTo>
                  <a:lnTo>
                    <a:pt x="93" y="203"/>
                  </a:lnTo>
                  <a:lnTo>
                    <a:pt x="100" y="173"/>
                  </a:lnTo>
                  <a:lnTo>
                    <a:pt x="103" y="138"/>
                  </a:lnTo>
                  <a:lnTo>
                    <a:pt x="103" y="97"/>
                  </a:lnTo>
                  <a:lnTo>
                    <a:pt x="100" y="70"/>
                  </a:lnTo>
                  <a:lnTo>
                    <a:pt x="96" y="45"/>
                  </a:lnTo>
                  <a:lnTo>
                    <a:pt x="89" y="21"/>
                  </a:lnTo>
                  <a:lnTo>
                    <a:pt x="82" y="0"/>
                  </a:lnTo>
                  <a:lnTo>
                    <a:pt x="102" y="48"/>
                  </a:lnTo>
                  <a:lnTo>
                    <a:pt x="113" y="97"/>
                  </a:lnTo>
                  <a:lnTo>
                    <a:pt x="116" y="145"/>
                  </a:lnTo>
                  <a:lnTo>
                    <a:pt x="113" y="187"/>
                  </a:lnTo>
                  <a:lnTo>
                    <a:pt x="100" y="226"/>
                  </a:lnTo>
                  <a:lnTo>
                    <a:pt x="79" y="257"/>
                  </a:lnTo>
                  <a:lnTo>
                    <a:pt x="49" y="279"/>
                  </a:lnTo>
                  <a:lnTo>
                    <a:pt x="11" y="28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1" name="Freeform 85"/>
            <p:cNvSpPr>
              <a:spLocks/>
            </p:cNvSpPr>
            <p:nvPr/>
          </p:nvSpPr>
          <p:spPr bwMode="auto">
            <a:xfrm>
              <a:off x="3311" y="2437"/>
              <a:ext cx="54" cy="41"/>
            </a:xfrm>
            <a:custGeom>
              <a:avLst/>
              <a:gdLst>
                <a:gd name="T0" fmla="*/ 0 w 161"/>
                <a:gd name="T1" fmla="*/ 124 h 124"/>
                <a:gd name="T2" fmla="*/ 5 w 161"/>
                <a:gd name="T3" fmla="*/ 121 h 124"/>
                <a:gd name="T4" fmla="*/ 10 w 161"/>
                <a:gd name="T5" fmla="*/ 119 h 124"/>
                <a:gd name="T6" fmla="*/ 15 w 161"/>
                <a:gd name="T7" fmla="*/ 117 h 124"/>
                <a:gd name="T8" fmla="*/ 20 w 161"/>
                <a:gd name="T9" fmla="*/ 112 h 124"/>
                <a:gd name="T10" fmla="*/ 26 w 161"/>
                <a:gd name="T11" fmla="*/ 109 h 124"/>
                <a:gd name="T12" fmla="*/ 32 w 161"/>
                <a:gd name="T13" fmla="*/ 107 h 124"/>
                <a:gd name="T14" fmla="*/ 37 w 161"/>
                <a:gd name="T15" fmla="*/ 102 h 124"/>
                <a:gd name="T16" fmla="*/ 43 w 161"/>
                <a:gd name="T17" fmla="*/ 98 h 124"/>
                <a:gd name="T18" fmla="*/ 56 w 161"/>
                <a:gd name="T19" fmla="*/ 90 h 124"/>
                <a:gd name="T20" fmla="*/ 69 w 161"/>
                <a:gd name="T21" fmla="*/ 80 h 124"/>
                <a:gd name="T22" fmla="*/ 80 w 161"/>
                <a:gd name="T23" fmla="*/ 71 h 124"/>
                <a:gd name="T24" fmla="*/ 91 w 161"/>
                <a:gd name="T25" fmla="*/ 61 h 124"/>
                <a:gd name="T26" fmla="*/ 101 w 161"/>
                <a:gd name="T27" fmla="*/ 51 h 124"/>
                <a:gd name="T28" fmla="*/ 110 w 161"/>
                <a:gd name="T29" fmla="*/ 41 h 124"/>
                <a:gd name="T30" fmla="*/ 118 w 161"/>
                <a:gd name="T31" fmla="*/ 33 h 124"/>
                <a:gd name="T32" fmla="*/ 127 w 161"/>
                <a:gd name="T33" fmla="*/ 23 h 124"/>
                <a:gd name="T34" fmla="*/ 137 w 161"/>
                <a:gd name="T35" fmla="*/ 13 h 124"/>
                <a:gd name="T36" fmla="*/ 147 w 161"/>
                <a:gd name="T37" fmla="*/ 4 h 124"/>
                <a:gd name="T38" fmla="*/ 155 w 161"/>
                <a:gd name="T39" fmla="*/ 0 h 124"/>
                <a:gd name="T40" fmla="*/ 161 w 161"/>
                <a:gd name="T41" fmla="*/ 0 h 124"/>
                <a:gd name="T42" fmla="*/ 158 w 161"/>
                <a:gd name="T43" fmla="*/ 6 h 124"/>
                <a:gd name="T44" fmla="*/ 148 w 161"/>
                <a:gd name="T45" fmla="*/ 20 h 124"/>
                <a:gd name="T46" fmla="*/ 131 w 161"/>
                <a:gd name="T47" fmla="*/ 39 h 124"/>
                <a:gd name="T48" fmla="*/ 108 w 161"/>
                <a:gd name="T49" fmla="*/ 60 h 124"/>
                <a:gd name="T50" fmla="*/ 84 w 161"/>
                <a:gd name="T51" fmla="*/ 81 h 124"/>
                <a:gd name="T52" fmla="*/ 56 w 161"/>
                <a:gd name="T53" fmla="*/ 99 h 124"/>
                <a:gd name="T54" fmla="*/ 27 w 161"/>
                <a:gd name="T55" fmla="*/ 115 h 124"/>
                <a:gd name="T56" fmla="*/ 0 w 161"/>
                <a:gd name="T57"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1" h="124">
                  <a:moveTo>
                    <a:pt x="0" y="124"/>
                  </a:moveTo>
                  <a:lnTo>
                    <a:pt x="5" y="121"/>
                  </a:lnTo>
                  <a:lnTo>
                    <a:pt x="10" y="119"/>
                  </a:lnTo>
                  <a:lnTo>
                    <a:pt x="15" y="117"/>
                  </a:lnTo>
                  <a:lnTo>
                    <a:pt x="20" y="112"/>
                  </a:lnTo>
                  <a:lnTo>
                    <a:pt x="26" y="109"/>
                  </a:lnTo>
                  <a:lnTo>
                    <a:pt x="32" y="107"/>
                  </a:lnTo>
                  <a:lnTo>
                    <a:pt x="37" y="102"/>
                  </a:lnTo>
                  <a:lnTo>
                    <a:pt x="43" y="98"/>
                  </a:lnTo>
                  <a:lnTo>
                    <a:pt x="56" y="90"/>
                  </a:lnTo>
                  <a:lnTo>
                    <a:pt x="69" y="80"/>
                  </a:lnTo>
                  <a:lnTo>
                    <a:pt x="80" y="71"/>
                  </a:lnTo>
                  <a:lnTo>
                    <a:pt x="91" y="61"/>
                  </a:lnTo>
                  <a:lnTo>
                    <a:pt x="101" y="51"/>
                  </a:lnTo>
                  <a:lnTo>
                    <a:pt x="110" y="41"/>
                  </a:lnTo>
                  <a:lnTo>
                    <a:pt x="118" y="33"/>
                  </a:lnTo>
                  <a:lnTo>
                    <a:pt x="127" y="23"/>
                  </a:lnTo>
                  <a:lnTo>
                    <a:pt x="137" y="13"/>
                  </a:lnTo>
                  <a:lnTo>
                    <a:pt x="147" y="4"/>
                  </a:lnTo>
                  <a:lnTo>
                    <a:pt x="155" y="0"/>
                  </a:lnTo>
                  <a:lnTo>
                    <a:pt x="161" y="0"/>
                  </a:lnTo>
                  <a:lnTo>
                    <a:pt x="158" y="6"/>
                  </a:lnTo>
                  <a:lnTo>
                    <a:pt x="148" y="20"/>
                  </a:lnTo>
                  <a:lnTo>
                    <a:pt x="131" y="39"/>
                  </a:lnTo>
                  <a:lnTo>
                    <a:pt x="108" y="60"/>
                  </a:lnTo>
                  <a:lnTo>
                    <a:pt x="84" y="81"/>
                  </a:lnTo>
                  <a:lnTo>
                    <a:pt x="56" y="99"/>
                  </a:lnTo>
                  <a:lnTo>
                    <a:pt x="27" y="115"/>
                  </a:lnTo>
                  <a:lnTo>
                    <a:pt x="0" y="124"/>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2" name="Freeform 86"/>
            <p:cNvSpPr>
              <a:spLocks/>
            </p:cNvSpPr>
            <p:nvPr/>
          </p:nvSpPr>
          <p:spPr bwMode="auto">
            <a:xfrm>
              <a:off x="3598" y="2629"/>
              <a:ext cx="30" cy="65"/>
            </a:xfrm>
            <a:custGeom>
              <a:avLst/>
              <a:gdLst>
                <a:gd name="T0" fmla="*/ 91 w 91"/>
                <a:gd name="T1" fmla="*/ 193 h 193"/>
                <a:gd name="T2" fmla="*/ 88 w 91"/>
                <a:gd name="T3" fmla="*/ 183 h 193"/>
                <a:gd name="T4" fmla="*/ 84 w 91"/>
                <a:gd name="T5" fmla="*/ 173 h 193"/>
                <a:gd name="T6" fmla="*/ 79 w 91"/>
                <a:gd name="T7" fmla="*/ 165 h 193"/>
                <a:gd name="T8" fmla="*/ 75 w 91"/>
                <a:gd name="T9" fmla="*/ 158 h 193"/>
                <a:gd name="T10" fmla="*/ 69 w 91"/>
                <a:gd name="T11" fmla="*/ 146 h 193"/>
                <a:gd name="T12" fmla="*/ 60 w 91"/>
                <a:gd name="T13" fmla="*/ 131 h 193"/>
                <a:gd name="T14" fmla="*/ 50 w 91"/>
                <a:gd name="T15" fmla="*/ 108 h 193"/>
                <a:gd name="T16" fmla="*/ 38 w 91"/>
                <a:gd name="T17" fmla="*/ 85 h 193"/>
                <a:gd name="T18" fmla="*/ 27 w 91"/>
                <a:gd name="T19" fmla="*/ 60 h 193"/>
                <a:gd name="T20" fmla="*/ 16 w 91"/>
                <a:gd name="T21" fmla="*/ 37 h 193"/>
                <a:gd name="T22" fmla="*/ 7 w 91"/>
                <a:gd name="T23" fmla="*/ 16 h 193"/>
                <a:gd name="T24" fmla="*/ 0 w 91"/>
                <a:gd name="T25" fmla="*/ 0 h 193"/>
                <a:gd name="T26" fmla="*/ 3 w 91"/>
                <a:gd name="T27" fmla="*/ 27 h 193"/>
                <a:gd name="T28" fmla="*/ 6 w 91"/>
                <a:gd name="T29" fmla="*/ 63 h 193"/>
                <a:gd name="T30" fmla="*/ 7 w 91"/>
                <a:gd name="T31" fmla="*/ 98 h 193"/>
                <a:gd name="T32" fmla="*/ 7 w 91"/>
                <a:gd name="T33" fmla="*/ 122 h 193"/>
                <a:gd name="T34" fmla="*/ 10 w 91"/>
                <a:gd name="T35" fmla="*/ 108 h 193"/>
                <a:gd name="T36" fmla="*/ 13 w 91"/>
                <a:gd name="T37" fmla="*/ 94 h 193"/>
                <a:gd name="T38" fmla="*/ 14 w 91"/>
                <a:gd name="T39" fmla="*/ 81 h 193"/>
                <a:gd name="T40" fmla="*/ 16 w 91"/>
                <a:gd name="T41" fmla="*/ 71 h 193"/>
                <a:gd name="T42" fmla="*/ 23 w 91"/>
                <a:gd name="T43" fmla="*/ 84 h 193"/>
                <a:gd name="T44" fmla="*/ 31 w 91"/>
                <a:gd name="T45" fmla="*/ 100 h 193"/>
                <a:gd name="T46" fmla="*/ 43 w 91"/>
                <a:gd name="T47" fmla="*/ 118 h 193"/>
                <a:gd name="T48" fmla="*/ 54 w 91"/>
                <a:gd name="T49" fmla="*/ 136 h 193"/>
                <a:gd name="T50" fmla="*/ 65 w 91"/>
                <a:gd name="T51" fmla="*/ 155 h 193"/>
                <a:gd name="T52" fmla="*/ 75 w 91"/>
                <a:gd name="T53" fmla="*/ 170 h 193"/>
                <a:gd name="T54" fmla="*/ 85 w 91"/>
                <a:gd name="T55" fmla="*/ 185 h 193"/>
                <a:gd name="T56" fmla="*/ 91 w 91"/>
                <a:gd name="T5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1" h="193">
                  <a:moveTo>
                    <a:pt x="91" y="193"/>
                  </a:moveTo>
                  <a:lnTo>
                    <a:pt x="88" y="183"/>
                  </a:lnTo>
                  <a:lnTo>
                    <a:pt x="84" y="173"/>
                  </a:lnTo>
                  <a:lnTo>
                    <a:pt x="79" y="165"/>
                  </a:lnTo>
                  <a:lnTo>
                    <a:pt x="75" y="158"/>
                  </a:lnTo>
                  <a:lnTo>
                    <a:pt x="69" y="146"/>
                  </a:lnTo>
                  <a:lnTo>
                    <a:pt x="60" y="131"/>
                  </a:lnTo>
                  <a:lnTo>
                    <a:pt x="50" y="108"/>
                  </a:lnTo>
                  <a:lnTo>
                    <a:pt x="38" y="85"/>
                  </a:lnTo>
                  <a:lnTo>
                    <a:pt x="27" y="60"/>
                  </a:lnTo>
                  <a:lnTo>
                    <a:pt x="16" y="37"/>
                  </a:lnTo>
                  <a:lnTo>
                    <a:pt x="7" y="16"/>
                  </a:lnTo>
                  <a:lnTo>
                    <a:pt x="0" y="0"/>
                  </a:lnTo>
                  <a:lnTo>
                    <a:pt x="3" y="27"/>
                  </a:lnTo>
                  <a:lnTo>
                    <a:pt x="6" y="63"/>
                  </a:lnTo>
                  <a:lnTo>
                    <a:pt x="7" y="98"/>
                  </a:lnTo>
                  <a:lnTo>
                    <a:pt x="7" y="122"/>
                  </a:lnTo>
                  <a:lnTo>
                    <a:pt x="10" y="108"/>
                  </a:lnTo>
                  <a:lnTo>
                    <a:pt x="13" y="94"/>
                  </a:lnTo>
                  <a:lnTo>
                    <a:pt x="14" y="81"/>
                  </a:lnTo>
                  <a:lnTo>
                    <a:pt x="16" y="71"/>
                  </a:lnTo>
                  <a:lnTo>
                    <a:pt x="23" y="84"/>
                  </a:lnTo>
                  <a:lnTo>
                    <a:pt x="31" y="100"/>
                  </a:lnTo>
                  <a:lnTo>
                    <a:pt x="43" y="118"/>
                  </a:lnTo>
                  <a:lnTo>
                    <a:pt x="54" y="136"/>
                  </a:lnTo>
                  <a:lnTo>
                    <a:pt x="65" y="155"/>
                  </a:lnTo>
                  <a:lnTo>
                    <a:pt x="75" y="170"/>
                  </a:lnTo>
                  <a:lnTo>
                    <a:pt x="85" y="185"/>
                  </a:lnTo>
                  <a:lnTo>
                    <a:pt x="91" y="19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3" name="Freeform 87"/>
            <p:cNvSpPr>
              <a:spLocks/>
            </p:cNvSpPr>
            <p:nvPr/>
          </p:nvSpPr>
          <p:spPr bwMode="auto">
            <a:xfrm>
              <a:off x="3532" y="2682"/>
              <a:ext cx="53" cy="33"/>
            </a:xfrm>
            <a:custGeom>
              <a:avLst/>
              <a:gdLst>
                <a:gd name="T0" fmla="*/ 157 w 157"/>
                <a:gd name="T1" fmla="*/ 100 h 100"/>
                <a:gd name="T2" fmla="*/ 149 w 157"/>
                <a:gd name="T3" fmla="*/ 97 h 100"/>
                <a:gd name="T4" fmla="*/ 135 w 157"/>
                <a:gd name="T5" fmla="*/ 95 h 100"/>
                <a:gd name="T6" fmla="*/ 118 w 157"/>
                <a:gd name="T7" fmla="*/ 93 h 100"/>
                <a:gd name="T8" fmla="*/ 99 w 157"/>
                <a:gd name="T9" fmla="*/ 93 h 100"/>
                <a:gd name="T10" fmla="*/ 82 w 157"/>
                <a:gd name="T11" fmla="*/ 93 h 100"/>
                <a:gd name="T12" fmla="*/ 65 w 157"/>
                <a:gd name="T13" fmla="*/ 93 h 100"/>
                <a:gd name="T14" fmla="*/ 52 w 157"/>
                <a:gd name="T15" fmla="*/ 93 h 100"/>
                <a:gd name="T16" fmla="*/ 44 w 157"/>
                <a:gd name="T17" fmla="*/ 92 h 100"/>
                <a:gd name="T18" fmla="*/ 35 w 157"/>
                <a:gd name="T19" fmla="*/ 82 h 100"/>
                <a:gd name="T20" fmla="*/ 32 w 157"/>
                <a:gd name="T21" fmla="*/ 63 h 100"/>
                <a:gd name="T22" fmla="*/ 30 w 157"/>
                <a:gd name="T23" fmla="*/ 42 h 100"/>
                <a:gd name="T24" fmla="*/ 28 w 157"/>
                <a:gd name="T25" fmla="*/ 25 h 100"/>
                <a:gd name="T26" fmla="*/ 23 w 157"/>
                <a:gd name="T27" fmla="*/ 22 h 100"/>
                <a:gd name="T28" fmla="*/ 17 w 157"/>
                <a:gd name="T29" fmla="*/ 20 h 100"/>
                <a:gd name="T30" fmla="*/ 8 w 157"/>
                <a:gd name="T31" fmla="*/ 15 h 100"/>
                <a:gd name="T32" fmla="*/ 0 w 157"/>
                <a:gd name="T33" fmla="*/ 11 h 100"/>
                <a:gd name="T34" fmla="*/ 11 w 157"/>
                <a:gd name="T35" fmla="*/ 10 h 100"/>
                <a:gd name="T36" fmla="*/ 24 w 157"/>
                <a:gd name="T37" fmla="*/ 7 h 100"/>
                <a:gd name="T38" fmla="*/ 37 w 157"/>
                <a:gd name="T39" fmla="*/ 4 h 100"/>
                <a:gd name="T40" fmla="*/ 49 w 157"/>
                <a:gd name="T41" fmla="*/ 1 h 100"/>
                <a:gd name="T42" fmla="*/ 62 w 157"/>
                <a:gd name="T43" fmla="*/ 0 h 100"/>
                <a:gd name="T44" fmla="*/ 74 w 157"/>
                <a:gd name="T45" fmla="*/ 0 h 100"/>
                <a:gd name="T46" fmla="*/ 82 w 157"/>
                <a:gd name="T47" fmla="*/ 1 h 100"/>
                <a:gd name="T48" fmla="*/ 89 w 157"/>
                <a:gd name="T49" fmla="*/ 7 h 100"/>
                <a:gd name="T50" fmla="*/ 95 w 157"/>
                <a:gd name="T51" fmla="*/ 21 h 100"/>
                <a:gd name="T52" fmla="*/ 91 w 157"/>
                <a:gd name="T53" fmla="*/ 35 h 100"/>
                <a:gd name="T54" fmla="*/ 81 w 157"/>
                <a:gd name="T55" fmla="*/ 46 h 100"/>
                <a:gd name="T56" fmla="*/ 64 w 157"/>
                <a:gd name="T57" fmla="*/ 54 h 100"/>
                <a:gd name="T58" fmla="*/ 61 w 157"/>
                <a:gd name="T59" fmla="*/ 45 h 100"/>
                <a:gd name="T60" fmla="*/ 57 w 157"/>
                <a:gd name="T61" fmla="*/ 35 h 100"/>
                <a:gd name="T62" fmla="*/ 54 w 157"/>
                <a:gd name="T63" fmla="*/ 28 h 100"/>
                <a:gd name="T64" fmla="*/ 49 w 157"/>
                <a:gd name="T65" fmla="*/ 22 h 100"/>
                <a:gd name="T66" fmla="*/ 49 w 157"/>
                <a:gd name="T67" fmla="*/ 42 h 100"/>
                <a:gd name="T68" fmla="*/ 49 w 157"/>
                <a:gd name="T69" fmla="*/ 61 h 100"/>
                <a:gd name="T70" fmla="*/ 51 w 157"/>
                <a:gd name="T71" fmla="*/ 73 h 100"/>
                <a:gd name="T72" fmla="*/ 57 w 157"/>
                <a:gd name="T73" fmla="*/ 79 h 100"/>
                <a:gd name="T74" fmla="*/ 64 w 157"/>
                <a:gd name="T75" fmla="*/ 79 h 100"/>
                <a:gd name="T76" fmla="*/ 75 w 157"/>
                <a:gd name="T77" fmla="*/ 79 h 100"/>
                <a:gd name="T78" fmla="*/ 89 w 157"/>
                <a:gd name="T79" fmla="*/ 79 h 100"/>
                <a:gd name="T80" fmla="*/ 103 w 157"/>
                <a:gd name="T81" fmla="*/ 80 h 100"/>
                <a:gd name="T82" fmla="*/ 119 w 157"/>
                <a:gd name="T83" fmla="*/ 83 h 100"/>
                <a:gd name="T84" fmla="*/ 135 w 157"/>
                <a:gd name="T85" fmla="*/ 86 h 100"/>
                <a:gd name="T86" fmla="*/ 147 w 157"/>
                <a:gd name="T87" fmla="*/ 92 h 100"/>
                <a:gd name="T88" fmla="*/ 157 w 157"/>
                <a:gd name="T89"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57" h="100">
                  <a:moveTo>
                    <a:pt x="157" y="100"/>
                  </a:moveTo>
                  <a:lnTo>
                    <a:pt x="149" y="97"/>
                  </a:lnTo>
                  <a:lnTo>
                    <a:pt x="135" y="95"/>
                  </a:lnTo>
                  <a:lnTo>
                    <a:pt x="118" y="93"/>
                  </a:lnTo>
                  <a:lnTo>
                    <a:pt x="99" y="93"/>
                  </a:lnTo>
                  <a:lnTo>
                    <a:pt x="82" y="93"/>
                  </a:lnTo>
                  <a:lnTo>
                    <a:pt x="65" y="93"/>
                  </a:lnTo>
                  <a:lnTo>
                    <a:pt x="52" y="93"/>
                  </a:lnTo>
                  <a:lnTo>
                    <a:pt x="44" y="92"/>
                  </a:lnTo>
                  <a:lnTo>
                    <a:pt x="35" y="82"/>
                  </a:lnTo>
                  <a:lnTo>
                    <a:pt x="32" y="63"/>
                  </a:lnTo>
                  <a:lnTo>
                    <a:pt x="30" y="42"/>
                  </a:lnTo>
                  <a:lnTo>
                    <a:pt x="28" y="25"/>
                  </a:lnTo>
                  <a:lnTo>
                    <a:pt x="23" y="22"/>
                  </a:lnTo>
                  <a:lnTo>
                    <a:pt x="17" y="20"/>
                  </a:lnTo>
                  <a:lnTo>
                    <a:pt x="8" y="15"/>
                  </a:lnTo>
                  <a:lnTo>
                    <a:pt x="0" y="11"/>
                  </a:lnTo>
                  <a:lnTo>
                    <a:pt x="11" y="10"/>
                  </a:lnTo>
                  <a:lnTo>
                    <a:pt x="24" y="7"/>
                  </a:lnTo>
                  <a:lnTo>
                    <a:pt x="37" y="4"/>
                  </a:lnTo>
                  <a:lnTo>
                    <a:pt x="49" y="1"/>
                  </a:lnTo>
                  <a:lnTo>
                    <a:pt x="62" y="0"/>
                  </a:lnTo>
                  <a:lnTo>
                    <a:pt x="74" y="0"/>
                  </a:lnTo>
                  <a:lnTo>
                    <a:pt x="82" y="1"/>
                  </a:lnTo>
                  <a:lnTo>
                    <a:pt x="89" y="7"/>
                  </a:lnTo>
                  <a:lnTo>
                    <a:pt x="95" y="21"/>
                  </a:lnTo>
                  <a:lnTo>
                    <a:pt x="91" y="35"/>
                  </a:lnTo>
                  <a:lnTo>
                    <a:pt x="81" y="46"/>
                  </a:lnTo>
                  <a:lnTo>
                    <a:pt x="64" y="54"/>
                  </a:lnTo>
                  <a:lnTo>
                    <a:pt x="61" y="45"/>
                  </a:lnTo>
                  <a:lnTo>
                    <a:pt x="57" y="35"/>
                  </a:lnTo>
                  <a:lnTo>
                    <a:pt x="54" y="28"/>
                  </a:lnTo>
                  <a:lnTo>
                    <a:pt x="49" y="22"/>
                  </a:lnTo>
                  <a:lnTo>
                    <a:pt x="49" y="42"/>
                  </a:lnTo>
                  <a:lnTo>
                    <a:pt x="49" y="61"/>
                  </a:lnTo>
                  <a:lnTo>
                    <a:pt x="51" y="73"/>
                  </a:lnTo>
                  <a:lnTo>
                    <a:pt x="57" y="79"/>
                  </a:lnTo>
                  <a:lnTo>
                    <a:pt x="64" y="79"/>
                  </a:lnTo>
                  <a:lnTo>
                    <a:pt x="75" y="79"/>
                  </a:lnTo>
                  <a:lnTo>
                    <a:pt x="89" y="79"/>
                  </a:lnTo>
                  <a:lnTo>
                    <a:pt x="103" y="80"/>
                  </a:lnTo>
                  <a:lnTo>
                    <a:pt x="119" y="83"/>
                  </a:lnTo>
                  <a:lnTo>
                    <a:pt x="135" y="86"/>
                  </a:lnTo>
                  <a:lnTo>
                    <a:pt x="147" y="92"/>
                  </a:lnTo>
                  <a:lnTo>
                    <a:pt x="157" y="10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4" name="Freeform 88"/>
            <p:cNvSpPr>
              <a:spLocks/>
            </p:cNvSpPr>
            <p:nvPr/>
          </p:nvSpPr>
          <p:spPr bwMode="auto">
            <a:xfrm>
              <a:off x="3508" y="2592"/>
              <a:ext cx="42" cy="90"/>
            </a:xfrm>
            <a:custGeom>
              <a:avLst/>
              <a:gdLst>
                <a:gd name="T0" fmla="*/ 48 w 126"/>
                <a:gd name="T1" fmla="*/ 271 h 271"/>
                <a:gd name="T2" fmla="*/ 37 w 126"/>
                <a:gd name="T3" fmla="*/ 262 h 271"/>
                <a:gd name="T4" fmla="*/ 33 w 126"/>
                <a:gd name="T5" fmla="*/ 247 h 271"/>
                <a:gd name="T6" fmla="*/ 33 w 126"/>
                <a:gd name="T7" fmla="*/ 232 h 271"/>
                <a:gd name="T8" fmla="*/ 38 w 126"/>
                <a:gd name="T9" fmla="*/ 220 h 271"/>
                <a:gd name="T10" fmla="*/ 37 w 126"/>
                <a:gd name="T11" fmla="*/ 214 h 271"/>
                <a:gd name="T12" fmla="*/ 36 w 126"/>
                <a:gd name="T13" fmla="*/ 204 h 271"/>
                <a:gd name="T14" fmla="*/ 33 w 126"/>
                <a:gd name="T15" fmla="*/ 196 h 271"/>
                <a:gd name="T16" fmla="*/ 30 w 126"/>
                <a:gd name="T17" fmla="*/ 187 h 271"/>
                <a:gd name="T18" fmla="*/ 23 w 126"/>
                <a:gd name="T19" fmla="*/ 191 h 271"/>
                <a:gd name="T20" fmla="*/ 16 w 126"/>
                <a:gd name="T21" fmla="*/ 194 h 271"/>
                <a:gd name="T22" fmla="*/ 9 w 126"/>
                <a:gd name="T23" fmla="*/ 196 h 271"/>
                <a:gd name="T24" fmla="*/ 0 w 126"/>
                <a:gd name="T25" fmla="*/ 197 h 271"/>
                <a:gd name="T26" fmla="*/ 11 w 126"/>
                <a:gd name="T27" fmla="*/ 188 h 271"/>
                <a:gd name="T28" fmla="*/ 26 w 126"/>
                <a:gd name="T29" fmla="*/ 181 h 271"/>
                <a:gd name="T30" fmla="*/ 38 w 126"/>
                <a:gd name="T31" fmla="*/ 173 h 271"/>
                <a:gd name="T32" fmla="*/ 53 w 126"/>
                <a:gd name="T33" fmla="*/ 166 h 271"/>
                <a:gd name="T34" fmla="*/ 67 w 126"/>
                <a:gd name="T35" fmla="*/ 160 h 271"/>
                <a:gd name="T36" fmla="*/ 81 w 126"/>
                <a:gd name="T37" fmla="*/ 156 h 271"/>
                <a:gd name="T38" fmla="*/ 95 w 126"/>
                <a:gd name="T39" fmla="*/ 153 h 271"/>
                <a:gd name="T40" fmla="*/ 108 w 126"/>
                <a:gd name="T41" fmla="*/ 152 h 271"/>
                <a:gd name="T42" fmla="*/ 104 w 126"/>
                <a:gd name="T43" fmla="*/ 137 h 271"/>
                <a:gd name="T44" fmla="*/ 98 w 126"/>
                <a:gd name="T45" fmla="*/ 118 h 271"/>
                <a:gd name="T46" fmla="*/ 91 w 126"/>
                <a:gd name="T47" fmla="*/ 95 h 271"/>
                <a:gd name="T48" fmla="*/ 85 w 126"/>
                <a:gd name="T49" fmla="*/ 71 h 271"/>
                <a:gd name="T50" fmla="*/ 78 w 126"/>
                <a:gd name="T51" fmla="*/ 48 h 271"/>
                <a:gd name="T52" fmla="*/ 72 w 126"/>
                <a:gd name="T53" fmla="*/ 27 h 271"/>
                <a:gd name="T54" fmla="*/ 67 w 126"/>
                <a:gd name="T55" fmla="*/ 10 h 271"/>
                <a:gd name="T56" fmla="*/ 64 w 126"/>
                <a:gd name="T57" fmla="*/ 0 h 271"/>
                <a:gd name="T58" fmla="*/ 70 w 126"/>
                <a:gd name="T59" fmla="*/ 14 h 271"/>
                <a:gd name="T60" fmla="*/ 77 w 126"/>
                <a:gd name="T61" fmla="*/ 31 h 271"/>
                <a:gd name="T62" fmla="*/ 85 w 126"/>
                <a:gd name="T63" fmla="*/ 52 h 271"/>
                <a:gd name="T64" fmla="*/ 95 w 126"/>
                <a:gd name="T65" fmla="*/ 75 h 271"/>
                <a:gd name="T66" fmla="*/ 104 w 126"/>
                <a:gd name="T67" fmla="*/ 96 h 271"/>
                <a:gd name="T68" fmla="*/ 111 w 126"/>
                <a:gd name="T69" fmla="*/ 116 h 271"/>
                <a:gd name="T70" fmla="*/ 118 w 126"/>
                <a:gd name="T71" fmla="*/ 132 h 271"/>
                <a:gd name="T72" fmla="*/ 122 w 126"/>
                <a:gd name="T73" fmla="*/ 142 h 271"/>
                <a:gd name="T74" fmla="*/ 126 w 126"/>
                <a:gd name="T75" fmla="*/ 153 h 271"/>
                <a:gd name="T76" fmla="*/ 126 w 126"/>
                <a:gd name="T77" fmla="*/ 163 h 271"/>
                <a:gd name="T78" fmla="*/ 122 w 126"/>
                <a:gd name="T79" fmla="*/ 173 h 271"/>
                <a:gd name="T80" fmla="*/ 112 w 126"/>
                <a:gd name="T81" fmla="*/ 180 h 271"/>
                <a:gd name="T82" fmla="*/ 105 w 126"/>
                <a:gd name="T83" fmla="*/ 186 h 271"/>
                <a:gd name="T84" fmla="*/ 94 w 126"/>
                <a:gd name="T85" fmla="*/ 193 h 271"/>
                <a:gd name="T86" fmla="*/ 81 w 126"/>
                <a:gd name="T87" fmla="*/ 203 h 271"/>
                <a:gd name="T88" fmla="*/ 68 w 126"/>
                <a:gd name="T89" fmla="*/ 214 h 271"/>
                <a:gd name="T90" fmla="*/ 57 w 126"/>
                <a:gd name="T91" fmla="*/ 227 h 271"/>
                <a:gd name="T92" fmla="*/ 48 w 126"/>
                <a:gd name="T93" fmla="*/ 241 h 271"/>
                <a:gd name="T94" fmla="*/ 45 w 126"/>
                <a:gd name="T95" fmla="*/ 255 h 271"/>
                <a:gd name="T96" fmla="*/ 48 w 126"/>
                <a:gd name="T97"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6" h="271">
                  <a:moveTo>
                    <a:pt x="48" y="271"/>
                  </a:moveTo>
                  <a:lnTo>
                    <a:pt x="37" y="262"/>
                  </a:lnTo>
                  <a:lnTo>
                    <a:pt x="33" y="247"/>
                  </a:lnTo>
                  <a:lnTo>
                    <a:pt x="33" y="232"/>
                  </a:lnTo>
                  <a:lnTo>
                    <a:pt x="38" y="220"/>
                  </a:lnTo>
                  <a:lnTo>
                    <a:pt x="37" y="214"/>
                  </a:lnTo>
                  <a:lnTo>
                    <a:pt x="36" y="204"/>
                  </a:lnTo>
                  <a:lnTo>
                    <a:pt x="33" y="196"/>
                  </a:lnTo>
                  <a:lnTo>
                    <a:pt x="30" y="187"/>
                  </a:lnTo>
                  <a:lnTo>
                    <a:pt x="23" y="191"/>
                  </a:lnTo>
                  <a:lnTo>
                    <a:pt x="16" y="194"/>
                  </a:lnTo>
                  <a:lnTo>
                    <a:pt x="9" y="196"/>
                  </a:lnTo>
                  <a:lnTo>
                    <a:pt x="0" y="197"/>
                  </a:lnTo>
                  <a:lnTo>
                    <a:pt x="11" y="188"/>
                  </a:lnTo>
                  <a:lnTo>
                    <a:pt x="26" y="181"/>
                  </a:lnTo>
                  <a:lnTo>
                    <a:pt x="38" y="173"/>
                  </a:lnTo>
                  <a:lnTo>
                    <a:pt x="53" y="166"/>
                  </a:lnTo>
                  <a:lnTo>
                    <a:pt x="67" y="160"/>
                  </a:lnTo>
                  <a:lnTo>
                    <a:pt x="81" y="156"/>
                  </a:lnTo>
                  <a:lnTo>
                    <a:pt x="95" y="153"/>
                  </a:lnTo>
                  <a:lnTo>
                    <a:pt x="108" y="152"/>
                  </a:lnTo>
                  <a:lnTo>
                    <a:pt x="104" y="137"/>
                  </a:lnTo>
                  <a:lnTo>
                    <a:pt x="98" y="118"/>
                  </a:lnTo>
                  <a:lnTo>
                    <a:pt x="91" y="95"/>
                  </a:lnTo>
                  <a:lnTo>
                    <a:pt x="85" y="71"/>
                  </a:lnTo>
                  <a:lnTo>
                    <a:pt x="78" y="48"/>
                  </a:lnTo>
                  <a:lnTo>
                    <a:pt x="72" y="27"/>
                  </a:lnTo>
                  <a:lnTo>
                    <a:pt x="67" y="10"/>
                  </a:lnTo>
                  <a:lnTo>
                    <a:pt x="64" y="0"/>
                  </a:lnTo>
                  <a:lnTo>
                    <a:pt x="70" y="14"/>
                  </a:lnTo>
                  <a:lnTo>
                    <a:pt x="77" y="31"/>
                  </a:lnTo>
                  <a:lnTo>
                    <a:pt x="85" y="52"/>
                  </a:lnTo>
                  <a:lnTo>
                    <a:pt x="95" y="75"/>
                  </a:lnTo>
                  <a:lnTo>
                    <a:pt x="104" y="96"/>
                  </a:lnTo>
                  <a:lnTo>
                    <a:pt x="111" y="116"/>
                  </a:lnTo>
                  <a:lnTo>
                    <a:pt x="118" y="132"/>
                  </a:lnTo>
                  <a:lnTo>
                    <a:pt x="122" y="142"/>
                  </a:lnTo>
                  <a:lnTo>
                    <a:pt x="126" y="153"/>
                  </a:lnTo>
                  <a:lnTo>
                    <a:pt x="126" y="163"/>
                  </a:lnTo>
                  <a:lnTo>
                    <a:pt x="122" y="173"/>
                  </a:lnTo>
                  <a:lnTo>
                    <a:pt x="112" y="180"/>
                  </a:lnTo>
                  <a:lnTo>
                    <a:pt x="105" y="186"/>
                  </a:lnTo>
                  <a:lnTo>
                    <a:pt x="94" y="193"/>
                  </a:lnTo>
                  <a:lnTo>
                    <a:pt x="81" y="203"/>
                  </a:lnTo>
                  <a:lnTo>
                    <a:pt x="68" y="214"/>
                  </a:lnTo>
                  <a:lnTo>
                    <a:pt x="57" y="227"/>
                  </a:lnTo>
                  <a:lnTo>
                    <a:pt x="48" y="241"/>
                  </a:lnTo>
                  <a:lnTo>
                    <a:pt x="45" y="255"/>
                  </a:lnTo>
                  <a:lnTo>
                    <a:pt x="48" y="27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5" name="Freeform 89"/>
            <p:cNvSpPr>
              <a:spLocks/>
            </p:cNvSpPr>
            <p:nvPr/>
          </p:nvSpPr>
          <p:spPr bwMode="auto">
            <a:xfrm>
              <a:off x="3417" y="2608"/>
              <a:ext cx="76" cy="74"/>
            </a:xfrm>
            <a:custGeom>
              <a:avLst/>
              <a:gdLst>
                <a:gd name="T0" fmla="*/ 228 w 228"/>
                <a:gd name="T1" fmla="*/ 152 h 223"/>
                <a:gd name="T2" fmla="*/ 217 w 228"/>
                <a:gd name="T3" fmla="*/ 155 h 223"/>
                <a:gd name="T4" fmla="*/ 205 w 228"/>
                <a:gd name="T5" fmla="*/ 160 h 223"/>
                <a:gd name="T6" fmla="*/ 191 w 228"/>
                <a:gd name="T7" fmla="*/ 169 h 223"/>
                <a:gd name="T8" fmla="*/ 178 w 228"/>
                <a:gd name="T9" fmla="*/ 179 h 223"/>
                <a:gd name="T10" fmla="*/ 166 w 228"/>
                <a:gd name="T11" fmla="*/ 189 h 223"/>
                <a:gd name="T12" fmla="*/ 154 w 228"/>
                <a:gd name="T13" fmla="*/ 199 h 223"/>
                <a:gd name="T14" fmla="*/ 146 w 228"/>
                <a:gd name="T15" fmla="*/ 207 h 223"/>
                <a:gd name="T16" fmla="*/ 139 w 228"/>
                <a:gd name="T17" fmla="*/ 213 h 223"/>
                <a:gd name="T18" fmla="*/ 133 w 228"/>
                <a:gd name="T19" fmla="*/ 217 h 223"/>
                <a:gd name="T20" fmla="*/ 126 w 228"/>
                <a:gd name="T21" fmla="*/ 220 h 223"/>
                <a:gd name="T22" fmla="*/ 119 w 228"/>
                <a:gd name="T23" fmla="*/ 221 h 223"/>
                <a:gd name="T24" fmla="*/ 112 w 228"/>
                <a:gd name="T25" fmla="*/ 223 h 223"/>
                <a:gd name="T26" fmla="*/ 103 w 228"/>
                <a:gd name="T27" fmla="*/ 223 h 223"/>
                <a:gd name="T28" fmla="*/ 93 w 228"/>
                <a:gd name="T29" fmla="*/ 223 h 223"/>
                <a:gd name="T30" fmla="*/ 85 w 228"/>
                <a:gd name="T31" fmla="*/ 221 h 223"/>
                <a:gd name="T32" fmla="*/ 75 w 228"/>
                <a:gd name="T33" fmla="*/ 220 h 223"/>
                <a:gd name="T34" fmla="*/ 66 w 228"/>
                <a:gd name="T35" fmla="*/ 218 h 223"/>
                <a:gd name="T36" fmla="*/ 58 w 228"/>
                <a:gd name="T37" fmla="*/ 217 h 223"/>
                <a:gd name="T38" fmla="*/ 49 w 228"/>
                <a:gd name="T39" fmla="*/ 217 h 223"/>
                <a:gd name="T40" fmla="*/ 41 w 228"/>
                <a:gd name="T41" fmla="*/ 217 h 223"/>
                <a:gd name="T42" fmla="*/ 31 w 228"/>
                <a:gd name="T43" fmla="*/ 218 h 223"/>
                <a:gd name="T44" fmla="*/ 22 w 228"/>
                <a:gd name="T45" fmla="*/ 220 h 223"/>
                <a:gd name="T46" fmla="*/ 11 w 228"/>
                <a:gd name="T47" fmla="*/ 221 h 223"/>
                <a:gd name="T48" fmla="*/ 0 w 228"/>
                <a:gd name="T49" fmla="*/ 223 h 223"/>
                <a:gd name="T50" fmla="*/ 12 w 228"/>
                <a:gd name="T51" fmla="*/ 203 h 223"/>
                <a:gd name="T52" fmla="*/ 28 w 228"/>
                <a:gd name="T53" fmla="*/ 176 h 223"/>
                <a:gd name="T54" fmla="*/ 44 w 228"/>
                <a:gd name="T55" fmla="*/ 145 h 223"/>
                <a:gd name="T56" fmla="*/ 59 w 228"/>
                <a:gd name="T57" fmla="*/ 111 h 223"/>
                <a:gd name="T58" fmla="*/ 75 w 228"/>
                <a:gd name="T59" fmla="*/ 78 h 223"/>
                <a:gd name="T60" fmla="*/ 88 w 228"/>
                <a:gd name="T61" fmla="*/ 50 h 223"/>
                <a:gd name="T62" fmla="*/ 98 w 228"/>
                <a:gd name="T63" fmla="*/ 27 h 223"/>
                <a:gd name="T64" fmla="*/ 105 w 228"/>
                <a:gd name="T65" fmla="*/ 13 h 223"/>
                <a:gd name="T66" fmla="*/ 103 w 228"/>
                <a:gd name="T67" fmla="*/ 9 h 223"/>
                <a:gd name="T68" fmla="*/ 100 w 228"/>
                <a:gd name="T69" fmla="*/ 6 h 223"/>
                <a:gd name="T70" fmla="*/ 99 w 228"/>
                <a:gd name="T71" fmla="*/ 3 h 223"/>
                <a:gd name="T72" fmla="*/ 96 w 228"/>
                <a:gd name="T73" fmla="*/ 0 h 223"/>
                <a:gd name="T74" fmla="*/ 105 w 228"/>
                <a:gd name="T75" fmla="*/ 7 h 223"/>
                <a:gd name="T76" fmla="*/ 115 w 228"/>
                <a:gd name="T77" fmla="*/ 16 h 223"/>
                <a:gd name="T78" fmla="*/ 123 w 228"/>
                <a:gd name="T79" fmla="*/ 24 h 223"/>
                <a:gd name="T80" fmla="*/ 133 w 228"/>
                <a:gd name="T81" fmla="*/ 34 h 223"/>
                <a:gd name="T82" fmla="*/ 142 w 228"/>
                <a:gd name="T83" fmla="*/ 44 h 223"/>
                <a:gd name="T84" fmla="*/ 150 w 228"/>
                <a:gd name="T85" fmla="*/ 55 h 223"/>
                <a:gd name="T86" fmla="*/ 157 w 228"/>
                <a:gd name="T87" fmla="*/ 67 h 223"/>
                <a:gd name="T88" fmla="*/ 164 w 228"/>
                <a:gd name="T89" fmla="*/ 78 h 223"/>
                <a:gd name="T90" fmla="*/ 170 w 228"/>
                <a:gd name="T91" fmla="*/ 89 h 223"/>
                <a:gd name="T92" fmla="*/ 177 w 228"/>
                <a:gd name="T93" fmla="*/ 101 h 223"/>
                <a:gd name="T94" fmla="*/ 184 w 228"/>
                <a:gd name="T95" fmla="*/ 112 h 223"/>
                <a:gd name="T96" fmla="*/ 191 w 228"/>
                <a:gd name="T97" fmla="*/ 123 h 223"/>
                <a:gd name="T98" fmla="*/ 198 w 228"/>
                <a:gd name="T99" fmla="*/ 132 h 223"/>
                <a:gd name="T100" fmla="*/ 208 w 228"/>
                <a:gd name="T101" fmla="*/ 140 h 223"/>
                <a:gd name="T102" fmla="*/ 217 w 228"/>
                <a:gd name="T103" fmla="*/ 148 h 223"/>
                <a:gd name="T104" fmla="*/ 228 w 228"/>
                <a:gd name="T105" fmla="*/ 15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28" h="223">
                  <a:moveTo>
                    <a:pt x="228" y="152"/>
                  </a:moveTo>
                  <a:lnTo>
                    <a:pt x="217" y="155"/>
                  </a:lnTo>
                  <a:lnTo>
                    <a:pt x="205" y="160"/>
                  </a:lnTo>
                  <a:lnTo>
                    <a:pt x="191" y="169"/>
                  </a:lnTo>
                  <a:lnTo>
                    <a:pt x="178" y="179"/>
                  </a:lnTo>
                  <a:lnTo>
                    <a:pt x="166" y="189"/>
                  </a:lnTo>
                  <a:lnTo>
                    <a:pt x="154" y="199"/>
                  </a:lnTo>
                  <a:lnTo>
                    <a:pt x="146" y="207"/>
                  </a:lnTo>
                  <a:lnTo>
                    <a:pt x="139" y="213"/>
                  </a:lnTo>
                  <a:lnTo>
                    <a:pt x="133" y="217"/>
                  </a:lnTo>
                  <a:lnTo>
                    <a:pt x="126" y="220"/>
                  </a:lnTo>
                  <a:lnTo>
                    <a:pt x="119" y="221"/>
                  </a:lnTo>
                  <a:lnTo>
                    <a:pt x="112" y="223"/>
                  </a:lnTo>
                  <a:lnTo>
                    <a:pt x="103" y="223"/>
                  </a:lnTo>
                  <a:lnTo>
                    <a:pt x="93" y="223"/>
                  </a:lnTo>
                  <a:lnTo>
                    <a:pt x="85" y="221"/>
                  </a:lnTo>
                  <a:lnTo>
                    <a:pt x="75" y="220"/>
                  </a:lnTo>
                  <a:lnTo>
                    <a:pt x="66" y="218"/>
                  </a:lnTo>
                  <a:lnTo>
                    <a:pt x="58" y="217"/>
                  </a:lnTo>
                  <a:lnTo>
                    <a:pt x="49" y="217"/>
                  </a:lnTo>
                  <a:lnTo>
                    <a:pt x="41" y="217"/>
                  </a:lnTo>
                  <a:lnTo>
                    <a:pt x="31" y="218"/>
                  </a:lnTo>
                  <a:lnTo>
                    <a:pt x="22" y="220"/>
                  </a:lnTo>
                  <a:lnTo>
                    <a:pt x="11" y="221"/>
                  </a:lnTo>
                  <a:lnTo>
                    <a:pt x="0" y="223"/>
                  </a:lnTo>
                  <a:lnTo>
                    <a:pt x="12" y="203"/>
                  </a:lnTo>
                  <a:lnTo>
                    <a:pt x="28" y="176"/>
                  </a:lnTo>
                  <a:lnTo>
                    <a:pt x="44" y="145"/>
                  </a:lnTo>
                  <a:lnTo>
                    <a:pt x="59" y="111"/>
                  </a:lnTo>
                  <a:lnTo>
                    <a:pt x="75" y="78"/>
                  </a:lnTo>
                  <a:lnTo>
                    <a:pt x="88" y="50"/>
                  </a:lnTo>
                  <a:lnTo>
                    <a:pt x="98" y="27"/>
                  </a:lnTo>
                  <a:lnTo>
                    <a:pt x="105" y="13"/>
                  </a:lnTo>
                  <a:lnTo>
                    <a:pt x="103" y="9"/>
                  </a:lnTo>
                  <a:lnTo>
                    <a:pt x="100" y="6"/>
                  </a:lnTo>
                  <a:lnTo>
                    <a:pt x="99" y="3"/>
                  </a:lnTo>
                  <a:lnTo>
                    <a:pt x="96" y="0"/>
                  </a:lnTo>
                  <a:lnTo>
                    <a:pt x="105" y="7"/>
                  </a:lnTo>
                  <a:lnTo>
                    <a:pt x="115" y="16"/>
                  </a:lnTo>
                  <a:lnTo>
                    <a:pt x="123" y="24"/>
                  </a:lnTo>
                  <a:lnTo>
                    <a:pt x="133" y="34"/>
                  </a:lnTo>
                  <a:lnTo>
                    <a:pt x="142" y="44"/>
                  </a:lnTo>
                  <a:lnTo>
                    <a:pt x="150" y="55"/>
                  </a:lnTo>
                  <a:lnTo>
                    <a:pt x="157" y="67"/>
                  </a:lnTo>
                  <a:lnTo>
                    <a:pt x="164" y="78"/>
                  </a:lnTo>
                  <a:lnTo>
                    <a:pt x="170" y="89"/>
                  </a:lnTo>
                  <a:lnTo>
                    <a:pt x="177" y="101"/>
                  </a:lnTo>
                  <a:lnTo>
                    <a:pt x="184" y="112"/>
                  </a:lnTo>
                  <a:lnTo>
                    <a:pt x="191" y="123"/>
                  </a:lnTo>
                  <a:lnTo>
                    <a:pt x="198" y="132"/>
                  </a:lnTo>
                  <a:lnTo>
                    <a:pt x="208" y="140"/>
                  </a:lnTo>
                  <a:lnTo>
                    <a:pt x="217" y="148"/>
                  </a:lnTo>
                  <a:lnTo>
                    <a:pt x="228" y="152"/>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6" name="Freeform 90"/>
            <p:cNvSpPr>
              <a:spLocks/>
            </p:cNvSpPr>
            <p:nvPr/>
          </p:nvSpPr>
          <p:spPr bwMode="auto">
            <a:xfrm>
              <a:off x="3358" y="2594"/>
              <a:ext cx="94" cy="49"/>
            </a:xfrm>
            <a:custGeom>
              <a:avLst/>
              <a:gdLst>
                <a:gd name="T0" fmla="*/ 283 w 283"/>
                <a:gd name="T1" fmla="*/ 55 h 148"/>
                <a:gd name="T2" fmla="*/ 274 w 283"/>
                <a:gd name="T3" fmla="*/ 41 h 148"/>
                <a:gd name="T4" fmla="*/ 266 w 283"/>
                <a:gd name="T5" fmla="*/ 29 h 148"/>
                <a:gd name="T6" fmla="*/ 256 w 283"/>
                <a:gd name="T7" fmla="*/ 21 h 148"/>
                <a:gd name="T8" fmla="*/ 247 w 283"/>
                <a:gd name="T9" fmla="*/ 15 h 148"/>
                <a:gd name="T10" fmla="*/ 237 w 283"/>
                <a:gd name="T11" fmla="*/ 12 h 148"/>
                <a:gd name="T12" fmla="*/ 227 w 283"/>
                <a:gd name="T13" fmla="*/ 11 h 148"/>
                <a:gd name="T14" fmla="*/ 217 w 283"/>
                <a:gd name="T15" fmla="*/ 9 h 148"/>
                <a:gd name="T16" fmla="*/ 205 w 283"/>
                <a:gd name="T17" fmla="*/ 11 h 148"/>
                <a:gd name="T18" fmla="*/ 192 w 283"/>
                <a:gd name="T19" fmla="*/ 14 h 148"/>
                <a:gd name="T20" fmla="*/ 178 w 283"/>
                <a:gd name="T21" fmla="*/ 18 h 148"/>
                <a:gd name="T22" fmla="*/ 164 w 283"/>
                <a:gd name="T23" fmla="*/ 24 h 148"/>
                <a:gd name="T24" fmla="*/ 149 w 283"/>
                <a:gd name="T25" fmla="*/ 31 h 148"/>
                <a:gd name="T26" fmla="*/ 137 w 283"/>
                <a:gd name="T27" fmla="*/ 39 h 148"/>
                <a:gd name="T28" fmla="*/ 124 w 283"/>
                <a:gd name="T29" fmla="*/ 48 h 148"/>
                <a:gd name="T30" fmla="*/ 112 w 283"/>
                <a:gd name="T31" fmla="*/ 56 h 148"/>
                <a:gd name="T32" fmla="*/ 103 w 283"/>
                <a:gd name="T33" fmla="*/ 65 h 148"/>
                <a:gd name="T34" fmla="*/ 94 w 283"/>
                <a:gd name="T35" fmla="*/ 72 h 148"/>
                <a:gd name="T36" fmla="*/ 84 w 283"/>
                <a:gd name="T37" fmla="*/ 79 h 148"/>
                <a:gd name="T38" fmla="*/ 76 w 283"/>
                <a:gd name="T39" fmla="*/ 86 h 148"/>
                <a:gd name="T40" fmla="*/ 66 w 283"/>
                <a:gd name="T41" fmla="*/ 92 h 148"/>
                <a:gd name="T42" fmla="*/ 57 w 283"/>
                <a:gd name="T43" fmla="*/ 97 h 148"/>
                <a:gd name="T44" fmla="*/ 49 w 283"/>
                <a:gd name="T45" fmla="*/ 102 h 148"/>
                <a:gd name="T46" fmla="*/ 40 w 283"/>
                <a:gd name="T47" fmla="*/ 104 h 148"/>
                <a:gd name="T48" fmla="*/ 33 w 283"/>
                <a:gd name="T49" fmla="*/ 106 h 148"/>
                <a:gd name="T50" fmla="*/ 29 w 283"/>
                <a:gd name="T51" fmla="*/ 112 h 148"/>
                <a:gd name="T52" fmla="*/ 27 w 283"/>
                <a:gd name="T53" fmla="*/ 123 h 148"/>
                <a:gd name="T54" fmla="*/ 27 w 283"/>
                <a:gd name="T55" fmla="*/ 136 h 148"/>
                <a:gd name="T56" fmla="*/ 27 w 283"/>
                <a:gd name="T57" fmla="*/ 148 h 148"/>
                <a:gd name="T58" fmla="*/ 9 w 283"/>
                <a:gd name="T59" fmla="*/ 133 h 148"/>
                <a:gd name="T60" fmla="*/ 0 w 283"/>
                <a:gd name="T61" fmla="*/ 117 h 148"/>
                <a:gd name="T62" fmla="*/ 0 w 283"/>
                <a:gd name="T63" fmla="*/ 106 h 148"/>
                <a:gd name="T64" fmla="*/ 12 w 283"/>
                <a:gd name="T65" fmla="*/ 96 h 148"/>
                <a:gd name="T66" fmla="*/ 20 w 283"/>
                <a:gd name="T67" fmla="*/ 92 h 148"/>
                <a:gd name="T68" fmla="*/ 32 w 283"/>
                <a:gd name="T69" fmla="*/ 87 h 148"/>
                <a:gd name="T70" fmla="*/ 43 w 283"/>
                <a:gd name="T71" fmla="*/ 83 h 148"/>
                <a:gd name="T72" fmla="*/ 54 w 283"/>
                <a:gd name="T73" fmla="*/ 78 h 148"/>
                <a:gd name="T74" fmla="*/ 66 w 283"/>
                <a:gd name="T75" fmla="*/ 72 h 148"/>
                <a:gd name="T76" fmla="*/ 77 w 283"/>
                <a:gd name="T77" fmla="*/ 66 h 148"/>
                <a:gd name="T78" fmla="*/ 86 w 283"/>
                <a:gd name="T79" fmla="*/ 62 h 148"/>
                <a:gd name="T80" fmla="*/ 94 w 283"/>
                <a:gd name="T81" fmla="*/ 56 h 148"/>
                <a:gd name="T82" fmla="*/ 103 w 283"/>
                <a:gd name="T83" fmla="*/ 49 h 148"/>
                <a:gd name="T84" fmla="*/ 115 w 283"/>
                <a:gd name="T85" fmla="*/ 42 h 148"/>
                <a:gd name="T86" fmla="*/ 128 w 283"/>
                <a:gd name="T87" fmla="*/ 32 h 148"/>
                <a:gd name="T88" fmla="*/ 144 w 283"/>
                <a:gd name="T89" fmla="*/ 24 h 148"/>
                <a:gd name="T90" fmla="*/ 159 w 283"/>
                <a:gd name="T91" fmla="*/ 14 h 148"/>
                <a:gd name="T92" fmla="*/ 173 w 283"/>
                <a:gd name="T93" fmla="*/ 7 h 148"/>
                <a:gd name="T94" fmla="*/ 189 w 283"/>
                <a:gd name="T95" fmla="*/ 2 h 148"/>
                <a:gd name="T96" fmla="*/ 202 w 283"/>
                <a:gd name="T97" fmla="*/ 0 h 148"/>
                <a:gd name="T98" fmla="*/ 213 w 283"/>
                <a:gd name="T99" fmla="*/ 0 h 148"/>
                <a:gd name="T100" fmla="*/ 225 w 283"/>
                <a:gd name="T101" fmla="*/ 1 h 148"/>
                <a:gd name="T102" fmla="*/ 234 w 283"/>
                <a:gd name="T103" fmla="*/ 4 h 148"/>
                <a:gd name="T104" fmla="*/ 244 w 283"/>
                <a:gd name="T105" fmla="*/ 8 h 148"/>
                <a:gd name="T106" fmla="*/ 253 w 283"/>
                <a:gd name="T107" fmla="*/ 15 h 148"/>
                <a:gd name="T108" fmla="*/ 263 w 283"/>
                <a:gd name="T109" fmla="*/ 25 h 148"/>
                <a:gd name="T110" fmla="*/ 273 w 283"/>
                <a:gd name="T111" fmla="*/ 38 h 148"/>
                <a:gd name="T112" fmla="*/ 283 w 283"/>
                <a:gd name="T113" fmla="*/ 5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3" h="148">
                  <a:moveTo>
                    <a:pt x="283" y="55"/>
                  </a:moveTo>
                  <a:lnTo>
                    <a:pt x="274" y="41"/>
                  </a:lnTo>
                  <a:lnTo>
                    <a:pt x="266" y="29"/>
                  </a:lnTo>
                  <a:lnTo>
                    <a:pt x="256" y="21"/>
                  </a:lnTo>
                  <a:lnTo>
                    <a:pt x="247" y="15"/>
                  </a:lnTo>
                  <a:lnTo>
                    <a:pt x="237" y="12"/>
                  </a:lnTo>
                  <a:lnTo>
                    <a:pt x="227" y="11"/>
                  </a:lnTo>
                  <a:lnTo>
                    <a:pt x="217" y="9"/>
                  </a:lnTo>
                  <a:lnTo>
                    <a:pt x="205" y="11"/>
                  </a:lnTo>
                  <a:lnTo>
                    <a:pt x="192" y="14"/>
                  </a:lnTo>
                  <a:lnTo>
                    <a:pt x="178" y="18"/>
                  </a:lnTo>
                  <a:lnTo>
                    <a:pt x="164" y="24"/>
                  </a:lnTo>
                  <a:lnTo>
                    <a:pt x="149" y="31"/>
                  </a:lnTo>
                  <a:lnTo>
                    <a:pt x="137" y="39"/>
                  </a:lnTo>
                  <a:lnTo>
                    <a:pt x="124" y="48"/>
                  </a:lnTo>
                  <a:lnTo>
                    <a:pt x="112" y="56"/>
                  </a:lnTo>
                  <a:lnTo>
                    <a:pt x="103" y="65"/>
                  </a:lnTo>
                  <a:lnTo>
                    <a:pt x="94" y="72"/>
                  </a:lnTo>
                  <a:lnTo>
                    <a:pt x="84" y="79"/>
                  </a:lnTo>
                  <a:lnTo>
                    <a:pt x="76" y="86"/>
                  </a:lnTo>
                  <a:lnTo>
                    <a:pt x="66" y="92"/>
                  </a:lnTo>
                  <a:lnTo>
                    <a:pt x="57" y="97"/>
                  </a:lnTo>
                  <a:lnTo>
                    <a:pt x="49" y="102"/>
                  </a:lnTo>
                  <a:lnTo>
                    <a:pt x="40" y="104"/>
                  </a:lnTo>
                  <a:lnTo>
                    <a:pt x="33" y="106"/>
                  </a:lnTo>
                  <a:lnTo>
                    <a:pt x="29" y="112"/>
                  </a:lnTo>
                  <a:lnTo>
                    <a:pt x="27" y="123"/>
                  </a:lnTo>
                  <a:lnTo>
                    <a:pt x="27" y="136"/>
                  </a:lnTo>
                  <a:lnTo>
                    <a:pt x="27" y="148"/>
                  </a:lnTo>
                  <a:lnTo>
                    <a:pt x="9" y="133"/>
                  </a:lnTo>
                  <a:lnTo>
                    <a:pt x="0" y="117"/>
                  </a:lnTo>
                  <a:lnTo>
                    <a:pt x="0" y="106"/>
                  </a:lnTo>
                  <a:lnTo>
                    <a:pt x="12" y="96"/>
                  </a:lnTo>
                  <a:lnTo>
                    <a:pt x="20" y="92"/>
                  </a:lnTo>
                  <a:lnTo>
                    <a:pt x="32" y="87"/>
                  </a:lnTo>
                  <a:lnTo>
                    <a:pt x="43" y="83"/>
                  </a:lnTo>
                  <a:lnTo>
                    <a:pt x="54" y="78"/>
                  </a:lnTo>
                  <a:lnTo>
                    <a:pt x="66" y="72"/>
                  </a:lnTo>
                  <a:lnTo>
                    <a:pt x="77" y="66"/>
                  </a:lnTo>
                  <a:lnTo>
                    <a:pt x="86" y="62"/>
                  </a:lnTo>
                  <a:lnTo>
                    <a:pt x="94" y="56"/>
                  </a:lnTo>
                  <a:lnTo>
                    <a:pt x="103" y="49"/>
                  </a:lnTo>
                  <a:lnTo>
                    <a:pt x="115" y="42"/>
                  </a:lnTo>
                  <a:lnTo>
                    <a:pt x="128" y="32"/>
                  </a:lnTo>
                  <a:lnTo>
                    <a:pt x="144" y="24"/>
                  </a:lnTo>
                  <a:lnTo>
                    <a:pt x="159" y="14"/>
                  </a:lnTo>
                  <a:lnTo>
                    <a:pt x="173" y="7"/>
                  </a:lnTo>
                  <a:lnTo>
                    <a:pt x="189" y="2"/>
                  </a:lnTo>
                  <a:lnTo>
                    <a:pt x="202" y="0"/>
                  </a:lnTo>
                  <a:lnTo>
                    <a:pt x="213" y="0"/>
                  </a:lnTo>
                  <a:lnTo>
                    <a:pt x="225" y="1"/>
                  </a:lnTo>
                  <a:lnTo>
                    <a:pt x="234" y="4"/>
                  </a:lnTo>
                  <a:lnTo>
                    <a:pt x="244" y="8"/>
                  </a:lnTo>
                  <a:lnTo>
                    <a:pt x="253" y="15"/>
                  </a:lnTo>
                  <a:lnTo>
                    <a:pt x="263" y="25"/>
                  </a:lnTo>
                  <a:lnTo>
                    <a:pt x="273" y="38"/>
                  </a:lnTo>
                  <a:lnTo>
                    <a:pt x="283" y="5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7" name="Freeform 91"/>
            <p:cNvSpPr>
              <a:spLocks/>
            </p:cNvSpPr>
            <p:nvPr/>
          </p:nvSpPr>
          <p:spPr bwMode="auto">
            <a:xfrm>
              <a:off x="3488" y="2389"/>
              <a:ext cx="96" cy="199"/>
            </a:xfrm>
            <a:custGeom>
              <a:avLst/>
              <a:gdLst>
                <a:gd name="T0" fmla="*/ 278 w 288"/>
                <a:gd name="T1" fmla="*/ 560 h 596"/>
                <a:gd name="T2" fmla="*/ 259 w 288"/>
                <a:gd name="T3" fmla="*/ 502 h 596"/>
                <a:gd name="T4" fmla="*/ 242 w 288"/>
                <a:gd name="T5" fmla="*/ 464 h 596"/>
                <a:gd name="T6" fmla="*/ 216 w 288"/>
                <a:gd name="T7" fmla="*/ 414 h 596"/>
                <a:gd name="T8" fmla="*/ 185 w 288"/>
                <a:gd name="T9" fmla="*/ 353 h 596"/>
                <a:gd name="T10" fmla="*/ 157 w 288"/>
                <a:gd name="T11" fmla="*/ 295 h 596"/>
                <a:gd name="T12" fmla="*/ 131 w 288"/>
                <a:gd name="T13" fmla="*/ 237 h 596"/>
                <a:gd name="T14" fmla="*/ 113 w 288"/>
                <a:gd name="T15" fmla="*/ 169 h 596"/>
                <a:gd name="T16" fmla="*/ 98 w 288"/>
                <a:gd name="T17" fmla="*/ 102 h 596"/>
                <a:gd name="T18" fmla="*/ 87 w 288"/>
                <a:gd name="T19" fmla="*/ 51 h 596"/>
                <a:gd name="T20" fmla="*/ 84 w 288"/>
                <a:gd name="T21" fmla="*/ 68 h 596"/>
                <a:gd name="T22" fmla="*/ 96 w 288"/>
                <a:gd name="T23" fmla="*/ 163 h 596"/>
                <a:gd name="T24" fmla="*/ 87 w 288"/>
                <a:gd name="T25" fmla="*/ 180 h 596"/>
                <a:gd name="T26" fmla="*/ 59 w 288"/>
                <a:gd name="T27" fmla="*/ 121 h 596"/>
                <a:gd name="T28" fmla="*/ 32 w 288"/>
                <a:gd name="T29" fmla="*/ 60 h 596"/>
                <a:gd name="T30" fmla="*/ 9 w 288"/>
                <a:gd name="T31" fmla="*/ 13 h 596"/>
                <a:gd name="T32" fmla="*/ 8 w 288"/>
                <a:gd name="T33" fmla="*/ 21 h 596"/>
                <a:gd name="T34" fmla="*/ 26 w 288"/>
                <a:gd name="T35" fmla="*/ 65 h 596"/>
                <a:gd name="T36" fmla="*/ 43 w 288"/>
                <a:gd name="T37" fmla="*/ 108 h 596"/>
                <a:gd name="T38" fmla="*/ 57 w 288"/>
                <a:gd name="T39" fmla="*/ 139 h 596"/>
                <a:gd name="T40" fmla="*/ 66 w 288"/>
                <a:gd name="T41" fmla="*/ 166 h 596"/>
                <a:gd name="T42" fmla="*/ 93 w 288"/>
                <a:gd name="T43" fmla="*/ 224 h 596"/>
                <a:gd name="T44" fmla="*/ 130 w 288"/>
                <a:gd name="T45" fmla="*/ 296 h 596"/>
                <a:gd name="T46" fmla="*/ 161 w 288"/>
                <a:gd name="T47" fmla="*/ 356 h 596"/>
                <a:gd name="T48" fmla="*/ 182 w 288"/>
                <a:gd name="T49" fmla="*/ 390 h 596"/>
                <a:gd name="T50" fmla="*/ 202 w 288"/>
                <a:gd name="T51" fmla="*/ 423 h 596"/>
                <a:gd name="T52" fmla="*/ 219 w 288"/>
                <a:gd name="T53" fmla="*/ 454 h 596"/>
                <a:gd name="T54" fmla="*/ 233 w 288"/>
                <a:gd name="T55" fmla="*/ 479 h 596"/>
                <a:gd name="T56" fmla="*/ 242 w 288"/>
                <a:gd name="T57" fmla="*/ 499 h 596"/>
                <a:gd name="T58" fmla="*/ 254 w 288"/>
                <a:gd name="T59" fmla="*/ 527 h 596"/>
                <a:gd name="T60" fmla="*/ 267 w 288"/>
                <a:gd name="T61" fmla="*/ 559 h 596"/>
                <a:gd name="T62" fmla="*/ 281 w 288"/>
                <a:gd name="T63" fmla="*/ 586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596">
                  <a:moveTo>
                    <a:pt x="288" y="596"/>
                  </a:moveTo>
                  <a:lnTo>
                    <a:pt x="278" y="560"/>
                  </a:lnTo>
                  <a:lnTo>
                    <a:pt x="267" y="529"/>
                  </a:lnTo>
                  <a:lnTo>
                    <a:pt x="259" y="502"/>
                  </a:lnTo>
                  <a:lnTo>
                    <a:pt x="250" y="482"/>
                  </a:lnTo>
                  <a:lnTo>
                    <a:pt x="242" y="464"/>
                  </a:lnTo>
                  <a:lnTo>
                    <a:pt x="229" y="441"/>
                  </a:lnTo>
                  <a:lnTo>
                    <a:pt x="216" y="414"/>
                  </a:lnTo>
                  <a:lnTo>
                    <a:pt x="200" y="384"/>
                  </a:lnTo>
                  <a:lnTo>
                    <a:pt x="185" y="353"/>
                  </a:lnTo>
                  <a:lnTo>
                    <a:pt x="171" y="323"/>
                  </a:lnTo>
                  <a:lnTo>
                    <a:pt x="157" y="295"/>
                  </a:lnTo>
                  <a:lnTo>
                    <a:pt x="144" y="269"/>
                  </a:lnTo>
                  <a:lnTo>
                    <a:pt x="131" y="237"/>
                  </a:lnTo>
                  <a:lnTo>
                    <a:pt x="121" y="203"/>
                  </a:lnTo>
                  <a:lnTo>
                    <a:pt x="113" y="169"/>
                  </a:lnTo>
                  <a:lnTo>
                    <a:pt x="105" y="135"/>
                  </a:lnTo>
                  <a:lnTo>
                    <a:pt x="98" y="102"/>
                  </a:lnTo>
                  <a:lnTo>
                    <a:pt x="93" y="74"/>
                  </a:lnTo>
                  <a:lnTo>
                    <a:pt x="87" y="51"/>
                  </a:lnTo>
                  <a:lnTo>
                    <a:pt x="80" y="34"/>
                  </a:lnTo>
                  <a:lnTo>
                    <a:pt x="84" y="68"/>
                  </a:lnTo>
                  <a:lnTo>
                    <a:pt x="90" y="115"/>
                  </a:lnTo>
                  <a:lnTo>
                    <a:pt x="96" y="163"/>
                  </a:lnTo>
                  <a:lnTo>
                    <a:pt x="100" y="204"/>
                  </a:lnTo>
                  <a:lnTo>
                    <a:pt x="87" y="180"/>
                  </a:lnTo>
                  <a:lnTo>
                    <a:pt x="73" y="152"/>
                  </a:lnTo>
                  <a:lnTo>
                    <a:pt x="59" y="121"/>
                  </a:lnTo>
                  <a:lnTo>
                    <a:pt x="44" y="89"/>
                  </a:lnTo>
                  <a:lnTo>
                    <a:pt x="32" y="60"/>
                  </a:lnTo>
                  <a:lnTo>
                    <a:pt x="19" y="33"/>
                  </a:lnTo>
                  <a:lnTo>
                    <a:pt x="9" y="13"/>
                  </a:lnTo>
                  <a:lnTo>
                    <a:pt x="0" y="0"/>
                  </a:lnTo>
                  <a:lnTo>
                    <a:pt x="8" y="21"/>
                  </a:lnTo>
                  <a:lnTo>
                    <a:pt x="16" y="44"/>
                  </a:lnTo>
                  <a:lnTo>
                    <a:pt x="26" y="65"/>
                  </a:lnTo>
                  <a:lnTo>
                    <a:pt x="35" y="88"/>
                  </a:lnTo>
                  <a:lnTo>
                    <a:pt x="43" y="108"/>
                  </a:lnTo>
                  <a:lnTo>
                    <a:pt x="52" y="125"/>
                  </a:lnTo>
                  <a:lnTo>
                    <a:pt x="57" y="139"/>
                  </a:lnTo>
                  <a:lnTo>
                    <a:pt x="60" y="149"/>
                  </a:lnTo>
                  <a:lnTo>
                    <a:pt x="66" y="166"/>
                  </a:lnTo>
                  <a:lnTo>
                    <a:pt x="78" y="191"/>
                  </a:lnTo>
                  <a:lnTo>
                    <a:pt x="93" y="224"/>
                  </a:lnTo>
                  <a:lnTo>
                    <a:pt x="111" y="260"/>
                  </a:lnTo>
                  <a:lnTo>
                    <a:pt x="130" y="296"/>
                  </a:lnTo>
                  <a:lnTo>
                    <a:pt x="147" y="329"/>
                  </a:lnTo>
                  <a:lnTo>
                    <a:pt x="161" y="356"/>
                  </a:lnTo>
                  <a:lnTo>
                    <a:pt x="172" y="374"/>
                  </a:lnTo>
                  <a:lnTo>
                    <a:pt x="182" y="390"/>
                  </a:lnTo>
                  <a:lnTo>
                    <a:pt x="192" y="406"/>
                  </a:lnTo>
                  <a:lnTo>
                    <a:pt x="202" y="423"/>
                  </a:lnTo>
                  <a:lnTo>
                    <a:pt x="210" y="438"/>
                  </a:lnTo>
                  <a:lnTo>
                    <a:pt x="219" y="454"/>
                  </a:lnTo>
                  <a:lnTo>
                    <a:pt x="226" y="468"/>
                  </a:lnTo>
                  <a:lnTo>
                    <a:pt x="233" y="479"/>
                  </a:lnTo>
                  <a:lnTo>
                    <a:pt x="237" y="489"/>
                  </a:lnTo>
                  <a:lnTo>
                    <a:pt x="242" y="499"/>
                  </a:lnTo>
                  <a:lnTo>
                    <a:pt x="247" y="512"/>
                  </a:lnTo>
                  <a:lnTo>
                    <a:pt x="254" y="527"/>
                  </a:lnTo>
                  <a:lnTo>
                    <a:pt x="261" y="543"/>
                  </a:lnTo>
                  <a:lnTo>
                    <a:pt x="267" y="559"/>
                  </a:lnTo>
                  <a:lnTo>
                    <a:pt x="274" y="574"/>
                  </a:lnTo>
                  <a:lnTo>
                    <a:pt x="281" y="586"/>
                  </a:lnTo>
                  <a:lnTo>
                    <a:pt x="288" y="596"/>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8" name="Freeform 92"/>
            <p:cNvSpPr>
              <a:spLocks/>
            </p:cNvSpPr>
            <p:nvPr/>
          </p:nvSpPr>
          <p:spPr bwMode="auto">
            <a:xfrm>
              <a:off x="3362" y="2426"/>
              <a:ext cx="88" cy="189"/>
            </a:xfrm>
            <a:custGeom>
              <a:avLst/>
              <a:gdLst>
                <a:gd name="T0" fmla="*/ 0 w 264"/>
                <a:gd name="T1" fmla="*/ 565 h 565"/>
                <a:gd name="T2" fmla="*/ 14 w 264"/>
                <a:gd name="T3" fmla="*/ 541 h 565"/>
                <a:gd name="T4" fmla="*/ 31 w 264"/>
                <a:gd name="T5" fmla="*/ 516 h 565"/>
                <a:gd name="T6" fmla="*/ 49 w 264"/>
                <a:gd name="T7" fmla="*/ 487 h 565"/>
                <a:gd name="T8" fmla="*/ 68 w 264"/>
                <a:gd name="T9" fmla="*/ 458 h 565"/>
                <a:gd name="T10" fmla="*/ 88 w 264"/>
                <a:gd name="T11" fmla="*/ 425 h 565"/>
                <a:gd name="T12" fmla="*/ 108 w 264"/>
                <a:gd name="T13" fmla="*/ 391 h 565"/>
                <a:gd name="T14" fmla="*/ 127 w 264"/>
                <a:gd name="T15" fmla="*/ 354 h 565"/>
                <a:gd name="T16" fmla="*/ 147 w 264"/>
                <a:gd name="T17" fmla="*/ 317 h 565"/>
                <a:gd name="T18" fmla="*/ 166 w 264"/>
                <a:gd name="T19" fmla="*/ 279 h 565"/>
                <a:gd name="T20" fmla="*/ 184 w 264"/>
                <a:gd name="T21" fmla="*/ 241 h 565"/>
                <a:gd name="T22" fmla="*/ 200 w 264"/>
                <a:gd name="T23" fmla="*/ 201 h 565"/>
                <a:gd name="T24" fmla="*/ 214 w 264"/>
                <a:gd name="T25" fmla="*/ 161 h 565"/>
                <a:gd name="T26" fmla="*/ 227 w 264"/>
                <a:gd name="T27" fmla="*/ 120 h 565"/>
                <a:gd name="T28" fmla="*/ 235 w 264"/>
                <a:gd name="T29" fmla="*/ 80 h 565"/>
                <a:gd name="T30" fmla="*/ 242 w 264"/>
                <a:gd name="T31" fmla="*/ 39 h 565"/>
                <a:gd name="T32" fmla="*/ 245 w 264"/>
                <a:gd name="T33" fmla="*/ 0 h 565"/>
                <a:gd name="T34" fmla="*/ 248 w 264"/>
                <a:gd name="T35" fmla="*/ 12 h 565"/>
                <a:gd name="T36" fmla="*/ 249 w 264"/>
                <a:gd name="T37" fmla="*/ 24 h 565"/>
                <a:gd name="T38" fmla="*/ 251 w 264"/>
                <a:gd name="T39" fmla="*/ 31 h 565"/>
                <a:gd name="T40" fmla="*/ 254 w 264"/>
                <a:gd name="T41" fmla="*/ 35 h 565"/>
                <a:gd name="T42" fmla="*/ 258 w 264"/>
                <a:gd name="T43" fmla="*/ 38 h 565"/>
                <a:gd name="T44" fmla="*/ 261 w 264"/>
                <a:gd name="T45" fmla="*/ 41 h 565"/>
                <a:gd name="T46" fmla="*/ 262 w 264"/>
                <a:gd name="T47" fmla="*/ 45 h 565"/>
                <a:gd name="T48" fmla="*/ 264 w 264"/>
                <a:gd name="T49" fmla="*/ 49 h 565"/>
                <a:gd name="T50" fmla="*/ 258 w 264"/>
                <a:gd name="T51" fmla="*/ 82 h 565"/>
                <a:gd name="T52" fmla="*/ 249 w 264"/>
                <a:gd name="T53" fmla="*/ 116 h 565"/>
                <a:gd name="T54" fmla="*/ 238 w 264"/>
                <a:gd name="T55" fmla="*/ 151 h 565"/>
                <a:gd name="T56" fmla="*/ 224 w 264"/>
                <a:gd name="T57" fmla="*/ 190 h 565"/>
                <a:gd name="T58" fmla="*/ 207 w 264"/>
                <a:gd name="T59" fmla="*/ 228 h 565"/>
                <a:gd name="T60" fmla="*/ 188 w 264"/>
                <a:gd name="T61" fmla="*/ 266 h 565"/>
                <a:gd name="T62" fmla="*/ 169 w 264"/>
                <a:gd name="T63" fmla="*/ 306 h 565"/>
                <a:gd name="T64" fmla="*/ 149 w 264"/>
                <a:gd name="T65" fmla="*/ 343 h 565"/>
                <a:gd name="T66" fmla="*/ 127 w 264"/>
                <a:gd name="T67" fmla="*/ 381 h 565"/>
                <a:gd name="T68" fmla="*/ 106 w 264"/>
                <a:gd name="T69" fmla="*/ 415 h 565"/>
                <a:gd name="T70" fmla="*/ 86 w 264"/>
                <a:gd name="T71" fmla="*/ 449 h 565"/>
                <a:gd name="T72" fmla="*/ 66 w 264"/>
                <a:gd name="T73" fmla="*/ 479 h 565"/>
                <a:gd name="T74" fmla="*/ 47 w 264"/>
                <a:gd name="T75" fmla="*/ 507 h 565"/>
                <a:gd name="T76" fmla="*/ 30 w 264"/>
                <a:gd name="T77" fmla="*/ 531 h 565"/>
                <a:gd name="T78" fmla="*/ 14 w 264"/>
                <a:gd name="T79" fmla="*/ 550 h 565"/>
                <a:gd name="T80" fmla="*/ 0 w 264"/>
                <a:gd name="T81" fmla="*/ 565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64" h="565">
                  <a:moveTo>
                    <a:pt x="0" y="565"/>
                  </a:moveTo>
                  <a:lnTo>
                    <a:pt x="14" y="541"/>
                  </a:lnTo>
                  <a:lnTo>
                    <a:pt x="31" y="516"/>
                  </a:lnTo>
                  <a:lnTo>
                    <a:pt x="49" y="487"/>
                  </a:lnTo>
                  <a:lnTo>
                    <a:pt x="68" y="458"/>
                  </a:lnTo>
                  <a:lnTo>
                    <a:pt x="88" y="425"/>
                  </a:lnTo>
                  <a:lnTo>
                    <a:pt x="108" y="391"/>
                  </a:lnTo>
                  <a:lnTo>
                    <a:pt x="127" y="354"/>
                  </a:lnTo>
                  <a:lnTo>
                    <a:pt x="147" y="317"/>
                  </a:lnTo>
                  <a:lnTo>
                    <a:pt x="166" y="279"/>
                  </a:lnTo>
                  <a:lnTo>
                    <a:pt x="184" y="241"/>
                  </a:lnTo>
                  <a:lnTo>
                    <a:pt x="200" y="201"/>
                  </a:lnTo>
                  <a:lnTo>
                    <a:pt x="214" y="161"/>
                  </a:lnTo>
                  <a:lnTo>
                    <a:pt x="227" y="120"/>
                  </a:lnTo>
                  <a:lnTo>
                    <a:pt x="235" y="80"/>
                  </a:lnTo>
                  <a:lnTo>
                    <a:pt x="242" y="39"/>
                  </a:lnTo>
                  <a:lnTo>
                    <a:pt x="245" y="0"/>
                  </a:lnTo>
                  <a:lnTo>
                    <a:pt x="248" y="12"/>
                  </a:lnTo>
                  <a:lnTo>
                    <a:pt x="249" y="24"/>
                  </a:lnTo>
                  <a:lnTo>
                    <a:pt x="251" y="31"/>
                  </a:lnTo>
                  <a:lnTo>
                    <a:pt x="254" y="35"/>
                  </a:lnTo>
                  <a:lnTo>
                    <a:pt x="258" y="38"/>
                  </a:lnTo>
                  <a:lnTo>
                    <a:pt x="261" y="41"/>
                  </a:lnTo>
                  <a:lnTo>
                    <a:pt x="262" y="45"/>
                  </a:lnTo>
                  <a:lnTo>
                    <a:pt x="264" y="49"/>
                  </a:lnTo>
                  <a:lnTo>
                    <a:pt x="258" y="82"/>
                  </a:lnTo>
                  <a:lnTo>
                    <a:pt x="249" y="116"/>
                  </a:lnTo>
                  <a:lnTo>
                    <a:pt x="238" y="151"/>
                  </a:lnTo>
                  <a:lnTo>
                    <a:pt x="224" y="190"/>
                  </a:lnTo>
                  <a:lnTo>
                    <a:pt x="207" y="228"/>
                  </a:lnTo>
                  <a:lnTo>
                    <a:pt x="188" y="266"/>
                  </a:lnTo>
                  <a:lnTo>
                    <a:pt x="169" y="306"/>
                  </a:lnTo>
                  <a:lnTo>
                    <a:pt x="149" y="343"/>
                  </a:lnTo>
                  <a:lnTo>
                    <a:pt x="127" y="381"/>
                  </a:lnTo>
                  <a:lnTo>
                    <a:pt x="106" y="415"/>
                  </a:lnTo>
                  <a:lnTo>
                    <a:pt x="86" y="449"/>
                  </a:lnTo>
                  <a:lnTo>
                    <a:pt x="66" y="479"/>
                  </a:lnTo>
                  <a:lnTo>
                    <a:pt x="47" y="507"/>
                  </a:lnTo>
                  <a:lnTo>
                    <a:pt x="30" y="531"/>
                  </a:lnTo>
                  <a:lnTo>
                    <a:pt x="14" y="550"/>
                  </a:lnTo>
                  <a:lnTo>
                    <a:pt x="0" y="56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09" name="Freeform 93"/>
            <p:cNvSpPr>
              <a:spLocks/>
            </p:cNvSpPr>
            <p:nvPr/>
          </p:nvSpPr>
          <p:spPr bwMode="auto">
            <a:xfrm>
              <a:off x="3137" y="2582"/>
              <a:ext cx="23" cy="15"/>
            </a:xfrm>
            <a:custGeom>
              <a:avLst/>
              <a:gdLst>
                <a:gd name="T0" fmla="*/ 0 w 69"/>
                <a:gd name="T1" fmla="*/ 0 h 43"/>
                <a:gd name="T2" fmla="*/ 7 w 69"/>
                <a:gd name="T3" fmla="*/ 2 h 43"/>
                <a:gd name="T4" fmla="*/ 15 w 69"/>
                <a:gd name="T5" fmla="*/ 5 h 43"/>
                <a:gd name="T6" fmla="*/ 25 w 69"/>
                <a:gd name="T7" fmla="*/ 9 h 43"/>
                <a:gd name="T8" fmla="*/ 35 w 69"/>
                <a:gd name="T9" fmla="*/ 14 h 43"/>
                <a:gd name="T10" fmla="*/ 45 w 69"/>
                <a:gd name="T11" fmla="*/ 18 h 43"/>
                <a:gd name="T12" fmla="*/ 55 w 69"/>
                <a:gd name="T13" fmla="*/ 22 h 43"/>
                <a:gd name="T14" fmla="*/ 63 w 69"/>
                <a:gd name="T15" fmla="*/ 25 h 43"/>
                <a:gd name="T16" fmla="*/ 69 w 69"/>
                <a:gd name="T17" fmla="*/ 26 h 43"/>
                <a:gd name="T18" fmla="*/ 62 w 69"/>
                <a:gd name="T19" fmla="*/ 31 h 43"/>
                <a:gd name="T20" fmla="*/ 54 w 69"/>
                <a:gd name="T21" fmla="*/ 36 h 43"/>
                <a:gd name="T22" fmla="*/ 45 w 69"/>
                <a:gd name="T23" fmla="*/ 41 h 43"/>
                <a:gd name="T24" fmla="*/ 38 w 69"/>
                <a:gd name="T25" fmla="*/ 43 h 43"/>
                <a:gd name="T26" fmla="*/ 28 w 69"/>
                <a:gd name="T27" fmla="*/ 32 h 43"/>
                <a:gd name="T28" fmla="*/ 15 w 69"/>
                <a:gd name="T29" fmla="*/ 19 h 43"/>
                <a:gd name="T30" fmla="*/ 4 w 69"/>
                <a:gd name="T31" fmla="*/ 8 h 43"/>
                <a:gd name="T32" fmla="*/ 0 w 69"/>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43">
                  <a:moveTo>
                    <a:pt x="0" y="0"/>
                  </a:moveTo>
                  <a:lnTo>
                    <a:pt x="7" y="2"/>
                  </a:lnTo>
                  <a:lnTo>
                    <a:pt x="15" y="5"/>
                  </a:lnTo>
                  <a:lnTo>
                    <a:pt x="25" y="9"/>
                  </a:lnTo>
                  <a:lnTo>
                    <a:pt x="35" y="14"/>
                  </a:lnTo>
                  <a:lnTo>
                    <a:pt x="45" y="18"/>
                  </a:lnTo>
                  <a:lnTo>
                    <a:pt x="55" y="22"/>
                  </a:lnTo>
                  <a:lnTo>
                    <a:pt x="63" y="25"/>
                  </a:lnTo>
                  <a:lnTo>
                    <a:pt x="69" y="26"/>
                  </a:lnTo>
                  <a:lnTo>
                    <a:pt x="62" y="31"/>
                  </a:lnTo>
                  <a:lnTo>
                    <a:pt x="54" y="36"/>
                  </a:lnTo>
                  <a:lnTo>
                    <a:pt x="45" y="41"/>
                  </a:lnTo>
                  <a:lnTo>
                    <a:pt x="38" y="43"/>
                  </a:lnTo>
                  <a:lnTo>
                    <a:pt x="28" y="32"/>
                  </a:lnTo>
                  <a:lnTo>
                    <a:pt x="15" y="19"/>
                  </a:lnTo>
                  <a:lnTo>
                    <a:pt x="4" y="8"/>
                  </a:lnTo>
                  <a:lnTo>
                    <a:pt x="0"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0" name="Freeform 94"/>
            <p:cNvSpPr>
              <a:spLocks/>
            </p:cNvSpPr>
            <p:nvPr/>
          </p:nvSpPr>
          <p:spPr bwMode="auto">
            <a:xfrm>
              <a:off x="3162" y="2499"/>
              <a:ext cx="202" cy="213"/>
            </a:xfrm>
            <a:custGeom>
              <a:avLst/>
              <a:gdLst>
                <a:gd name="T0" fmla="*/ 566 w 607"/>
                <a:gd name="T1" fmla="*/ 474 h 638"/>
                <a:gd name="T2" fmla="*/ 506 w 607"/>
                <a:gd name="T3" fmla="*/ 478 h 638"/>
                <a:gd name="T4" fmla="*/ 444 w 607"/>
                <a:gd name="T5" fmla="*/ 467 h 638"/>
                <a:gd name="T6" fmla="*/ 360 w 607"/>
                <a:gd name="T7" fmla="*/ 426 h 638"/>
                <a:gd name="T8" fmla="*/ 276 w 607"/>
                <a:gd name="T9" fmla="*/ 332 h 638"/>
                <a:gd name="T10" fmla="*/ 240 w 607"/>
                <a:gd name="T11" fmla="*/ 241 h 638"/>
                <a:gd name="T12" fmla="*/ 220 w 607"/>
                <a:gd name="T13" fmla="*/ 254 h 638"/>
                <a:gd name="T14" fmla="*/ 200 w 607"/>
                <a:gd name="T15" fmla="*/ 271 h 638"/>
                <a:gd name="T16" fmla="*/ 207 w 607"/>
                <a:gd name="T17" fmla="*/ 260 h 638"/>
                <a:gd name="T18" fmla="*/ 228 w 607"/>
                <a:gd name="T19" fmla="*/ 237 h 638"/>
                <a:gd name="T20" fmla="*/ 245 w 607"/>
                <a:gd name="T21" fmla="*/ 220 h 638"/>
                <a:gd name="T22" fmla="*/ 225 w 607"/>
                <a:gd name="T23" fmla="*/ 85 h 638"/>
                <a:gd name="T24" fmla="*/ 208 w 607"/>
                <a:gd name="T25" fmla="*/ 27 h 638"/>
                <a:gd name="T26" fmla="*/ 188 w 607"/>
                <a:gd name="T27" fmla="*/ 3 h 638"/>
                <a:gd name="T28" fmla="*/ 169 w 607"/>
                <a:gd name="T29" fmla="*/ 3 h 638"/>
                <a:gd name="T30" fmla="*/ 157 w 607"/>
                <a:gd name="T31" fmla="*/ 78 h 638"/>
                <a:gd name="T32" fmla="*/ 164 w 607"/>
                <a:gd name="T33" fmla="*/ 141 h 638"/>
                <a:gd name="T34" fmla="*/ 177 w 607"/>
                <a:gd name="T35" fmla="*/ 195 h 638"/>
                <a:gd name="T36" fmla="*/ 186 w 607"/>
                <a:gd name="T37" fmla="*/ 253 h 638"/>
                <a:gd name="T38" fmla="*/ 183 w 607"/>
                <a:gd name="T39" fmla="*/ 283 h 638"/>
                <a:gd name="T40" fmla="*/ 166 w 607"/>
                <a:gd name="T41" fmla="*/ 304 h 638"/>
                <a:gd name="T42" fmla="*/ 125 w 607"/>
                <a:gd name="T43" fmla="*/ 305 h 638"/>
                <a:gd name="T44" fmla="*/ 76 w 607"/>
                <a:gd name="T45" fmla="*/ 297 h 638"/>
                <a:gd name="T46" fmla="*/ 40 w 607"/>
                <a:gd name="T47" fmla="*/ 290 h 638"/>
                <a:gd name="T48" fmla="*/ 14 w 607"/>
                <a:gd name="T49" fmla="*/ 305 h 638"/>
                <a:gd name="T50" fmla="*/ 3 w 607"/>
                <a:gd name="T51" fmla="*/ 331 h 638"/>
                <a:gd name="T52" fmla="*/ 15 w 607"/>
                <a:gd name="T53" fmla="*/ 356 h 638"/>
                <a:gd name="T54" fmla="*/ 61 w 607"/>
                <a:gd name="T55" fmla="*/ 417 h 638"/>
                <a:gd name="T56" fmla="*/ 122 w 607"/>
                <a:gd name="T57" fmla="*/ 454 h 638"/>
                <a:gd name="T58" fmla="*/ 177 w 607"/>
                <a:gd name="T59" fmla="*/ 450 h 638"/>
                <a:gd name="T60" fmla="*/ 221 w 607"/>
                <a:gd name="T61" fmla="*/ 413 h 638"/>
                <a:gd name="T62" fmla="*/ 266 w 607"/>
                <a:gd name="T63" fmla="*/ 379 h 638"/>
                <a:gd name="T64" fmla="*/ 266 w 607"/>
                <a:gd name="T65" fmla="*/ 383 h 638"/>
                <a:gd name="T66" fmla="*/ 242 w 607"/>
                <a:gd name="T67" fmla="*/ 409 h 638"/>
                <a:gd name="T68" fmla="*/ 225 w 607"/>
                <a:gd name="T69" fmla="*/ 430 h 638"/>
                <a:gd name="T70" fmla="*/ 255 w 607"/>
                <a:gd name="T71" fmla="*/ 475 h 638"/>
                <a:gd name="T72" fmla="*/ 268 w 607"/>
                <a:gd name="T73" fmla="*/ 505 h 638"/>
                <a:gd name="T74" fmla="*/ 288 w 607"/>
                <a:gd name="T75" fmla="*/ 529 h 638"/>
                <a:gd name="T76" fmla="*/ 310 w 607"/>
                <a:gd name="T77" fmla="*/ 552 h 638"/>
                <a:gd name="T78" fmla="*/ 336 w 607"/>
                <a:gd name="T79" fmla="*/ 576 h 638"/>
                <a:gd name="T80" fmla="*/ 369 w 607"/>
                <a:gd name="T81" fmla="*/ 602 h 638"/>
                <a:gd name="T82" fmla="*/ 408 w 607"/>
                <a:gd name="T83" fmla="*/ 623 h 638"/>
                <a:gd name="T84" fmla="*/ 437 w 607"/>
                <a:gd name="T85" fmla="*/ 638 h 638"/>
                <a:gd name="T86" fmla="*/ 430 w 607"/>
                <a:gd name="T87" fmla="*/ 609 h 638"/>
                <a:gd name="T88" fmla="*/ 457 w 607"/>
                <a:gd name="T89" fmla="*/ 585 h 638"/>
                <a:gd name="T90" fmla="*/ 513 w 607"/>
                <a:gd name="T91" fmla="*/ 558 h 638"/>
                <a:gd name="T92" fmla="*/ 556 w 607"/>
                <a:gd name="T93" fmla="*/ 536 h 638"/>
                <a:gd name="T94" fmla="*/ 564 w 607"/>
                <a:gd name="T95" fmla="*/ 548 h 638"/>
                <a:gd name="T96" fmla="*/ 588 w 607"/>
                <a:gd name="T97" fmla="*/ 492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07" h="638">
                  <a:moveTo>
                    <a:pt x="607" y="453"/>
                  </a:moveTo>
                  <a:lnTo>
                    <a:pt x="587" y="465"/>
                  </a:lnTo>
                  <a:lnTo>
                    <a:pt x="566" y="474"/>
                  </a:lnTo>
                  <a:lnTo>
                    <a:pt x="546" y="478"/>
                  </a:lnTo>
                  <a:lnTo>
                    <a:pt x="526" y="480"/>
                  </a:lnTo>
                  <a:lnTo>
                    <a:pt x="506" y="478"/>
                  </a:lnTo>
                  <a:lnTo>
                    <a:pt x="486" y="475"/>
                  </a:lnTo>
                  <a:lnTo>
                    <a:pt x="465" y="471"/>
                  </a:lnTo>
                  <a:lnTo>
                    <a:pt x="444" y="467"/>
                  </a:lnTo>
                  <a:lnTo>
                    <a:pt x="420" y="460"/>
                  </a:lnTo>
                  <a:lnTo>
                    <a:pt x="390" y="446"/>
                  </a:lnTo>
                  <a:lnTo>
                    <a:pt x="360" y="426"/>
                  </a:lnTo>
                  <a:lnTo>
                    <a:pt x="330" y="400"/>
                  </a:lnTo>
                  <a:lnTo>
                    <a:pt x="301" y="369"/>
                  </a:lnTo>
                  <a:lnTo>
                    <a:pt x="276" y="332"/>
                  </a:lnTo>
                  <a:lnTo>
                    <a:pt x="257" y="288"/>
                  </a:lnTo>
                  <a:lnTo>
                    <a:pt x="245" y="239"/>
                  </a:lnTo>
                  <a:lnTo>
                    <a:pt x="240" y="241"/>
                  </a:lnTo>
                  <a:lnTo>
                    <a:pt x="234" y="244"/>
                  </a:lnTo>
                  <a:lnTo>
                    <a:pt x="227" y="249"/>
                  </a:lnTo>
                  <a:lnTo>
                    <a:pt x="220" y="254"/>
                  </a:lnTo>
                  <a:lnTo>
                    <a:pt x="213" y="260"/>
                  </a:lnTo>
                  <a:lnTo>
                    <a:pt x="205" y="266"/>
                  </a:lnTo>
                  <a:lnTo>
                    <a:pt x="200" y="271"/>
                  </a:lnTo>
                  <a:lnTo>
                    <a:pt x="194" y="277"/>
                  </a:lnTo>
                  <a:lnTo>
                    <a:pt x="201" y="268"/>
                  </a:lnTo>
                  <a:lnTo>
                    <a:pt x="207" y="260"/>
                  </a:lnTo>
                  <a:lnTo>
                    <a:pt x="214" y="253"/>
                  </a:lnTo>
                  <a:lnTo>
                    <a:pt x="221" y="244"/>
                  </a:lnTo>
                  <a:lnTo>
                    <a:pt x="228" y="237"/>
                  </a:lnTo>
                  <a:lnTo>
                    <a:pt x="234" y="230"/>
                  </a:lnTo>
                  <a:lnTo>
                    <a:pt x="240" y="224"/>
                  </a:lnTo>
                  <a:lnTo>
                    <a:pt x="245" y="220"/>
                  </a:lnTo>
                  <a:lnTo>
                    <a:pt x="241" y="180"/>
                  </a:lnTo>
                  <a:lnTo>
                    <a:pt x="234" y="131"/>
                  </a:lnTo>
                  <a:lnTo>
                    <a:pt x="225" y="85"/>
                  </a:lnTo>
                  <a:lnTo>
                    <a:pt x="217" y="51"/>
                  </a:lnTo>
                  <a:lnTo>
                    <a:pt x="213" y="39"/>
                  </a:lnTo>
                  <a:lnTo>
                    <a:pt x="208" y="27"/>
                  </a:lnTo>
                  <a:lnTo>
                    <a:pt x="203" y="17"/>
                  </a:lnTo>
                  <a:lnTo>
                    <a:pt x="196" y="9"/>
                  </a:lnTo>
                  <a:lnTo>
                    <a:pt x="188" y="3"/>
                  </a:lnTo>
                  <a:lnTo>
                    <a:pt x="183" y="0"/>
                  </a:lnTo>
                  <a:lnTo>
                    <a:pt x="176" y="0"/>
                  </a:lnTo>
                  <a:lnTo>
                    <a:pt x="169" y="3"/>
                  </a:lnTo>
                  <a:lnTo>
                    <a:pt x="160" y="22"/>
                  </a:lnTo>
                  <a:lnTo>
                    <a:pt x="157" y="49"/>
                  </a:lnTo>
                  <a:lnTo>
                    <a:pt x="157" y="78"/>
                  </a:lnTo>
                  <a:lnTo>
                    <a:pt x="159" y="100"/>
                  </a:lnTo>
                  <a:lnTo>
                    <a:pt x="160" y="118"/>
                  </a:lnTo>
                  <a:lnTo>
                    <a:pt x="164" y="141"/>
                  </a:lnTo>
                  <a:lnTo>
                    <a:pt x="169" y="163"/>
                  </a:lnTo>
                  <a:lnTo>
                    <a:pt x="173" y="180"/>
                  </a:lnTo>
                  <a:lnTo>
                    <a:pt x="177" y="195"/>
                  </a:lnTo>
                  <a:lnTo>
                    <a:pt x="181" y="213"/>
                  </a:lnTo>
                  <a:lnTo>
                    <a:pt x="186" y="233"/>
                  </a:lnTo>
                  <a:lnTo>
                    <a:pt x="186" y="253"/>
                  </a:lnTo>
                  <a:lnTo>
                    <a:pt x="186" y="263"/>
                  </a:lnTo>
                  <a:lnTo>
                    <a:pt x="184" y="273"/>
                  </a:lnTo>
                  <a:lnTo>
                    <a:pt x="183" y="283"/>
                  </a:lnTo>
                  <a:lnTo>
                    <a:pt x="179" y="291"/>
                  </a:lnTo>
                  <a:lnTo>
                    <a:pt x="174" y="298"/>
                  </a:lnTo>
                  <a:lnTo>
                    <a:pt x="166" y="304"/>
                  </a:lnTo>
                  <a:lnTo>
                    <a:pt x="156" y="307"/>
                  </a:lnTo>
                  <a:lnTo>
                    <a:pt x="142" y="307"/>
                  </a:lnTo>
                  <a:lnTo>
                    <a:pt x="125" y="305"/>
                  </a:lnTo>
                  <a:lnTo>
                    <a:pt x="109" y="302"/>
                  </a:lnTo>
                  <a:lnTo>
                    <a:pt x="92" y="300"/>
                  </a:lnTo>
                  <a:lnTo>
                    <a:pt x="76" y="297"/>
                  </a:lnTo>
                  <a:lnTo>
                    <a:pt x="61" y="294"/>
                  </a:lnTo>
                  <a:lnTo>
                    <a:pt x="49" y="291"/>
                  </a:lnTo>
                  <a:lnTo>
                    <a:pt x="40" y="290"/>
                  </a:lnTo>
                  <a:lnTo>
                    <a:pt x="32" y="288"/>
                  </a:lnTo>
                  <a:lnTo>
                    <a:pt x="24" y="297"/>
                  </a:lnTo>
                  <a:lnTo>
                    <a:pt x="14" y="305"/>
                  </a:lnTo>
                  <a:lnTo>
                    <a:pt x="7" y="315"/>
                  </a:lnTo>
                  <a:lnTo>
                    <a:pt x="0" y="324"/>
                  </a:lnTo>
                  <a:lnTo>
                    <a:pt x="3" y="331"/>
                  </a:lnTo>
                  <a:lnTo>
                    <a:pt x="7" y="341"/>
                  </a:lnTo>
                  <a:lnTo>
                    <a:pt x="11" y="349"/>
                  </a:lnTo>
                  <a:lnTo>
                    <a:pt x="15" y="356"/>
                  </a:lnTo>
                  <a:lnTo>
                    <a:pt x="28" y="379"/>
                  </a:lnTo>
                  <a:lnTo>
                    <a:pt x="44" y="399"/>
                  </a:lnTo>
                  <a:lnTo>
                    <a:pt x="61" y="417"/>
                  </a:lnTo>
                  <a:lnTo>
                    <a:pt x="81" y="431"/>
                  </a:lnTo>
                  <a:lnTo>
                    <a:pt x="101" y="444"/>
                  </a:lnTo>
                  <a:lnTo>
                    <a:pt x="122" y="454"/>
                  </a:lnTo>
                  <a:lnTo>
                    <a:pt x="144" y="460"/>
                  </a:lnTo>
                  <a:lnTo>
                    <a:pt x="166" y="461"/>
                  </a:lnTo>
                  <a:lnTo>
                    <a:pt x="177" y="450"/>
                  </a:lnTo>
                  <a:lnTo>
                    <a:pt x="191" y="438"/>
                  </a:lnTo>
                  <a:lnTo>
                    <a:pt x="205" y="426"/>
                  </a:lnTo>
                  <a:lnTo>
                    <a:pt x="221" y="413"/>
                  </a:lnTo>
                  <a:lnTo>
                    <a:pt x="237" y="402"/>
                  </a:lnTo>
                  <a:lnTo>
                    <a:pt x="252" y="390"/>
                  </a:lnTo>
                  <a:lnTo>
                    <a:pt x="266" y="379"/>
                  </a:lnTo>
                  <a:lnTo>
                    <a:pt x="279" y="370"/>
                  </a:lnTo>
                  <a:lnTo>
                    <a:pt x="274" y="376"/>
                  </a:lnTo>
                  <a:lnTo>
                    <a:pt x="266" y="383"/>
                  </a:lnTo>
                  <a:lnTo>
                    <a:pt x="258" y="392"/>
                  </a:lnTo>
                  <a:lnTo>
                    <a:pt x="251" y="400"/>
                  </a:lnTo>
                  <a:lnTo>
                    <a:pt x="242" y="409"/>
                  </a:lnTo>
                  <a:lnTo>
                    <a:pt x="235" y="416"/>
                  </a:lnTo>
                  <a:lnTo>
                    <a:pt x="230" y="423"/>
                  </a:lnTo>
                  <a:lnTo>
                    <a:pt x="225" y="430"/>
                  </a:lnTo>
                  <a:lnTo>
                    <a:pt x="240" y="446"/>
                  </a:lnTo>
                  <a:lnTo>
                    <a:pt x="249" y="460"/>
                  </a:lnTo>
                  <a:lnTo>
                    <a:pt x="255" y="475"/>
                  </a:lnTo>
                  <a:lnTo>
                    <a:pt x="261" y="490"/>
                  </a:lnTo>
                  <a:lnTo>
                    <a:pt x="264" y="497"/>
                  </a:lnTo>
                  <a:lnTo>
                    <a:pt x="268" y="505"/>
                  </a:lnTo>
                  <a:lnTo>
                    <a:pt x="274" y="512"/>
                  </a:lnTo>
                  <a:lnTo>
                    <a:pt x="281" y="521"/>
                  </a:lnTo>
                  <a:lnTo>
                    <a:pt x="288" y="529"/>
                  </a:lnTo>
                  <a:lnTo>
                    <a:pt x="295" y="536"/>
                  </a:lnTo>
                  <a:lnTo>
                    <a:pt x="302" y="545"/>
                  </a:lnTo>
                  <a:lnTo>
                    <a:pt x="310" y="552"/>
                  </a:lnTo>
                  <a:lnTo>
                    <a:pt x="318" y="559"/>
                  </a:lnTo>
                  <a:lnTo>
                    <a:pt x="326" y="568"/>
                  </a:lnTo>
                  <a:lnTo>
                    <a:pt x="336" y="576"/>
                  </a:lnTo>
                  <a:lnTo>
                    <a:pt x="346" y="586"/>
                  </a:lnTo>
                  <a:lnTo>
                    <a:pt x="356" y="594"/>
                  </a:lnTo>
                  <a:lnTo>
                    <a:pt x="369" y="602"/>
                  </a:lnTo>
                  <a:lnTo>
                    <a:pt x="381" y="607"/>
                  </a:lnTo>
                  <a:lnTo>
                    <a:pt x="397" y="611"/>
                  </a:lnTo>
                  <a:lnTo>
                    <a:pt x="408" y="623"/>
                  </a:lnTo>
                  <a:lnTo>
                    <a:pt x="421" y="631"/>
                  </a:lnTo>
                  <a:lnTo>
                    <a:pt x="431" y="637"/>
                  </a:lnTo>
                  <a:lnTo>
                    <a:pt x="437" y="638"/>
                  </a:lnTo>
                  <a:lnTo>
                    <a:pt x="437" y="633"/>
                  </a:lnTo>
                  <a:lnTo>
                    <a:pt x="435" y="621"/>
                  </a:lnTo>
                  <a:lnTo>
                    <a:pt x="430" y="609"/>
                  </a:lnTo>
                  <a:lnTo>
                    <a:pt x="424" y="600"/>
                  </a:lnTo>
                  <a:lnTo>
                    <a:pt x="440" y="593"/>
                  </a:lnTo>
                  <a:lnTo>
                    <a:pt x="457" y="585"/>
                  </a:lnTo>
                  <a:lnTo>
                    <a:pt x="476" y="575"/>
                  </a:lnTo>
                  <a:lnTo>
                    <a:pt x="495" y="566"/>
                  </a:lnTo>
                  <a:lnTo>
                    <a:pt x="513" y="558"/>
                  </a:lnTo>
                  <a:lnTo>
                    <a:pt x="530" y="549"/>
                  </a:lnTo>
                  <a:lnTo>
                    <a:pt x="544" y="542"/>
                  </a:lnTo>
                  <a:lnTo>
                    <a:pt x="556" y="536"/>
                  </a:lnTo>
                  <a:lnTo>
                    <a:pt x="559" y="539"/>
                  </a:lnTo>
                  <a:lnTo>
                    <a:pt x="561" y="543"/>
                  </a:lnTo>
                  <a:lnTo>
                    <a:pt x="564" y="548"/>
                  </a:lnTo>
                  <a:lnTo>
                    <a:pt x="566" y="550"/>
                  </a:lnTo>
                  <a:lnTo>
                    <a:pt x="576" y="522"/>
                  </a:lnTo>
                  <a:lnTo>
                    <a:pt x="588" y="492"/>
                  </a:lnTo>
                  <a:lnTo>
                    <a:pt x="600" y="465"/>
                  </a:lnTo>
                  <a:lnTo>
                    <a:pt x="607" y="45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1" name="Freeform 95"/>
            <p:cNvSpPr>
              <a:spLocks/>
            </p:cNvSpPr>
            <p:nvPr/>
          </p:nvSpPr>
          <p:spPr bwMode="auto">
            <a:xfrm>
              <a:off x="3320" y="2063"/>
              <a:ext cx="18" cy="33"/>
            </a:xfrm>
            <a:custGeom>
              <a:avLst/>
              <a:gdLst>
                <a:gd name="T0" fmla="*/ 56 w 56"/>
                <a:gd name="T1" fmla="*/ 0 h 100"/>
                <a:gd name="T2" fmla="*/ 52 w 56"/>
                <a:gd name="T3" fmla="*/ 2 h 100"/>
                <a:gd name="T4" fmla="*/ 48 w 56"/>
                <a:gd name="T5" fmla="*/ 3 h 100"/>
                <a:gd name="T6" fmla="*/ 44 w 56"/>
                <a:gd name="T7" fmla="*/ 3 h 100"/>
                <a:gd name="T8" fmla="*/ 39 w 56"/>
                <a:gd name="T9" fmla="*/ 3 h 100"/>
                <a:gd name="T10" fmla="*/ 28 w 56"/>
                <a:gd name="T11" fmla="*/ 13 h 100"/>
                <a:gd name="T12" fmla="*/ 18 w 56"/>
                <a:gd name="T13" fmla="*/ 26 h 100"/>
                <a:gd name="T14" fmla="*/ 14 w 56"/>
                <a:gd name="T15" fmla="*/ 41 h 100"/>
                <a:gd name="T16" fmla="*/ 17 w 56"/>
                <a:gd name="T17" fmla="*/ 61 h 100"/>
                <a:gd name="T18" fmla="*/ 9 w 56"/>
                <a:gd name="T19" fmla="*/ 68 h 100"/>
                <a:gd name="T20" fmla="*/ 4 w 56"/>
                <a:gd name="T21" fmla="*/ 78 h 100"/>
                <a:gd name="T22" fmla="*/ 0 w 56"/>
                <a:gd name="T23" fmla="*/ 90 h 100"/>
                <a:gd name="T24" fmla="*/ 1 w 56"/>
                <a:gd name="T25" fmla="*/ 100 h 100"/>
                <a:gd name="T26" fmla="*/ 7 w 56"/>
                <a:gd name="T27" fmla="*/ 87 h 100"/>
                <a:gd name="T28" fmla="*/ 14 w 56"/>
                <a:gd name="T29" fmla="*/ 78 h 100"/>
                <a:gd name="T30" fmla="*/ 21 w 56"/>
                <a:gd name="T31" fmla="*/ 73 h 100"/>
                <a:gd name="T32" fmla="*/ 29 w 56"/>
                <a:gd name="T33" fmla="*/ 73 h 100"/>
                <a:gd name="T34" fmla="*/ 29 w 56"/>
                <a:gd name="T35" fmla="*/ 58 h 100"/>
                <a:gd name="T36" fmla="*/ 32 w 56"/>
                <a:gd name="T37" fmla="*/ 37 h 100"/>
                <a:gd name="T38" fmla="*/ 39 w 56"/>
                <a:gd name="T39" fmla="*/ 16 h 100"/>
                <a:gd name="T40" fmla="*/ 56 w 56"/>
                <a:gd name="T41"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6" h="100">
                  <a:moveTo>
                    <a:pt x="56" y="0"/>
                  </a:moveTo>
                  <a:lnTo>
                    <a:pt x="52" y="2"/>
                  </a:lnTo>
                  <a:lnTo>
                    <a:pt x="48" y="3"/>
                  </a:lnTo>
                  <a:lnTo>
                    <a:pt x="44" y="3"/>
                  </a:lnTo>
                  <a:lnTo>
                    <a:pt x="39" y="3"/>
                  </a:lnTo>
                  <a:lnTo>
                    <a:pt x="28" y="13"/>
                  </a:lnTo>
                  <a:lnTo>
                    <a:pt x="18" y="26"/>
                  </a:lnTo>
                  <a:lnTo>
                    <a:pt x="14" y="41"/>
                  </a:lnTo>
                  <a:lnTo>
                    <a:pt x="17" y="61"/>
                  </a:lnTo>
                  <a:lnTo>
                    <a:pt x="9" y="68"/>
                  </a:lnTo>
                  <a:lnTo>
                    <a:pt x="4" y="78"/>
                  </a:lnTo>
                  <a:lnTo>
                    <a:pt x="0" y="90"/>
                  </a:lnTo>
                  <a:lnTo>
                    <a:pt x="1" y="100"/>
                  </a:lnTo>
                  <a:lnTo>
                    <a:pt x="7" y="87"/>
                  </a:lnTo>
                  <a:lnTo>
                    <a:pt x="14" y="78"/>
                  </a:lnTo>
                  <a:lnTo>
                    <a:pt x="21" y="73"/>
                  </a:lnTo>
                  <a:lnTo>
                    <a:pt x="29" y="73"/>
                  </a:lnTo>
                  <a:lnTo>
                    <a:pt x="29" y="58"/>
                  </a:lnTo>
                  <a:lnTo>
                    <a:pt x="32" y="37"/>
                  </a:lnTo>
                  <a:lnTo>
                    <a:pt x="39" y="16"/>
                  </a:lnTo>
                  <a:lnTo>
                    <a:pt x="56"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2" name="Freeform 96"/>
            <p:cNvSpPr>
              <a:spLocks/>
            </p:cNvSpPr>
            <p:nvPr/>
          </p:nvSpPr>
          <p:spPr bwMode="auto">
            <a:xfrm>
              <a:off x="3430" y="2149"/>
              <a:ext cx="20" cy="10"/>
            </a:xfrm>
            <a:custGeom>
              <a:avLst/>
              <a:gdLst>
                <a:gd name="T0" fmla="*/ 44 w 60"/>
                <a:gd name="T1" fmla="*/ 21 h 28"/>
                <a:gd name="T2" fmla="*/ 49 w 60"/>
                <a:gd name="T3" fmla="*/ 15 h 28"/>
                <a:gd name="T4" fmla="*/ 53 w 60"/>
                <a:gd name="T5" fmla="*/ 10 h 28"/>
                <a:gd name="T6" fmla="*/ 57 w 60"/>
                <a:gd name="T7" fmla="*/ 4 h 28"/>
                <a:gd name="T8" fmla="*/ 60 w 60"/>
                <a:gd name="T9" fmla="*/ 0 h 28"/>
                <a:gd name="T10" fmla="*/ 52 w 60"/>
                <a:gd name="T11" fmla="*/ 5 h 28"/>
                <a:gd name="T12" fmla="*/ 44 w 60"/>
                <a:gd name="T13" fmla="*/ 10 h 28"/>
                <a:gd name="T14" fmla="*/ 37 w 60"/>
                <a:gd name="T15" fmla="*/ 13 h 28"/>
                <a:gd name="T16" fmla="*/ 33 w 60"/>
                <a:gd name="T17" fmla="*/ 13 h 28"/>
                <a:gd name="T18" fmla="*/ 27 w 60"/>
                <a:gd name="T19" fmla="*/ 15 h 28"/>
                <a:gd name="T20" fmla="*/ 17 w 60"/>
                <a:gd name="T21" fmla="*/ 20 h 28"/>
                <a:gd name="T22" fmla="*/ 9 w 60"/>
                <a:gd name="T23" fmla="*/ 25 h 28"/>
                <a:gd name="T24" fmla="*/ 0 w 60"/>
                <a:gd name="T25" fmla="*/ 27 h 28"/>
                <a:gd name="T26" fmla="*/ 6 w 60"/>
                <a:gd name="T27" fmla="*/ 28 h 28"/>
                <a:gd name="T28" fmla="*/ 12 w 60"/>
                <a:gd name="T29" fmla="*/ 28 h 28"/>
                <a:gd name="T30" fmla="*/ 17 w 60"/>
                <a:gd name="T31" fmla="*/ 28 h 28"/>
                <a:gd name="T32" fmla="*/ 23 w 60"/>
                <a:gd name="T33" fmla="*/ 28 h 28"/>
                <a:gd name="T34" fmla="*/ 29 w 60"/>
                <a:gd name="T35" fmla="*/ 28 h 28"/>
                <a:gd name="T36" fmla="*/ 33 w 60"/>
                <a:gd name="T37" fmla="*/ 27 h 28"/>
                <a:gd name="T38" fmla="*/ 39 w 60"/>
                <a:gd name="T39" fmla="*/ 24 h 28"/>
                <a:gd name="T40" fmla="*/ 44 w 60"/>
                <a:gd name="T41"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 h="28">
                  <a:moveTo>
                    <a:pt x="44" y="21"/>
                  </a:moveTo>
                  <a:lnTo>
                    <a:pt x="49" y="15"/>
                  </a:lnTo>
                  <a:lnTo>
                    <a:pt x="53" y="10"/>
                  </a:lnTo>
                  <a:lnTo>
                    <a:pt x="57" y="4"/>
                  </a:lnTo>
                  <a:lnTo>
                    <a:pt x="60" y="0"/>
                  </a:lnTo>
                  <a:lnTo>
                    <a:pt x="52" y="5"/>
                  </a:lnTo>
                  <a:lnTo>
                    <a:pt x="44" y="10"/>
                  </a:lnTo>
                  <a:lnTo>
                    <a:pt x="37" y="13"/>
                  </a:lnTo>
                  <a:lnTo>
                    <a:pt x="33" y="13"/>
                  </a:lnTo>
                  <a:lnTo>
                    <a:pt x="27" y="15"/>
                  </a:lnTo>
                  <a:lnTo>
                    <a:pt x="17" y="20"/>
                  </a:lnTo>
                  <a:lnTo>
                    <a:pt x="9" y="25"/>
                  </a:lnTo>
                  <a:lnTo>
                    <a:pt x="0" y="27"/>
                  </a:lnTo>
                  <a:lnTo>
                    <a:pt x="6" y="28"/>
                  </a:lnTo>
                  <a:lnTo>
                    <a:pt x="12" y="28"/>
                  </a:lnTo>
                  <a:lnTo>
                    <a:pt x="17" y="28"/>
                  </a:lnTo>
                  <a:lnTo>
                    <a:pt x="23" y="28"/>
                  </a:lnTo>
                  <a:lnTo>
                    <a:pt x="29" y="28"/>
                  </a:lnTo>
                  <a:lnTo>
                    <a:pt x="33" y="27"/>
                  </a:lnTo>
                  <a:lnTo>
                    <a:pt x="39" y="24"/>
                  </a:lnTo>
                  <a:lnTo>
                    <a:pt x="44" y="2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3" name="Freeform 97"/>
            <p:cNvSpPr>
              <a:spLocks/>
            </p:cNvSpPr>
            <p:nvPr/>
          </p:nvSpPr>
          <p:spPr bwMode="auto">
            <a:xfrm>
              <a:off x="3247" y="2285"/>
              <a:ext cx="48" cy="49"/>
            </a:xfrm>
            <a:custGeom>
              <a:avLst/>
              <a:gdLst>
                <a:gd name="T0" fmla="*/ 21 w 143"/>
                <a:gd name="T1" fmla="*/ 147 h 147"/>
                <a:gd name="T2" fmla="*/ 12 w 143"/>
                <a:gd name="T3" fmla="*/ 137 h 147"/>
                <a:gd name="T4" fmla="*/ 5 w 143"/>
                <a:gd name="T5" fmla="*/ 123 h 147"/>
                <a:gd name="T6" fmla="*/ 1 w 143"/>
                <a:gd name="T7" fmla="*/ 107 h 147"/>
                <a:gd name="T8" fmla="*/ 0 w 143"/>
                <a:gd name="T9" fmla="*/ 95 h 147"/>
                <a:gd name="T10" fmla="*/ 8 w 143"/>
                <a:gd name="T11" fmla="*/ 85 h 147"/>
                <a:gd name="T12" fmla="*/ 18 w 143"/>
                <a:gd name="T13" fmla="*/ 76 h 147"/>
                <a:gd name="T14" fmla="*/ 26 w 143"/>
                <a:gd name="T15" fmla="*/ 69 h 147"/>
                <a:gd name="T16" fmla="*/ 34 w 143"/>
                <a:gd name="T17" fmla="*/ 66 h 147"/>
                <a:gd name="T18" fmla="*/ 35 w 143"/>
                <a:gd name="T19" fmla="*/ 56 h 147"/>
                <a:gd name="T20" fmla="*/ 41 w 143"/>
                <a:gd name="T21" fmla="*/ 45 h 147"/>
                <a:gd name="T22" fmla="*/ 48 w 143"/>
                <a:gd name="T23" fmla="*/ 37 h 147"/>
                <a:gd name="T24" fmla="*/ 55 w 143"/>
                <a:gd name="T25" fmla="*/ 29 h 147"/>
                <a:gd name="T26" fmla="*/ 61 w 143"/>
                <a:gd name="T27" fmla="*/ 25 h 147"/>
                <a:gd name="T28" fmla="*/ 69 w 143"/>
                <a:gd name="T29" fmla="*/ 22 h 147"/>
                <a:gd name="T30" fmla="*/ 76 w 143"/>
                <a:gd name="T31" fmla="*/ 21 h 147"/>
                <a:gd name="T32" fmla="*/ 83 w 143"/>
                <a:gd name="T33" fmla="*/ 21 h 147"/>
                <a:gd name="T34" fmla="*/ 87 w 143"/>
                <a:gd name="T35" fmla="*/ 12 h 147"/>
                <a:gd name="T36" fmla="*/ 93 w 143"/>
                <a:gd name="T37" fmla="*/ 7 h 147"/>
                <a:gd name="T38" fmla="*/ 100 w 143"/>
                <a:gd name="T39" fmla="*/ 3 h 147"/>
                <a:gd name="T40" fmla="*/ 107 w 143"/>
                <a:gd name="T41" fmla="*/ 1 h 147"/>
                <a:gd name="T42" fmla="*/ 114 w 143"/>
                <a:gd name="T43" fmla="*/ 0 h 147"/>
                <a:gd name="T44" fmla="*/ 122 w 143"/>
                <a:gd name="T45" fmla="*/ 1 h 147"/>
                <a:gd name="T46" fmla="*/ 129 w 143"/>
                <a:gd name="T47" fmla="*/ 3 h 147"/>
                <a:gd name="T48" fmla="*/ 134 w 143"/>
                <a:gd name="T49" fmla="*/ 5 h 147"/>
                <a:gd name="T50" fmla="*/ 137 w 143"/>
                <a:gd name="T51" fmla="*/ 10 h 147"/>
                <a:gd name="T52" fmla="*/ 140 w 143"/>
                <a:gd name="T53" fmla="*/ 12 h 147"/>
                <a:gd name="T54" fmla="*/ 141 w 143"/>
                <a:gd name="T55" fmla="*/ 17 h 147"/>
                <a:gd name="T56" fmla="*/ 143 w 143"/>
                <a:gd name="T57" fmla="*/ 21 h 147"/>
                <a:gd name="T58" fmla="*/ 137 w 143"/>
                <a:gd name="T59" fmla="*/ 22 h 147"/>
                <a:gd name="T60" fmla="*/ 133 w 143"/>
                <a:gd name="T61" fmla="*/ 25 h 147"/>
                <a:gd name="T62" fmla="*/ 129 w 143"/>
                <a:gd name="T63" fmla="*/ 29 h 147"/>
                <a:gd name="T64" fmla="*/ 126 w 143"/>
                <a:gd name="T65" fmla="*/ 37 h 147"/>
                <a:gd name="T66" fmla="*/ 123 w 143"/>
                <a:gd name="T67" fmla="*/ 28 h 147"/>
                <a:gd name="T68" fmla="*/ 120 w 143"/>
                <a:gd name="T69" fmla="*/ 20 h 147"/>
                <a:gd name="T70" fmla="*/ 116 w 143"/>
                <a:gd name="T71" fmla="*/ 15 h 147"/>
                <a:gd name="T72" fmla="*/ 107 w 143"/>
                <a:gd name="T73" fmla="*/ 14 h 147"/>
                <a:gd name="T74" fmla="*/ 97 w 143"/>
                <a:gd name="T75" fmla="*/ 17 h 147"/>
                <a:gd name="T76" fmla="*/ 90 w 143"/>
                <a:gd name="T77" fmla="*/ 25 h 147"/>
                <a:gd name="T78" fmla="*/ 87 w 143"/>
                <a:gd name="T79" fmla="*/ 35 h 147"/>
                <a:gd name="T80" fmla="*/ 86 w 143"/>
                <a:gd name="T81" fmla="*/ 47 h 147"/>
                <a:gd name="T82" fmla="*/ 82 w 143"/>
                <a:gd name="T83" fmla="*/ 37 h 147"/>
                <a:gd name="T84" fmla="*/ 78 w 143"/>
                <a:gd name="T85" fmla="*/ 31 h 147"/>
                <a:gd name="T86" fmla="*/ 70 w 143"/>
                <a:gd name="T87" fmla="*/ 28 h 147"/>
                <a:gd name="T88" fmla="*/ 61 w 143"/>
                <a:gd name="T89" fmla="*/ 29 h 147"/>
                <a:gd name="T90" fmla="*/ 55 w 143"/>
                <a:gd name="T91" fmla="*/ 31 h 147"/>
                <a:gd name="T92" fmla="*/ 51 w 143"/>
                <a:gd name="T93" fmla="*/ 35 h 147"/>
                <a:gd name="T94" fmla="*/ 48 w 143"/>
                <a:gd name="T95" fmla="*/ 42 h 147"/>
                <a:gd name="T96" fmla="*/ 46 w 143"/>
                <a:gd name="T97" fmla="*/ 51 h 147"/>
                <a:gd name="T98" fmla="*/ 46 w 143"/>
                <a:gd name="T99" fmla="*/ 62 h 147"/>
                <a:gd name="T100" fmla="*/ 46 w 143"/>
                <a:gd name="T101" fmla="*/ 71 h 147"/>
                <a:gd name="T102" fmla="*/ 46 w 143"/>
                <a:gd name="T103" fmla="*/ 78 h 147"/>
                <a:gd name="T104" fmla="*/ 44 w 143"/>
                <a:gd name="T105" fmla="*/ 82 h 147"/>
                <a:gd name="T106" fmla="*/ 34 w 143"/>
                <a:gd name="T107" fmla="*/ 93 h 147"/>
                <a:gd name="T108" fmla="*/ 26 w 143"/>
                <a:gd name="T109" fmla="*/ 110 h 147"/>
                <a:gd name="T110" fmla="*/ 22 w 143"/>
                <a:gd name="T111" fmla="*/ 130 h 147"/>
                <a:gd name="T112" fmla="*/ 21 w 143"/>
                <a:gd name="T113" fmla="*/ 14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3" h="147">
                  <a:moveTo>
                    <a:pt x="21" y="147"/>
                  </a:moveTo>
                  <a:lnTo>
                    <a:pt x="12" y="137"/>
                  </a:lnTo>
                  <a:lnTo>
                    <a:pt x="5" y="123"/>
                  </a:lnTo>
                  <a:lnTo>
                    <a:pt x="1" y="107"/>
                  </a:lnTo>
                  <a:lnTo>
                    <a:pt x="0" y="95"/>
                  </a:lnTo>
                  <a:lnTo>
                    <a:pt x="8" y="85"/>
                  </a:lnTo>
                  <a:lnTo>
                    <a:pt x="18" y="76"/>
                  </a:lnTo>
                  <a:lnTo>
                    <a:pt x="26" y="69"/>
                  </a:lnTo>
                  <a:lnTo>
                    <a:pt x="34" y="66"/>
                  </a:lnTo>
                  <a:lnTo>
                    <a:pt x="35" y="56"/>
                  </a:lnTo>
                  <a:lnTo>
                    <a:pt x="41" y="45"/>
                  </a:lnTo>
                  <a:lnTo>
                    <a:pt x="48" y="37"/>
                  </a:lnTo>
                  <a:lnTo>
                    <a:pt x="55" y="29"/>
                  </a:lnTo>
                  <a:lnTo>
                    <a:pt x="61" y="25"/>
                  </a:lnTo>
                  <a:lnTo>
                    <a:pt x="69" y="22"/>
                  </a:lnTo>
                  <a:lnTo>
                    <a:pt x="76" y="21"/>
                  </a:lnTo>
                  <a:lnTo>
                    <a:pt x="83" y="21"/>
                  </a:lnTo>
                  <a:lnTo>
                    <a:pt x="87" y="12"/>
                  </a:lnTo>
                  <a:lnTo>
                    <a:pt x="93" y="7"/>
                  </a:lnTo>
                  <a:lnTo>
                    <a:pt x="100" y="3"/>
                  </a:lnTo>
                  <a:lnTo>
                    <a:pt x="107" y="1"/>
                  </a:lnTo>
                  <a:lnTo>
                    <a:pt x="114" y="0"/>
                  </a:lnTo>
                  <a:lnTo>
                    <a:pt x="122" y="1"/>
                  </a:lnTo>
                  <a:lnTo>
                    <a:pt x="129" y="3"/>
                  </a:lnTo>
                  <a:lnTo>
                    <a:pt x="134" y="5"/>
                  </a:lnTo>
                  <a:lnTo>
                    <a:pt x="137" y="10"/>
                  </a:lnTo>
                  <a:lnTo>
                    <a:pt x="140" y="12"/>
                  </a:lnTo>
                  <a:lnTo>
                    <a:pt x="141" y="17"/>
                  </a:lnTo>
                  <a:lnTo>
                    <a:pt x="143" y="21"/>
                  </a:lnTo>
                  <a:lnTo>
                    <a:pt x="137" y="22"/>
                  </a:lnTo>
                  <a:lnTo>
                    <a:pt x="133" y="25"/>
                  </a:lnTo>
                  <a:lnTo>
                    <a:pt x="129" y="29"/>
                  </a:lnTo>
                  <a:lnTo>
                    <a:pt x="126" y="37"/>
                  </a:lnTo>
                  <a:lnTo>
                    <a:pt x="123" y="28"/>
                  </a:lnTo>
                  <a:lnTo>
                    <a:pt x="120" y="20"/>
                  </a:lnTo>
                  <a:lnTo>
                    <a:pt x="116" y="15"/>
                  </a:lnTo>
                  <a:lnTo>
                    <a:pt x="107" y="14"/>
                  </a:lnTo>
                  <a:lnTo>
                    <a:pt x="97" y="17"/>
                  </a:lnTo>
                  <a:lnTo>
                    <a:pt x="90" y="25"/>
                  </a:lnTo>
                  <a:lnTo>
                    <a:pt x="87" y="35"/>
                  </a:lnTo>
                  <a:lnTo>
                    <a:pt x="86" y="47"/>
                  </a:lnTo>
                  <a:lnTo>
                    <a:pt x="82" y="37"/>
                  </a:lnTo>
                  <a:lnTo>
                    <a:pt x="78" y="31"/>
                  </a:lnTo>
                  <a:lnTo>
                    <a:pt x="70" y="28"/>
                  </a:lnTo>
                  <a:lnTo>
                    <a:pt x="61" y="29"/>
                  </a:lnTo>
                  <a:lnTo>
                    <a:pt x="55" y="31"/>
                  </a:lnTo>
                  <a:lnTo>
                    <a:pt x="51" y="35"/>
                  </a:lnTo>
                  <a:lnTo>
                    <a:pt x="48" y="42"/>
                  </a:lnTo>
                  <a:lnTo>
                    <a:pt x="46" y="51"/>
                  </a:lnTo>
                  <a:lnTo>
                    <a:pt x="46" y="62"/>
                  </a:lnTo>
                  <a:lnTo>
                    <a:pt x="46" y="71"/>
                  </a:lnTo>
                  <a:lnTo>
                    <a:pt x="46" y="78"/>
                  </a:lnTo>
                  <a:lnTo>
                    <a:pt x="44" y="82"/>
                  </a:lnTo>
                  <a:lnTo>
                    <a:pt x="34" y="93"/>
                  </a:lnTo>
                  <a:lnTo>
                    <a:pt x="26" y="110"/>
                  </a:lnTo>
                  <a:lnTo>
                    <a:pt x="22" y="130"/>
                  </a:lnTo>
                  <a:lnTo>
                    <a:pt x="21" y="147"/>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4" name="Freeform 98"/>
            <p:cNvSpPr>
              <a:spLocks/>
            </p:cNvSpPr>
            <p:nvPr/>
          </p:nvSpPr>
          <p:spPr bwMode="auto">
            <a:xfrm>
              <a:off x="3361" y="2243"/>
              <a:ext cx="32" cy="19"/>
            </a:xfrm>
            <a:custGeom>
              <a:avLst/>
              <a:gdLst>
                <a:gd name="T0" fmla="*/ 0 w 97"/>
                <a:gd name="T1" fmla="*/ 55 h 55"/>
                <a:gd name="T2" fmla="*/ 0 w 97"/>
                <a:gd name="T3" fmla="*/ 52 h 55"/>
                <a:gd name="T4" fmla="*/ 2 w 97"/>
                <a:gd name="T5" fmla="*/ 51 h 55"/>
                <a:gd name="T6" fmla="*/ 2 w 97"/>
                <a:gd name="T7" fmla="*/ 48 h 55"/>
                <a:gd name="T8" fmla="*/ 2 w 97"/>
                <a:gd name="T9" fmla="*/ 47 h 55"/>
                <a:gd name="T10" fmla="*/ 12 w 97"/>
                <a:gd name="T11" fmla="*/ 44 h 55"/>
                <a:gd name="T12" fmla="*/ 24 w 97"/>
                <a:gd name="T13" fmla="*/ 38 h 55"/>
                <a:gd name="T14" fmla="*/ 37 w 97"/>
                <a:gd name="T15" fmla="*/ 34 h 55"/>
                <a:gd name="T16" fmla="*/ 51 w 97"/>
                <a:gd name="T17" fmla="*/ 27 h 55"/>
                <a:gd name="T18" fmla="*/ 66 w 97"/>
                <a:gd name="T19" fmla="*/ 20 h 55"/>
                <a:gd name="T20" fmla="*/ 78 w 97"/>
                <a:gd name="T21" fmla="*/ 14 h 55"/>
                <a:gd name="T22" fmla="*/ 88 w 97"/>
                <a:gd name="T23" fmla="*/ 7 h 55"/>
                <a:gd name="T24" fmla="*/ 95 w 97"/>
                <a:gd name="T25" fmla="*/ 0 h 55"/>
                <a:gd name="T26" fmla="*/ 95 w 97"/>
                <a:gd name="T27" fmla="*/ 1 h 55"/>
                <a:gd name="T28" fmla="*/ 97 w 97"/>
                <a:gd name="T29" fmla="*/ 4 h 55"/>
                <a:gd name="T30" fmla="*/ 97 w 97"/>
                <a:gd name="T31" fmla="*/ 6 h 55"/>
                <a:gd name="T32" fmla="*/ 97 w 97"/>
                <a:gd name="T33" fmla="*/ 8 h 55"/>
                <a:gd name="T34" fmla="*/ 88 w 97"/>
                <a:gd name="T35" fmla="*/ 13 h 55"/>
                <a:gd name="T36" fmla="*/ 77 w 97"/>
                <a:gd name="T37" fmla="*/ 20 h 55"/>
                <a:gd name="T38" fmla="*/ 63 w 97"/>
                <a:gd name="T39" fmla="*/ 25 h 55"/>
                <a:gd name="T40" fmla="*/ 47 w 97"/>
                <a:gd name="T41" fmla="*/ 33 h 55"/>
                <a:gd name="T42" fmla="*/ 32 w 97"/>
                <a:gd name="T43" fmla="*/ 40 h 55"/>
                <a:gd name="T44" fmla="*/ 17 w 97"/>
                <a:gd name="T45" fmla="*/ 45 h 55"/>
                <a:gd name="T46" fmla="*/ 7 w 97"/>
                <a:gd name="T47" fmla="*/ 51 h 55"/>
                <a:gd name="T48" fmla="*/ 0 w 97"/>
                <a:gd name="T4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55">
                  <a:moveTo>
                    <a:pt x="0" y="55"/>
                  </a:moveTo>
                  <a:lnTo>
                    <a:pt x="0" y="52"/>
                  </a:lnTo>
                  <a:lnTo>
                    <a:pt x="2" y="51"/>
                  </a:lnTo>
                  <a:lnTo>
                    <a:pt x="2" y="48"/>
                  </a:lnTo>
                  <a:lnTo>
                    <a:pt x="2" y="47"/>
                  </a:lnTo>
                  <a:lnTo>
                    <a:pt x="12" y="44"/>
                  </a:lnTo>
                  <a:lnTo>
                    <a:pt x="24" y="38"/>
                  </a:lnTo>
                  <a:lnTo>
                    <a:pt x="37" y="34"/>
                  </a:lnTo>
                  <a:lnTo>
                    <a:pt x="51" y="27"/>
                  </a:lnTo>
                  <a:lnTo>
                    <a:pt x="66" y="20"/>
                  </a:lnTo>
                  <a:lnTo>
                    <a:pt x="78" y="14"/>
                  </a:lnTo>
                  <a:lnTo>
                    <a:pt x="88" y="7"/>
                  </a:lnTo>
                  <a:lnTo>
                    <a:pt x="95" y="0"/>
                  </a:lnTo>
                  <a:lnTo>
                    <a:pt x="95" y="1"/>
                  </a:lnTo>
                  <a:lnTo>
                    <a:pt x="97" y="4"/>
                  </a:lnTo>
                  <a:lnTo>
                    <a:pt x="97" y="6"/>
                  </a:lnTo>
                  <a:lnTo>
                    <a:pt x="97" y="8"/>
                  </a:lnTo>
                  <a:lnTo>
                    <a:pt x="88" y="13"/>
                  </a:lnTo>
                  <a:lnTo>
                    <a:pt x="77" y="20"/>
                  </a:lnTo>
                  <a:lnTo>
                    <a:pt x="63" y="25"/>
                  </a:lnTo>
                  <a:lnTo>
                    <a:pt x="47" y="33"/>
                  </a:lnTo>
                  <a:lnTo>
                    <a:pt x="32" y="40"/>
                  </a:lnTo>
                  <a:lnTo>
                    <a:pt x="17" y="45"/>
                  </a:lnTo>
                  <a:lnTo>
                    <a:pt x="7" y="51"/>
                  </a:lnTo>
                  <a:lnTo>
                    <a:pt x="0" y="55"/>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5" name="Freeform 99"/>
            <p:cNvSpPr>
              <a:spLocks/>
            </p:cNvSpPr>
            <p:nvPr/>
          </p:nvSpPr>
          <p:spPr bwMode="auto">
            <a:xfrm>
              <a:off x="3267" y="2860"/>
              <a:ext cx="18" cy="49"/>
            </a:xfrm>
            <a:custGeom>
              <a:avLst/>
              <a:gdLst>
                <a:gd name="T0" fmla="*/ 0 w 56"/>
                <a:gd name="T1" fmla="*/ 149 h 149"/>
                <a:gd name="T2" fmla="*/ 10 w 56"/>
                <a:gd name="T3" fmla="*/ 134 h 149"/>
                <a:gd name="T4" fmla="*/ 17 w 56"/>
                <a:gd name="T5" fmla="*/ 117 h 149"/>
                <a:gd name="T6" fmla="*/ 24 w 56"/>
                <a:gd name="T7" fmla="*/ 98 h 149"/>
                <a:gd name="T8" fmla="*/ 29 w 56"/>
                <a:gd name="T9" fmla="*/ 79 h 149"/>
                <a:gd name="T10" fmla="*/ 34 w 56"/>
                <a:gd name="T11" fmla="*/ 61 h 149"/>
                <a:gd name="T12" fmla="*/ 38 w 56"/>
                <a:gd name="T13" fmla="*/ 42 h 149"/>
                <a:gd name="T14" fmla="*/ 41 w 56"/>
                <a:gd name="T15" fmla="*/ 27 h 149"/>
                <a:gd name="T16" fmla="*/ 44 w 56"/>
                <a:gd name="T17" fmla="*/ 14 h 149"/>
                <a:gd name="T18" fmla="*/ 48 w 56"/>
                <a:gd name="T19" fmla="*/ 8 h 149"/>
                <a:gd name="T20" fmla="*/ 51 w 56"/>
                <a:gd name="T21" fmla="*/ 4 h 149"/>
                <a:gd name="T22" fmla="*/ 54 w 56"/>
                <a:gd name="T23" fmla="*/ 1 h 149"/>
                <a:gd name="T24" fmla="*/ 56 w 56"/>
                <a:gd name="T25" fmla="*/ 0 h 149"/>
                <a:gd name="T26" fmla="*/ 56 w 56"/>
                <a:gd name="T27" fmla="*/ 5 h 149"/>
                <a:gd name="T28" fmla="*/ 55 w 56"/>
                <a:gd name="T29" fmla="*/ 18 h 149"/>
                <a:gd name="T30" fmla="*/ 51 w 56"/>
                <a:gd name="T31" fmla="*/ 38 h 149"/>
                <a:gd name="T32" fmla="*/ 44 w 56"/>
                <a:gd name="T33" fmla="*/ 62 h 149"/>
                <a:gd name="T34" fmla="*/ 35 w 56"/>
                <a:gd name="T35" fmla="*/ 88 h 149"/>
                <a:gd name="T36" fmla="*/ 25 w 56"/>
                <a:gd name="T37" fmla="*/ 112 h 149"/>
                <a:gd name="T38" fmla="*/ 12 w 56"/>
                <a:gd name="T39" fmla="*/ 133 h 149"/>
                <a:gd name="T40" fmla="*/ 0 w 56"/>
                <a:gd name="T41" fmla="*/ 149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6" h="149">
                  <a:moveTo>
                    <a:pt x="0" y="149"/>
                  </a:moveTo>
                  <a:lnTo>
                    <a:pt x="10" y="134"/>
                  </a:lnTo>
                  <a:lnTo>
                    <a:pt x="17" y="117"/>
                  </a:lnTo>
                  <a:lnTo>
                    <a:pt x="24" y="98"/>
                  </a:lnTo>
                  <a:lnTo>
                    <a:pt x="29" y="79"/>
                  </a:lnTo>
                  <a:lnTo>
                    <a:pt x="34" y="61"/>
                  </a:lnTo>
                  <a:lnTo>
                    <a:pt x="38" y="42"/>
                  </a:lnTo>
                  <a:lnTo>
                    <a:pt x="41" y="27"/>
                  </a:lnTo>
                  <a:lnTo>
                    <a:pt x="44" y="14"/>
                  </a:lnTo>
                  <a:lnTo>
                    <a:pt x="48" y="8"/>
                  </a:lnTo>
                  <a:lnTo>
                    <a:pt x="51" y="4"/>
                  </a:lnTo>
                  <a:lnTo>
                    <a:pt x="54" y="1"/>
                  </a:lnTo>
                  <a:lnTo>
                    <a:pt x="56" y="0"/>
                  </a:lnTo>
                  <a:lnTo>
                    <a:pt x="56" y="5"/>
                  </a:lnTo>
                  <a:lnTo>
                    <a:pt x="55" y="18"/>
                  </a:lnTo>
                  <a:lnTo>
                    <a:pt x="51" y="38"/>
                  </a:lnTo>
                  <a:lnTo>
                    <a:pt x="44" y="62"/>
                  </a:lnTo>
                  <a:lnTo>
                    <a:pt x="35" y="88"/>
                  </a:lnTo>
                  <a:lnTo>
                    <a:pt x="25" y="112"/>
                  </a:lnTo>
                  <a:lnTo>
                    <a:pt x="12" y="133"/>
                  </a:lnTo>
                  <a:lnTo>
                    <a:pt x="0" y="14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6" name="Freeform 100"/>
            <p:cNvSpPr>
              <a:spLocks/>
            </p:cNvSpPr>
            <p:nvPr/>
          </p:nvSpPr>
          <p:spPr bwMode="auto">
            <a:xfrm>
              <a:off x="3510" y="2862"/>
              <a:ext cx="6" cy="68"/>
            </a:xfrm>
            <a:custGeom>
              <a:avLst/>
              <a:gdLst>
                <a:gd name="T0" fmla="*/ 2 w 17"/>
                <a:gd name="T1" fmla="*/ 0 h 203"/>
                <a:gd name="T2" fmla="*/ 6 w 17"/>
                <a:gd name="T3" fmla="*/ 41 h 203"/>
                <a:gd name="T4" fmla="*/ 9 w 17"/>
                <a:gd name="T5" fmla="*/ 94 h 203"/>
                <a:gd name="T6" fmla="*/ 7 w 17"/>
                <a:gd name="T7" fmla="*/ 145 h 203"/>
                <a:gd name="T8" fmla="*/ 0 w 17"/>
                <a:gd name="T9" fmla="*/ 187 h 203"/>
                <a:gd name="T10" fmla="*/ 2 w 17"/>
                <a:gd name="T11" fmla="*/ 192 h 203"/>
                <a:gd name="T12" fmla="*/ 3 w 17"/>
                <a:gd name="T13" fmla="*/ 194 h 203"/>
                <a:gd name="T14" fmla="*/ 6 w 17"/>
                <a:gd name="T15" fmla="*/ 199 h 203"/>
                <a:gd name="T16" fmla="*/ 6 w 17"/>
                <a:gd name="T17" fmla="*/ 203 h 203"/>
                <a:gd name="T18" fmla="*/ 14 w 17"/>
                <a:gd name="T19" fmla="*/ 165 h 203"/>
                <a:gd name="T20" fmla="*/ 17 w 17"/>
                <a:gd name="T21" fmla="*/ 108 h 203"/>
                <a:gd name="T22" fmla="*/ 13 w 17"/>
                <a:gd name="T23" fmla="*/ 50 h 203"/>
                <a:gd name="T24" fmla="*/ 2 w 17"/>
                <a:gd name="T2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03">
                  <a:moveTo>
                    <a:pt x="2" y="0"/>
                  </a:moveTo>
                  <a:lnTo>
                    <a:pt x="6" y="41"/>
                  </a:lnTo>
                  <a:lnTo>
                    <a:pt x="9" y="94"/>
                  </a:lnTo>
                  <a:lnTo>
                    <a:pt x="7" y="145"/>
                  </a:lnTo>
                  <a:lnTo>
                    <a:pt x="0" y="187"/>
                  </a:lnTo>
                  <a:lnTo>
                    <a:pt x="2" y="192"/>
                  </a:lnTo>
                  <a:lnTo>
                    <a:pt x="3" y="194"/>
                  </a:lnTo>
                  <a:lnTo>
                    <a:pt x="6" y="199"/>
                  </a:lnTo>
                  <a:lnTo>
                    <a:pt x="6" y="203"/>
                  </a:lnTo>
                  <a:lnTo>
                    <a:pt x="14" y="165"/>
                  </a:lnTo>
                  <a:lnTo>
                    <a:pt x="17" y="108"/>
                  </a:lnTo>
                  <a:lnTo>
                    <a:pt x="13" y="50"/>
                  </a:lnTo>
                  <a:lnTo>
                    <a:pt x="2"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7" name="Freeform 101"/>
            <p:cNvSpPr>
              <a:spLocks/>
            </p:cNvSpPr>
            <p:nvPr/>
          </p:nvSpPr>
          <p:spPr bwMode="auto">
            <a:xfrm>
              <a:off x="3502" y="2657"/>
              <a:ext cx="19" cy="169"/>
            </a:xfrm>
            <a:custGeom>
              <a:avLst/>
              <a:gdLst>
                <a:gd name="T0" fmla="*/ 18 w 59"/>
                <a:gd name="T1" fmla="*/ 0 h 505"/>
                <a:gd name="T2" fmla="*/ 27 w 59"/>
                <a:gd name="T3" fmla="*/ 52 h 505"/>
                <a:gd name="T4" fmla="*/ 39 w 59"/>
                <a:gd name="T5" fmla="*/ 116 h 505"/>
                <a:gd name="T6" fmla="*/ 51 w 59"/>
                <a:gd name="T7" fmla="*/ 176 h 505"/>
                <a:gd name="T8" fmla="*/ 59 w 59"/>
                <a:gd name="T9" fmla="*/ 213 h 505"/>
                <a:gd name="T10" fmla="*/ 45 w 59"/>
                <a:gd name="T11" fmla="*/ 241 h 505"/>
                <a:gd name="T12" fmla="*/ 34 w 59"/>
                <a:gd name="T13" fmla="*/ 276 h 505"/>
                <a:gd name="T14" fmla="*/ 25 w 59"/>
                <a:gd name="T15" fmla="*/ 315 h 505"/>
                <a:gd name="T16" fmla="*/ 18 w 59"/>
                <a:gd name="T17" fmla="*/ 354 h 505"/>
                <a:gd name="T18" fmla="*/ 14 w 59"/>
                <a:gd name="T19" fmla="*/ 395 h 505"/>
                <a:gd name="T20" fmla="*/ 12 w 59"/>
                <a:gd name="T21" fmla="*/ 435 h 505"/>
                <a:gd name="T22" fmla="*/ 14 w 59"/>
                <a:gd name="T23" fmla="*/ 472 h 505"/>
                <a:gd name="T24" fmla="*/ 18 w 59"/>
                <a:gd name="T25" fmla="*/ 505 h 505"/>
                <a:gd name="T26" fmla="*/ 8 w 59"/>
                <a:gd name="T27" fmla="*/ 464 h 505"/>
                <a:gd name="T28" fmla="*/ 2 w 59"/>
                <a:gd name="T29" fmla="*/ 422 h 505"/>
                <a:gd name="T30" fmla="*/ 0 w 59"/>
                <a:gd name="T31" fmla="*/ 384 h 505"/>
                <a:gd name="T32" fmla="*/ 2 w 59"/>
                <a:gd name="T33" fmla="*/ 346 h 505"/>
                <a:gd name="T34" fmla="*/ 8 w 59"/>
                <a:gd name="T35" fmla="*/ 309 h 505"/>
                <a:gd name="T36" fmla="*/ 17 w 59"/>
                <a:gd name="T37" fmla="*/ 275 h 505"/>
                <a:gd name="T38" fmla="*/ 28 w 59"/>
                <a:gd name="T39" fmla="*/ 242 h 505"/>
                <a:gd name="T40" fmla="*/ 41 w 59"/>
                <a:gd name="T41" fmla="*/ 213 h 505"/>
                <a:gd name="T42" fmla="*/ 34 w 59"/>
                <a:gd name="T43" fmla="*/ 174 h 505"/>
                <a:gd name="T44" fmla="*/ 28 w 59"/>
                <a:gd name="T45" fmla="*/ 112 h 505"/>
                <a:gd name="T46" fmla="*/ 22 w 59"/>
                <a:gd name="T47" fmla="*/ 48 h 505"/>
                <a:gd name="T48" fmla="*/ 18 w 59"/>
                <a:gd name="T49" fmla="*/ 0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505">
                  <a:moveTo>
                    <a:pt x="18" y="0"/>
                  </a:moveTo>
                  <a:lnTo>
                    <a:pt x="27" y="52"/>
                  </a:lnTo>
                  <a:lnTo>
                    <a:pt x="39" y="116"/>
                  </a:lnTo>
                  <a:lnTo>
                    <a:pt x="51" y="176"/>
                  </a:lnTo>
                  <a:lnTo>
                    <a:pt x="59" y="213"/>
                  </a:lnTo>
                  <a:lnTo>
                    <a:pt x="45" y="241"/>
                  </a:lnTo>
                  <a:lnTo>
                    <a:pt x="34" y="276"/>
                  </a:lnTo>
                  <a:lnTo>
                    <a:pt x="25" y="315"/>
                  </a:lnTo>
                  <a:lnTo>
                    <a:pt x="18" y="354"/>
                  </a:lnTo>
                  <a:lnTo>
                    <a:pt x="14" y="395"/>
                  </a:lnTo>
                  <a:lnTo>
                    <a:pt x="12" y="435"/>
                  </a:lnTo>
                  <a:lnTo>
                    <a:pt x="14" y="472"/>
                  </a:lnTo>
                  <a:lnTo>
                    <a:pt x="18" y="505"/>
                  </a:lnTo>
                  <a:lnTo>
                    <a:pt x="8" y="464"/>
                  </a:lnTo>
                  <a:lnTo>
                    <a:pt x="2" y="422"/>
                  </a:lnTo>
                  <a:lnTo>
                    <a:pt x="0" y="384"/>
                  </a:lnTo>
                  <a:lnTo>
                    <a:pt x="2" y="346"/>
                  </a:lnTo>
                  <a:lnTo>
                    <a:pt x="8" y="309"/>
                  </a:lnTo>
                  <a:lnTo>
                    <a:pt x="17" y="275"/>
                  </a:lnTo>
                  <a:lnTo>
                    <a:pt x="28" y="242"/>
                  </a:lnTo>
                  <a:lnTo>
                    <a:pt x="41" y="213"/>
                  </a:lnTo>
                  <a:lnTo>
                    <a:pt x="34" y="174"/>
                  </a:lnTo>
                  <a:lnTo>
                    <a:pt x="28" y="112"/>
                  </a:lnTo>
                  <a:lnTo>
                    <a:pt x="22" y="48"/>
                  </a:lnTo>
                  <a:lnTo>
                    <a:pt x="18"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8" name="Freeform 102"/>
            <p:cNvSpPr>
              <a:spLocks/>
            </p:cNvSpPr>
            <p:nvPr/>
          </p:nvSpPr>
          <p:spPr bwMode="auto">
            <a:xfrm>
              <a:off x="3281" y="2301"/>
              <a:ext cx="6" cy="7"/>
            </a:xfrm>
            <a:custGeom>
              <a:avLst/>
              <a:gdLst>
                <a:gd name="T0" fmla="*/ 2 w 19"/>
                <a:gd name="T1" fmla="*/ 0 h 20"/>
                <a:gd name="T2" fmla="*/ 4 w 19"/>
                <a:gd name="T3" fmla="*/ 1 h 20"/>
                <a:gd name="T4" fmla="*/ 10 w 19"/>
                <a:gd name="T5" fmla="*/ 3 h 20"/>
                <a:gd name="T6" fmla="*/ 14 w 19"/>
                <a:gd name="T7" fmla="*/ 6 h 20"/>
                <a:gd name="T8" fmla="*/ 19 w 19"/>
                <a:gd name="T9" fmla="*/ 6 h 20"/>
                <a:gd name="T10" fmla="*/ 16 w 19"/>
                <a:gd name="T11" fmla="*/ 10 h 20"/>
                <a:gd name="T12" fmla="*/ 12 w 19"/>
                <a:gd name="T13" fmla="*/ 13 h 20"/>
                <a:gd name="T14" fmla="*/ 9 w 19"/>
                <a:gd name="T15" fmla="*/ 17 h 20"/>
                <a:gd name="T16" fmla="*/ 7 w 19"/>
                <a:gd name="T17" fmla="*/ 20 h 20"/>
                <a:gd name="T18" fmla="*/ 6 w 19"/>
                <a:gd name="T19" fmla="*/ 20 h 20"/>
                <a:gd name="T20" fmla="*/ 4 w 19"/>
                <a:gd name="T21" fmla="*/ 18 h 20"/>
                <a:gd name="T22" fmla="*/ 2 w 19"/>
                <a:gd name="T23" fmla="*/ 17 h 20"/>
                <a:gd name="T24" fmla="*/ 0 w 19"/>
                <a:gd name="T25" fmla="*/ 16 h 20"/>
                <a:gd name="T26" fmla="*/ 2 w 19"/>
                <a:gd name="T27" fmla="*/ 13 h 20"/>
                <a:gd name="T28" fmla="*/ 2 w 19"/>
                <a:gd name="T29" fmla="*/ 7 h 20"/>
                <a:gd name="T30" fmla="*/ 2 w 19"/>
                <a:gd name="T31" fmla="*/ 3 h 20"/>
                <a:gd name="T32" fmla="*/ 2 w 19"/>
                <a:gd name="T33"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20">
                  <a:moveTo>
                    <a:pt x="2" y="0"/>
                  </a:moveTo>
                  <a:lnTo>
                    <a:pt x="4" y="1"/>
                  </a:lnTo>
                  <a:lnTo>
                    <a:pt x="10" y="3"/>
                  </a:lnTo>
                  <a:lnTo>
                    <a:pt x="14" y="6"/>
                  </a:lnTo>
                  <a:lnTo>
                    <a:pt x="19" y="6"/>
                  </a:lnTo>
                  <a:lnTo>
                    <a:pt x="16" y="10"/>
                  </a:lnTo>
                  <a:lnTo>
                    <a:pt x="12" y="13"/>
                  </a:lnTo>
                  <a:lnTo>
                    <a:pt x="9" y="17"/>
                  </a:lnTo>
                  <a:lnTo>
                    <a:pt x="7" y="20"/>
                  </a:lnTo>
                  <a:lnTo>
                    <a:pt x="6" y="20"/>
                  </a:lnTo>
                  <a:lnTo>
                    <a:pt x="4" y="18"/>
                  </a:lnTo>
                  <a:lnTo>
                    <a:pt x="2" y="17"/>
                  </a:lnTo>
                  <a:lnTo>
                    <a:pt x="0" y="16"/>
                  </a:lnTo>
                  <a:lnTo>
                    <a:pt x="2" y="13"/>
                  </a:lnTo>
                  <a:lnTo>
                    <a:pt x="2" y="7"/>
                  </a:lnTo>
                  <a:lnTo>
                    <a:pt x="2" y="3"/>
                  </a:lnTo>
                  <a:lnTo>
                    <a:pt x="2"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19" name="Freeform 103"/>
            <p:cNvSpPr>
              <a:spLocks/>
            </p:cNvSpPr>
            <p:nvPr/>
          </p:nvSpPr>
          <p:spPr bwMode="auto">
            <a:xfrm>
              <a:off x="3296" y="2303"/>
              <a:ext cx="6" cy="7"/>
            </a:xfrm>
            <a:custGeom>
              <a:avLst/>
              <a:gdLst>
                <a:gd name="T0" fmla="*/ 8 w 17"/>
                <a:gd name="T1" fmla="*/ 0 h 22"/>
                <a:gd name="T2" fmla="*/ 10 w 17"/>
                <a:gd name="T3" fmla="*/ 0 h 22"/>
                <a:gd name="T4" fmla="*/ 12 w 17"/>
                <a:gd name="T5" fmla="*/ 0 h 22"/>
                <a:gd name="T6" fmla="*/ 15 w 17"/>
                <a:gd name="T7" fmla="*/ 1 h 22"/>
                <a:gd name="T8" fmla="*/ 17 w 17"/>
                <a:gd name="T9" fmla="*/ 1 h 22"/>
                <a:gd name="T10" fmla="*/ 17 w 17"/>
                <a:gd name="T11" fmla="*/ 4 h 22"/>
                <a:gd name="T12" fmla="*/ 14 w 17"/>
                <a:gd name="T13" fmla="*/ 10 h 22"/>
                <a:gd name="T14" fmla="*/ 10 w 17"/>
                <a:gd name="T15" fmla="*/ 17 h 22"/>
                <a:gd name="T16" fmla="*/ 7 w 17"/>
                <a:gd name="T17" fmla="*/ 22 h 22"/>
                <a:gd name="T18" fmla="*/ 5 w 17"/>
                <a:gd name="T19" fmla="*/ 21 h 22"/>
                <a:gd name="T20" fmla="*/ 4 w 17"/>
                <a:gd name="T21" fmla="*/ 19 h 22"/>
                <a:gd name="T22" fmla="*/ 1 w 17"/>
                <a:gd name="T23" fmla="*/ 18 h 22"/>
                <a:gd name="T24" fmla="*/ 0 w 17"/>
                <a:gd name="T25" fmla="*/ 17 h 22"/>
                <a:gd name="T26" fmla="*/ 1 w 17"/>
                <a:gd name="T27" fmla="*/ 14 h 22"/>
                <a:gd name="T28" fmla="*/ 4 w 17"/>
                <a:gd name="T29" fmla="*/ 8 h 22"/>
                <a:gd name="T30" fmla="*/ 7 w 17"/>
                <a:gd name="T31" fmla="*/ 2 h 22"/>
                <a:gd name="T32" fmla="*/ 8 w 17"/>
                <a:gd name="T3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22">
                  <a:moveTo>
                    <a:pt x="8" y="0"/>
                  </a:moveTo>
                  <a:lnTo>
                    <a:pt x="10" y="0"/>
                  </a:lnTo>
                  <a:lnTo>
                    <a:pt x="12" y="0"/>
                  </a:lnTo>
                  <a:lnTo>
                    <a:pt x="15" y="1"/>
                  </a:lnTo>
                  <a:lnTo>
                    <a:pt x="17" y="1"/>
                  </a:lnTo>
                  <a:lnTo>
                    <a:pt x="17" y="4"/>
                  </a:lnTo>
                  <a:lnTo>
                    <a:pt x="14" y="10"/>
                  </a:lnTo>
                  <a:lnTo>
                    <a:pt x="10" y="17"/>
                  </a:lnTo>
                  <a:lnTo>
                    <a:pt x="7" y="22"/>
                  </a:lnTo>
                  <a:lnTo>
                    <a:pt x="5" y="21"/>
                  </a:lnTo>
                  <a:lnTo>
                    <a:pt x="4" y="19"/>
                  </a:lnTo>
                  <a:lnTo>
                    <a:pt x="1" y="18"/>
                  </a:lnTo>
                  <a:lnTo>
                    <a:pt x="0" y="17"/>
                  </a:lnTo>
                  <a:lnTo>
                    <a:pt x="1" y="14"/>
                  </a:lnTo>
                  <a:lnTo>
                    <a:pt x="4" y="8"/>
                  </a:lnTo>
                  <a:lnTo>
                    <a:pt x="7" y="2"/>
                  </a:lnTo>
                  <a:lnTo>
                    <a:pt x="8" y="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0" name="Freeform 104"/>
            <p:cNvSpPr>
              <a:spLocks/>
            </p:cNvSpPr>
            <p:nvPr/>
          </p:nvSpPr>
          <p:spPr bwMode="auto">
            <a:xfrm>
              <a:off x="3468" y="2209"/>
              <a:ext cx="15" cy="24"/>
            </a:xfrm>
            <a:custGeom>
              <a:avLst/>
              <a:gdLst>
                <a:gd name="T0" fmla="*/ 43 w 43"/>
                <a:gd name="T1" fmla="*/ 71 h 71"/>
                <a:gd name="T2" fmla="*/ 34 w 43"/>
                <a:gd name="T3" fmla="*/ 55 h 71"/>
                <a:gd name="T4" fmla="*/ 27 w 43"/>
                <a:gd name="T5" fmla="*/ 40 h 71"/>
                <a:gd name="T6" fmla="*/ 22 w 43"/>
                <a:gd name="T7" fmla="*/ 27 h 71"/>
                <a:gd name="T8" fmla="*/ 19 w 43"/>
                <a:gd name="T9" fmla="*/ 17 h 71"/>
                <a:gd name="T10" fmla="*/ 16 w 43"/>
                <a:gd name="T11" fmla="*/ 14 h 71"/>
                <a:gd name="T12" fmla="*/ 12 w 43"/>
                <a:gd name="T13" fmla="*/ 10 h 71"/>
                <a:gd name="T14" fmla="*/ 6 w 43"/>
                <a:gd name="T15" fmla="*/ 6 h 71"/>
                <a:gd name="T16" fmla="*/ 0 w 43"/>
                <a:gd name="T17" fmla="*/ 0 h 71"/>
                <a:gd name="T18" fmla="*/ 7 w 43"/>
                <a:gd name="T19" fmla="*/ 20 h 71"/>
                <a:gd name="T20" fmla="*/ 16 w 43"/>
                <a:gd name="T21" fmla="*/ 41 h 71"/>
                <a:gd name="T22" fmla="*/ 24 w 43"/>
                <a:gd name="T23" fmla="*/ 58 h 71"/>
                <a:gd name="T24" fmla="*/ 29 w 43"/>
                <a:gd name="T25" fmla="*/ 65 h 71"/>
                <a:gd name="T26" fmla="*/ 32 w 43"/>
                <a:gd name="T27" fmla="*/ 67 h 71"/>
                <a:gd name="T28" fmla="*/ 36 w 43"/>
                <a:gd name="T29" fmla="*/ 68 h 71"/>
                <a:gd name="T30" fmla="*/ 40 w 43"/>
                <a:gd name="T31" fmla="*/ 71 h 71"/>
                <a:gd name="T32" fmla="*/ 43 w 43"/>
                <a:gd name="T33"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 h="71">
                  <a:moveTo>
                    <a:pt x="43" y="71"/>
                  </a:moveTo>
                  <a:lnTo>
                    <a:pt x="34" y="55"/>
                  </a:lnTo>
                  <a:lnTo>
                    <a:pt x="27" y="40"/>
                  </a:lnTo>
                  <a:lnTo>
                    <a:pt x="22" y="27"/>
                  </a:lnTo>
                  <a:lnTo>
                    <a:pt x="19" y="17"/>
                  </a:lnTo>
                  <a:lnTo>
                    <a:pt x="16" y="14"/>
                  </a:lnTo>
                  <a:lnTo>
                    <a:pt x="12" y="10"/>
                  </a:lnTo>
                  <a:lnTo>
                    <a:pt x="6" y="6"/>
                  </a:lnTo>
                  <a:lnTo>
                    <a:pt x="0" y="0"/>
                  </a:lnTo>
                  <a:lnTo>
                    <a:pt x="7" y="20"/>
                  </a:lnTo>
                  <a:lnTo>
                    <a:pt x="16" y="41"/>
                  </a:lnTo>
                  <a:lnTo>
                    <a:pt x="24" y="58"/>
                  </a:lnTo>
                  <a:lnTo>
                    <a:pt x="29" y="65"/>
                  </a:lnTo>
                  <a:lnTo>
                    <a:pt x="32" y="67"/>
                  </a:lnTo>
                  <a:lnTo>
                    <a:pt x="36" y="68"/>
                  </a:lnTo>
                  <a:lnTo>
                    <a:pt x="40" y="71"/>
                  </a:lnTo>
                  <a:lnTo>
                    <a:pt x="43" y="7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1" name="Freeform 105"/>
            <p:cNvSpPr>
              <a:spLocks/>
            </p:cNvSpPr>
            <p:nvPr/>
          </p:nvSpPr>
          <p:spPr bwMode="auto">
            <a:xfrm>
              <a:off x="3382" y="2314"/>
              <a:ext cx="90" cy="70"/>
            </a:xfrm>
            <a:custGeom>
              <a:avLst/>
              <a:gdLst>
                <a:gd name="T0" fmla="*/ 107 w 270"/>
                <a:gd name="T1" fmla="*/ 210 h 210"/>
                <a:gd name="T2" fmla="*/ 126 w 270"/>
                <a:gd name="T3" fmla="*/ 210 h 210"/>
                <a:gd name="T4" fmla="*/ 146 w 270"/>
                <a:gd name="T5" fmla="*/ 210 h 210"/>
                <a:gd name="T6" fmla="*/ 162 w 270"/>
                <a:gd name="T7" fmla="*/ 210 h 210"/>
                <a:gd name="T8" fmla="*/ 180 w 270"/>
                <a:gd name="T9" fmla="*/ 207 h 210"/>
                <a:gd name="T10" fmla="*/ 186 w 270"/>
                <a:gd name="T11" fmla="*/ 193 h 210"/>
                <a:gd name="T12" fmla="*/ 185 w 270"/>
                <a:gd name="T13" fmla="*/ 187 h 210"/>
                <a:gd name="T14" fmla="*/ 200 w 270"/>
                <a:gd name="T15" fmla="*/ 187 h 210"/>
                <a:gd name="T16" fmla="*/ 221 w 270"/>
                <a:gd name="T17" fmla="*/ 185 h 210"/>
                <a:gd name="T18" fmla="*/ 237 w 270"/>
                <a:gd name="T19" fmla="*/ 183 h 210"/>
                <a:gd name="T20" fmla="*/ 246 w 270"/>
                <a:gd name="T21" fmla="*/ 175 h 210"/>
                <a:gd name="T22" fmla="*/ 247 w 270"/>
                <a:gd name="T23" fmla="*/ 168 h 210"/>
                <a:gd name="T24" fmla="*/ 244 w 270"/>
                <a:gd name="T25" fmla="*/ 160 h 210"/>
                <a:gd name="T26" fmla="*/ 248 w 270"/>
                <a:gd name="T27" fmla="*/ 158 h 210"/>
                <a:gd name="T28" fmla="*/ 264 w 270"/>
                <a:gd name="T29" fmla="*/ 158 h 210"/>
                <a:gd name="T30" fmla="*/ 268 w 270"/>
                <a:gd name="T31" fmla="*/ 152 h 210"/>
                <a:gd name="T32" fmla="*/ 268 w 270"/>
                <a:gd name="T33" fmla="*/ 143 h 210"/>
                <a:gd name="T34" fmla="*/ 258 w 270"/>
                <a:gd name="T35" fmla="*/ 132 h 210"/>
                <a:gd name="T36" fmla="*/ 240 w 270"/>
                <a:gd name="T37" fmla="*/ 122 h 210"/>
                <a:gd name="T38" fmla="*/ 214 w 270"/>
                <a:gd name="T39" fmla="*/ 118 h 210"/>
                <a:gd name="T40" fmla="*/ 185 w 270"/>
                <a:gd name="T41" fmla="*/ 115 h 210"/>
                <a:gd name="T42" fmla="*/ 179 w 270"/>
                <a:gd name="T43" fmla="*/ 114 h 210"/>
                <a:gd name="T44" fmla="*/ 207 w 270"/>
                <a:gd name="T45" fmla="*/ 111 h 210"/>
                <a:gd name="T46" fmla="*/ 230 w 270"/>
                <a:gd name="T47" fmla="*/ 114 h 210"/>
                <a:gd name="T48" fmla="*/ 244 w 270"/>
                <a:gd name="T49" fmla="*/ 114 h 210"/>
                <a:gd name="T50" fmla="*/ 243 w 270"/>
                <a:gd name="T51" fmla="*/ 99 h 210"/>
                <a:gd name="T52" fmla="*/ 233 w 270"/>
                <a:gd name="T53" fmla="*/ 85 h 210"/>
                <a:gd name="T54" fmla="*/ 217 w 270"/>
                <a:gd name="T55" fmla="*/ 77 h 210"/>
                <a:gd name="T56" fmla="*/ 197 w 270"/>
                <a:gd name="T57" fmla="*/ 70 h 210"/>
                <a:gd name="T58" fmla="*/ 176 w 270"/>
                <a:gd name="T59" fmla="*/ 68 h 210"/>
                <a:gd name="T60" fmla="*/ 135 w 270"/>
                <a:gd name="T61" fmla="*/ 60 h 210"/>
                <a:gd name="T62" fmla="*/ 97 w 270"/>
                <a:gd name="T63" fmla="*/ 46 h 210"/>
                <a:gd name="T64" fmla="*/ 108 w 270"/>
                <a:gd name="T65" fmla="*/ 33 h 210"/>
                <a:gd name="T66" fmla="*/ 116 w 270"/>
                <a:gd name="T67" fmla="*/ 17 h 210"/>
                <a:gd name="T68" fmla="*/ 108 w 270"/>
                <a:gd name="T69" fmla="*/ 0 h 210"/>
                <a:gd name="T70" fmla="*/ 91 w 270"/>
                <a:gd name="T71" fmla="*/ 10 h 210"/>
                <a:gd name="T72" fmla="*/ 68 w 270"/>
                <a:gd name="T73" fmla="*/ 14 h 210"/>
                <a:gd name="T74" fmla="*/ 41 w 270"/>
                <a:gd name="T75" fmla="*/ 33 h 210"/>
                <a:gd name="T76" fmla="*/ 29 w 270"/>
                <a:gd name="T77" fmla="*/ 50 h 210"/>
                <a:gd name="T78" fmla="*/ 10 w 270"/>
                <a:gd name="T79" fmla="*/ 67 h 210"/>
                <a:gd name="T80" fmla="*/ 2 w 270"/>
                <a:gd name="T81" fmla="*/ 101 h 210"/>
                <a:gd name="T82" fmla="*/ 7 w 270"/>
                <a:gd name="T83" fmla="*/ 141 h 210"/>
                <a:gd name="T84" fmla="*/ 27 w 270"/>
                <a:gd name="T85" fmla="*/ 173 h 210"/>
                <a:gd name="T86" fmla="*/ 54 w 270"/>
                <a:gd name="T87" fmla="*/ 202 h 210"/>
                <a:gd name="T88" fmla="*/ 75 w 270"/>
                <a:gd name="T89" fmla="*/ 207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0" h="210">
                  <a:moveTo>
                    <a:pt x="88" y="209"/>
                  </a:moveTo>
                  <a:lnTo>
                    <a:pt x="97" y="210"/>
                  </a:lnTo>
                  <a:lnTo>
                    <a:pt x="107" y="210"/>
                  </a:lnTo>
                  <a:lnTo>
                    <a:pt x="114" y="210"/>
                  </a:lnTo>
                  <a:lnTo>
                    <a:pt x="119" y="210"/>
                  </a:lnTo>
                  <a:lnTo>
                    <a:pt x="126" y="210"/>
                  </a:lnTo>
                  <a:lnTo>
                    <a:pt x="134" y="210"/>
                  </a:lnTo>
                  <a:lnTo>
                    <a:pt x="141" y="210"/>
                  </a:lnTo>
                  <a:lnTo>
                    <a:pt x="146" y="210"/>
                  </a:lnTo>
                  <a:lnTo>
                    <a:pt x="152" y="210"/>
                  </a:lnTo>
                  <a:lnTo>
                    <a:pt x="156" y="210"/>
                  </a:lnTo>
                  <a:lnTo>
                    <a:pt x="162" y="210"/>
                  </a:lnTo>
                  <a:lnTo>
                    <a:pt x="166" y="210"/>
                  </a:lnTo>
                  <a:lnTo>
                    <a:pt x="175" y="210"/>
                  </a:lnTo>
                  <a:lnTo>
                    <a:pt x="180" y="207"/>
                  </a:lnTo>
                  <a:lnTo>
                    <a:pt x="185" y="202"/>
                  </a:lnTo>
                  <a:lnTo>
                    <a:pt x="186" y="196"/>
                  </a:lnTo>
                  <a:lnTo>
                    <a:pt x="186" y="193"/>
                  </a:lnTo>
                  <a:lnTo>
                    <a:pt x="186" y="192"/>
                  </a:lnTo>
                  <a:lnTo>
                    <a:pt x="186" y="189"/>
                  </a:lnTo>
                  <a:lnTo>
                    <a:pt x="185" y="187"/>
                  </a:lnTo>
                  <a:lnTo>
                    <a:pt x="189" y="187"/>
                  </a:lnTo>
                  <a:lnTo>
                    <a:pt x="195" y="187"/>
                  </a:lnTo>
                  <a:lnTo>
                    <a:pt x="200" y="187"/>
                  </a:lnTo>
                  <a:lnTo>
                    <a:pt x="207" y="186"/>
                  </a:lnTo>
                  <a:lnTo>
                    <a:pt x="214" y="186"/>
                  </a:lnTo>
                  <a:lnTo>
                    <a:pt x="221" y="185"/>
                  </a:lnTo>
                  <a:lnTo>
                    <a:pt x="229" y="186"/>
                  </a:lnTo>
                  <a:lnTo>
                    <a:pt x="234" y="186"/>
                  </a:lnTo>
                  <a:lnTo>
                    <a:pt x="237" y="183"/>
                  </a:lnTo>
                  <a:lnTo>
                    <a:pt x="241" y="180"/>
                  </a:lnTo>
                  <a:lnTo>
                    <a:pt x="244" y="177"/>
                  </a:lnTo>
                  <a:lnTo>
                    <a:pt x="246" y="175"/>
                  </a:lnTo>
                  <a:lnTo>
                    <a:pt x="247" y="172"/>
                  </a:lnTo>
                  <a:lnTo>
                    <a:pt x="247" y="169"/>
                  </a:lnTo>
                  <a:lnTo>
                    <a:pt x="247" y="168"/>
                  </a:lnTo>
                  <a:lnTo>
                    <a:pt x="246" y="165"/>
                  </a:lnTo>
                  <a:lnTo>
                    <a:pt x="246" y="163"/>
                  </a:lnTo>
                  <a:lnTo>
                    <a:pt x="244" y="160"/>
                  </a:lnTo>
                  <a:lnTo>
                    <a:pt x="243" y="159"/>
                  </a:lnTo>
                  <a:lnTo>
                    <a:pt x="241" y="158"/>
                  </a:lnTo>
                  <a:lnTo>
                    <a:pt x="248" y="158"/>
                  </a:lnTo>
                  <a:lnTo>
                    <a:pt x="255" y="158"/>
                  </a:lnTo>
                  <a:lnTo>
                    <a:pt x="260" y="158"/>
                  </a:lnTo>
                  <a:lnTo>
                    <a:pt x="264" y="158"/>
                  </a:lnTo>
                  <a:lnTo>
                    <a:pt x="265" y="156"/>
                  </a:lnTo>
                  <a:lnTo>
                    <a:pt x="267" y="155"/>
                  </a:lnTo>
                  <a:lnTo>
                    <a:pt x="268" y="152"/>
                  </a:lnTo>
                  <a:lnTo>
                    <a:pt x="268" y="150"/>
                  </a:lnTo>
                  <a:lnTo>
                    <a:pt x="270" y="148"/>
                  </a:lnTo>
                  <a:lnTo>
                    <a:pt x="268" y="143"/>
                  </a:lnTo>
                  <a:lnTo>
                    <a:pt x="267" y="139"/>
                  </a:lnTo>
                  <a:lnTo>
                    <a:pt x="263" y="135"/>
                  </a:lnTo>
                  <a:lnTo>
                    <a:pt x="258" y="132"/>
                  </a:lnTo>
                  <a:lnTo>
                    <a:pt x="253" y="128"/>
                  </a:lnTo>
                  <a:lnTo>
                    <a:pt x="246" y="125"/>
                  </a:lnTo>
                  <a:lnTo>
                    <a:pt x="240" y="122"/>
                  </a:lnTo>
                  <a:lnTo>
                    <a:pt x="233" y="121"/>
                  </a:lnTo>
                  <a:lnTo>
                    <a:pt x="224" y="119"/>
                  </a:lnTo>
                  <a:lnTo>
                    <a:pt x="214" y="118"/>
                  </a:lnTo>
                  <a:lnTo>
                    <a:pt x="204" y="116"/>
                  </a:lnTo>
                  <a:lnTo>
                    <a:pt x="195" y="116"/>
                  </a:lnTo>
                  <a:lnTo>
                    <a:pt x="185" y="115"/>
                  </a:lnTo>
                  <a:lnTo>
                    <a:pt x="176" y="115"/>
                  </a:lnTo>
                  <a:lnTo>
                    <a:pt x="170" y="115"/>
                  </a:lnTo>
                  <a:lnTo>
                    <a:pt x="179" y="114"/>
                  </a:lnTo>
                  <a:lnTo>
                    <a:pt x="189" y="112"/>
                  </a:lnTo>
                  <a:lnTo>
                    <a:pt x="197" y="111"/>
                  </a:lnTo>
                  <a:lnTo>
                    <a:pt x="207" y="111"/>
                  </a:lnTo>
                  <a:lnTo>
                    <a:pt x="216" y="111"/>
                  </a:lnTo>
                  <a:lnTo>
                    <a:pt x="223" y="112"/>
                  </a:lnTo>
                  <a:lnTo>
                    <a:pt x="230" y="114"/>
                  </a:lnTo>
                  <a:lnTo>
                    <a:pt x="236" y="115"/>
                  </a:lnTo>
                  <a:lnTo>
                    <a:pt x="241" y="115"/>
                  </a:lnTo>
                  <a:lnTo>
                    <a:pt x="244" y="114"/>
                  </a:lnTo>
                  <a:lnTo>
                    <a:pt x="244" y="109"/>
                  </a:lnTo>
                  <a:lnTo>
                    <a:pt x="244" y="105"/>
                  </a:lnTo>
                  <a:lnTo>
                    <a:pt x="243" y="99"/>
                  </a:lnTo>
                  <a:lnTo>
                    <a:pt x="241" y="95"/>
                  </a:lnTo>
                  <a:lnTo>
                    <a:pt x="237" y="90"/>
                  </a:lnTo>
                  <a:lnTo>
                    <a:pt x="233" y="85"/>
                  </a:lnTo>
                  <a:lnTo>
                    <a:pt x="229" y="82"/>
                  </a:lnTo>
                  <a:lnTo>
                    <a:pt x="223" y="80"/>
                  </a:lnTo>
                  <a:lnTo>
                    <a:pt x="217" y="77"/>
                  </a:lnTo>
                  <a:lnTo>
                    <a:pt x="212" y="74"/>
                  </a:lnTo>
                  <a:lnTo>
                    <a:pt x="204" y="71"/>
                  </a:lnTo>
                  <a:lnTo>
                    <a:pt x="197" y="70"/>
                  </a:lnTo>
                  <a:lnTo>
                    <a:pt x="192" y="68"/>
                  </a:lnTo>
                  <a:lnTo>
                    <a:pt x="185" y="68"/>
                  </a:lnTo>
                  <a:lnTo>
                    <a:pt x="176" y="68"/>
                  </a:lnTo>
                  <a:lnTo>
                    <a:pt x="163" y="65"/>
                  </a:lnTo>
                  <a:lnTo>
                    <a:pt x="149" y="63"/>
                  </a:lnTo>
                  <a:lnTo>
                    <a:pt x="135" y="60"/>
                  </a:lnTo>
                  <a:lnTo>
                    <a:pt x="121" y="55"/>
                  </a:lnTo>
                  <a:lnTo>
                    <a:pt x="107" y="51"/>
                  </a:lnTo>
                  <a:lnTo>
                    <a:pt x="97" y="46"/>
                  </a:lnTo>
                  <a:lnTo>
                    <a:pt x="91" y="41"/>
                  </a:lnTo>
                  <a:lnTo>
                    <a:pt x="99" y="38"/>
                  </a:lnTo>
                  <a:lnTo>
                    <a:pt x="108" y="33"/>
                  </a:lnTo>
                  <a:lnTo>
                    <a:pt x="114" y="27"/>
                  </a:lnTo>
                  <a:lnTo>
                    <a:pt x="116" y="23"/>
                  </a:lnTo>
                  <a:lnTo>
                    <a:pt x="116" y="17"/>
                  </a:lnTo>
                  <a:lnTo>
                    <a:pt x="116" y="10"/>
                  </a:lnTo>
                  <a:lnTo>
                    <a:pt x="114" y="3"/>
                  </a:lnTo>
                  <a:lnTo>
                    <a:pt x="108" y="0"/>
                  </a:lnTo>
                  <a:lnTo>
                    <a:pt x="102" y="3"/>
                  </a:lnTo>
                  <a:lnTo>
                    <a:pt x="97" y="7"/>
                  </a:lnTo>
                  <a:lnTo>
                    <a:pt x="91" y="10"/>
                  </a:lnTo>
                  <a:lnTo>
                    <a:pt x="85" y="12"/>
                  </a:lnTo>
                  <a:lnTo>
                    <a:pt x="78" y="12"/>
                  </a:lnTo>
                  <a:lnTo>
                    <a:pt x="68" y="14"/>
                  </a:lnTo>
                  <a:lnTo>
                    <a:pt x="57" y="19"/>
                  </a:lnTo>
                  <a:lnTo>
                    <a:pt x="47" y="24"/>
                  </a:lnTo>
                  <a:lnTo>
                    <a:pt x="41" y="33"/>
                  </a:lnTo>
                  <a:lnTo>
                    <a:pt x="36" y="40"/>
                  </a:lnTo>
                  <a:lnTo>
                    <a:pt x="33" y="46"/>
                  </a:lnTo>
                  <a:lnTo>
                    <a:pt x="29" y="50"/>
                  </a:lnTo>
                  <a:lnTo>
                    <a:pt x="23" y="54"/>
                  </a:lnTo>
                  <a:lnTo>
                    <a:pt x="16" y="60"/>
                  </a:lnTo>
                  <a:lnTo>
                    <a:pt x="10" y="67"/>
                  </a:lnTo>
                  <a:lnTo>
                    <a:pt x="6" y="74"/>
                  </a:lnTo>
                  <a:lnTo>
                    <a:pt x="3" y="85"/>
                  </a:lnTo>
                  <a:lnTo>
                    <a:pt x="2" y="101"/>
                  </a:lnTo>
                  <a:lnTo>
                    <a:pt x="0" y="119"/>
                  </a:lnTo>
                  <a:lnTo>
                    <a:pt x="3" y="133"/>
                  </a:lnTo>
                  <a:lnTo>
                    <a:pt x="7" y="141"/>
                  </a:lnTo>
                  <a:lnTo>
                    <a:pt x="12" y="150"/>
                  </a:lnTo>
                  <a:lnTo>
                    <a:pt x="19" y="162"/>
                  </a:lnTo>
                  <a:lnTo>
                    <a:pt x="27" y="173"/>
                  </a:lnTo>
                  <a:lnTo>
                    <a:pt x="36" y="185"/>
                  </a:lnTo>
                  <a:lnTo>
                    <a:pt x="46" y="194"/>
                  </a:lnTo>
                  <a:lnTo>
                    <a:pt x="54" y="202"/>
                  </a:lnTo>
                  <a:lnTo>
                    <a:pt x="64" y="207"/>
                  </a:lnTo>
                  <a:lnTo>
                    <a:pt x="70" y="207"/>
                  </a:lnTo>
                  <a:lnTo>
                    <a:pt x="75" y="207"/>
                  </a:lnTo>
                  <a:lnTo>
                    <a:pt x="82" y="209"/>
                  </a:lnTo>
                  <a:lnTo>
                    <a:pt x="88" y="209"/>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2" name="Freeform 106"/>
            <p:cNvSpPr>
              <a:spLocks/>
            </p:cNvSpPr>
            <p:nvPr/>
          </p:nvSpPr>
          <p:spPr bwMode="auto">
            <a:xfrm>
              <a:off x="3412" y="2379"/>
              <a:ext cx="32" cy="7"/>
            </a:xfrm>
            <a:custGeom>
              <a:avLst/>
              <a:gdLst>
                <a:gd name="T0" fmla="*/ 0 w 98"/>
                <a:gd name="T1" fmla="*/ 13 h 20"/>
                <a:gd name="T2" fmla="*/ 9 w 98"/>
                <a:gd name="T3" fmla="*/ 14 h 20"/>
                <a:gd name="T4" fmla="*/ 19 w 98"/>
                <a:gd name="T5" fmla="*/ 14 h 20"/>
                <a:gd name="T6" fmla="*/ 26 w 98"/>
                <a:gd name="T7" fmla="*/ 14 h 20"/>
                <a:gd name="T8" fmla="*/ 31 w 98"/>
                <a:gd name="T9" fmla="*/ 14 h 20"/>
                <a:gd name="T10" fmla="*/ 38 w 98"/>
                <a:gd name="T11" fmla="*/ 14 h 20"/>
                <a:gd name="T12" fmla="*/ 46 w 98"/>
                <a:gd name="T13" fmla="*/ 14 h 20"/>
                <a:gd name="T14" fmla="*/ 53 w 98"/>
                <a:gd name="T15" fmla="*/ 14 h 20"/>
                <a:gd name="T16" fmla="*/ 58 w 98"/>
                <a:gd name="T17" fmla="*/ 14 h 20"/>
                <a:gd name="T18" fmla="*/ 64 w 98"/>
                <a:gd name="T19" fmla="*/ 14 h 20"/>
                <a:gd name="T20" fmla="*/ 68 w 98"/>
                <a:gd name="T21" fmla="*/ 14 h 20"/>
                <a:gd name="T22" fmla="*/ 74 w 98"/>
                <a:gd name="T23" fmla="*/ 14 h 20"/>
                <a:gd name="T24" fmla="*/ 78 w 98"/>
                <a:gd name="T25" fmla="*/ 14 h 20"/>
                <a:gd name="T26" fmla="*/ 87 w 98"/>
                <a:gd name="T27" fmla="*/ 14 h 20"/>
                <a:gd name="T28" fmla="*/ 92 w 98"/>
                <a:gd name="T29" fmla="*/ 11 h 20"/>
                <a:gd name="T30" fmla="*/ 97 w 98"/>
                <a:gd name="T31" fmla="*/ 6 h 20"/>
                <a:gd name="T32" fmla="*/ 98 w 98"/>
                <a:gd name="T33" fmla="*/ 0 h 20"/>
                <a:gd name="T34" fmla="*/ 98 w 98"/>
                <a:gd name="T35" fmla="*/ 6 h 20"/>
                <a:gd name="T36" fmla="*/ 95 w 98"/>
                <a:gd name="T37" fmla="*/ 13 h 20"/>
                <a:gd name="T38" fmla="*/ 89 w 98"/>
                <a:gd name="T39" fmla="*/ 18 h 20"/>
                <a:gd name="T40" fmla="*/ 80 w 98"/>
                <a:gd name="T41" fmla="*/ 20 h 20"/>
                <a:gd name="T42" fmla="*/ 74 w 98"/>
                <a:gd name="T43" fmla="*/ 20 h 20"/>
                <a:gd name="T44" fmla="*/ 68 w 98"/>
                <a:gd name="T45" fmla="*/ 20 h 20"/>
                <a:gd name="T46" fmla="*/ 61 w 98"/>
                <a:gd name="T47" fmla="*/ 20 h 20"/>
                <a:gd name="T48" fmla="*/ 54 w 98"/>
                <a:gd name="T49" fmla="*/ 20 h 20"/>
                <a:gd name="T50" fmla="*/ 48 w 98"/>
                <a:gd name="T51" fmla="*/ 20 h 20"/>
                <a:gd name="T52" fmla="*/ 44 w 98"/>
                <a:gd name="T53" fmla="*/ 20 h 20"/>
                <a:gd name="T54" fmla="*/ 40 w 98"/>
                <a:gd name="T55" fmla="*/ 20 h 20"/>
                <a:gd name="T56" fmla="*/ 37 w 98"/>
                <a:gd name="T57" fmla="*/ 20 h 20"/>
                <a:gd name="T58" fmla="*/ 33 w 98"/>
                <a:gd name="T59" fmla="*/ 20 h 20"/>
                <a:gd name="T60" fmla="*/ 24 w 98"/>
                <a:gd name="T61" fmla="*/ 18 h 20"/>
                <a:gd name="T62" fmla="*/ 13 w 98"/>
                <a:gd name="T63" fmla="*/ 17 h 20"/>
                <a:gd name="T64" fmla="*/ 0 w 98"/>
                <a:gd name="T65" fmla="*/ 1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20">
                  <a:moveTo>
                    <a:pt x="0" y="13"/>
                  </a:moveTo>
                  <a:lnTo>
                    <a:pt x="9" y="14"/>
                  </a:lnTo>
                  <a:lnTo>
                    <a:pt x="19" y="14"/>
                  </a:lnTo>
                  <a:lnTo>
                    <a:pt x="26" y="14"/>
                  </a:lnTo>
                  <a:lnTo>
                    <a:pt x="31" y="14"/>
                  </a:lnTo>
                  <a:lnTo>
                    <a:pt x="38" y="14"/>
                  </a:lnTo>
                  <a:lnTo>
                    <a:pt x="46" y="14"/>
                  </a:lnTo>
                  <a:lnTo>
                    <a:pt x="53" y="14"/>
                  </a:lnTo>
                  <a:lnTo>
                    <a:pt x="58" y="14"/>
                  </a:lnTo>
                  <a:lnTo>
                    <a:pt x="64" y="14"/>
                  </a:lnTo>
                  <a:lnTo>
                    <a:pt x="68" y="14"/>
                  </a:lnTo>
                  <a:lnTo>
                    <a:pt x="74" y="14"/>
                  </a:lnTo>
                  <a:lnTo>
                    <a:pt x="78" y="14"/>
                  </a:lnTo>
                  <a:lnTo>
                    <a:pt x="87" y="14"/>
                  </a:lnTo>
                  <a:lnTo>
                    <a:pt x="92" y="11"/>
                  </a:lnTo>
                  <a:lnTo>
                    <a:pt x="97" y="6"/>
                  </a:lnTo>
                  <a:lnTo>
                    <a:pt x="98" y="0"/>
                  </a:lnTo>
                  <a:lnTo>
                    <a:pt x="98" y="6"/>
                  </a:lnTo>
                  <a:lnTo>
                    <a:pt x="95" y="13"/>
                  </a:lnTo>
                  <a:lnTo>
                    <a:pt x="89" y="18"/>
                  </a:lnTo>
                  <a:lnTo>
                    <a:pt x="80" y="20"/>
                  </a:lnTo>
                  <a:lnTo>
                    <a:pt x="74" y="20"/>
                  </a:lnTo>
                  <a:lnTo>
                    <a:pt x="68" y="20"/>
                  </a:lnTo>
                  <a:lnTo>
                    <a:pt x="61" y="20"/>
                  </a:lnTo>
                  <a:lnTo>
                    <a:pt x="54" y="20"/>
                  </a:lnTo>
                  <a:lnTo>
                    <a:pt x="48" y="20"/>
                  </a:lnTo>
                  <a:lnTo>
                    <a:pt x="44" y="20"/>
                  </a:lnTo>
                  <a:lnTo>
                    <a:pt x="40" y="20"/>
                  </a:lnTo>
                  <a:lnTo>
                    <a:pt x="37" y="20"/>
                  </a:lnTo>
                  <a:lnTo>
                    <a:pt x="33" y="20"/>
                  </a:lnTo>
                  <a:lnTo>
                    <a:pt x="24" y="18"/>
                  </a:lnTo>
                  <a:lnTo>
                    <a:pt x="13" y="17"/>
                  </a:lnTo>
                  <a:lnTo>
                    <a:pt x="0" y="13"/>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3" name="Freeform 107"/>
            <p:cNvSpPr>
              <a:spLocks/>
            </p:cNvSpPr>
            <p:nvPr/>
          </p:nvSpPr>
          <p:spPr bwMode="auto">
            <a:xfrm>
              <a:off x="3444" y="2372"/>
              <a:ext cx="20" cy="7"/>
            </a:xfrm>
            <a:custGeom>
              <a:avLst/>
              <a:gdLst>
                <a:gd name="T0" fmla="*/ 1 w 61"/>
                <a:gd name="T1" fmla="*/ 21 h 21"/>
                <a:gd name="T2" fmla="*/ 1 w 61"/>
                <a:gd name="T3" fmla="*/ 18 h 21"/>
                <a:gd name="T4" fmla="*/ 1 w 61"/>
                <a:gd name="T5" fmla="*/ 17 h 21"/>
                <a:gd name="T6" fmla="*/ 1 w 61"/>
                <a:gd name="T7" fmla="*/ 14 h 21"/>
                <a:gd name="T8" fmla="*/ 0 w 61"/>
                <a:gd name="T9" fmla="*/ 12 h 21"/>
                <a:gd name="T10" fmla="*/ 4 w 61"/>
                <a:gd name="T11" fmla="*/ 12 h 21"/>
                <a:gd name="T12" fmla="*/ 10 w 61"/>
                <a:gd name="T13" fmla="*/ 12 h 21"/>
                <a:gd name="T14" fmla="*/ 15 w 61"/>
                <a:gd name="T15" fmla="*/ 12 h 21"/>
                <a:gd name="T16" fmla="*/ 22 w 61"/>
                <a:gd name="T17" fmla="*/ 11 h 21"/>
                <a:gd name="T18" fmla="*/ 29 w 61"/>
                <a:gd name="T19" fmla="*/ 11 h 21"/>
                <a:gd name="T20" fmla="*/ 36 w 61"/>
                <a:gd name="T21" fmla="*/ 10 h 21"/>
                <a:gd name="T22" fmla="*/ 44 w 61"/>
                <a:gd name="T23" fmla="*/ 11 h 21"/>
                <a:gd name="T24" fmla="*/ 49 w 61"/>
                <a:gd name="T25" fmla="*/ 11 h 21"/>
                <a:gd name="T26" fmla="*/ 52 w 61"/>
                <a:gd name="T27" fmla="*/ 8 h 21"/>
                <a:gd name="T28" fmla="*/ 56 w 61"/>
                <a:gd name="T29" fmla="*/ 5 h 21"/>
                <a:gd name="T30" fmla="*/ 59 w 61"/>
                <a:gd name="T31" fmla="*/ 2 h 21"/>
                <a:gd name="T32" fmla="*/ 61 w 61"/>
                <a:gd name="T33" fmla="*/ 0 h 21"/>
                <a:gd name="T34" fmla="*/ 61 w 61"/>
                <a:gd name="T35" fmla="*/ 5 h 21"/>
                <a:gd name="T36" fmla="*/ 56 w 61"/>
                <a:gd name="T37" fmla="*/ 10 h 21"/>
                <a:gd name="T38" fmla="*/ 51 w 61"/>
                <a:gd name="T39" fmla="*/ 14 h 21"/>
                <a:gd name="T40" fmla="*/ 45 w 61"/>
                <a:gd name="T41" fmla="*/ 15 h 21"/>
                <a:gd name="T42" fmla="*/ 42 w 61"/>
                <a:gd name="T43" fmla="*/ 15 h 21"/>
                <a:gd name="T44" fmla="*/ 36 w 61"/>
                <a:gd name="T45" fmla="*/ 15 h 21"/>
                <a:gd name="T46" fmla="*/ 29 w 61"/>
                <a:gd name="T47" fmla="*/ 15 h 21"/>
                <a:gd name="T48" fmla="*/ 24 w 61"/>
                <a:gd name="T49" fmla="*/ 17 h 21"/>
                <a:gd name="T50" fmla="*/ 17 w 61"/>
                <a:gd name="T51" fmla="*/ 17 h 21"/>
                <a:gd name="T52" fmla="*/ 10 w 61"/>
                <a:gd name="T53" fmla="*/ 18 h 21"/>
                <a:gd name="T54" fmla="*/ 4 w 61"/>
                <a:gd name="T55" fmla="*/ 19 h 21"/>
                <a:gd name="T56" fmla="*/ 1 w 61"/>
                <a:gd name="T5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21">
                  <a:moveTo>
                    <a:pt x="1" y="21"/>
                  </a:moveTo>
                  <a:lnTo>
                    <a:pt x="1" y="18"/>
                  </a:lnTo>
                  <a:lnTo>
                    <a:pt x="1" y="17"/>
                  </a:lnTo>
                  <a:lnTo>
                    <a:pt x="1" y="14"/>
                  </a:lnTo>
                  <a:lnTo>
                    <a:pt x="0" y="12"/>
                  </a:lnTo>
                  <a:lnTo>
                    <a:pt x="4" y="12"/>
                  </a:lnTo>
                  <a:lnTo>
                    <a:pt x="10" y="12"/>
                  </a:lnTo>
                  <a:lnTo>
                    <a:pt x="15" y="12"/>
                  </a:lnTo>
                  <a:lnTo>
                    <a:pt x="22" y="11"/>
                  </a:lnTo>
                  <a:lnTo>
                    <a:pt x="29" y="11"/>
                  </a:lnTo>
                  <a:lnTo>
                    <a:pt x="36" y="10"/>
                  </a:lnTo>
                  <a:lnTo>
                    <a:pt x="44" y="11"/>
                  </a:lnTo>
                  <a:lnTo>
                    <a:pt x="49" y="11"/>
                  </a:lnTo>
                  <a:lnTo>
                    <a:pt x="52" y="8"/>
                  </a:lnTo>
                  <a:lnTo>
                    <a:pt x="56" y="5"/>
                  </a:lnTo>
                  <a:lnTo>
                    <a:pt x="59" y="2"/>
                  </a:lnTo>
                  <a:lnTo>
                    <a:pt x="61" y="0"/>
                  </a:lnTo>
                  <a:lnTo>
                    <a:pt x="61" y="5"/>
                  </a:lnTo>
                  <a:lnTo>
                    <a:pt x="56" y="10"/>
                  </a:lnTo>
                  <a:lnTo>
                    <a:pt x="51" y="14"/>
                  </a:lnTo>
                  <a:lnTo>
                    <a:pt x="45" y="15"/>
                  </a:lnTo>
                  <a:lnTo>
                    <a:pt x="42" y="15"/>
                  </a:lnTo>
                  <a:lnTo>
                    <a:pt x="36" y="15"/>
                  </a:lnTo>
                  <a:lnTo>
                    <a:pt x="29" y="15"/>
                  </a:lnTo>
                  <a:lnTo>
                    <a:pt x="24" y="17"/>
                  </a:lnTo>
                  <a:lnTo>
                    <a:pt x="17" y="17"/>
                  </a:lnTo>
                  <a:lnTo>
                    <a:pt x="10" y="18"/>
                  </a:lnTo>
                  <a:lnTo>
                    <a:pt x="4" y="19"/>
                  </a:lnTo>
                  <a:lnTo>
                    <a:pt x="1" y="21"/>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4" name="Freeform 108"/>
            <p:cNvSpPr>
              <a:spLocks/>
            </p:cNvSpPr>
            <p:nvPr/>
          </p:nvSpPr>
          <p:spPr bwMode="auto">
            <a:xfrm>
              <a:off x="3463" y="2364"/>
              <a:ext cx="9" cy="4"/>
            </a:xfrm>
            <a:custGeom>
              <a:avLst/>
              <a:gdLst>
                <a:gd name="T0" fmla="*/ 0 w 27"/>
                <a:gd name="T1" fmla="*/ 8 h 12"/>
                <a:gd name="T2" fmla="*/ 7 w 27"/>
                <a:gd name="T3" fmla="*/ 8 h 12"/>
                <a:gd name="T4" fmla="*/ 14 w 27"/>
                <a:gd name="T5" fmla="*/ 8 h 12"/>
                <a:gd name="T6" fmla="*/ 19 w 27"/>
                <a:gd name="T7" fmla="*/ 8 h 12"/>
                <a:gd name="T8" fmla="*/ 23 w 27"/>
                <a:gd name="T9" fmla="*/ 8 h 12"/>
                <a:gd name="T10" fmla="*/ 24 w 27"/>
                <a:gd name="T11" fmla="*/ 6 h 12"/>
                <a:gd name="T12" fmla="*/ 26 w 27"/>
                <a:gd name="T13" fmla="*/ 5 h 12"/>
                <a:gd name="T14" fmla="*/ 27 w 27"/>
                <a:gd name="T15" fmla="*/ 2 h 12"/>
                <a:gd name="T16" fmla="*/ 27 w 27"/>
                <a:gd name="T17" fmla="*/ 0 h 12"/>
                <a:gd name="T18" fmla="*/ 27 w 27"/>
                <a:gd name="T19" fmla="*/ 5 h 12"/>
                <a:gd name="T20" fmla="*/ 26 w 27"/>
                <a:gd name="T21" fmla="*/ 8 h 12"/>
                <a:gd name="T22" fmla="*/ 22 w 27"/>
                <a:gd name="T23" fmla="*/ 10 h 12"/>
                <a:gd name="T24" fmla="*/ 16 w 27"/>
                <a:gd name="T25" fmla="*/ 12 h 12"/>
                <a:gd name="T26" fmla="*/ 12 w 27"/>
                <a:gd name="T27" fmla="*/ 12 h 12"/>
                <a:gd name="T28" fmla="*/ 7 w 27"/>
                <a:gd name="T29" fmla="*/ 12 h 12"/>
                <a:gd name="T30" fmla="*/ 5 w 27"/>
                <a:gd name="T31" fmla="*/ 12 h 12"/>
                <a:gd name="T32" fmla="*/ 0 w 27"/>
                <a:gd name="T33"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12">
                  <a:moveTo>
                    <a:pt x="0" y="8"/>
                  </a:moveTo>
                  <a:lnTo>
                    <a:pt x="7" y="8"/>
                  </a:lnTo>
                  <a:lnTo>
                    <a:pt x="14" y="8"/>
                  </a:lnTo>
                  <a:lnTo>
                    <a:pt x="19" y="8"/>
                  </a:lnTo>
                  <a:lnTo>
                    <a:pt x="23" y="8"/>
                  </a:lnTo>
                  <a:lnTo>
                    <a:pt x="24" y="6"/>
                  </a:lnTo>
                  <a:lnTo>
                    <a:pt x="26" y="5"/>
                  </a:lnTo>
                  <a:lnTo>
                    <a:pt x="27" y="2"/>
                  </a:lnTo>
                  <a:lnTo>
                    <a:pt x="27" y="0"/>
                  </a:lnTo>
                  <a:lnTo>
                    <a:pt x="27" y="5"/>
                  </a:lnTo>
                  <a:lnTo>
                    <a:pt x="26" y="8"/>
                  </a:lnTo>
                  <a:lnTo>
                    <a:pt x="22" y="10"/>
                  </a:lnTo>
                  <a:lnTo>
                    <a:pt x="16" y="12"/>
                  </a:lnTo>
                  <a:lnTo>
                    <a:pt x="12" y="12"/>
                  </a:lnTo>
                  <a:lnTo>
                    <a:pt x="7" y="12"/>
                  </a:lnTo>
                  <a:lnTo>
                    <a:pt x="5" y="12"/>
                  </a:lnTo>
                  <a:lnTo>
                    <a:pt x="0" y="8"/>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525" name="Freeform 109"/>
            <p:cNvSpPr>
              <a:spLocks/>
            </p:cNvSpPr>
            <p:nvPr/>
          </p:nvSpPr>
          <p:spPr bwMode="auto">
            <a:xfrm>
              <a:off x="3439" y="2349"/>
              <a:ext cx="26" cy="5"/>
            </a:xfrm>
            <a:custGeom>
              <a:avLst/>
              <a:gdLst>
                <a:gd name="T0" fmla="*/ 0 w 78"/>
                <a:gd name="T1" fmla="*/ 10 h 16"/>
                <a:gd name="T2" fmla="*/ 9 w 78"/>
                <a:gd name="T3" fmla="*/ 9 h 16"/>
                <a:gd name="T4" fmla="*/ 19 w 78"/>
                <a:gd name="T5" fmla="*/ 7 h 16"/>
                <a:gd name="T6" fmla="*/ 27 w 78"/>
                <a:gd name="T7" fmla="*/ 6 h 16"/>
                <a:gd name="T8" fmla="*/ 37 w 78"/>
                <a:gd name="T9" fmla="*/ 6 h 16"/>
                <a:gd name="T10" fmla="*/ 46 w 78"/>
                <a:gd name="T11" fmla="*/ 6 h 16"/>
                <a:gd name="T12" fmla="*/ 53 w 78"/>
                <a:gd name="T13" fmla="*/ 7 h 16"/>
                <a:gd name="T14" fmla="*/ 60 w 78"/>
                <a:gd name="T15" fmla="*/ 9 h 16"/>
                <a:gd name="T16" fmla="*/ 66 w 78"/>
                <a:gd name="T17" fmla="*/ 10 h 16"/>
                <a:gd name="T18" fmla="*/ 71 w 78"/>
                <a:gd name="T19" fmla="*/ 10 h 16"/>
                <a:gd name="T20" fmla="*/ 74 w 78"/>
                <a:gd name="T21" fmla="*/ 9 h 16"/>
                <a:gd name="T22" fmla="*/ 74 w 78"/>
                <a:gd name="T23" fmla="*/ 4 h 16"/>
                <a:gd name="T24" fmla="*/ 74 w 78"/>
                <a:gd name="T25" fmla="*/ 0 h 16"/>
                <a:gd name="T26" fmla="*/ 78 w 78"/>
                <a:gd name="T27" fmla="*/ 7 h 16"/>
                <a:gd name="T28" fmla="*/ 78 w 78"/>
                <a:gd name="T29" fmla="*/ 11 h 16"/>
                <a:gd name="T30" fmla="*/ 73 w 78"/>
                <a:gd name="T31" fmla="*/ 16 h 16"/>
                <a:gd name="T32" fmla="*/ 60 w 78"/>
                <a:gd name="T33" fmla="*/ 14 h 16"/>
                <a:gd name="T34" fmla="*/ 51 w 78"/>
                <a:gd name="T35" fmla="*/ 13 h 16"/>
                <a:gd name="T36" fmla="*/ 43 w 78"/>
                <a:gd name="T37" fmla="*/ 11 h 16"/>
                <a:gd name="T38" fmla="*/ 34 w 78"/>
                <a:gd name="T39" fmla="*/ 10 h 16"/>
                <a:gd name="T40" fmla="*/ 25 w 78"/>
                <a:gd name="T41" fmla="*/ 10 h 16"/>
                <a:gd name="T42" fmla="*/ 16 w 78"/>
                <a:gd name="T43" fmla="*/ 10 h 16"/>
                <a:gd name="T44" fmla="*/ 9 w 78"/>
                <a:gd name="T45" fmla="*/ 10 h 16"/>
                <a:gd name="T46" fmla="*/ 3 w 78"/>
                <a:gd name="T47" fmla="*/ 10 h 16"/>
                <a:gd name="T48" fmla="*/ 0 w 78"/>
                <a:gd name="T49"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8" h="16">
                  <a:moveTo>
                    <a:pt x="0" y="10"/>
                  </a:moveTo>
                  <a:lnTo>
                    <a:pt x="9" y="9"/>
                  </a:lnTo>
                  <a:lnTo>
                    <a:pt x="19" y="7"/>
                  </a:lnTo>
                  <a:lnTo>
                    <a:pt x="27" y="6"/>
                  </a:lnTo>
                  <a:lnTo>
                    <a:pt x="37" y="6"/>
                  </a:lnTo>
                  <a:lnTo>
                    <a:pt x="46" y="6"/>
                  </a:lnTo>
                  <a:lnTo>
                    <a:pt x="53" y="7"/>
                  </a:lnTo>
                  <a:lnTo>
                    <a:pt x="60" y="9"/>
                  </a:lnTo>
                  <a:lnTo>
                    <a:pt x="66" y="10"/>
                  </a:lnTo>
                  <a:lnTo>
                    <a:pt x="71" y="10"/>
                  </a:lnTo>
                  <a:lnTo>
                    <a:pt x="74" y="9"/>
                  </a:lnTo>
                  <a:lnTo>
                    <a:pt x="74" y="4"/>
                  </a:lnTo>
                  <a:lnTo>
                    <a:pt x="74" y="0"/>
                  </a:lnTo>
                  <a:lnTo>
                    <a:pt x="78" y="7"/>
                  </a:lnTo>
                  <a:lnTo>
                    <a:pt x="78" y="11"/>
                  </a:lnTo>
                  <a:lnTo>
                    <a:pt x="73" y="16"/>
                  </a:lnTo>
                  <a:lnTo>
                    <a:pt x="60" y="14"/>
                  </a:lnTo>
                  <a:lnTo>
                    <a:pt x="51" y="13"/>
                  </a:lnTo>
                  <a:lnTo>
                    <a:pt x="43" y="11"/>
                  </a:lnTo>
                  <a:lnTo>
                    <a:pt x="34" y="10"/>
                  </a:lnTo>
                  <a:lnTo>
                    <a:pt x="25" y="10"/>
                  </a:lnTo>
                  <a:lnTo>
                    <a:pt x="16" y="10"/>
                  </a:lnTo>
                  <a:lnTo>
                    <a:pt x="9" y="10"/>
                  </a:lnTo>
                  <a:lnTo>
                    <a:pt x="3" y="10"/>
                  </a:lnTo>
                  <a:lnTo>
                    <a:pt x="0" y="10"/>
                  </a:lnTo>
                  <a:close/>
                </a:path>
              </a:pathLst>
            </a:custGeom>
            <a:solidFill>
              <a:srgbClr val="33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0526" name="Rectangle 110"/>
          <p:cNvSpPr>
            <a:spLocks noGrp="1" noChangeArrowheads="1"/>
          </p:cNvSpPr>
          <p:nvPr>
            <p:ph type="title"/>
          </p:nvPr>
        </p:nvSpPr>
        <p:spPr>
          <a:xfrm>
            <a:off x="176064" y="1022882"/>
            <a:ext cx="8229600" cy="710067"/>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0" tIns="46800" rIns="0" bIns="46800" anchor="ctr">
            <a:spAutoFit/>
          </a:bodyPr>
          <a:lstStyle/>
          <a:p>
            <a:r>
              <a:rPr lang="zh-CN" altLang="en-US" sz="4000" b="0" dirty="0"/>
              <a:t>矢量图形对象</a:t>
            </a:r>
          </a:p>
        </p:txBody>
      </p:sp>
      <p:sp>
        <p:nvSpPr>
          <p:cNvPr id="105" name="Rectangle 2">
            <a:extLst>
              <a:ext uri="{FF2B5EF4-FFF2-40B4-BE49-F238E27FC236}">
                <a16:creationId xmlns:a16="http://schemas.microsoft.com/office/drawing/2014/main" id="{F3F3592C-588E-4EB2-B2DC-80323DED9FB5}"/>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106" name="矩形 105">
            <a:extLst>
              <a:ext uri="{FF2B5EF4-FFF2-40B4-BE49-F238E27FC236}">
                <a16:creationId xmlns:a16="http://schemas.microsoft.com/office/drawing/2014/main" id="{B33FF939-503C-4AAF-899E-196E65C20E9D}"/>
              </a:ext>
            </a:extLst>
          </p:cNvPr>
          <p:cNvSpPr/>
          <p:nvPr/>
        </p:nvSpPr>
        <p:spPr>
          <a:xfrm>
            <a:off x="6331223" y="1808774"/>
            <a:ext cx="2776766" cy="3785652"/>
          </a:xfrm>
          <a:prstGeom prst="rect">
            <a:avLst/>
          </a:prstGeom>
        </p:spPr>
        <p:txBody>
          <a:bodyPr wrap="square">
            <a:spAutoFit/>
          </a:bodyPr>
          <a:lstStyle/>
          <a:p>
            <a:r>
              <a:rPr lang="zh-CN" altLang="en-US" sz="2400" dirty="0">
                <a:solidFill>
                  <a:srgbClr val="121212"/>
                </a:solidFill>
                <a:latin typeface="-apple-system"/>
              </a:rPr>
              <a:t>矢量图使用点、线段、曲线等矢量图形来描述对象。同时矢量图形还可以包含了色彩和位置信息，使矢量图能够较为逼真的描述对象。</a:t>
            </a:r>
            <a:r>
              <a:rPr lang="zh-CN" altLang="en-US" sz="2400" dirty="0">
                <a:solidFill>
                  <a:srgbClr val="FF0000"/>
                </a:solidFill>
                <a:latin typeface="-apple-system"/>
              </a:rPr>
              <a:t>矢量图可以无限放大，不会失真。</a:t>
            </a:r>
            <a:endParaRPr lang="zh-CN" altLang="en-US" sz="2400" dirty="0">
              <a:solidFill>
                <a:srgbClr val="FF0000"/>
              </a:solidFill>
            </a:endParaRPr>
          </a:p>
        </p:txBody>
      </p:sp>
      <p:sp>
        <p:nvSpPr>
          <p:cNvPr id="2" name="灯片编号占位符 1">
            <a:extLst>
              <a:ext uri="{FF2B5EF4-FFF2-40B4-BE49-F238E27FC236}">
                <a16:creationId xmlns:a16="http://schemas.microsoft.com/office/drawing/2014/main" id="{80E86D92-C787-4966-AE77-9A6C093EEA80}"/>
              </a:ext>
            </a:extLst>
          </p:cNvPr>
          <p:cNvSpPr>
            <a:spLocks noGrp="1"/>
          </p:cNvSpPr>
          <p:nvPr>
            <p:ph type="sldNum" sz="quarter" idx="12"/>
          </p:nvPr>
        </p:nvSpPr>
        <p:spPr/>
        <p:txBody>
          <a:bodyPr/>
          <a:lstStyle/>
          <a:p>
            <a:fld id="{F64BA984-46A0-4F46-990E-EC790E6934B4}" type="slidenum">
              <a:rPr lang="zh-CN" altLang="en-US" smtClean="0"/>
              <a:t>33</a:t>
            </a:fld>
            <a:endParaRPr lang="zh-CN" altLang="en-US"/>
          </a:p>
        </p:txBody>
      </p:sp>
    </p:spTree>
    <p:extLst>
      <p:ext uri="{BB962C8B-B14F-4D97-AF65-F5344CB8AC3E}">
        <p14:creationId xmlns:p14="http://schemas.microsoft.com/office/powerpoint/2010/main" val="558243234"/>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20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a:xfrm>
            <a:off x="377555" y="1045230"/>
            <a:ext cx="7895395" cy="703263"/>
          </a:xfrm>
        </p:spPr>
        <p:txBody>
          <a:bodyPr>
            <a:normAutofit/>
          </a:bodyPr>
          <a:lstStyle/>
          <a:p>
            <a:pPr eaLnBrk="1" hangingPunct="1">
              <a:defRPr/>
            </a:pPr>
            <a:r>
              <a:rPr lang="zh-CN" altLang="en-US" sz="3200" dirty="0"/>
              <a:t>位图和矢量图的区别</a:t>
            </a:r>
            <a:endParaRPr lang="en-US" sz="3200" dirty="0"/>
          </a:p>
        </p:txBody>
      </p:sp>
      <p:sp>
        <p:nvSpPr>
          <p:cNvPr id="8" name="Rectangle 2">
            <a:extLst>
              <a:ext uri="{FF2B5EF4-FFF2-40B4-BE49-F238E27FC236}">
                <a16:creationId xmlns:a16="http://schemas.microsoft.com/office/drawing/2014/main" id="{8F31BC25-2817-493D-AA03-4A6C9F5F5671}"/>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2" name="矩形 1">
            <a:extLst>
              <a:ext uri="{FF2B5EF4-FFF2-40B4-BE49-F238E27FC236}">
                <a16:creationId xmlns:a16="http://schemas.microsoft.com/office/drawing/2014/main" id="{E79117E5-40CB-46FF-9C7E-15F5AAE13C70}"/>
              </a:ext>
            </a:extLst>
          </p:cNvPr>
          <p:cNvSpPr/>
          <p:nvPr/>
        </p:nvSpPr>
        <p:spPr>
          <a:xfrm>
            <a:off x="580836" y="1885675"/>
            <a:ext cx="8229600" cy="1200329"/>
          </a:xfrm>
          <a:prstGeom prst="rect">
            <a:avLst/>
          </a:prstGeom>
        </p:spPr>
        <p:txBody>
          <a:bodyPr wrap="square">
            <a:spAutoFit/>
          </a:bodyPr>
          <a:lstStyle/>
          <a:p>
            <a:r>
              <a:rPr lang="zh-CN" altLang="en-US" sz="2400" dirty="0">
                <a:solidFill>
                  <a:srgbClr val="121212"/>
                </a:solidFill>
                <a:latin typeface="-apple-system"/>
              </a:rPr>
              <a:t>位图使用像素点来描述对象。在位图中，上面我们看到的图像由每一个网格中的像素点的位置和色彩值来决定。</a:t>
            </a:r>
            <a:r>
              <a:rPr lang="zh-CN" altLang="en-US" sz="2400" dirty="0">
                <a:solidFill>
                  <a:srgbClr val="FF0000"/>
                </a:solidFill>
                <a:latin typeface="-apple-system"/>
              </a:rPr>
              <a:t>位图放大会失真。</a:t>
            </a:r>
            <a:endParaRPr lang="zh-CN" altLang="en-US" sz="2400" dirty="0">
              <a:solidFill>
                <a:srgbClr val="FF0000"/>
              </a:solidFill>
            </a:endParaRPr>
          </a:p>
        </p:txBody>
      </p:sp>
      <p:sp>
        <p:nvSpPr>
          <p:cNvPr id="10" name="矩形 9">
            <a:extLst>
              <a:ext uri="{FF2B5EF4-FFF2-40B4-BE49-F238E27FC236}">
                <a16:creationId xmlns:a16="http://schemas.microsoft.com/office/drawing/2014/main" id="{06466F00-46C9-4FD0-997A-16254A72F9CF}"/>
              </a:ext>
            </a:extLst>
          </p:cNvPr>
          <p:cNvSpPr/>
          <p:nvPr/>
        </p:nvSpPr>
        <p:spPr>
          <a:xfrm>
            <a:off x="457200" y="3232314"/>
            <a:ext cx="8229600" cy="1200329"/>
          </a:xfrm>
          <a:prstGeom prst="rect">
            <a:avLst/>
          </a:prstGeom>
        </p:spPr>
        <p:txBody>
          <a:bodyPr wrap="square">
            <a:spAutoFit/>
          </a:bodyPr>
          <a:lstStyle/>
          <a:p>
            <a:r>
              <a:rPr lang="zh-CN" altLang="en-US" sz="2400" dirty="0">
                <a:solidFill>
                  <a:srgbClr val="121212"/>
                </a:solidFill>
                <a:latin typeface="-apple-system"/>
              </a:rPr>
              <a:t>矢量图使用点、线段、曲线等矢量图形来描述对象。同时矢量图形还可以包含了色彩和位置信息，使矢量图能够较为逼真的描述对象。</a:t>
            </a:r>
            <a:r>
              <a:rPr lang="zh-CN" altLang="en-US" sz="2400" dirty="0">
                <a:solidFill>
                  <a:srgbClr val="FF0000"/>
                </a:solidFill>
                <a:latin typeface="-apple-system"/>
              </a:rPr>
              <a:t>矢量图可以无限放大，不会失真。</a:t>
            </a:r>
            <a:endParaRPr lang="zh-CN" altLang="en-US" sz="2400" dirty="0">
              <a:solidFill>
                <a:srgbClr val="FF0000"/>
              </a:solidFill>
            </a:endParaRPr>
          </a:p>
        </p:txBody>
      </p:sp>
      <p:pic>
        <p:nvPicPr>
          <p:cNvPr id="3" name="图片 2">
            <a:extLst>
              <a:ext uri="{FF2B5EF4-FFF2-40B4-BE49-F238E27FC236}">
                <a16:creationId xmlns:a16="http://schemas.microsoft.com/office/drawing/2014/main" id="{E3A5DB54-6B1A-492F-8026-94A6205BB299}"/>
              </a:ext>
            </a:extLst>
          </p:cNvPr>
          <p:cNvPicPr>
            <a:picLocks noChangeAspect="1"/>
          </p:cNvPicPr>
          <p:nvPr/>
        </p:nvPicPr>
        <p:blipFill>
          <a:blip r:embed="rId3"/>
          <a:stretch>
            <a:fillRect/>
          </a:stretch>
        </p:blipFill>
        <p:spPr>
          <a:xfrm>
            <a:off x="971600" y="4578953"/>
            <a:ext cx="2988738" cy="1856304"/>
          </a:xfrm>
          <a:prstGeom prst="rect">
            <a:avLst/>
          </a:prstGeom>
        </p:spPr>
      </p:pic>
      <p:pic>
        <p:nvPicPr>
          <p:cNvPr id="4" name="图片 3">
            <a:extLst>
              <a:ext uri="{FF2B5EF4-FFF2-40B4-BE49-F238E27FC236}">
                <a16:creationId xmlns:a16="http://schemas.microsoft.com/office/drawing/2014/main" id="{40FB951B-A423-4261-86A2-93C62F7D314C}"/>
              </a:ext>
            </a:extLst>
          </p:cNvPr>
          <p:cNvPicPr>
            <a:picLocks noChangeAspect="1"/>
          </p:cNvPicPr>
          <p:nvPr/>
        </p:nvPicPr>
        <p:blipFill>
          <a:blip r:embed="rId4"/>
          <a:stretch>
            <a:fillRect/>
          </a:stretch>
        </p:blipFill>
        <p:spPr>
          <a:xfrm>
            <a:off x="4499992" y="4468371"/>
            <a:ext cx="3500983" cy="1973872"/>
          </a:xfrm>
          <a:prstGeom prst="rect">
            <a:avLst/>
          </a:prstGeom>
        </p:spPr>
      </p:pic>
      <p:sp>
        <p:nvSpPr>
          <p:cNvPr id="5" name="灯片编号占位符 4">
            <a:extLst>
              <a:ext uri="{FF2B5EF4-FFF2-40B4-BE49-F238E27FC236}">
                <a16:creationId xmlns:a16="http://schemas.microsoft.com/office/drawing/2014/main" id="{D307F800-9E72-4373-BEFA-6D346D91998D}"/>
              </a:ext>
            </a:extLst>
          </p:cNvPr>
          <p:cNvSpPr>
            <a:spLocks noGrp="1"/>
          </p:cNvSpPr>
          <p:nvPr>
            <p:ph type="sldNum" sz="quarter" idx="12"/>
          </p:nvPr>
        </p:nvSpPr>
        <p:spPr/>
        <p:txBody>
          <a:bodyPr/>
          <a:lstStyle/>
          <a:p>
            <a:fld id="{F64BA984-46A0-4F46-990E-EC790E6934B4}" type="slidenum">
              <a:rPr lang="zh-CN" altLang="en-US" smtClean="0"/>
              <a:t>34</a:t>
            </a:fld>
            <a:endParaRPr lang="zh-CN" altLang="en-US"/>
          </a:p>
        </p:txBody>
      </p:sp>
    </p:spTree>
    <p:extLst>
      <p:ext uri="{BB962C8B-B14F-4D97-AF65-F5344CB8AC3E}">
        <p14:creationId xmlns:p14="http://schemas.microsoft.com/office/powerpoint/2010/main" val="166179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a:xfrm>
            <a:off x="377555" y="1045230"/>
            <a:ext cx="7895395" cy="703263"/>
          </a:xfrm>
        </p:spPr>
        <p:txBody>
          <a:bodyPr>
            <a:normAutofit/>
          </a:bodyPr>
          <a:lstStyle/>
          <a:p>
            <a:pPr eaLnBrk="1" hangingPunct="1">
              <a:defRPr/>
            </a:pPr>
            <a:r>
              <a:rPr lang="zh-CN" altLang="en-US" sz="3200" dirty="0"/>
              <a:t>位图和矢量图的区别</a:t>
            </a:r>
            <a:endParaRPr lang="en-US" sz="3200" dirty="0"/>
          </a:p>
        </p:txBody>
      </p:sp>
      <p:pic>
        <p:nvPicPr>
          <p:cNvPr id="25606" name="Picture 4" descr="Rastervsvecto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060848"/>
            <a:ext cx="26924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5" descr="Rastervsvector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3654" y="2060848"/>
            <a:ext cx="2424109" cy="3780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6" descr="Rastervsvector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48264" y="2079772"/>
            <a:ext cx="2025874" cy="383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Text Box 7"/>
          <p:cNvSpPr txBox="1">
            <a:spLocks noChangeArrowheads="1"/>
          </p:cNvSpPr>
          <p:nvPr/>
        </p:nvSpPr>
        <p:spPr bwMode="auto">
          <a:xfrm>
            <a:off x="4002088" y="58769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zh-CN" altLang="en-US" b="1" dirty="0">
                <a:solidFill>
                  <a:srgbClr val="0000FF"/>
                </a:solidFill>
                <a:ea typeface="宋体" charset="-122"/>
              </a:rPr>
              <a:t>位图</a:t>
            </a:r>
            <a:endParaRPr lang="en-US" altLang="zh-CN" b="1" dirty="0">
              <a:solidFill>
                <a:srgbClr val="0000FF"/>
              </a:solidFill>
              <a:ea typeface="宋体" charset="-122"/>
            </a:endParaRPr>
          </a:p>
        </p:txBody>
      </p:sp>
      <p:sp>
        <p:nvSpPr>
          <p:cNvPr id="25610" name="Text Box 8"/>
          <p:cNvSpPr txBox="1">
            <a:spLocks noChangeArrowheads="1"/>
          </p:cNvSpPr>
          <p:nvPr/>
        </p:nvSpPr>
        <p:spPr bwMode="auto">
          <a:xfrm>
            <a:off x="7040563" y="5876925"/>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zh-CN" altLang="en-US" b="1" dirty="0">
                <a:solidFill>
                  <a:srgbClr val="0000FF"/>
                </a:solidFill>
                <a:ea typeface="宋体" charset="-122"/>
              </a:rPr>
              <a:t>矢量图</a:t>
            </a:r>
            <a:endParaRPr lang="en-US" altLang="zh-CN" b="1" dirty="0">
              <a:solidFill>
                <a:srgbClr val="0000FF"/>
              </a:solidFill>
              <a:ea typeface="宋体" charset="-122"/>
            </a:endParaRPr>
          </a:p>
        </p:txBody>
      </p:sp>
      <p:sp>
        <p:nvSpPr>
          <p:cNvPr id="8" name="Rectangle 2">
            <a:extLst>
              <a:ext uri="{FF2B5EF4-FFF2-40B4-BE49-F238E27FC236}">
                <a16:creationId xmlns:a16="http://schemas.microsoft.com/office/drawing/2014/main" id="{8F31BC25-2817-493D-AA03-4A6C9F5F5671}"/>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2" name="灯片编号占位符 1">
            <a:extLst>
              <a:ext uri="{FF2B5EF4-FFF2-40B4-BE49-F238E27FC236}">
                <a16:creationId xmlns:a16="http://schemas.microsoft.com/office/drawing/2014/main" id="{B832EC41-AB93-4096-A7D9-6E5EE8023012}"/>
              </a:ext>
            </a:extLst>
          </p:cNvPr>
          <p:cNvSpPr>
            <a:spLocks noGrp="1"/>
          </p:cNvSpPr>
          <p:nvPr>
            <p:ph type="sldNum" sz="quarter" idx="12"/>
          </p:nvPr>
        </p:nvSpPr>
        <p:spPr/>
        <p:txBody>
          <a:bodyPr/>
          <a:lstStyle/>
          <a:p>
            <a:fld id="{F64BA984-46A0-4F46-990E-EC790E6934B4}" type="slidenum">
              <a:rPr lang="zh-CN" altLang="en-US" smtClean="0"/>
              <a:t>35</a:t>
            </a:fld>
            <a:endParaRPr lang="zh-CN" altLang="en-US"/>
          </a:p>
        </p:txBody>
      </p:sp>
    </p:spTree>
    <p:extLst>
      <p:ext uri="{BB962C8B-B14F-4D97-AF65-F5344CB8AC3E}">
        <p14:creationId xmlns:p14="http://schemas.microsoft.com/office/powerpoint/2010/main" val="104694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4294967295"/>
          </p:nvPr>
        </p:nvSpPr>
        <p:spPr>
          <a:xfrm>
            <a:off x="250824" y="1124744"/>
            <a:ext cx="8480424" cy="1656184"/>
          </a:xfrm>
        </p:spPr>
        <p:txBody>
          <a:bodyPr/>
          <a:lstStyle/>
          <a:p>
            <a:pPr>
              <a:lnSpc>
                <a:spcPct val="120000"/>
              </a:lnSpc>
            </a:pPr>
            <a:r>
              <a:rPr lang="zh-CN" altLang="en-US" sz="2800" dirty="0">
                <a:effectLst/>
                <a:latin typeface="宋体" pitchFamily="2" charset="-122"/>
                <a:ea typeface="宋体" pitchFamily="2" charset="-122"/>
              </a:rPr>
              <a:t>动画是指由许多帧静止的画面，以一定的速度（如每秒</a:t>
            </a:r>
            <a:r>
              <a:rPr lang="en-US" altLang="zh-CN" sz="2800" dirty="0">
                <a:effectLst/>
                <a:latin typeface="宋体" pitchFamily="2" charset="-122"/>
                <a:ea typeface="宋体" pitchFamily="2" charset="-122"/>
              </a:rPr>
              <a:t>16</a:t>
            </a:r>
            <a:r>
              <a:rPr lang="zh-CN" altLang="en-US" sz="2800" dirty="0">
                <a:effectLst/>
                <a:latin typeface="宋体" pitchFamily="2" charset="-122"/>
                <a:ea typeface="宋体" pitchFamily="2" charset="-122"/>
              </a:rPr>
              <a:t>张）连续播放时，肉眼因视觉残象产生错觉，而误以为画面活动的作品。</a:t>
            </a:r>
            <a:endParaRPr lang="zh-TW" altLang="en-US" dirty="0">
              <a:effectLst/>
            </a:endParaRPr>
          </a:p>
        </p:txBody>
      </p:sp>
      <p:pic>
        <p:nvPicPr>
          <p:cNvPr id="69634" name="Picture 2" descr="Animexample.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3571837"/>
            <a:ext cx="1534517" cy="1534519"/>
          </a:xfrm>
          <a:prstGeom prst="rect">
            <a:avLst/>
          </a:prstGeom>
          <a:noFill/>
          <a:extLst>
            <a:ext uri="{909E8E84-426E-40DD-AFC4-6F175D3DCCD1}">
              <a14:hiddenFill xmlns:a14="http://schemas.microsoft.com/office/drawing/2010/main">
                <a:solidFill>
                  <a:srgbClr val="FFFFFF"/>
                </a:solidFill>
              </a14:hiddenFill>
            </a:ext>
          </a:extLst>
        </p:spPr>
      </p:pic>
      <p:pic>
        <p:nvPicPr>
          <p:cNvPr id="69636" name="Picture 4" descr="Animexample2.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3545569"/>
            <a:ext cx="1584176" cy="158417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27712B66-1233-4AE7-8A06-3ECA4B0EE771}"/>
              </a:ext>
            </a:extLst>
          </p:cNvPr>
          <p:cNvSpPr>
            <a:spLocks noGrp="1" noChangeArrowheads="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多媒体研究的对象</a:t>
            </a:r>
          </a:p>
        </p:txBody>
      </p:sp>
      <p:sp>
        <p:nvSpPr>
          <p:cNvPr id="2" name="灯片编号占位符 1">
            <a:extLst>
              <a:ext uri="{FF2B5EF4-FFF2-40B4-BE49-F238E27FC236}">
                <a16:creationId xmlns:a16="http://schemas.microsoft.com/office/drawing/2014/main" id="{477FEED4-3230-4711-81E5-F13BECCCA05E}"/>
              </a:ext>
            </a:extLst>
          </p:cNvPr>
          <p:cNvSpPr>
            <a:spLocks noGrp="1"/>
          </p:cNvSpPr>
          <p:nvPr>
            <p:ph type="sldNum" sz="quarter" idx="12"/>
          </p:nvPr>
        </p:nvSpPr>
        <p:spPr/>
        <p:txBody>
          <a:bodyPr/>
          <a:lstStyle/>
          <a:p>
            <a:fld id="{F64BA984-46A0-4F46-990E-EC790E6934B4}" type="slidenum">
              <a:rPr lang="zh-CN" altLang="en-US" smtClean="0"/>
              <a:t>36</a:t>
            </a:fld>
            <a:endParaRPr lang="zh-CN" altLang="en-US"/>
          </a:p>
        </p:txBody>
      </p:sp>
    </p:spTree>
    <p:extLst>
      <p:ext uri="{BB962C8B-B14F-4D97-AF65-F5344CB8AC3E}">
        <p14:creationId xmlns:p14="http://schemas.microsoft.com/office/powerpoint/2010/main" val="100169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fade">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634"/>
                                        </p:tgtEl>
                                        <p:attrNameLst>
                                          <p:attrName>style.visibility</p:attrName>
                                        </p:attrNameLst>
                                      </p:cBhvr>
                                      <p:to>
                                        <p:strVal val="visible"/>
                                      </p:to>
                                    </p:set>
                                    <p:animEffect transition="in" filter="fade">
                                      <p:cBhvr>
                                        <p:cTn id="12" dur="500"/>
                                        <p:tgtEl>
                                          <p:spTgt spid="69634"/>
                                        </p:tgtEl>
                                      </p:cBhvr>
                                    </p:animEffect>
                                  </p:childTnLst>
                                </p:cTn>
                              </p:par>
                              <p:par>
                                <p:cTn id="13" presetID="10" presetClass="entr" presetSubtype="0" fill="hold" nodeType="withEffect">
                                  <p:stCondLst>
                                    <p:cond delay="0"/>
                                  </p:stCondLst>
                                  <p:childTnLst>
                                    <p:set>
                                      <p:cBhvr>
                                        <p:cTn id="14" dur="1" fill="hold">
                                          <p:stCondLst>
                                            <p:cond delay="0"/>
                                          </p:stCondLst>
                                        </p:cTn>
                                        <p:tgtEl>
                                          <p:spTgt spid="69636"/>
                                        </p:tgtEl>
                                        <p:attrNameLst>
                                          <p:attrName>style.visibility</p:attrName>
                                        </p:attrNameLst>
                                      </p:cBhvr>
                                      <p:to>
                                        <p:strVal val="visible"/>
                                      </p:to>
                                    </p:set>
                                    <p:animEffect transition="in" filter="fade">
                                      <p:cBhvr>
                                        <p:cTn id="15" dur="500"/>
                                        <p:tgtEl>
                                          <p:spTgt spid="696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AutoShape 3"/>
          <p:cNvSpPr>
            <a:spLocks noChangeArrowheads="1"/>
          </p:cNvSpPr>
          <p:nvPr/>
        </p:nvSpPr>
        <p:spPr bwMode="auto">
          <a:xfrm>
            <a:off x="1403648" y="5105400"/>
            <a:ext cx="5638800" cy="762000"/>
          </a:xfrm>
          <a:prstGeom prst="flowChartAlternateProcess">
            <a:avLst/>
          </a:prstGeom>
          <a:gradFill rotWithShape="0">
            <a:gsLst>
              <a:gs pos="0">
                <a:srgbClr val="009900"/>
              </a:gs>
              <a:gs pos="50000">
                <a:srgbClr val="009900">
                  <a:gamma/>
                  <a:shade val="46275"/>
                  <a:invGamma/>
                </a:srgbClr>
              </a:gs>
              <a:gs pos="100000">
                <a:srgbClr val="009900"/>
              </a:gs>
            </a:gsLst>
            <a:lin ang="1890000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bg1"/>
                </a:solidFill>
                <a:effectLst>
                  <a:outerShdw blurRad="38100" dist="38100" dir="2700000" algn="tl">
                    <a:srgbClr val="000000"/>
                  </a:outerShdw>
                </a:effectLst>
                <a:latin typeface="Times New Roman" pitchFamily="18" charset="0"/>
              </a:rPr>
              <a:t>单画面矢量动画、多画面帧动画</a:t>
            </a:r>
            <a:endParaRPr lang="zh-CN" altLang="en-US" sz="2000" b="1" dirty="0">
              <a:latin typeface="Times New Roman" pitchFamily="18" charset="0"/>
            </a:endParaRPr>
          </a:p>
        </p:txBody>
      </p:sp>
      <p:pic>
        <p:nvPicPr>
          <p:cNvPr id="62468" name="Picture 4" descr="小鸟"/>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318048" y="2514600"/>
            <a:ext cx="1447800" cy="1328738"/>
          </a:xfrm>
          <a:prstGeom prst="rect">
            <a:avLst/>
          </a:prstGeom>
          <a:noFill/>
          <a:extLst>
            <a:ext uri="{909E8E84-426E-40DD-AFC4-6F175D3DCCD1}">
              <a14:hiddenFill xmlns:a14="http://schemas.microsoft.com/office/drawing/2010/main">
                <a:solidFill>
                  <a:srgbClr val="FFFFFF"/>
                </a:solidFill>
              </a14:hiddenFill>
            </a:ext>
          </a:extLst>
        </p:spPr>
      </p:pic>
      <p:sp>
        <p:nvSpPr>
          <p:cNvPr id="62476" name="AutoShape 12"/>
          <p:cNvSpPr>
            <a:spLocks noChangeArrowheads="1"/>
          </p:cNvSpPr>
          <p:nvPr/>
        </p:nvSpPr>
        <p:spPr bwMode="auto">
          <a:xfrm>
            <a:off x="1403648" y="990600"/>
            <a:ext cx="5638800" cy="3733800"/>
          </a:xfrm>
          <a:prstGeom prst="roundRect">
            <a:avLst>
              <a:gd name="adj" fmla="val 5741"/>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p>
        </p:txBody>
      </p:sp>
      <p:sp>
        <p:nvSpPr>
          <p:cNvPr id="62478" name="Rectangle 14"/>
          <p:cNvSpPr>
            <a:spLocks noChangeArrowheads="1"/>
          </p:cNvSpPr>
          <p:nvPr/>
        </p:nvSpPr>
        <p:spPr bwMode="auto">
          <a:xfrm>
            <a:off x="4070648" y="3048000"/>
            <a:ext cx="2057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chemeClr val="bg1"/>
                </a:solidFill>
                <a:effectLst>
                  <a:outerShdw blurRad="38100" dist="38100" dir="2700000" algn="tl">
                    <a:srgbClr val="000000"/>
                  </a:outerShdw>
                </a:effectLst>
                <a:latin typeface="Times New Roman" pitchFamily="18" charset="0"/>
              </a:rPr>
              <a:t>多画面帧动画</a:t>
            </a:r>
          </a:p>
        </p:txBody>
      </p:sp>
      <p:sp>
        <p:nvSpPr>
          <p:cNvPr id="62479" name="Rectangle 15"/>
          <p:cNvSpPr>
            <a:spLocks noChangeArrowheads="1"/>
          </p:cNvSpPr>
          <p:nvPr/>
        </p:nvSpPr>
        <p:spPr bwMode="auto">
          <a:xfrm>
            <a:off x="3313411" y="1828800"/>
            <a:ext cx="22812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2000" b="1">
                <a:solidFill>
                  <a:schemeClr val="bg1"/>
                </a:solidFill>
                <a:effectLst>
                  <a:outerShdw blurRad="38100" dist="38100" dir="2700000" algn="tl">
                    <a:srgbClr val="000000"/>
                  </a:outerShdw>
                </a:effectLst>
                <a:latin typeface="Times New Roman" pitchFamily="18" charset="0"/>
              </a:rPr>
              <a:t>单画面矢量动画</a:t>
            </a:r>
          </a:p>
        </p:txBody>
      </p:sp>
      <p:pic>
        <p:nvPicPr>
          <p:cNvPr id="62480" name="Picture 16" descr="动态标题03"/>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flipV="1">
            <a:off x="2699048" y="1219200"/>
            <a:ext cx="3124200" cy="685800"/>
          </a:xfrm>
          <a:prstGeom prst="rect">
            <a:avLst/>
          </a:prstGeom>
          <a:noFill/>
          <a:extLst>
            <a:ext uri="{909E8E84-426E-40DD-AFC4-6F175D3DCCD1}">
              <a14:hiddenFill xmlns:a14="http://schemas.microsoft.com/office/drawing/2010/main">
                <a:solidFill>
                  <a:srgbClr val="FFFFFF"/>
                </a:solidFill>
              </a14:hiddenFill>
            </a:ext>
          </a:extLst>
        </p:spPr>
      </p:pic>
      <p:sp>
        <p:nvSpPr>
          <p:cNvPr id="62481" name="Line 17"/>
          <p:cNvSpPr>
            <a:spLocks noChangeShapeType="1"/>
          </p:cNvSpPr>
          <p:nvPr/>
        </p:nvSpPr>
        <p:spPr bwMode="auto">
          <a:xfrm>
            <a:off x="1708448" y="2438400"/>
            <a:ext cx="5105400" cy="0"/>
          </a:xfrm>
          <a:prstGeom prst="line">
            <a:avLst/>
          </a:prstGeom>
          <a:noFill/>
          <a:ln w="19050">
            <a:solidFill>
              <a:schemeClr val="hlink"/>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a:p>
        </p:txBody>
      </p:sp>
      <p:grpSp>
        <p:nvGrpSpPr>
          <p:cNvPr id="62482" name="Group 18"/>
          <p:cNvGrpSpPr>
            <a:grpSpLocks/>
          </p:cNvGrpSpPr>
          <p:nvPr/>
        </p:nvGrpSpPr>
        <p:grpSpPr bwMode="auto">
          <a:xfrm>
            <a:off x="1556048" y="3659188"/>
            <a:ext cx="5486400" cy="912812"/>
            <a:chOff x="1872" y="2670"/>
            <a:chExt cx="3456" cy="575"/>
          </a:xfrm>
        </p:grpSpPr>
        <p:pic>
          <p:nvPicPr>
            <p:cNvPr id="62483" name="Picture 19" descr="T00"/>
            <p:cNvPicPr>
              <a:picLocks noChangeAspect="1" noChangeArrowheads="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872" y="2670"/>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4" name="Picture 20" descr="T01"/>
            <p:cNvPicPr>
              <a:picLocks noChangeAspect="1" noChangeArrowheads="1"/>
            </p:cNvPicPr>
            <p:nvPr/>
          </p:nvPicPr>
          <p:blipFill>
            <a:blip r:embed="rId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352" y="2670"/>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5" name="Picture 21" descr="T02"/>
            <p:cNvPicPr>
              <a:picLocks noChangeAspect="1" noChangeArrowheads="1"/>
            </p:cNvPicPr>
            <p:nvPr/>
          </p:nvPicPr>
          <p:blipFill>
            <a:blip r:embed="rId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832" y="2670"/>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6" name="Picture 22" descr="T04"/>
            <p:cNvPicPr>
              <a:picLocks noChangeAspect="1" noChangeArrowheads="1"/>
            </p:cNvPicPr>
            <p:nvPr/>
          </p:nvPicPr>
          <p:blipFill>
            <a:blip r:embed="rId7">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312" y="2718"/>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7" name="Picture 23" descr="T06"/>
            <p:cNvPicPr>
              <a:picLocks noChangeAspect="1" noChangeArrowheads="1"/>
            </p:cNvPicPr>
            <p:nvPr/>
          </p:nvPicPr>
          <p:blipFill>
            <a:blip r:embed="rId8">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792" y="2718"/>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8" name="Picture 24" descr="T12"/>
            <p:cNvPicPr>
              <a:picLocks noChangeAspect="1" noChangeArrowheads="1"/>
            </p:cNvPicPr>
            <p:nvPr/>
          </p:nvPicPr>
          <p:blipFill>
            <a:blip r:embed="rId9">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752" y="2670"/>
              <a:ext cx="490" cy="450"/>
            </a:xfrm>
            <a:prstGeom prst="rect">
              <a:avLst/>
            </a:prstGeom>
            <a:noFill/>
            <a:extLst>
              <a:ext uri="{909E8E84-426E-40DD-AFC4-6F175D3DCCD1}">
                <a14:hiddenFill xmlns:a14="http://schemas.microsoft.com/office/drawing/2010/main">
                  <a:solidFill>
                    <a:srgbClr val="FFFFFF"/>
                  </a:solidFill>
                </a14:hiddenFill>
              </a:ext>
            </a:extLst>
          </p:spPr>
        </p:pic>
        <p:pic>
          <p:nvPicPr>
            <p:cNvPr id="62489" name="Picture 25" descr="T09"/>
            <p:cNvPicPr>
              <a:picLocks noChangeAspect="1" noChangeArrowheads="1"/>
            </p:cNvPicPr>
            <p:nvPr/>
          </p:nvPicPr>
          <p:blipFill>
            <a:blip r:embed="rId10">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272" y="2718"/>
              <a:ext cx="490" cy="450"/>
            </a:xfrm>
            <a:prstGeom prst="rect">
              <a:avLst/>
            </a:prstGeom>
            <a:noFill/>
            <a:extLst>
              <a:ext uri="{909E8E84-426E-40DD-AFC4-6F175D3DCCD1}">
                <a14:hiddenFill xmlns:a14="http://schemas.microsoft.com/office/drawing/2010/main">
                  <a:solidFill>
                    <a:srgbClr val="FFFFFF"/>
                  </a:solidFill>
                </a14:hiddenFill>
              </a:ext>
            </a:extLst>
          </p:spPr>
        </p:pic>
        <p:sp>
          <p:nvSpPr>
            <p:cNvPr id="62490" name="Rectangle 26"/>
            <p:cNvSpPr>
              <a:spLocks noChangeArrowheads="1"/>
            </p:cNvSpPr>
            <p:nvPr/>
          </p:nvSpPr>
          <p:spPr bwMode="auto">
            <a:xfrm>
              <a:off x="1872" y="3072"/>
              <a:ext cx="345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800" b="1">
                  <a:solidFill>
                    <a:schemeClr val="bg1"/>
                  </a:solidFill>
                  <a:effectLst>
                    <a:outerShdw blurRad="38100" dist="38100" dir="2700000" algn="tl">
                      <a:srgbClr val="000000"/>
                    </a:outerShdw>
                  </a:effectLst>
                  <a:latin typeface="Times New Roman" pitchFamily="18" charset="0"/>
                </a:rPr>
                <a:t>FRAME</a:t>
              </a:r>
              <a:r>
                <a:rPr lang="en-US" altLang="zh-CN" sz="1200" b="1">
                  <a:solidFill>
                    <a:schemeClr val="bg1"/>
                  </a:solidFill>
                  <a:effectLst>
                    <a:outerShdw blurRad="38100" dist="38100" dir="2700000" algn="tl">
                      <a:srgbClr val="000000"/>
                    </a:outerShdw>
                  </a:effectLst>
                  <a:latin typeface="Times New Roman" pitchFamily="18" charset="0"/>
                </a:rPr>
                <a:t> 01</a:t>
              </a:r>
              <a:r>
                <a:rPr lang="en-US" altLang="zh-CN" sz="800" b="1">
                  <a:solidFill>
                    <a:schemeClr val="bg1"/>
                  </a:solidFill>
                  <a:effectLst>
                    <a:outerShdw blurRad="38100" dist="38100" dir="2700000" algn="tl">
                      <a:srgbClr val="000000"/>
                    </a:outerShdw>
                  </a:effectLst>
                  <a:latin typeface="Times New Roman" pitchFamily="18" charset="0"/>
                </a:rPr>
                <a:t>        FRAME</a:t>
              </a:r>
              <a:r>
                <a:rPr lang="en-US" altLang="zh-CN" sz="1200" b="1">
                  <a:solidFill>
                    <a:schemeClr val="bg1"/>
                  </a:solidFill>
                  <a:effectLst>
                    <a:outerShdw blurRad="38100" dist="38100" dir="2700000" algn="tl">
                      <a:srgbClr val="000000"/>
                    </a:outerShdw>
                  </a:effectLst>
                  <a:latin typeface="Times New Roman" pitchFamily="18" charset="0"/>
                </a:rPr>
                <a:t> 02</a:t>
              </a:r>
              <a:r>
                <a:rPr lang="en-US" altLang="zh-CN" sz="800" b="1">
                  <a:solidFill>
                    <a:schemeClr val="bg1"/>
                  </a:solidFill>
                  <a:effectLst>
                    <a:outerShdw blurRad="38100" dist="38100" dir="2700000" algn="tl">
                      <a:srgbClr val="000000"/>
                    </a:outerShdw>
                  </a:effectLst>
                  <a:latin typeface="Times New Roman" pitchFamily="18" charset="0"/>
                </a:rPr>
                <a:t>        FRAME </a:t>
              </a:r>
              <a:r>
                <a:rPr lang="en-US" altLang="zh-CN" sz="1200" b="1">
                  <a:solidFill>
                    <a:schemeClr val="bg1"/>
                  </a:solidFill>
                  <a:effectLst>
                    <a:outerShdw blurRad="38100" dist="38100" dir="2700000" algn="tl">
                      <a:srgbClr val="000000"/>
                    </a:outerShdw>
                  </a:effectLst>
                  <a:latin typeface="Times New Roman" pitchFamily="18" charset="0"/>
                </a:rPr>
                <a:t>03</a:t>
              </a:r>
              <a:r>
                <a:rPr lang="en-US" altLang="zh-CN" sz="800" b="1">
                  <a:solidFill>
                    <a:schemeClr val="bg1"/>
                  </a:solidFill>
                  <a:effectLst>
                    <a:outerShdw blurRad="38100" dist="38100" dir="2700000" algn="tl">
                      <a:srgbClr val="000000"/>
                    </a:outerShdw>
                  </a:effectLst>
                  <a:latin typeface="Times New Roman" pitchFamily="18" charset="0"/>
                </a:rPr>
                <a:t>         FRAME</a:t>
              </a:r>
              <a:r>
                <a:rPr lang="en-US" altLang="zh-CN" sz="1200" b="1">
                  <a:solidFill>
                    <a:schemeClr val="bg1"/>
                  </a:solidFill>
                  <a:effectLst>
                    <a:outerShdw blurRad="38100" dist="38100" dir="2700000" algn="tl">
                      <a:srgbClr val="000000"/>
                    </a:outerShdw>
                  </a:effectLst>
                  <a:latin typeface="Times New Roman" pitchFamily="18" charset="0"/>
                </a:rPr>
                <a:t> 04</a:t>
              </a:r>
              <a:r>
                <a:rPr lang="en-US" altLang="zh-CN" sz="800" b="1">
                  <a:solidFill>
                    <a:schemeClr val="bg1"/>
                  </a:solidFill>
                  <a:effectLst>
                    <a:outerShdw blurRad="38100" dist="38100" dir="2700000" algn="tl">
                      <a:srgbClr val="000000"/>
                    </a:outerShdw>
                  </a:effectLst>
                  <a:latin typeface="Times New Roman" pitchFamily="18" charset="0"/>
                </a:rPr>
                <a:t>        FRAME </a:t>
              </a:r>
              <a:r>
                <a:rPr lang="en-US" altLang="zh-CN" sz="1200" b="1">
                  <a:solidFill>
                    <a:schemeClr val="bg1"/>
                  </a:solidFill>
                  <a:effectLst>
                    <a:outerShdw blurRad="38100" dist="38100" dir="2700000" algn="tl">
                      <a:srgbClr val="000000"/>
                    </a:outerShdw>
                  </a:effectLst>
                  <a:latin typeface="Times New Roman" pitchFamily="18" charset="0"/>
                </a:rPr>
                <a:t>05</a:t>
              </a:r>
              <a:r>
                <a:rPr lang="en-US" altLang="zh-CN" sz="800" b="1">
                  <a:solidFill>
                    <a:schemeClr val="bg1"/>
                  </a:solidFill>
                  <a:effectLst>
                    <a:outerShdw blurRad="38100" dist="38100" dir="2700000" algn="tl">
                      <a:srgbClr val="000000"/>
                    </a:outerShdw>
                  </a:effectLst>
                  <a:latin typeface="Times New Roman" pitchFamily="18" charset="0"/>
                </a:rPr>
                <a:t>        FRAME</a:t>
              </a:r>
              <a:r>
                <a:rPr lang="en-US" altLang="zh-CN" sz="1200" b="1">
                  <a:solidFill>
                    <a:schemeClr val="bg1"/>
                  </a:solidFill>
                  <a:effectLst>
                    <a:outerShdw blurRad="38100" dist="38100" dir="2700000" algn="tl">
                      <a:srgbClr val="000000"/>
                    </a:outerShdw>
                  </a:effectLst>
                  <a:latin typeface="Times New Roman" pitchFamily="18" charset="0"/>
                </a:rPr>
                <a:t> 06</a:t>
              </a:r>
              <a:r>
                <a:rPr lang="en-US" altLang="zh-CN" sz="800" b="1">
                  <a:solidFill>
                    <a:schemeClr val="bg1"/>
                  </a:solidFill>
                  <a:effectLst>
                    <a:outerShdw blurRad="38100" dist="38100" dir="2700000" algn="tl">
                      <a:srgbClr val="000000"/>
                    </a:outerShdw>
                  </a:effectLst>
                  <a:latin typeface="Times New Roman" pitchFamily="18" charset="0"/>
                </a:rPr>
                <a:t>         FRAME </a:t>
              </a:r>
              <a:r>
                <a:rPr lang="en-US" altLang="zh-CN" sz="1200" b="1">
                  <a:solidFill>
                    <a:schemeClr val="bg1"/>
                  </a:solidFill>
                  <a:effectLst>
                    <a:outerShdw blurRad="38100" dist="38100" dir="2700000" algn="tl">
                      <a:srgbClr val="000000"/>
                    </a:outerShdw>
                  </a:effectLst>
                  <a:latin typeface="Times New Roman" pitchFamily="18" charset="0"/>
                </a:rPr>
                <a:t>07</a:t>
              </a:r>
            </a:p>
          </p:txBody>
        </p:sp>
      </p:grpSp>
      <p:sp>
        <p:nvSpPr>
          <p:cNvPr id="20" name="Rectangle 2">
            <a:extLst>
              <a:ext uri="{FF2B5EF4-FFF2-40B4-BE49-F238E27FC236}">
                <a16:creationId xmlns:a16="http://schemas.microsoft.com/office/drawing/2014/main" id="{F92AA658-75F3-463A-B8F4-E4093D47E085}"/>
              </a:ext>
            </a:extLst>
          </p:cNvPr>
          <p:cNvSpPr>
            <a:spLocks noGrp="1" noChangeArrowheads="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多媒体研究的对象</a:t>
            </a:r>
          </a:p>
        </p:txBody>
      </p:sp>
      <p:sp>
        <p:nvSpPr>
          <p:cNvPr id="2" name="灯片编号占位符 1">
            <a:extLst>
              <a:ext uri="{FF2B5EF4-FFF2-40B4-BE49-F238E27FC236}">
                <a16:creationId xmlns:a16="http://schemas.microsoft.com/office/drawing/2014/main" id="{DBA88EC9-1B85-43F7-AF92-3BDFDA19C013}"/>
              </a:ext>
            </a:extLst>
          </p:cNvPr>
          <p:cNvSpPr>
            <a:spLocks noGrp="1"/>
          </p:cNvSpPr>
          <p:nvPr>
            <p:ph type="sldNum" sz="quarter" idx="12"/>
          </p:nvPr>
        </p:nvSpPr>
        <p:spPr/>
        <p:txBody>
          <a:bodyPr/>
          <a:lstStyle/>
          <a:p>
            <a:fld id="{F64BA984-46A0-4F46-990E-EC790E6934B4}" type="slidenum">
              <a:rPr lang="zh-CN" altLang="en-US" smtClean="0"/>
              <a:t>37</a:t>
            </a:fld>
            <a:endParaRPr lang="zh-CN" altLang="en-US"/>
          </a:p>
        </p:txBody>
      </p:sp>
      <p:sp>
        <p:nvSpPr>
          <p:cNvPr id="4" name="文本框 3">
            <a:extLst>
              <a:ext uri="{FF2B5EF4-FFF2-40B4-BE49-F238E27FC236}">
                <a16:creationId xmlns:a16="http://schemas.microsoft.com/office/drawing/2014/main" id="{3DEB4174-CB4C-88B7-D3C7-2D6A076372C4}"/>
              </a:ext>
            </a:extLst>
          </p:cNvPr>
          <p:cNvSpPr txBox="1"/>
          <p:nvPr/>
        </p:nvSpPr>
        <p:spPr>
          <a:xfrm>
            <a:off x="7267074" y="4263992"/>
            <a:ext cx="1107996" cy="369332"/>
          </a:xfrm>
          <a:prstGeom prst="rect">
            <a:avLst/>
          </a:prstGeom>
          <a:noFill/>
        </p:spPr>
        <p:txBody>
          <a:bodyPr wrap="none" rtlCol="0">
            <a:spAutoFit/>
          </a:bodyPr>
          <a:lstStyle/>
          <a:p>
            <a:r>
              <a:rPr kumimoji="1" lang="zh-CN" altLang="en-US" dirty="0"/>
              <a:t>多帧组成</a:t>
            </a:r>
          </a:p>
        </p:txBody>
      </p:sp>
      <p:sp>
        <p:nvSpPr>
          <p:cNvPr id="5" name="文本框 4">
            <a:extLst>
              <a:ext uri="{FF2B5EF4-FFF2-40B4-BE49-F238E27FC236}">
                <a16:creationId xmlns:a16="http://schemas.microsoft.com/office/drawing/2014/main" id="{94D33CE6-5B7F-6832-E082-A5CEBEBBD43A}"/>
              </a:ext>
            </a:extLst>
          </p:cNvPr>
          <p:cNvSpPr txBox="1"/>
          <p:nvPr/>
        </p:nvSpPr>
        <p:spPr>
          <a:xfrm>
            <a:off x="7212350" y="1720334"/>
            <a:ext cx="1107996" cy="369332"/>
          </a:xfrm>
          <a:prstGeom prst="rect">
            <a:avLst/>
          </a:prstGeom>
          <a:noFill/>
        </p:spPr>
        <p:txBody>
          <a:bodyPr wrap="none" rtlCol="0">
            <a:spAutoFit/>
          </a:bodyPr>
          <a:lstStyle/>
          <a:p>
            <a:r>
              <a:rPr kumimoji="1" lang="zh-CN" altLang="en-US" dirty="0"/>
              <a:t>计算得出</a:t>
            </a:r>
          </a:p>
        </p:txBody>
      </p:sp>
    </p:spTree>
    <p:extLst>
      <p:ext uri="{BB962C8B-B14F-4D97-AF65-F5344CB8AC3E}">
        <p14:creationId xmlns:p14="http://schemas.microsoft.com/office/powerpoint/2010/main" val="1043930277"/>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10" name="Rectangle 22"/>
          <p:cNvSpPr>
            <a:spLocks noGrp="1" noChangeArrowheads="1"/>
          </p:cNvSpPr>
          <p:nvPr>
            <p:ph type="title"/>
          </p:nvPr>
        </p:nvSpPr>
        <p:spPr>
          <a:xfrm>
            <a:off x="250824" y="1127484"/>
            <a:ext cx="8229600" cy="648512"/>
          </a:xfrm>
          <a:noFill/>
          <a:ln/>
          <a:extLst>
            <a:ext uri="{91240B29-F687-4F45-9708-019B960494DF}">
              <a14:hiddenLine xmlns:a14="http://schemas.microsoft.com/office/drawing/2010/main" w="9525" cap="flat" cmpd="sng">
                <a:solidFill>
                  <a:schemeClr val="tx1"/>
                </a:solidFill>
                <a:prstDash val="solid"/>
                <a:miter lim="800000"/>
                <a:headEnd/>
                <a:tailEnd/>
              </a14:hiddenLine>
            </a:ext>
          </a:extLst>
        </p:spPr>
        <p:txBody>
          <a:bodyPr lIns="0" tIns="46800" rIns="0" bIns="46800" anchor="ctr">
            <a:spAutoFit/>
          </a:bodyPr>
          <a:lstStyle/>
          <a:p>
            <a:r>
              <a:rPr lang="zh-CN" altLang="en-US" sz="3600" b="0" dirty="0"/>
              <a:t>音频对象</a:t>
            </a:r>
          </a:p>
        </p:txBody>
      </p:sp>
      <p:sp>
        <p:nvSpPr>
          <p:cNvPr id="12" name="Rectangle 3"/>
          <p:cNvSpPr txBox="1">
            <a:spLocks noChangeArrowheads="1"/>
          </p:cNvSpPr>
          <p:nvPr/>
        </p:nvSpPr>
        <p:spPr>
          <a:xfrm>
            <a:off x="225717" y="1773435"/>
            <a:ext cx="8229600" cy="10795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zh-CN" altLang="en-US" sz="2800" dirty="0">
                <a:latin typeface="宋体" pitchFamily="2" charset="-122"/>
                <a:ea typeface="宋体" pitchFamily="2" charset="-122"/>
              </a:rPr>
              <a:t>采用固定的频率，对声音信号进行采样（量化），并将结果以某种特定的格式存储下来</a:t>
            </a:r>
            <a:endParaRPr lang="zh-TW" altLang="en-US" dirty="0"/>
          </a:p>
        </p:txBody>
      </p:sp>
      <p:pic>
        <p:nvPicPr>
          <p:cNvPr id="71682" name="Picture 2" descr="http://a.hiphotos.baidu.com/baike/c%3DbaikeA2%2C10%2C95/sign=50f29d964134970a5373477efca1b489/d439b6003af33a87117155a3c65c10385243fbf2b2119557.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835"/>
          <a:stretch/>
        </p:blipFill>
        <p:spPr bwMode="auto">
          <a:xfrm>
            <a:off x="1336739" y="3212976"/>
            <a:ext cx="6057769" cy="230425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AF4D3517-6E2A-499A-9070-C3DAF6D9A78C}"/>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2" name="灯片编号占位符 1">
            <a:extLst>
              <a:ext uri="{FF2B5EF4-FFF2-40B4-BE49-F238E27FC236}">
                <a16:creationId xmlns:a16="http://schemas.microsoft.com/office/drawing/2014/main" id="{6CE94C23-2951-45C9-A600-49FE25771B46}"/>
              </a:ext>
            </a:extLst>
          </p:cNvPr>
          <p:cNvSpPr>
            <a:spLocks noGrp="1"/>
          </p:cNvSpPr>
          <p:nvPr>
            <p:ph type="sldNum" sz="quarter" idx="12"/>
          </p:nvPr>
        </p:nvSpPr>
        <p:spPr/>
        <p:txBody>
          <a:bodyPr/>
          <a:lstStyle/>
          <a:p>
            <a:fld id="{F64BA984-46A0-4F46-990E-EC790E6934B4}" type="slidenum">
              <a:rPr lang="zh-CN" altLang="en-US" smtClean="0"/>
              <a:t>38</a:t>
            </a:fld>
            <a:endParaRPr lang="zh-CN" altLang="en-US"/>
          </a:p>
        </p:txBody>
      </p:sp>
    </p:spTree>
    <p:extLst>
      <p:ext uri="{BB962C8B-B14F-4D97-AF65-F5344CB8AC3E}">
        <p14:creationId xmlns:p14="http://schemas.microsoft.com/office/powerpoint/2010/main" val="54676147"/>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AutoShape 3"/>
          <p:cNvSpPr>
            <a:spLocks noChangeArrowheads="1"/>
          </p:cNvSpPr>
          <p:nvPr/>
        </p:nvSpPr>
        <p:spPr bwMode="auto">
          <a:xfrm>
            <a:off x="1619672" y="5187280"/>
            <a:ext cx="5638800" cy="762000"/>
          </a:xfrm>
          <a:prstGeom prst="flowChartAlternateProcess">
            <a:avLst/>
          </a:prstGeom>
          <a:gradFill rotWithShape="0">
            <a:gsLst>
              <a:gs pos="0">
                <a:srgbClr val="990099"/>
              </a:gs>
              <a:gs pos="50000">
                <a:srgbClr val="990099">
                  <a:gamma/>
                  <a:shade val="46275"/>
                  <a:invGamma/>
                </a:srgbClr>
              </a:gs>
              <a:gs pos="100000">
                <a:srgbClr val="990099"/>
              </a:gs>
            </a:gsLst>
            <a:lin ang="18900000" scaled="1"/>
          </a:grad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chemeClr val="bg1"/>
                </a:solidFill>
                <a:effectLst>
                  <a:outerShdw blurRad="38100" dist="38100" dir="2700000" algn="tl">
                    <a:srgbClr val="000000"/>
                  </a:outerShdw>
                </a:effectLst>
                <a:latin typeface="Times New Roman" pitchFamily="18" charset="0"/>
              </a:rPr>
              <a:t>音频数字信号、压缩音频信号</a:t>
            </a:r>
            <a:endParaRPr lang="zh-CN" altLang="en-US" sz="2000" b="1" dirty="0">
              <a:latin typeface="Times New Roman" pitchFamily="18" charset="0"/>
            </a:endParaRPr>
          </a:p>
        </p:txBody>
      </p:sp>
      <p:sp>
        <p:nvSpPr>
          <p:cNvPr id="63501" name="AutoShape 13"/>
          <p:cNvSpPr>
            <a:spLocks noChangeArrowheads="1"/>
          </p:cNvSpPr>
          <p:nvPr/>
        </p:nvSpPr>
        <p:spPr bwMode="auto">
          <a:xfrm>
            <a:off x="1645585" y="1268760"/>
            <a:ext cx="5638800" cy="3733800"/>
          </a:xfrm>
          <a:prstGeom prst="roundRect">
            <a:avLst>
              <a:gd name="adj" fmla="val 5741"/>
            </a:avLst>
          </a:pr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3503" name="Picture 15" descr="MOON">
            <a:hlinkClick r:id="" action="ppaction://noaction">
              <a:snd r:embed="rId3" name="风声.WAV"/>
            </a:hlinkClick>
          </p:cNvPr>
          <p:cNvPicPr>
            <a:picLocks noChangeAspect="1" noChangeArrowheads="1"/>
          </p:cNvPicPr>
          <p:nvPr/>
        </p:nvPicPr>
        <p:blipFill>
          <a:blip r:embed="rId4">
            <a:clrChange>
              <a:clrFrom>
                <a:srgbClr val="003170"/>
              </a:clrFrom>
              <a:clrTo>
                <a:srgbClr val="003170">
                  <a:alpha val="0"/>
                </a:srgbClr>
              </a:clrTo>
            </a:clrChange>
            <a:extLst>
              <a:ext uri="{28A0092B-C50C-407E-A947-70E740481C1C}">
                <a14:useLocalDpi xmlns:a14="http://schemas.microsoft.com/office/drawing/2010/main" val="0"/>
              </a:ext>
            </a:extLst>
          </a:blip>
          <a:srcRect/>
          <a:stretch>
            <a:fillRect/>
          </a:stretch>
        </p:blipFill>
        <p:spPr bwMode="auto">
          <a:xfrm>
            <a:off x="1645585" y="1769534"/>
            <a:ext cx="838200" cy="833438"/>
          </a:xfrm>
          <a:prstGeom prst="rect">
            <a:avLst/>
          </a:prstGeom>
          <a:noFill/>
          <a:extLst>
            <a:ext uri="{909E8E84-426E-40DD-AFC4-6F175D3DCCD1}">
              <a14:hiddenFill xmlns:a14="http://schemas.microsoft.com/office/drawing/2010/main">
                <a:solidFill>
                  <a:srgbClr val="FFFFFF"/>
                </a:solidFill>
              </a14:hiddenFill>
            </a:ext>
          </a:extLst>
        </p:spPr>
      </p:pic>
      <p:sp>
        <p:nvSpPr>
          <p:cNvPr id="63504" name="Oval 16">
            <a:hlinkClick r:id="" action="ppaction://noaction" endSnd="1"/>
          </p:cNvPr>
          <p:cNvSpPr>
            <a:spLocks noChangeArrowheads="1"/>
          </p:cNvSpPr>
          <p:nvPr/>
        </p:nvSpPr>
        <p:spPr bwMode="auto">
          <a:xfrm>
            <a:off x="1950385" y="4240560"/>
            <a:ext cx="5181600" cy="533400"/>
          </a:xfrm>
          <a:prstGeom prst="ellipse">
            <a:avLst/>
          </a:prstGeom>
          <a:gradFill rotWithShape="0">
            <a:gsLst>
              <a:gs pos="0">
                <a:srgbClr val="9999FF"/>
              </a:gs>
              <a:gs pos="100000">
                <a:srgbClr val="00005C"/>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3505" name="Picture 17" descr="Piano">
            <a:hlinkClick r:id="" action="ppaction://noaction">
              <a:snd r:embed="rId5" name="致爱丽丝ss.wav"/>
            </a:hlinkClick>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3185" y="3478560"/>
            <a:ext cx="1219200" cy="1168400"/>
          </a:xfrm>
          <a:prstGeom prst="rect">
            <a:avLst/>
          </a:prstGeom>
          <a:noFill/>
          <a:extLst>
            <a:ext uri="{909E8E84-426E-40DD-AFC4-6F175D3DCCD1}">
              <a14:hiddenFill xmlns:a14="http://schemas.microsoft.com/office/drawing/2010/main">
                <a:solidFill>
                  <a:srgbClr val="FFFFFF"/>
                </a:solidFill>
              </a14:hiddenFill>
            </a:ext>
          </a:extLst>
        </p:spPr>
      </p:pic>
      <p:pic>
        <p:nvPicPr>
          <p:cNvPr id="63506" name="Picture 18" descr="Clock">
            <a:hlinkClick r:id="" action="ppaction://noaction">
              <a:snd r:embed="rId7" name="座钟.wav"/>
            </a:hlinkClick>
          </p:cNvPr>
          <p:cNvPicPr>
            <a:picLocks noChangeAspect="1" noChangeArrowheads="1"/>
          </p:cNvPicPr>
          <p:nvPr/>
        </p:nvPicPr>
        <p:blipFill>
          <a:blip r:embed="rId8" cstate="print">
            <a:clrChange>
              <a:clrFrom>
                <a:srgbClr val="FFFFFF"/>
              </a:clrFrom>
              <a:clrTo>
                <a:srgbClr val="FFFFFF">
                  <a:alpha val="0"/>
                </a:srgbClr>
              </a:clrTo>
            </a:clrChange>
            <a:lum bright="6000" contrast="6000"/>
            <a:extLst>
              <a:ext uri="{28A0092B-C50C-407E-A947-70E740481C1C}">
                <a14:useLocalDpi xmlns:a14="http://schemas.microsoft.com/office/drawing/2010/main" val="0"/>
              </a:ext>
            </a:extLst>
          </a:blip>
          <a:srcRect/>
          <a:stretch>
            <a:fillRect/>
          </a:stretch>
        </p:blipFill>
        <p:spPr bwMode="auto">
          <a:xfrm>
            <a:off x="3931585" y="3643660"/>
            <a:ext cx="601663" cy="901700"/>
          </a:xfrm>
          <a:prstGeom prst="rect">
            <a:avLst/>
          </a:prstGeom>
          <a:noFill/>
          <a:extLst>
            <a:ext uri="{909E8E84-426E-40DD-AFC4-6F175D3DCCD1}">
              <a14:hiddenFill xmlns:a14="http://schemas.microsoft.com/office/drawing/2010/main">
                <a:solidFill>
                  <a:srgbClr val="FFFFFF"/>
                </a:solidFill>
              </a14:hiddenFill>
            </a:ext>
          </a:extLst>
        </p:spPr>
      </p:pic>
      <p:pic>
        <p:nvPicPr>
          <p:cNvPr id="63507" name="Picture 19" descr="Phonesym">
            <a:hlinkClick r:id="" action="ppaction://noaction">
              <a:snd r:embed="rId9" name="电话.wav"/>
            </a:hlinkClick>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7585" y="3935760"/>
            <a:ext cx="609600" cy="576263"/>
          </a:xfrm>
          <a:prstGeom prst="rect">
            <a:avLst/>
          </a:prstGeom>
          <a:noFill/>
          <a:extLst>
            <a:ext uri="{909E8E84-426E-40DD-AFC4-6F175D3DCCD1}">
              <a14:hiddenFill xmlns:a14="http://schemas.microsoft.com/office/drawing/2010/main">
                <a:solidFill>
                  <a:srgbClr val="FFFFFF"/>
                </a:solidFill>
              </a14:hiddenFill>
            </a:ext>
          </a:extLst>
        </p:spPr>
      </p:pic>
      <p:sp>
        <p:nvSpPr>
          <p:cNvPr id="63508" name="Rectangle 20"/>
          <p:cNvSpPr>
            <a:spLocks noChangeArrowheads="1"/>
          </p:cNvSpPr>
          <p:nvPr/>
        </p:nvSpPr>
        <p:spPr bwMode="auto">
          <a:xfrm>
            <a:off x="2764261" y="1309378"/>
            <a:ext cx="436772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pPr>
            <a:r>
              <a:rPr lang="en-US" altLang="zh-CN" sz="1800" dirty="0">
                <a:solidFill>
                  <a:srgbClr val="FF9900"/>
                </a:solidFill>
                <a:effectLst>
                  <a:outerShdw blurRad="38100" dist="38100" dir="2700000" algn="tl">
                    <a:srgbClr val="000000"/>
                  </a:outerShdw>
                </a:effectLst>
                <a:latin typeface="Times New Roman" pitchFamily="18" charset="0"/>
              </a:rPr>
              <a:t>● </a:t>
            </a:r>
            <a:r>
              <a:rPr lang="en-US" altLang="zh-CN" sz="2000" b="1" dirty="0">
                <a:solidFill>
                  <a:schemeClr val="bg1"/>
                </a:solidFill>
                <a:effectLst>
                  <a:outerShdw blurRad="38100" dist="38100" dir="2700000" algn="tl">
                    <a:srgbClr val="000000"/>
                  </a:outerShdw>
                </a:effectLst>
                <a:latin typeface="Times New Roman" pitchFamily="18" charset="0"/>
              </a:rPr>
              <a:t>midi</a:t>
            </a:r>
            <a:r>
              <a:rPr lang="zh-CN" altLang="en-US" sz="2000" b="1" dirty="0">
                <a:solidFill>
                  <a:schemeClr val="bg1"/>
                </a:solidFill>
                <a:effectLst>
                  <a:outerShdw blurRad="38100" dist="38100" dir="2700000" algn="tl">
                    <a:srgbClr val="000000"/>
                  </a:outerShdw>
                </a:effectLst>
                <a:latin typeface="Times New Roman" pitchFamily="18" charset="0"/>
              </a:rPr>
              <a:t>音频</a:t>
            </a:r>
            <a:r>
              <a:rPr lang="en-US" altLang="zh-CN" sz="2000" b="1" dirty="0">
                <a:solidFill>
                  <a:schemeClr val="bg1"/>
                </a:solidFill>
                <a:effectLst>
                  <a:outerShdw blurRad="38100" dist="38100" dir="2700000" algn="tl">
                    <a:srgbClr val="000000"/>
                  </a:outerShdw>
                </a:effectLst>
                <a:latin typeface="Times New Roman" pitchFamily="18" charset="0"/>
              </a:rPr>
              <a:t>(</a:t>
            </a:r>
            <a:r>
              <a:rPr lang="zh-CN" altLang="en-US" sz="2000" b="1" dirty="0">
                <a:solidFill>
                  <a:schemeClr val="bg1"/>
                </a:solidFill>
                <a:effectLst>
                  <a:outerShdw blurRad="38100" dist="38100" dir="2700000" algn="tl">
                    <a:srgbClr val="000000"/>
                  </a:outerShdw>
                </a:effectLst>
                <a:latin typeface="Times New Roman" pitchFamily="18" charset="0"/>
              </a:rPr>
              <a:t>乐器数字接口文件，声音组合有限</a:t>
            </a:r>
            <a:r>
              <a:rPr lang="en-US" altLang="zh-CN" sz="2000" b="1" dirty="0">
                <a:solidFill>
                  <a:schemeClr val="bg1"/>
                </a:solidFill>
                <a:effectLst>
                  <a:outerShdw blurRad="38100" dist="38100" dir="2700000" algn="tl">
                    <a:srgbClr val="000000"/>
                  </a:outerShdw>
                </a:effectLst>
                <a:latin typeface="Times New Roman" pitchFamily="18" charset="0"/>
              </a:rPr>
              <a:t>)</a:t>
            </a:r>
          </a:p>
          <a:p>
            <a:pPr>
              <a:spcBef>
                <a:spcPct val="30000"/>
              </a:spcBef>
            </a:pPr>
            <a:r>
              <a:rPr lang="en-US" altLang="zh-CN" sz="1800" dirty="0">
                <a:solidFill>
                  <a:srgbClr val="FF9900"/>
                </a:solidFill>
                <a:effectLst>
                  <a:outerShdw blurRad="38100" dist="38100" dir="2700000" algn="tl">
                    <a:srgbClr val="000000"/>
                  </a:outerShdw>
                </a:effectLst>
                <a:latin typeface="Times New Roman" pitchFamily="18" charset="0"/>
              </a:rPr>
              <a:t>●</a:t>
            </a:r>
            <a:r>
              <a:rPr lang="en-US" altLang="zh-CN" sz="2000" b="1" dirty="0">
                <a:solidFill>
                  <a:schemeClr val="bg1"/>
                </a:solidFill>
                <a:effectLst>
                  <a:outerShdw blurRad="38100" dist="38100" dir="2700000" algn="tl">
                    <a:srgbClr val="000000"/>
                  </a:outerShdw>
                </a:effectLst>
                <a:latin typeface="Times New Roman" pitchFamily="18" charset="0"/>
              </a:rPr>
              <a:t> wav</a:t>
            </a:r>
            <a:r>
              <a:rPr lang="zh-CN" altLang="en-US" sz="2000" b="1" dirty="0">
                <a:solidFill>
                  <a:schemeClr val="bg1"/>
                </a:solidFill>
                <a:effectLst>
                  <a:outerShdw blurRad="38100" dist="38100" dir="2700000" algn="tl">
                    <a:srgbClr val="000000"/>
                  </a:outerShdw>
                </a:effectLst>
                <a:latin typeface="Times New Roman" pitchFamily="18" charset="0"/>
              </a:rPr>
              <a:t>音频</a:t>
            </a:r>
            <a:r>
              <a:rPr lang="en-US" altLang="zh-CN" sz="2000" b="1" dirty="0">
                <a:solidFill>
                  <a:schemeClr val="bg1"/>
                </a:solidFill>
                <a:effectLst>
                  <a:outerShdw blurRad="38100" dist="38100" dir="2700000" algn="tl">
                    <a:srgbClr val="000000"/>
                  </a:outerShdw>
                </a:effectLst>
                <a:latin typeface="Times New Roman" pitchFamily="18" charset="0"/>
              </a:rPr>
              <a:t>(</a:t>
            </a:r>
            <a:r>
              <a:rPr lang="zh-CN" altLang="en-US" sz="2000" b="1" dirty="0">
                <a:solidFill>
                  <a:schemeClr val="bg1"/>
                </a:solidFill>
                <a:effectLst>
                  <a:outerShdw blurRad="38100" dist="38100" dir="2700000" algn="tl">
                    <a:srgbClr val="000000"/>
                  </a:outerShdw>
                </a:effectLst>
                <a:latin typeface="Times New Roman" pitchFamily="18" charset="0"/>
              </a:rPr>
              <a:t>波形文件，基本无损，数据量大</a:t>
            </a:r>
            <a:r>
              <a:rPr lang="en-US" altLang="zh-CN" sz="2000" b="1" dirty="0">
                <a:solidFill>
                  <a:schemeClr val="bg1"/>
                </a:solidFill>
                <a:effectLst>
                  <a:outerShdw blurRad="38100" dist="38100" dir="2700000" algn="tl">
                    <a:srgbClr val="000000"/>
                  </a:outerShdw>
                </a:effectLst>
                <a:latin typeface="Times New Roman" pitchFamily="18" charset="0"/>
              </a:rPr>
              <a:t>)</a:t>
            </a:r>
          </a:p>
          <a:p>
            <a:pPr>
              <a:spcBef>
                <a:spcPct val="30000"/>
              </a:spcBef>
            </a:pPr>
            <a:r>
              <a:rPr lang="en-US" altLang="zh-CN" sz="1800" dirty="0">
                <a:solidFill>
                  <a:srgbClr val="FF9900"/>
                </a:solidFill>
                <a:effectLst>
                  <a:outerShdw blurRad="38100" dist="38100" dir="2700000" algn="tl">
                    <a:srgbClr val="000000"/>
                  </a:outerShdw>
                </a:effectLst>
                <a:latin typeface="Times New Roman" pitchFamily="18" charset="0"/>
              </a:rPr>
              <a:t>●</a:t>
            </a:r>
            <a:r>
              <a:rPr lang="en-US" altLang="zh-CN" sz="2000" b="1" dirty="0">
                <a:solidFill>
                  <a:schemeClr val="bg1"/>
                </a:solidFill>
                <a:effectLst>
                  <a:outerShdw blurRad="38100" dist="38100" dir="2700000" algn="tl">
                    <a:srgbClr val="000000"/>
                  </a:outerShdw>
                </a:effectLst>
                <a:latin typeface="Times New Roman" pitchFamily="18" charset="0"/>
              </a:rPr>
              <a:t> mp3</a:t>
            </a:r>
            <a:r>
              <a:rPr lang="zh-CN" altLang="en-US" sz="2000" b="1" dirty="0">
                <a:solidFill>
                  <a:schemeClr val="bg1"/>
                </a:solidFill>
                <a:effectLst>
                  <a:outerShdw blurRad="38100" dist="38100" dir="2700000" algn="tl">
                    <a:srgbClr val="000000"/>
                  </a:outerShdw>
                </a:effectLst>
                <a:latin typeface="Times New Roman" pitchFamily="18" charset="0"/>
              </a:rPr>
              <a:t>压缩音频（舍弃无压缩</a:t>
            </a:r>
            <a:r>
              <a:rPr lang="en" altLang="zh-CN" sz="2000" b="1" dirty="0">
                <a:solidFill>
                  <a:schemeClr val="bg1"/>
                </a:solidFill>
                <a:effectLst>
                  <a:outerShdw blurRad="38100" dist="38100" dir="2700000" algn="tl">
                    <a:srgbClr val="000000"/>
                  </a:outerShdw>
                </a:effectLst>
                <a:latin typeface="Times New Roman" pitchFamily="18" charset="0"/>
              </a:rPr>
              <a:t>PCM</a:t>
            </a:r>
            <a:r>
              <a:rPr lang="zh-CN" altLang="en-US" sz="2000" b="1" dirty="0">
                <a:solidFill>
                  <a:schemeClr val="bg1"/>
                </a:solidFill>
                <a:effectLst>
                  <a:outerShdw blurRad="38100" dist="38100" dir="2700000" algn="tl">
                    <a:srgbClr val="000000"/>
                  </a:outerShdw>
                </a:effectLst>
                <a:latin typeface="Times New Roman" pitchFamily="18" charset="0"/>
              </a:rPr>
              <a:t>音频资料中对人类听觉不重要的部分）</a:t>
            </a:r>
          </a:p>
        </p:txBody>
      </p:sp>
      <p:sp>
        <p:nvSpPr>
          <p:cNvPr id="12" name="Rectangle 2">
            <a:extLst>
              <a:ext uri="{FF2B5EF4-FFF2-40B4-BE49-F238E27FC236}">
                <a16:creationId xmlns:a16="http://schemas.microsoft.com/office/drawing/2014/main" id="{999C6738-C620-4BD2-A6E8-2505A245C410}"/>
              </a:ext>
            </a:extLst>
          </p:cNvPr>
          <p:cNvSpPr>
            <a:spLocks noGrp="1" noChangeArrowheads="1"/>
          </p:cNvSpPr>
          <p:nvPr>
            <p:ph type="title"/>
          </p:nvPr>
        </p:nvSpPr>
        <p:spPr>
          <a:xfrm>
            <a:off x="250824" y="204785"/>
            <a:ext cx="8229600" cy="703263"/>
          </a:xfrm>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1.3 </a:t>
            </a:r>
            <a:r>
              <a:rPr lang="zh-CN" altLang="en-US" dirty="0">
                <a:latin typeface="微软雅黑" panose="020B0503020204020204" pitchFamily="34" charset="-122"/>
                <a:ea typeface="微软雅黑" panose="020B0503020204020204" pitchFamily="34" charset="-122"/>
              </a:rPr>
              <a:t>多媒体研究的对象</a:t>
            </a:r>
          </a:p>
        </p:txBody>
      </p:sp>
      <p:sp>
        <p:nvSpPr>
          <p:cNvPr id="2" name="灯片编号占位符 1">
            <a:extLst>
              <a:ext uri="{FF2B5EF4-FFF2-40B4-BE49-F238E27FC236}">
                <a16:creationId xmlns:a16="http://schemas.microsoft.com/office/drawing/2014/main" id="{8A48B87F-2071-4A1A-A9A1-62E495FC6523}"/>
              </a:ext>
            </a:extLst>
          </p:cNvPr>
          <p:cNvSpPr>
            <a:spLocks noGrp="1"/>
          </p:cNvSpPr>
          <p:nvPr>
            <p:ph type="sldNum" sz="quarter" idx="12"/>
          </p:nvPr>
        </p:nvSpPr>
        <p:spPr/>
        <p:txBody>
          <a:bodyPr/>
          <a:lstStyle/>
          <a:p>
            <a:fld id="{F64BA984-46A0-4F46-990E-EC790E6934B4}" type="slidenum">
              <a:rPr lang="zh-CN" altLang="en-US" smtClean="0"/>
              <a:t>39</a:t>
            </a:fld>
            <a:endParaRPr lang="zh-CN" altLang="en-US"/>
          </a:p>
        </p:txBody>
      </p:sp>
      <p:pic>
        <p:nvPicPr>
          <p:cNvPr id="1026" name="Picture 2">
            <a:extLst>
              <a:ext uri="{FF2B5EF4-FFF2-40B4-BE49-F238E27FC236}">
                <a16:creationId xmlns:a16="http://schemas.microsoft.com/office/drawing/2014/main" id="{062BB832-C981-0E2F-59A4-E2DD21E11AF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64861" y="2503215"/>
            <a:ext cx="1433180" cy="1264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5478995"/>
      </p:ext>
    </p:extLst>
  </p:cSld>
  <p:clrMapOvr>
    <a:masterClrMapping/>
  </p:clrMapOvr>
  <p:transition>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79512" y="986656"/>
            <a:ext cx="8229600" cy="703263"/>
          </a:xfrm>
        </p:spPr>
        <p:txBody>
          <a:bodyPr>
            <a:normAutofit/>
          </a:bodyPr>
          <a:lstStyle/>
          <a:p>
            <a:r>
              <a:rPr lang="zh-CN" altLang="en-US" sz="3600" dirty="0"/>
              <a:t>视频对象</a:t>
            </a:r>
          </a:p>
        </p:txBody>
      </p:sp>
      <p:sp>
        <p:nvSpPr>
          <p:cNvPr id="6" name="Rectangle 3"/>
          <p:cNvSpPr txBox="1">
            <a:spLocks noChangeArrowheads="1"/>
          </p:cNvSpPr>
          <p:nvPr/>
        </p:nvSpPr>
        <p:spPr>
          <a:xfrm>
            <a:off x="179512" y="1700808"/>
            <a:ext cx="8229600" cy="287193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800" dirty="0"/>
              <a:t>连续的图像变化每秒超过</a:t>
            </a:r>
            <a:r>
              <a:rPr lang="en-US" altLang="zh-CN" sz="2800" dirty="0"/>
              <a:t>24</a:t>
            </a:r>
            <a:r>
              <a:rPr lang="zh-CN" altLang="en-US" sz="2800" dirty="0"/>
              <a:t>帧（</a:t>
            </a:r>
            <a:r>
              <a:rPr lang="en-US" altLang="zh-CN" sz="2800" dirty="0"/>
              <a:t>frame</a:t>
            </a:r>
            <a:r>
              <a:rPr lang="zh-CN" altLang="en-US" sz="2800" dirty="0"/>
              <a:t>）画面以上时，根椐视觉暂留原理，人眼无法辨别每副单独的静态画面，看上去是平滑连续的视觉效果。这样的连续画面叫视频。</a:t>
            </a:r>
          </a:p>
          <a:p>
            <a:endParaRPr lang="zh-TW" altLang="en-US" dirty="0"/>
          </a:p>
        </p:txBody>
      </p:sp>
      <p:sp>
        <p:nvSpPr>
          <p:cNvPr id="7" name="AutoShape 1028"/>
          <p:cNvSpPr>
            <a:spLocks noChangeArrowheads="1"/>
          </p:cNvSpPr>
          <p:nvPr/>
        </p:nvSpPr>
        <p:spPr bwMode="auto">
          <a:xfrm>
            <a:off x="2971800" y="4103710"/>
            <a:ext cx="4114800" cy="1981200"/>
          </a:xfrm>
          <a:prstGeom prst="roundRect">
            <a:avLst>
              <a:gd name="adj" fmla="val 10486"/>
            </a:avLst>
          </a:prstGeom>
          <a:solidFill>
            <a:srgbClr val="333399"/>
          </a:soli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1029"/>
          <p:cNvSpPr>
            <a:spLocks noChangeShapeType="1"/>
          </p:cNvSpPr>
          <p:nvPr/>
        </p:nvSpPr>
        <p:spPr bwMode="auto">
          <a:xfrm>
            <a:off x="2209800" y="5094310"/>
            <a:ext cx="1524000" cy="0"/>
          </a:xfrm>
          <a:prstGeom prst="line">
            <a:avLst/>
          </a:prstGeom>
          <a:noFill/>
          <a:ln w="38100">
            <a:solidFill>
              <a:srgbClr val="00FF99"/>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Oval 1030"/>
          <p:cNvSpPr>
            <a:spLocks noChangeArrowheads="1"/>
          </p:cNvSpPr>
          <p:nvPr/>
        </p:nvSpPr>
        <p:spPr bwMode="auto">
          <a:xfrm>
            <a:off x="2819400" y="4637110"/>
            <a:ext cx="304800" cy="914400"/>
          </a:xfrm>
          <a:prstGeom prst="ellipse">
            <a:avLst/>
          </a:prstGeom>
          <a:gradFill rotWithShape="0">
            <a:gsLst>
              <a:gs pos="0">
                <a:schemeClr val="bg1"/>
              </a:gs>
              <a:gs pos="100000">
                <a:schemeClr val="bg1">
                  <a:gamma/>
                  <a:shade val="46275"/>
                  <a:invGamma/>
                </a:scheme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1031" descr="实心菱形"/>
          <p:cNvSpPr>
            <a:spLocks noChangeArrowheads="1"/>
          </p:cNvSpPr>
          <p:nvPr/>
        </p:nvSpPr>
        <p:spPr bwMode="auto">
          <a:xfrm>
            <a:off x="3733800" y="4484710"/>
            <a:ext cx="304800" cy="1219200"/>
          </a:xfrm>
          <a:prstGeom prst="rect">
            <a:avLst/>
          </a:prstGeom>
          <a:pattFill prst="solidDmnd">
            <a:fgClr>
              <a:srgbClr val="FF9900"/>
            </a:fgClr>
            <a:bgClr>
              <a:srgbClr val="996600"/>
            </a:bgClr>
          </a:pattFill>
          <a:ln w="12700">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035"/>
          <p:cNvSpPr txBox="1">
            <a:spLocks noChangeArrowheads="1"/>
          </p:cNvSpPr>
          <p:nvPr/>
        </p:nvSpPr>
        <p:spPr bwMode="auto">
          <a:xfrm>
            <a:off x="7543800" y="4879997"/>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lang="zh-CN" altLang="en-US" sz="1800" b="1" dirty="0">
                <a:effectLst>
                  <a:outerShdw blurRad="38100" dist="38100" dir="2700000" algn="tl">
                    <a:srgbClr val="000000"/>
                  </a:outerShdw>
                </a:effectLst>
                <a:latin typeface="Times New Roman" pitchFamily="18" charset="0"/>
              </a:rPr>
              <a:t>数字信号</a:t>
            </a:r>
          </a:p>
        </p:txBody>
      </p:sp>
      <p:sp>
        <p:nvSpPr>
          <p:cNvPr id="13" name="Rectangle 1039"/>
          <p:cNvSpPr>
            <a:spLocks noChangeArrowheads="1"/>
          </p:cNvSpPr>
          <p:nvPr/>
        </p:nvSpPr>
        <p:spPr bwMode="auto">
          <a:xfrm>
            <a:off x="4419600" y="4637110"/>
            <a:ext cx="533400" cy="914400"/>
          </a:xfrm>
          <a:prstGeom prst="rect">
            <a:avLst/>
          </a:prstGeom>
          <a:gradFill rotWithShape="0">
            <a:gsLst>
              <a:gs pos="0">
                <a:srgbClr val="0099FF">
                  <a:gamma/>
                  <a:shade val="46275"/>
                  <a:invGamma/>
                </a:srgbClr>
              </a:gs>
              <a:gs pos="50000">
                <a:srgbClr val="0099FF"/>
              </a:gs>
              <a:gs pos="100000">
                <a:srgbClr val="0099FF">
                  <a:gamma/>
                  <a:shade val="46275"/>
                  <a:invGamma/>
                </a:srgbClr>
              </a:gs>
            </a:gsLst>
            <a:lin ang="2700000" scaled="1"/>
          </a:gra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40"/>
          <p:cNvSpPr>
            <a:spLocks noChangeShapeType="1"/>
          </p:cNvSpPr>
          <p:nvPr/>
        </p:nvSpPr>
        <p:spPr bwMode="auto">
          <a:xfrm>
            <a:off x="4953000" y="5094310"/>
            <a:ext cx="533400" cy="0"/>
          </a:xfrm>
          <a:prstGeom prst="line">
            <a:avLst/>
          </a:prstGeom>
          <a:noFill/>
          <a:ln w="38100">
            <a:solidFill>
              <a:srgbClr val="FF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Oval 1042"/>
          <p:cNvSpPr>
            <a:spLocks noChangeArrowheads="1"/>
          </p:cNvSpPr>
          <p:nvPr/>
        </p:nvSpPr>
        <p:spPr bwMode="auto">
          <a:xfrm>
            <a:off x="6934200" y="4941910"/>
            <a:ext cx="304800" cy="304800"/>
          </a:xfrm>
          <a:prstGeom prst="ellipse">
            <a:avLst/>
          </a:prstGeom>
          <a:gradFill rotWithShape="0">
            <a:gsLst>
              <a:gs pos="0">
                <a:schemeClr val="bg1">
                  <a:gamma/>
                  <a:shade val="46275"/>
                  <a:invGamma/>
                </a:schemeClr>
              </a:gs>
              <a:gs pos="100000">
                <a:schemeClr val="bg1"/>
              </a:gs>
            </a:gsLst>
            <a:path path="shape">
              <a:fillToRect l="50000" t="50000" r="50000" b="50000"/>
            </a:path>
          </a:gradFill>
          <a:ln w="38100">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7" name="Picture 1053" descr="memory3"/>
          <p:cNvPicPr>
            <a:picLocks noChangeAspect="1" noChangeArrowheads="1"/>
          </p:cNvPicPr>
          <p:nvPr/>
        </p:nvPicPr>
        <p:blipFill>
          <a:blip r:embed="rId3" cstate="print">
            <a:clrChange>
              <a:clrFrom>
                <a:srgbClr val="0000FF"/>
              </a:clrFrom>
              <a:clrTo>
                <a:srgbClr val="0000FF">
                  <a:alpha val="0"/>
                </a:srgbClr>
              </a:clrTo>
            </a:clrChange>
            <a:extLst>
              <a:ext uri="{28A0092B-C50C-407E-A947-70E740481C1C}">
                <a14:useLocalDpi xmlns:a14="http://schemas.microsoft.com/office/drawing/2010/main" val="0"/>
              </a:ext>
            </a:extLst>
          </a:blip>
          <a:srcRect/>
          <a:stretch>
            <a:fillRect/>
          </a:stretch>
        </p:blipFill>
        <p:spPr bwMode="auto">
          <a:xfrm>
            <a:off x="5486400" y="4560910"/>
            <a:ext cx="882650" cy="1073150"/>
          </a:xfrm>
          <a:prstGeom prst="rect">
            <a:avLst/>
          </a:prstGeom>
          <a:noFill/>
          <a:extLst>
            <a:ext uri="{909E8E84-426E-40DD-AFC4-6F175D3DCCD1}">
              <a14:hiddenFill xmlns:a14="http://schemas.microsoft.com/office/drawing/2010/main">
                <a:solidFill>
                  <a:srgbClr val="FFFFFF"/>
                </a:solidFill>
              </a14:hiddenFill>
            </a:ext>
          </a:extLst>
        </p:spPr>
      </p:pic>
      <p:sp>
        <p:nvSpPr>
          <p:cNvPr id="18" name="Line 1032"/>
          <p:cNvSpPr>
            <a:spLocks noChangeShapeType="1"/>
          </p:cNvSpPr>
          <p:nvPr/>
        </p:nvSpPr>
        <p:spPr bwMode="auto">
          <a:xfrm>
            <a:off x="7239000" y="5076798"/>
            <a:ext cx="381000" cy="0"/>
          </a:xfrm>
          <a:prstGeom prst="line">
            <a:avLst/>
          </a:prstGeom>
          <a:noFill/>
          <a:ln w="38100">
            <a:solidFill>
              <a:srgbClr val="FF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041"/>
          <p:cNvSpPr>
            <a:spLocks noChangeShapeType="1"/>
          </p:cNvSpPr>
          <p:nvPr/>
        </p:nvSpPr>
        <p:spPr bwMode="auto">
          <a:xfrm>
            <a:off x="6400800" y="5076798"/>
            <a:ext cx="533400" cy="0"/>
          </a:xfrm>
          <a:prstGeom prst="line">
            <a:avLst/>
          </a:prstGeom>
          <a:noFill/>
          <a:ln w="38100">
            <a:solidFill>
              <a:srgbClr val="FF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041"/>
          <p:cNvSpPr>
            <a:spLocks noChangeShapeType="1"/>
          </p:cNvSpPr>
          <p:nvPr/>
        </p:nvSpPr>
        <p:spPr bwMode="auto">
          <a:xfrm>
            <a:off x="4067944" y="5120503"/>
            <a:ext cx="432048" cy="0"/>
          </a:xfrm>
          <a:prstGeom prst="line">
            <a:avLst/>
          </a:prstGeom>
          <a:noFill/>
          <a:ln w="38100">
            <a:solidFill>
              <a:srgbClr val="FF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Text Box 1027"/>
          <p:cNvSpPr txBox="1">
            <a:spLocks noChangeArrowheads="1"/>
          </p:cNvSpPr>
          <p:nvPr/>
        </p:nvSpPr>
        <p:spPr bwMode="auto">
          <a:xfrm>
            <a:off x="2438400" y="5600150"/>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sz="1800" b="1" dirty="0">
                <a:effectLst>
                  <a:outerShdw blurRad="38100" dist="38100" dir="2700000" algn="tl">
                    <a:srgbClr val="000000"/>
                  </a:outerShdw>
                </a:effectLst>
                <a:latin typeface="Times New Roman" pitchFamily="18" charset="0"/>
              </a:rPr>
              <a:t>镜头</a:t>
            </a:r>
          </a:p>
        </p:txBody>
      </p:sp>
      <p:sp>
        <p:nvSpPr>
          <p:cNvPr id="22" name="Text Box 1034"/>
          <p:cNvSpPr txBox="1">
            <a:spLocks noChangeArrowheads="1"/>
          </p:cNvSpPr>
          <p:nvPr/>
        </p:nvSpPr>
        <p:spPr bwMode="auto">
          <a:xfrm>
            <a:off x="1062562" y="5901553"/>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zh-CN" altLang="en-US" b="1" dirty="0">
                <a:effectLst>
                  <a:outerShdw blurRad="38100" dist="38100" dir="2700000" algn="tl">
                    <a:srgbClr val="000000"/>
                  </a:outerShdw>
                </a:effectLst>
                <a:latin typeface="Times New Roman" pitchFamily="18" charset="0"/>
              </a:rPr>
              <a:t>物体</a:t>
            </a:r>
            <a:endParaRPr lang="zh-CN" altLang="en-US" sz="1800" b="1" dirty="0">
              <a:effectLst>
                <a:outerShdw blurRad="38100" dist="38100" dir="2700000" algn="tl">
                  <a:srgbClr val="000000"/>
                </a:outerShdw>
              </a:effectLst>
              <a:latin typeface="Times New Roman" pitchFamily="18" charset="0"/>
            </a:endParaRPr>
          </a:p>
        </p:txBody>
      </p:sp>
      <p:sp>
        <p:nvSpPr>
          <p:cNvPr id="23" name="Text Box 1038"/>
          <p:cNvSpPr txBox="1">
            <a:spLocks noChangeArrowheads="1"/>
          </p:cNvSpPr>
          <p:nvPr/>
        </p:nvSpPr>
        <p:spPr bwMode="auto">
          <a:xfrm>
            <a:off x="3262449" y="5699718"/>
            <a:ext cx="533055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lang="en-US" altLang="zh-CN" sz="1800" b="1" dirty="0">
                <a:solidFill>
                  <a:srgbClr val="FF0000"/>
                </a:solidFill>
                <a:effectLst>
                  <a:outerShdw blurRad="38100" dist="38100" dir="2700000" algn="tl">
                    <a:srgbClr val="000000"/>
                  </a:outerShdw>
                </a:effectLst>
                <a:latin typeface="Times New Roman" pitchFamily="18" charset="0"/>
              </a:rPr>
              <a:t>CCD         </a:t>
            </a:r>
            <a:r>
              <a:rPr lang="zh-CN" altLang="en-US" sz="1800" b="1" dirty="0">
                <a:solidFill>
                  <a:srgbClr val="FF0000"/>
                </a:solidFill>
                <a:effectLst>
                  <a:outerShdw blurRad="38100" dist="38100" dir="2700000" algn="tl">
                    <a:srgbClr val="000000"/>
                  </a:outerShdw>
                </a:effectLst>
                <a:latin typeface="Times New Roman" pitchFamily="18" charset="0"/>
              </a:rPr>
              <a:t>译码器       存储介质</a:t>
            </a:r>
          </a:p>
        </p:txBody>
      </p:sp>
      <p:pic>
        <p:nvPicPr>
          <p:cNvPr id="79874" name="Picture 2" descr="http://imgsrc.baidu.com/forum/w%3D580/sign=63f34894d21b0ef46ce89856edc551a1/f2646a63f6246b60cb02b2ceebf81a4c500fa2ed.jpg"/>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11616" y="4051322"/>
            <a:ext cx="1743075" cy="1781176"/>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
            <a:extLst>
              <a:ext uri="{FF2B5EF4-FFF2-40B4-BE49-F238E27FC236}">
                <a16:creationId xmlns:a16="http://schemas.microsoft.com/office/drawing/2014/main" id="{D563AEC8-E209-4102-B160-24D01CB7F3B3}"/>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defPPr>
              <a:defRPr lang="zh-CN"/>
            </a:defPPr>
            <a:lvl1pPr>
              <a:spcBef>
                <a:spcPct val="0"/>
              </a:spcBef>
              <a:buNone/>
              <a:defRPr sz="4400">
                <a:latin typeface="微软雅黑" panose="020B0503020204020204" pitchFamily="34" charset="-122"/>
                <a:ea typeface="微软雅黑" panose="020B0503020204020204" pitchFamily="34" charset="-122"/>
                <a:cs typeface="+mj-cs"/>
              </a:defRPr>
            </a:lvl1pPr>
          </a:lstStyle>
          <a:p>
            <a:r>
              <a:rPr lang="en-US" altLang="zh-CN" dirty="0"/>
              <a:t>1.3 </a:t>
            </a:r>
            <a:r>
              <a:rPr lang="zh-CN" altLang="en-US" dirty="0"/>
              <a:t>多媒体研究的对象</a:t>
            </a:r>
          </a:p>
        </p:txBody>
      </p:sp>
      <p:sp>
        <p:nvSpPr>
          <p:cNvPr id="2" name="灯片编号占位符 1">
            <a:extLst>
              <a:ext uri="{FF2B5EF4-FFF2-40B4-BE49-F238E27FC236}">
                <a16:creationId xmlns:a16="http://schemas.microsoft.com/office/drawing/2014/main" id="{DF0CE06C-C495-4673-8B12-359A2E82855D}"/>
              </a:ext>
            </a:extLst>
          </p:cNvPr>
          <p:cNvSpPr>
            <a:spLocks noGrp="1"/>
          </p:cNvSpPr>
          <p:nvPr>
            <p:ph type="sldNum" sz="quarter" idx="12"/>
          </p:nvPr>
        </p:nvSpPr>
        <p:spPr/>
        <p:txBody>
          <a:bodyPr/>
          <a:lstStyle/>
          <a:p>
            <a:fld id="{F64BA984-46A0-4F46-990E-EC790E6934B4}" type="slidenum">
              <a:rPr lang="zh-CN" altLang="en-US" smtClean="0"/>
              <a:t>40</a:t>
            </a:fld>
            <a:endParaRPr lang="zh-CN" altLang="en-US"/>
          </a:p>
        </p:txBody>
      </p:sp>
      <p:sp>
        <p:nvSpPr>
          <p:cNvPr id="4" name="文本框 3">
            <a:extLst>
              <a:ext uri="{FF2B5EF4-FFF2-40B4-BE49-F238E27FC236}">
                <a16:creationId xmlns:a16="http://schemas.microsoft.com/office/drawing/2014/main" id="{6511607E-C970-B946-B410-F9874611F062}"/>
              </a:ext>
            </a:extLst>
          </p:cNvPr>
          <p:cNvSpPr txBox="1"/>
          <p:nvPr/>
        </p:nvSpPr>
        <p:spPr>
          <a:xfrm>
            <a:off x="3032428" y="6029974"/>
            <a:ext cx="1261884" cy="307777"/>
          </a:xfrm>
          <a:prstGeom prst="rect">
            <a:avLst/>
          </a:prstGeom>
          <a:noFill/>
        </p:spPr>
        <p:txBody>
          <a:bodyPr wrap="none" rtlCol="0">
            <a:spAutoFit/>
          </a:bodyPr>
          <a:lstStyle/>
          <a:p>
            <a:r>
              <a:rPr lang="zh-CN" altLang="en-US" sz="1400" b="0" i="0" u="none" strike="noStrike" dirty="0">
                <a:solidFill>
                  <a:srgbClr val="4D5156"/>
                </a:solidFill>
                <a:effectLst/>
                <a:latin typeface="arial" panose="020B0604020202020204" pitchFamily="34" charset="0"/>
              </a:rPr>
              <a:t>电荷耦合元件</a:t>
            </a:r>
            <a:endParaRPr kumimoji="1" lang="zh-CN" altLang="en-US" sz="1400" dirty="0"/>
          </a:p>
        </p:txBody>
      </p:sp>
    </p:spTree>
    <p:extLst>
      <p:ext uri="{BB962C8B-B14F-4D97-AF65-F5344CB8AC3E}">
        <p14:creationId xmlns:p14="http://schemas.microsoft.com/office/powerpoint/2010/main" val="237553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vert="horz" lIns="91440" tIns="45720" rIns="91440" bIns="45720" rtlCol="0" anchor="ctr">
            <a:normAutofit fontScale="90000"/>
          </a:bodyPr>
          <a:lstStyle/>
          <a:p>
            <a:r>
              <a:rPr lang="en-US" altLang="zh-CN" dirty="0">
                <a:latin typeface="微软雅黑" panose="020B0503020204020204" pitchFamily="34" charset="-122"/>
                <a:ea typeface="微软雅黑" panose="020B0503020204020204" pitchFamily="34" charset="-122"/>
              </a:rPr>
              <a:t>1.4 </a:t>
            </a:r>
            <a:r>
              <a:rPr lang="zh-CN" altLang="en-US" dirty="0">
                <a:latin typeface="微软雅黑" panose="020B0503020204020204" pitchFamily="34" charset="-122"/>
                <a:ea typeface="微软雅黑" panose="020B0503020204020204" pitchFamily="34" charset="-122"/>
              </a:rPr>
              <a:t>多媒体技术发展的关键技术</a:t>
            </a:r>
          </a:p>
        </p:txBody>
      </p:sp>
      <p:sp>
        <p:nvSpPr>
          <p:cNvPr id="7171" name="Rectangle 3"/>
          <p:cNvSpPr>
            <a:spLocks noGrp="1" noChangeArrowheads="1"/>
          </p:cNvSpPr>
          <p:nvPr>
            <p:ph type="body" idx="4294967295"/>
          </p:nvPr>
        </p:nvSpPr>
        <p:spPr>
          <a:xfrm>
            <a:off x="359532" y="1304764"/>
            <a:ext cx="8424936" cy="4860540"/>
          </a:xfrm>
        </p:spPr>
        <p:txBody>
          <a:bodyPr>
            <a:normAutofit/>
          </a:bodyPr>
          <a:lstStyle/>
          <a:p>
            <a:pPr>
              <a:lnSpc>
                <a:spcPct val="110000"/>
              </a:lnSpc>
            </a:pPr>
            <a:r>
              <a:rPr lang="zh-CN" altLang="en-US" sz="2800" b="1" dirty="0">
                <a:solidFill>
                  <a:schemeClr val="folHlink"/>
                </a:solidFill>
              </a:rPr>
              <a:t>采集技术：</a:t>
            </a:r>
            <a:r>
              <a:rPr lang="zh-CN" altLang="en-US" sz="2800" b="1" dirty="0"/>
              <a:t>利用传感器收集数据，转化成</a:t>
            </a:r>
            <a:r>
              <a:rPr lang="zh-CN" altLang="en-US" sz="2800" b="1" dirty="0">
                <a:solidFill>
                  <a:srgbClr val="FF0000"/>
                </a:solidFill>
              </a:rPr>
              <a:t>媒体文档</a:t>
            </a:r>
            <a:endParaRPr lang="en-US" altLang="zh-CN" sz="2800" b="1" dirty="0">
              <a:solidFill>
                <a:srgbClr val="FF0000"/>
              </a:solidFill>
            </a:endParaRPr>
          </a:p>
          <a:p>
            <a:pPr>
              <a:lnSpc>
                <a:spcPct val="110000"/>
              </a:lnSpc>
            </a:pPr>
            <a:r>
              <a:rPr lang="zh-CN" altLang="en-US" sz="2800" b="1" dirty="0">
                <a:solidFill>
                  <a:schemeClr val="folHlink"/>
                </a:solidFill>
              </a:rPr>
              <a:t>存储技术</a:t>
            </a:r>
            <a:r>
              <a:rPr lang="zh-CN" altLang="en-US" sz="2800" dirty="0"/>
              <a:t>：</a:t>
            </a:r>
            <a:r>
              <a:rPr lang="en-US" altLang="zh-CN" sz="2800" dirty="0"/>
              <a:t>DVD</a:t>
            </a:r>
            <a:r>
              <a:rPr lang="zh-CN" altLang="en-US" sz="2800" dirty="0"/>
              <a:t>、大容量硬盘解决了多媒体信息的存储问题；</a:t>
            </a:r>
          </a:p>
          <a:p>
            <a:pPr>
              <a:lnSpc>
                <a:spcPct val="110000"/>
              </a:lnSpc>
            </a:pPr>
            <a:r>
              <a:rPr lang="zh-CN" altLang="en-US" sz="2800" b="1" dirty="0">
                <a:solidFill>
                  <a:schemeClr val="folHlink"/>
                </a:solidFill>
              </a:rPr>
              <a:t>网络传输技术</a:t>
            </a:r>
            <a:r>
              <a:rPr lang="zh-CN" altLang="en-US" sz="2800" dirty="0"/>
              <a:t>：高速计算机网络可以传送多媒体信息；</a:t>
            </a:r>
          </a:p>
          <a:p>
            <a:pPr>
              <a:lnSpc>
                <a:spcPct val="110000"/>
              </a:lnSpc>
            </a:pPr>
            <a:r>
              <a:rPr lang="zh-CN" altLang="en-US" sz="2800" b="1" dirty="0">
                <a:solidFill>
                  <a:schemeClr val="folHlink"/>
                </a:solidFill>
              </a:rPr>
              <a:t>媒体检索技术</a:t>
            </a:r>
            <a:r>
              <a:rPr lang="zh-CN" altLang="en-US" sz="2800" dirty="0"/>
              <a:t>：基于内容的检索；</a:t>
            </a:r>
          </a:p>
          <a:p>
            <a:pPr>
              <a:lnSpc>
                <a:spcPct val="110000"/>
              </a:lnSpc>
            </a:pPr>
            <a:r>
              <a:rPr lang="zh-CN" altLang="en-US" sz="2800" b="1" dirty="0">
                <a:solidFill>
                  <a:schemeClr val="folHlink"/>
                </a:solidFill>
              </a:rPr>
              <a:t>多媒体压缩技术</a:t>
            </a:r>
            <a:r>
              <a:rPr lang="zh-CN" altLang="en-US" sz="2800" b="1" dirty="0"/>
              <a:t>：</a:t>
            </a:r>
            <a:r>
              <a:rPr lang="en-US" altLang="zh-CN" sz="2800" dirty="0"/>
              <a:t>JPG</a:t>
            </a:r>
            <a:r>
              <a:rPr lang="zh-CN" altLang="en-US" sz="2800" dirty="0"/>
              <a:t>，</a:t>
            </a:r>
            <a:r>
              <a:rPr lang="en-US" altLang="zh-CN" sz="2800" dirty="0"/>
              <a:t>H.264</a:t>
            </a:r>
            <a:r>
              <a:rPr lang="zh-CN" altLang="en-US" sz="2800" dirty="0"/>
              <a:t>等等</a:t>
            </a:r>
            <a:endParaRPr lang="zh-CN" altLang="en-US" sz="2400" b="1" dirty="0"/>
          </a:p>
          <a:p>
            <a:pPr>
              <a:lnSpc>
                <a:spcPct val="110000"/>
              </a:lnSpc>
            </a:pPr>
            <a:r>
              <a:rPr lang="zh-CN" altLang="en-US" sz="2800" b="1" dirty="0">
                <a:solidFill>
                  <a:schemeClr val="folHlink"/>
                </a:solidFill>
              </a:rPr>
              <a:t>人机交互技术</a:t>
            </a:r>
            <a:r>
              <a:rPr lang="zh-CN" altLang="en-US" sz="2800" b="1" dirty="0"/>
              <a:t>： 鼠标键盘，</a:t>
            </a:r>
            <a:r>
              <a:rPr lang="en-US" altLang="zh-CN" sz="2800" b="1" dirty="0"/>
              <a:t>Kinect</a:t>
            </a:r>
            <a:endParaRPr lang="zh-CN" altLang="en-US" sz="2800" b="1" dirty="0"/>
          </a:p>
          <a:p>
            <a:pPr>
              <a:lnSpc>
                <a:spcPct val="110000"/>
              </a:lnSpc>
            </a:pPr>
            <a:r>
              <a:rPr lang="zh-CN" altLang="en-US" sz="2800" b="1" dirty="0">
                <a:solidFill>
                  <a:schemeClr val="folHlink"/>
                </a:solidFill>
              </a:rPr>
              <a:t>分布式处理</a:t>
            </a:r>
            <a:r>
              <a:rPr lang="zh-CN" altLang="en-US" sz="2800" dirty="0">
                <a:solidFill>
                  <a:schemeClr val="folHlink"/>
                </a:solidFill>
              </a:rPr>
              <a:t>技术</a:t>
            </a:r>
            <a:r>
              <a:rPr lang="zh-CN" altLang="en-US" sz="2800" dirty="0"/>
              <a:t>： 云计算和云存储</a:t>
            </a:r>
          </a:p>
        </p:txBody>
      </p:sp>
      <p:sp>
        <p:nvSpPr>
          <p:cNvPr id="2" name="灯片编号占位符 1">
            <a:extLst>
              <a:ext uri="{FF2B5EF4-FFF2-40B4-BE49-F238E27FC236}">
                <a16:creationId xmlns:a16="http://schemas.microsoft.com/office/drawing/2014/main" id="{828AC009-DD53-4F99-8BC8-7CA12A4748D0}"/>
              </a:ext>
            </a:extLst>
          </p:cNvPr>
          <p:cNvSpPr>
            <a:spLocks noGrp="1"/>
          </p:cNvSpPr>
          <p:nvPr>
            <p:ph type="sldNum" sz="quarter" idx="12"/>
          </p:nvPr>
        </p:nvSpPr>
        <p:spPr/>
        <p:txBody>
          <a:bodyPr/>
          <a:lstStyle/>
          <a:p>
            <a:fld id="{F64BA984-46A0-4F46-990E-EC790E6934B4}" type="slidenum">
              <a:rPr lang="zh-CN" altLang="en-US" smtClean="0"/>
              <a:t>41</a:t>
            </a:fld>
            <a:endParaRPr lang="zh-CN" altLang="en-US"/>
          </a:p>
        </p:txBody>
      </p:sp>
    </p:spTree>
    <p:extLst>
      <p:ext uri="{BB962C8B-B14F-4D97-AF65-F5344CB8AC3E}">
        <p14:creationId xmlns:p14="http://schemas.microsoft.com/office/powerpoint/2010/main" val="16098307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26139" y="1134149"/>
            <a:ext cx="8229600" cy="703263"/>
          </a:xfrm>
        </p:spPr>
        <p:txBody>
          <a:bodyPr>
            <a:normAutofit/>
          </a:bodyPr>
          <a:lstStyle/>
          <a:p>
            <a:r>
              <a:rPr lang="zh-CN" altLang="en-US" sz="3600" dirty="0">
                <a:latin typeface="Times New Roman" pitchFamily="18" charset="0"/>
              </a:rPr>
              <a:t>多媒体数据采集技术</a:t>
            </a:r>
            <a:r>
              <a:rPr lang="zh-CN" altLang="en-US" sz="3600" dirty="0"/>
              <a:t> </a:t>
            </a:r>
          </a:p>
        </p:txBody>
      </p:sp>
      <p:sp>
        <p:nvSpPr>
          <p:cNvPr id="12291" name="Rectangle 3"/>
          <p:cNvSpPr>
            <a:spLocks noGrp="1" noChangeArrowheads="1"/>
          </p:cNvSpPr>
          <p:nvPr>
            <p:ph type="body" idx="4294967295"/>
          </p:nvPr>
        </p:nvSpPr>
        <p:spPr>
          <a:xfrm>
            <a:off x="307975" y="2009555"/>
            <a:ext cx="8207375" cy="1656184"/>
          </a:xfrm>
        </p:spPr>
        <p:txBody>
          <a:bodyPr>
            <a:normAutofit/>
          </a:bodyPr>
          <a:lstStyle/>
          <a:p>
            <a:pPr>
              <a:spcAft>
                <a:spcPts val="600"/>
              </a:spcAft>
            </a:pPr>
            <a:r>
              <a:rPr lang="zh-CN" altLang="en-US" sz="2800" dirty="0">
                <a:latin typeface="Times New Roman" pitchFamily="18" charset="0"/>
              </a:rPr>
              <a:t>多媒体数据的采集是将传感器获得的信号，通过数字化变成多媒体文档的过程。</a:t>
            </a:r>
            <a:endParaRPr lang="en-US" altLang="zh-CN" sz="2800" dirty="0">
              <a:latin typeface="Times New Roman" pitchFamily="18" charset="0"/>
            </a:endParaRPr>
          </a:p>
          <a:p>
            <a:pPr>
              <a:spcAft>
                <a:spcPts val="600"/>
              </a:spcAft>
            </a:pPr>
            <a:r>
              <a:rPr lang="zh-CN" altLang="en-US" sz="2800" dirty="0">
                <a:latin typeface="Times New Roman" pitchFamily="18" charset="0"/>
              </a:rPr>
              <a:t>常用采集设备包括键盘、摄像头、麦克风等等</a:t>
            </a:r>
            <a:endParaRPr lang="zh-CN" altLang="en-US" sz="2800" dirty="0"/>
          </a:p>
        </p:txBody>
      </p:sp>
      <p:sp>
        <p:nvSpPr>
          <p:cNvPr id="2" name="AutoShape 4"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6"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8"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图片 3">
            <a:extLst>
              <a:ext uri="{FF2B5EF4-FFF2-40B4-BE49-F238E27FC236}">
                <a16:creationId xmlns:a16="http://schemas.microsoft.com/office/drawing/2014/main" id="{B890551E-BE2F-471A-AA9E-41187C4628C0}"/>
              </a:ext>
            </a:extLst>
          </p:cNvPr>
          <p:cNvPicPr>
            <a:picLocks noChangeAspect="1"/>
          </p:cNvPicPr>
          <p:nvPr/>
        </p:nvPicPr>
        <p:blipFill>
          <a:blip r:embed="rId2"/>
          <a:stretch>
            <a:fillRect/>
          </a:stretch>
        </p:blipFill>
        <p:spPr>
          <a:xfrm>
            <a:off x="639938" y="4653136"/>
            <a:ext cx="2725949" cy="1152128"/>
          </a:xfrm>
          <a:prstGeom prst="rect">
            <a:avLst/>
          </a:prstGeom>
        </p:spPr>
      </p:pic>
      <p:pic>
        <p:nvPicPr>
          <p:cNvPr id="6" name="图片 5">
            <a:extLst>
              <a:ext uri="{FF2B5EF4-FFF2-40B4-BE49-F238E27FC236}">
                <a16:creationId xmlns:a16="http://schemas.microsoft.com/office/drawing/2014/main" id="{16394DB3-635C-449D-B832-768ECBED2ECF}"/>
              </a:ext>
            </a:extLst>
          </p:cNvPr>
          <p:cNvPicPr>
            <a:picLocks noChangeAspect="1"/>
          </p:cNvPicPr>
          <p:nvPr/>
        </p:nvPicPr>
        <p:blipFill>
          <a:blip r:embed="rId3"/>
          <a:stretch>
            <a:fillRect/>
          </a:stretch>
        </p:blipFill>
        <p:spPr>
          <a:xfrm>
            <a:off x="3582748" y="4353243"/>
            <a:ext cx="2477770" cy="1500513"/>
          </a:xfrm>
          <a:prstGeom prst="rect">
            <a:avLst/>
          </a:prstGeom>
        </p:spPr>
      </p:pic>
      <p:pic>
        <p:nvPicPr>
          <p:cNvPr id="8" name="图片 7">
            <a:extLst>
              <a:ext uri="{FF2B5EF4-FFF2-40B4-BE49-F238E27FC236}">
                <a16:creationId xmlns:a16="http://schemas.microsoft.com/office/drawing/2014/main" id="{D02241EE-1C0F-4401-B15D-7AE17EDE6215}"/>
              </a:ext>
            </a:extLst>
          </p:cNvPr>
          <p:cNvPicPr>
            <a:picLocks noChangeAspect="1"/>
          </p:cNvPicPr>
          <p:nvPr/>
        </p:nvPicPr>
        <p:blipFill>
          <a:blip r:embed="rId4"/>
          <a:stretch>
            <a:fillRect/>
          </a:stretch>
        </p:blipFill>
        <p:spPr>
          <a:xfrm>
            <a:off x="5915663" y="4103374"/>
            <a:ext cx="2081834" cy="2000253"/>
          </a:xfrm>
          <a:prstGeom prst="rect">
            <a:avLst/>
          </a:prstGeom>
        </p:spPr>
      </p:pic>
      <p:sp>
        <p:nvSpPr>
          <p:cNvPr id="17" name="Rectangle 2">
            <a:extLst>
              <a:ext uri="{FF2B5EF4-FFF2-40B4-BE49-F238E27FC236}">
                <a16:creationId xmlns:a16="http://schemas.microsoft.com/office/drawing/2014/main" id="{2E45E96C-5F6C-41B9-B887-37E175458B8A}"/>
              </a:ext>
            </a:extLst>
          </p:cNvPr>
          <p:cNvSpPr txBox="1">
            <a:spLocks noChangeArrowheads="1"/>
          </p:cNvSpPr>
          <p:nvPr/>
        </p:nvSpPr>
        <p:spPr>
          <a:xfrm>
            <a:off x="126139" y="161323"/>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7" name="灯片编号占位符 6">
            <a:extLst>
              <a:ext uri="{FF2B5EF4-FFF2-40B4-BE49-F238E27FC236}">
                <a16:creationId xmlns:a16="http://schemas.microsoft.com/office/drawing/2014/main" id="{8F96FEAA-5335-416E-B020-B7B32ABD29CF}"/>
              </a:ext>
            </a:extLst>
          </p:cNvPr>
          <p:cNvSpPr>
            <a:spLocks noGrp="1"/>
          </p:cNvSpPr>
          <p:nvPr>
            <p:ph type="sldNum" sz="quarter" idx="12"/>
          </p:nvPr>
        </p:nvSpPr>
        <p:spPr/>
        <p:txBody>
          <a:bodyPr/>
          <a:lstStyle/>
          <a:p>
            <a:fld id="{F64BA984-46A0-4F46-990E-EC790E6934B4}" type="slidenum">
              <a:rPr lang="zh-CN" altLang="en-US" smtClean="0"/>
              <a:t>42</a:t>
            </a:fld>
            <a:endParaRPr lang="zh-CN" altLang="en-US"/>
          </a:p>
        </p:txBody>
      </p:sp>
    </p:spTree>
    <p:extLst>
      <p:ext uri="{BB962C8B-B14F-4D97-AF65-F5344CB8AC3E}">
        <p14:creationId xmlns:p14="http://schemas.microsoft.com/office/powerpoint/2010/main" val="243451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20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0" end="0"/>
                                            </p:txEl>
                                          </p:spTgt>
                                        </p:tgtEl>
                                        <p:attrNameLst>
                                          <p:attrName>style.visibility</p:attrName>
                                        </p:attrNameLst>
                                      </p:cBhvr>
                                      <p:to>
                                        <p:strVal val="visible"/>
                                      </p:to>
                                    </p:set>
                                    <p:animEffect transition="in" filter="fade">
                                      <p:cBhvr>
                                        <p:cTn id="12" dur="2000"/>
                                        <p:tgtEl>
                                          <p:spTgt spid="122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91">
                                            <p:txEl>
                                              <p:pRg st="1" end="1"/>
                                            </p:txEl>
                                          </p:spTgt>
                                        </p:tgtEl>
                                        <p:attrNameLst>
                                          <p:attrName>style.visibility</p:attrName>
                                        </p:attrNameLst>
                                      </p:cBhvr>
                                      <p:to>
                                        <p:strVal val="visible"/>
                                      </p:to>
                                    </p:set>
                                    <p:animEffect transition="in" filter="fade">
                                      <p:cBhvr>
                                        <p:cTn id="17" dur="2000"/>
                                        <p:tgtEl>
                                          <p:spTgt spid="12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0890" y="1057869"/>
            <a:ext cx="8229600" cy="703263"/>
          </a:xfrm>
        </p:spPr>
        <p:txBody>
          <a:bodyPr>
            <a:normAutofit/>
          </a:bodyPr>
          <a:lstStyle/>
          <a:p>
            <a:r>
              <a:rPr lang="zh-CN" altLang="en-US" sz="3600" dirty="0">
                <a:latin typeface="Times New Roman" pitchFamily="18" charset="0"/>
              </a:rPr>
              <a:t>多媒体数据存储技术</a:t>
            </a:r>
            <a:r>
              <a:rPr lang="zh-CN" altLang="en-US" sz="3600" dirty="0"/>
              <a:t> </a:t>
            </a:r>
          </a:p>
        </p:txBody>
      </p:sp>
      <p:sp>
        <p:nvSpPr>
          <p:cNvPr id="12291" name="Rectangle 3"/>
          <p:cNvSpPr>
            <a:spLocks noGrp="1" noChangeArrowheads="1"/>
          </p:cNvSpPr>
          <p:nvPr>
            <p:ph type="body" idx="4294967295"/>
          </p:nvPr>
        </p:nvSpPr>
        <p:spPr>
          <a:xfrm>
            <a:off x="307975" y="1782647"/>
            <a:ext cx="8207375" cy="3096343"/>
          </a:xfrm>
        </p:spPr>
        <p:txBody>
          <a:bodyPr>
            <a:normAutofit/>
          </a:bodyPr>
          <a:lstStyle/>
          <a:p>
            <a:r>
              <a:rPr lang="zh-CN" altLang="en-US" sz="2800" dirty="0">
                <a:latin typeface="Times New Roman" pitchFamily="18" charset="0"/>
              </a:rPr>
              <a:t>多媒体信息需要大量的存储空间。因此，存储技术是影响多媒体应用发展的重要因素。高效快速的存储设备是多媒体系统的基本部件之一</a:t>
            </a:r>
            <a:r>
              <a:rPr lang="en-US" altLang="zh-CN" sz="2800" dirty="0">
                <a:latin typeface="Times New Roman" pitchFamily="18" charset="0"/>
              </a:rPr>
              <a:t>.</a:t>
            </a:r>
          </a:p>
          <a:p>
            <a:r>
              <a:rPr lang="zh-CN" altLang="en-US" sz="2800" dirty="0">
                <a:latin typeface="Times New Roman" pitchFamily="18" charset="0"/>
              </a:rPr>
              <a:t>常用存储设备包括光盘系统，硬盘，磁盘阵列等等</a:t>
            </a:r>
            <a:endParaRPr lang="zh-CN" altLang="en-US" sz="2800" dirty="0"/>
          </a:p>
        </p:txBody>
      </p:sp>
      <p:sp>
        <p:nvSpPr>
          <p:cNvPr id="2" name="AutoShape 4"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6"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8" descr="data:image/jpeg;base64,/9j/4AAQSkZJRgABAQAAAQABAAD/2wCEAAkGBxMSEhQUEhQTFRUWFxgYFRgYFxUYFRsYFRcWGBcXGyAcHCggHholHBcWIjEiJSorLi4uFx8zODMsNygtLisBCgoKDg0OFBAQGiwkIB8sLCwsLSwsLC8sLSwsNywsLDAsLCwsLCwsLCwtLCwrLC0sNCwsLywsMSwsLCwvLCwsLP/AABEIAMIBAwMBIgACEQEDEQH/xAAcAAEAAgMBAQEAAAAAAAAAAAAABAUCAwYHAQj/xAA+EAABAwIEAwUHAgYBAgcAAAABAAIRAyEEEjFBBVFhBiIycYETUpGhsdHwQsEHFDNicuHxwtIjU4KSorLi/8QAGQEBAQADAQAAAAAAAAAAAAAAAAECAwUE/8QAKBEBAAICAQIEBgMAAAAAAAAAAAECAxExBGESIUFRE3Kx0eHwIjJx/9oADAMBAAIRAxEAPwD3FERAREQEREBERAREQEREBERAREQERfCY1QfVFxnEaVJzG1Hta585Ad8sF0eUhc1xb+IWCpOLG16Tngw45szWnkcu/nCpsY2hj8tZ+SuBIY4OJaNJDcpgaCY5XU2sQ9Ew9dr25mEEXEjmCQfgQR6LYuO7P4kYVvs2NPspJDZJyyZOWZsSZjSeUldZh67XtDmmR+WPVNpptREVBERAREQEREBERAREQEREBERAREQEREBERAREQEREBFqxOIbTEvIA/NFQ47i1SpIpgtbz/UfspsWuO4oynbxO5D9+S8x/izx2v/KCHOax9VrKmSbUy1zjpe5aBPUjddL7F3uu+B+y1YvANqscyo0Oa4QQbf8ABU2ungx4jSaIBsNAAV0n8OOJOdjA2mHBrmu9rMZYDSWuN/EHAAHk4hdFiP4VYZzpa97W8szD+4+i6TgPZqhg25aMAnVzjLj6gfRNiwUrBY11J0t9Rsfzmtfsx7zfTN/2oWt94/D/AGFFdbg8W2q2W+o3HmpC43D1zTIex19wdPXp+WXT8Px7aotZw8Tdx/pZRKaS0RFUEREBERAREQEREBERAREQEREBERAREQERRMfxGnSHeNzo0XcfRBLVTjeMgHLSGd2k6tn01PkqvF46pWEvPs6Z0AuXfu75DrKhur2hgyjf3j5nl0EBTa6SK1W+aoc7+U2HmR9G/HZR6tdztTYaDQDyGgWpTcDw99U2EN3cdP8AZWKorGkmBcnbdXGF4ESJecp2Av8AH7KzwuDp0RI13Orj0EfQKFxcOrAMD/ZUnR7QtDjX7xsBAikLT7QzG2U94XTGVXiMKWHK4X+R6hacqm1ONYZ3s6XfNMg5KxcC2GNLnVJe7O6mAL1YLe825mR8fh8jgHaatOrTyPUdFzc2K9LbiZ1LlZ8OTHbcWnU92vD8Ne8SBA2m09AotWmWmCIjVXtV3tLtnO2JbNoG7Bz0WD6YrwLB8SCDNh+l+sfnkt8TautTv/fX7PRW1qa1Mz/vr9pUUrZQqlpBbYjSPp5dFjUZBPRa5W+l4vG4ezHkrkjdXWcM4k2qIMB41HPqOinrgjiC0h0xfX3Tz8jv8ea6nhPFRU7r7P8AkfLr0W2JZTC0REVQREQEREBERAREQEREBERAREQFjUeGglxAA1JsFSdp+1WHwNMvqmSLBjfESdB0P/Oi8f4v/FStWf8A0mZAbNJcfpF/ig9a4h2hLjkobmM5HP3R+5VW97WkmfaPOrjds+vi+nQ6rguEdr2YitRaR7PNma4TIzHKWEHlYyDzHNddTdIvY7+YsViqRUqlxlxJPMr7TYXEAAknQDVagun7O0Gsp+1dALibnYAx9Z+SkDHh3A471X/2jT1P7K6cQ1thAHIT8goWIxLnWbLY1daxB0PRSqNYGxIzAAuA6/ss0aZbUGV1jEgg+mZh9duaiV2hjnDK0Zpkate0xmtYF56n5KZiKEXGgvbUHmPTZfHZagyPgkjbeNSOoOvJBzONoUqdF1VntGUQ0e2ZTD/5ipBLWsdVe7MyiB/jlEyWAELHsk6pWzU/ZU24RucM9m7MxjmkZW0n5iajYc6TlY1paGtmCraphXsqFzQ7MBJc0BzqjWj+nLjDTYTztvrZ8PxragiwcLOaDOUixE7wbfKxUmInylJiJjUqmox1FwDpie64fnyW12JdU7roAPKQHWnX9ra6lW+Jptc0h8Zd5tEb9FRVqZpRfMw3a4deq8d6Tj+X95eLJScXy/vPZjiKGcS0Q8ajmNo+XpCqqjFaOxEAZpJHhcD8io+KqtfeIdN+RHPz0+a0WvFJ8VZ8/WPf8vPOX4dvHWfP1j3/ACrXCbH1+y14Z5EtJMsiDuWnwnzEEei21dVFrmC1w2kHyd/+g34le+tvFES61LeKsWj1ddwbjGeGVD3tj73Q9fqrpefDouj4NxiYZUN9GuO/Q/dZxKzC+REWSCIiAiIgIiICIiAiKk4n2hYwllIe0fpbwg9TuegQWuKxLKbS57g0Dc/lyuY4lx+rUltBpa33rB58uQ+fkoGKqkuz4hxe/Zg0HQ7N8tf8TdRa+Mc60w0aNFmj/fU3WO104f8AiZh6obRc5rgwOcHbgOflykx5EX59VwgYeS90/mA5pZVaKjCILXXEHUX26adFTP7MYAuzDDkDl7WpHwHd+SDhuxfAn4iu0gHJTcHOd+mWw6J8hJ5BeoMELKnUaxns6TG02aQ0a9D9hAWWGw7qjsrASfzXkEBq7fB0gyi1r4ADRmnS+s+pVZgeFNowXw+pNh+lrokT16n4KTWa6pMuaAL97Rs/pc2dxOsbeQsQg5wJIaNNQbWEwDpAgWd5SsC02I7vuHQiJ7p6a6egIlY1S0eEwW5hmdo0SCGRE5SBY7Acl9ovkkRv3gdeQaZuRaztojRVFnhKxcLiCNeWmo5j7LTjaEAkAkTJjUH3h16KI+bXIjwm8gnYj/pA0+CnYHEl4Ic0hzbO5Hq07j85ElZ4eoTYjYEHYg7+fRQ8fw/ve1pQKm5ibbwJiSLbeas1ofimgwbdTYfn2QUeMxT6sQNB36Ry2F++6SLSNbFpABy96NmGxVNrCHmQYllzktB1v+l5m05SQJzEyuJ8KD3NqsJFRhJADi1rjAEu/ugAZoNrXEtMCtw2oAKjWAOPjYA0w2BIaCYDTlEgXOkixYOWGNwhYAWnNTN2n7qErTh9YtptPsyaTrEAON3Ed4SMzm6kHcEWEQtfEuHGmZF2/TofuuX1PTTX+VePo5PVdLNf5V4+ikxGq0VNPh8iCtmIfLjC1Er24o1SsT7OpgiYx1ifaH3COhg1MCLa921utlOxFMAS0WDshvPeaO8D5FQME6WNPMA/G6kArY2ug4JxXRlQ/wCLj9Cr9cC+MpzeGDm5RF/kq/8AhT2vqV6VGjUe+rUDnMdmHebTa0ua9ztToGyZJne5GUSxmHpyIiqCIiAiIgKBxjjFDC0zUr1GsaOZEnoF84/j/YUH1BqMoHKXuDQT6kL86dvuKVa+Kc17nEMgCTuWhxd/8o8gg9B4v/FChWJY2oWM0s19/wDIxMdBbzWXC+Jktfkc3m3LBJpkXc0/GY91w8/FPZjrK7H+Hzahqd2SKbg70cypnHkctMn/ABCxllDvw5ZArS21llKDcHL6HLTKncOogy47aea15MkUrNpasuSMdZtKfwbgzq3eJysGp/UfIfufmrqpiWUGltMBgAEktL3OMkOAAIJc0QYF4dYKDgcS5jpbfmOfRXOKoDEUagpuLDUYW5hYgkbxusOnzxkju09P1MZY9pQcIZaMz2ucYDm2Ji3/AIbz77TIBsb3UtrgSDNycl94uWO/uHeIVFi8UzAUqlSph6DIaxg9i4DNE+LuBzWgZnHxANa481acNxXt6TXAOILbggA2gGnUA8NUGQQJjKfI+l6Wt9ItcDJjTMYkXJ9m8TpyM2jX3draTqhdlgOaNDAiZBYQBdpAN1Np0gWiowlxjeO8Rs62oj5aqTQrNLS7w+9NiI5/dBXcPpZnEOtAy5ZMjTuncgTY6jNHJSabzSJBIy+gyj7fb468XjoJyZQdC48wSA07xM36HqRhlIAzRMAmTJ3gOJn0de410QWoMrRiAJBIsN+Xn067LLCRlEZv/VMzvM9VuKCG2vlgi7DPWI1PkpYKi/y0OsBlOoMWiPsI5KHj+K08OC1vef7s2Hny8kFjisSym3M8gD8sFynFuNuqy1vdZy3Pn9lX4zGvquzPMnbkOgUYuWMyrKVjVHdMamw9bT8SFlTbJ+vQc1vxDcsN31I5ch5/fyUVg0QAFsaVHqVQ0FziABqToFTYvGPrWBNOl0kVHjqdWN6C53ImFdK2dpMUarHYei4d/u1X7NZ+pg5vIt0BO+lv/C/hLKT3lgsGXO5LjqfQH4qipsAAa0AAWAH7L0Psdw11Gm4vGVzyIB1DWi08jc2WWtMZl0CIiIIiICIiCNxLCCtSqUzEPaRfqLfNeC8c7Piu4Oa7JViATJa8DY7h49ZF9jl/Qa8m7V8FqYbEVSb4es/2lJw1pvdJez0d3h0cRo1FhwlDsVXLofUpNbzbmc74EAfNddwPhTcOcjCQwtif1F5MF55k90R0AA5bcFiJlrozDXkZ0I6GD5QReJUpwn8/PgsVfHAgwdfkeRHQpK2gh4ymzhoSfUg9DBM9Cbw4rChhnvJaGmR4psG9STYBEfAVZcKqCC3rI/PRR8Vw72YGeoxu95mOYb4iOsQvtPBGMzHglokwRIHMjxNHUhasuP4lJq1Z8XxaTV2PDsTTZTBMB15943sB+QoWDxjqTtLfqb+bqpwOMz9HDUdRuPyys3ONW8d4C8amBr5fHVc+b38q8TXju5Vr3iYrxavHddcQwVPF0ix12PEOF7jcWIIPIi4IB2XI8Vx+KwrRhsNTbUYG90GnUBfme4GiHsdlpPYyHGpUnNnFj3iLfh2ONM82nUfuOqteK4RlahVAcGioy79oF+9cS3YiRYkSF0MGeMsd3R6fqIy17+qA3itOkC7u1XOIYHMIIhoJAe6crYGaeVyYElV+D4i976jajBmJYC2xDw4DKR+rLmloLmtktLgMtmfMNQo0K2TE1aQfUbDGNfLiC8uY6SGuJzA5ABIOeJm1g3heai7D0+7Te0h9YODqmYEXhwh09bDKWlsLe9CVTLGhju8f0ySMxcNGum02iTG3QjCsDUcC27pIJAsIgmmZHIHvGyzqYbIxlNz3Vn5QHF8A1IknwgAO1NoNpvBWzG03BgdSblzAB0CHwPDJN4AkaTcdUEnhtZpbkk5mWc0kkj1NyNp6KVUeGglxAA1JsFV1OJCgya0ZjcARndbcbEaei5PivGX1zezdmjTzPM9VNi44v2jJltGw3fufLl56+S51z+ajl6ypguMAEk6ACT8AorZmWyhSLzA2uSbADmTsFJw/DDrUOUbgEZr6SfC2et+ikVccymIYBIuPdaR+ozckc3XEaNsVFbcjaDQSJOrWmxcffcNmjYfuqDH8RDDF31DfKDe+7jo0fgBi0bGcTfVJyE38VQ79GDfzNtYBsVFp0w3Te5JuSdyTueqsQDsziHVXBxFwAIY3/Ec+pkrbgmCpUDCKhmYDAC4mLATb1U/g3BauJd3BDR4nnwj7np9F6Dwfg1LDNhglx8Tz4j9h0CyRW9nOzYon2tUN9ofC0XayeU6u6/8AK6NERBERAREQEREBROKcPZiKT6VQS1wgxYjk4HYg3BUtEHjfGOE1MHVFNxkgTSqRAe20gx1iRsYPurdhcSHjkdCDqDyPy8wQRYgr0vtDwZmLomm+x1Y7drtj5bEbgleS4ilUo1XMeIqMMPb7w2LTadZB3mDE2kwu1s10EHcEH4EGD0kD4BfeN9qf5Wm+sGM2DKYB8W3eLiIFzZjSALEFQGY0ESLqm7T0HYmiWNgOBDmzpIkRPkT8lFcLxnjGIxTy+tVc6TMT3B5N0HnqdyTdSuznaWvhHtLXvyA95smI3LRs6Nx5XEhVVRuU5XgscNQQQVedl+zFXG1GhjHeynvPIIBA1a3meuguTpBqPSKWKJcHixuDFgS0xMcto5ALo8FjA8BzbEajkfsqLGta0hjCDl8RGhcbmOmg9J3WrD4gscCP+RyXmz4YyR5cw83U9PGWNxzHDsnNFSS0QQBI1B10/P8Ae3huOyd112HUcuqrMDi8wD2H/R5FS67mky2xOo29Pz7LneOaz4uLRz3cnx2pbxcWjnum8a4Dh65aarSWubkzN5ZswnaPELyIcQQZWGLY59LM2pTwrKdRzabjmDg6m91MOcS4Nc1xB7hBzBwuCQR94bjg3uPuw87xP7Kx4s2jDKlYjKwkgEAgkiBA5jYjqurhzRkruHYwZ65a7hhwU+1pirUYwOJPhcyoyWuILmOH6SRmE94TBAiBC4z2layWUYc7d36R5cz8vNUnGu0L60tZLKfL9TvP7fVUsrbtvb69dz3FziXOO+pKsqOGZTZncA46Sbtnk0bxub9GmCqN9XKCeQJ+C3YnEudlE2AgdOZ8zCit9fG3gst0DD87f/RZ0eKOa3KAGjkN/WGwfNrx0WkYBrqQIDzUguI0AaBZ3lMienNVUnQXPXQf5fYX8tUFnieJGLmBoA3Uzq0edpDcrdyALrPhnBa2Kdplpg390RcZvedvlFhbzVfLWd4y42EwSbmwAAs2TtbUrrcNx5z2MoYKm7NlAL3Nyx7zoPWe874GVdIcaw+HwdB1JoD61VpbJguDTYu/tHIDUxyJGngPZNz4fiJa3UM0cfP3R018le8G7PNpH2lU+0rG5cZIB6Tv1PyV4qjCjSaxoa0BrRYACAFmiICIiAiIgIiICIiAiIgLm+2XZz+ap56cCvTHcOmYamm7odjsehM9IiDwTG4Il8OdUaxrnCvTpnK8kGDlcBmEEElrSM0Hc310HBlY4fP7TuCpSqTOekTAJOheDAJ3EHUlej9uuzZM4qg3vD+swDxD3wPeG/MdRB4DBsZTc9zQP/GIJdaZgDJOwmXAaS525EyVhLZhxHeAPmrb29ZtBos0FozhvUWvuy3lIPmq0VVP4ZjAIpvMNPgd7rj+k/2H5H0LYqHK+Fh5qRxHBmm427vLkeXlpB6jpMUPREvB4l1MyPUbEK5pcWpnWW+k/Rc5nTOtGTBTJ5y8+XpseWd25dFV4uweGXH4D7qsxGMfUILiTFgNgOQ5BQc6yDlljw0x/wBWWLp6Yv6t+ZAUwmHdUMNGl3E2aBzcdh9eq6LC4OnQbnc6P7zZ56Ux+kf3GXEaCNNjciYLgzneOAfdP6Z3fy6N1PSFXY4sa52Qy0GzjyFp/NfVbeJ8aLu4wZW+4Dczu48j6zBu6Aqstm7rnbkP99VYVufiC4GC5oLcpcCQ4tmYG7WzJ572WAtos8MxrnZXOLZBiG5nE7ADmSV2HA+yYn2ldsbtpTMDbOd/L48lkim4H2eqYmHHu0/eImY90bnroPRd/wAO4fToNy02wNzuTzJ3UlrQBAsBoF9RBERAREQEREBERAREQEREBERAREQF5X/EXh38tVNdwmhXeGuIFqb3CO90c4eLm7aL+qKPxDBU69N9Kq0PpvaWvadCDqg8NLi0wTPI8+vncT8d4GxtbnoVt4xwR+Bq/wAtVJdTdmdhqpiSxuUZHTrUbniL5miTYlVVSWGD+cvTWPXcGJMK7LhGMbXb7F5moAQwk+Nok5CT+oXIPn/dNTj8OaboMxeCbG2oPUfm8UdOuQQQTMyCDBBBsR1XccJxtLHMyVMra4sQbNqxo5pGj9LDlyjLBzYqLMvVnxHs89klhtyf3T5Zh3XehChYfhlRxjut83D9pJQas6ueF8HdUgvBDTdrR/UeOYmzW/3ut5qZw3g9KnLqjmlzblzwA1nUMNyeRfA5SvnE+0QgsoSA7xVDPtHn5Ea9InRsSip+KxdLDDKA1zwbMbPs2Hmd3P6m+kAWcuaxeMfVJc5xJ52gTy26/WbqMATc6cvv9vLWJWWZWICmwN09Sbk9Sp3C+GVMQ/LTExq4+Fvmf21VrwDss+vD6ssp6j33eXIdT6c132DwjKTQym0NaNh9ep6qoreB9nqWGAIGapu8i/UN90K4REQREQEREBERAREQEREBERAREQEREBERAREQVnaLglPGUTSqzqHMcJDmPaZa8EEGQfiJG68ax2BfTe/DYgRWpwJuA9pAh7THhdE2mCLiQQveFRdp+y1HHBntC9j6ZltSnlDwJBLe8CMpgbIPEajS0wfzz5Eb/uIJMqEmNSdgun7XdnX0HltyDdh98D/rHz9RFV2WxlOlWL6mXuNd3XaOPIECztxbUeSilLjNcGC9xixzeMDlm8Y+KlU+LvgzuL5n1Hj4VHuHyWHHnsq1Q6kQ5zmy4NHdbOjQdyBqdJPmvuFwmW8yeY0Hl16+UboNoLnQHaN8LdGj0EBvkINtpBWbWx+fn4TzX0WsFc9nuFvrk5Ke4is4nIyNYGjndNraaq6FTQw76jgxjS5x0A1P2C73s/2TbSyvrw948Lf0N/7j10+qt+DcGpYZsMFz4nnxO/10FlYogiIgIiICIiAiIgIiICIiAiIgIiICKsqYqoKuUC02FtOa+nGVv/L+R62+nxWU11pInayRV5xdWP6Zm+xve3yUjCVXOnM3LERrfmsVSEREBERAREQQuL8MZiKZpv8ANp3a7YheM9quBVaLiQGZmmHAyAQdHtPzuD6GV7mqvj/BGYqmWOOU/pcBJH3HRB5Ng8NlaA0CSNgbnbmfTquj4R2VrVXQ8OpMHic4d4+QOp66fRdhwHs3SwwB8dQCM5Gn+I2+vVXSK5en2IoB4OaoW7sJFz5gAx+Sulo0msaGtAa0WAAgAdFmiIIiICIiAiIgIiICIiAiIgIiICIiAiIg+L6iICIiAiIgIiICIiAiIgIiICIiAiIgIiICIiAiIgIiICIiAiIgIiICIiD/2Q=="/>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7" name="组合 6"/>
          <p:cNvGrpSpPr/>
          <p:nvPr/>
        </p:nvGrpSpPr>
        <p:grpSpPr>
          <a:xfrm>
            <a:off x="1393005" y="3698871"/>
            <a:ext cx="6357989" cy="1576163"/>
            <a:chOff x="621361" y="4352287"/>
            <a:chExt cx="6690881" cy="1730729"/>
          </a:xfrm>
        </p:grpSpPr>
        <p:pic>
          <p:nvPicPr>
            <p:cNvPr id="44034" name="Picture 2" descr="http://demo.sc.chinaz.com/Files/pic/icons/xt_168/Icon6_.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361" y="4437112"/>
              <a:ext cx="1613049" cy="1613050"/>
            </a:xfrm>
            <a:prstGeom prst="rect">
              <a:avLst/>
            </a:prstGeom>
            <a:noFill/>
            <a:extLst>
              <a:ext uri="{909E8E84-426E-40DD-AFC4-6F175D3DCCD1}">
                <a14:hiddenFill xmlns:a14="http://schemas.microsoft.com/office/drawing/2010/main">
                  <a:solidFill>
                    <a:srgbClr val="FFFFFF"/>
                  </a:solidFill>
                </a14:hiddenFill>
              </a:ext>
            </a:extLst>
          </p:spPr>
        </p:pic>
        <p:pic>
          <p:nvPicPr>
            <p:cNvPr id="44042" name="Picture 10" descr="硬盘是什么意思_www.qq880.com"/>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rot="1296504">
              <a:off x="2809289" y="4352287"/>
              <a:ext cx="1971053" cy="1730729"/>
            </a:xfrm>
            <a:prstGeom prst="rect">
              <a:avLst/>
            </a:prstGeom>
            <a:noFill/>
            <a:extLst>
              <a:ext uri="{909E8E84-426E-40DD-AFC4-6F175D3DCCD1}">
                <a14:hiddenFill xmlns:a14="http://schemas.microsoft.com/office/drawing/2010/main">
                  <a:solidFill>
                    <a:srgbClr val="FFFFFF"/>
                  </a:solidFill>
                </a14:hiddenFill>
              </a:ext>
            </a:extLst>
          </p:spPr>
        </p:pic>
        <p:pic>
          <p:nvPicPr>
            <p:cNvPr id="44044" name="Picture 12" descr="http://image.cn.made-in-china.com/2f0j01ieOQsqBhbfur/%E8%B1%AA%E5%A8%81EP-2126-SA3%E7%A3%81%E7%9B%98%E9%98%B5%E5%88%9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19039" y="4663575"/>
              <a:ext cx="1993203" cy="1108159"/>
            </a:xfrm>
            <a:prstGeom prst="rect">
              <a:avLst/>
            </a:prstGeom>
            <a:noFill/>
            <a:extLst>
              <a:ext uri="{909E8E84-426E-40DD-AFC4-6F175D3DCCD1}">
                <a14:hiddenFill xmlns:a14="http://schemas.microsoft.com/office/drawing/2010/main">
                  <a:solidFill>
                    <a:srgbClr val="FFFFFF"/>
                  </a:solidFill>
                </a14:hiddenFill>
              </a:ext>
            </a:extLst>
          </p:spPr>
        </p:pic>
      </p:grpSp>
      <p:pic>
        <p:nvPicPr>
          <p:cNvPr id="44046" name="Picture 14" descr="http://0.s3.envato.com/files/16027715/mobi-cloud-logo-ioshva-preview.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5216329" y="5021011"/>
            <a:ext cx="1886857" cy="1175658"/>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3"/>
          <p:cNvSpPr txBox="1">
            <a:spLocks noChangeArrowheads="1"/>
          </p:cNvSpPr>
          <p:nvPr/>
        </p:nvSpPr>
        <p:spPr>
          <a:xfrm>
            <a:off x="391272" y="5475216"/>
            <a:ext cx="4480049" cy="64983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800" dirty="0">
                <a:latin typeface="Times New Roman" pitchFamily="18" charset="0"/>
              </a:rPr>
              <a:t>近两年，云存储发展迅速</a:t>
            </a:r>
            <a:endParaRPr lang="zh-CN" altLang="en-US" sz="2800" dirty="0"/>
          </a:p>
        </p:txBody>
      </p:sp>
      <p:sp>
        <p:nvSpPr>
          <p:cNvPr id="13" name="Rectangle 2">
            <a:extLst>
              <a:ext uri="{FF2B5EF4-FFF2-40B4-BE49-F238E27FC236}">
                <a16:creationId xmlns:a16="http://schemas.microsoft.com/office/drawing/2014/main" id="{A89F2B31-7231-4BD2-8B3F-82D7CD3C0F76}"/>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a:extLst>
              <a:ext uri="{FF2B5EF4-FFF2-40B4-BE49-F238E27FC236}">
                <a16:creationId xmlns:a16="http://schemas.microsoft.com/office/drawing/2014/main" id="{AFBBB254-C96F-4898-A10A-27A9896CA8ED}"/>
              </a:ext>
            </a:extLst>
          </p:cNvPr>
          <p:cNvSpPr>
            <a:spLocks noGrp="1"/>
          </p:cNvSpPr>
          <p:nvPr>
            <p:ph type="sldNum" sz="quarter" idx="12"/>
          </p:nvPr>
        </p:nvSpPr>
        <p:spPr/>
        <p:txBody>
          <a:bodyPr/>
          <a:lstStyle/>
          <a:p>
            <a:fld id="{F64BA984-46A0-4F46-990E-EC790E6934B4}" type="slidenum">
              <a:rPr lang="zh-CN" altLang="en-US" smtClean="0"/>
              <a:t>43</a:t>
            </a:fld>
            <a:endParaRPr lang="zh-CN" altLang="en-US"/>
          </a:p>
        </p:txBody>
      </p:sp>
    </p:spTree>
    <p:extLst>
      <p:ext uri="{BB962C8B-B14F-4D97-AF65-F5344CB8AC3E}">
        <p14:creationId xmlns:p14="http://schemas.microsoft.com/office/powerpoint/2010/main" val="395141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2000"/>
                                        <p:tgtEl>
                                          <p:spTgt spid="122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0" end="0"/>
                                            </p:txEl>
                                          </p:spTgt>
                                        </p:tgtEl>
                                        <p:attrNameLst>
                                          <p:attrName>style.visibility</p:attrName>
                                        </p:attrNameLst>
                                      </p:cBhvr>
                                      <p:to>
                                        <p:strVal val="visible"/>
                                      </p:to>
                                    </p:set>
                                    <p:animEffect transition="in" filter="fade">
                                      <p:cBhvr>
                                        <p:cTn id="12" dur="2000"/>
                                        <p:tgtEl>
                                          <p:spTgt spid="122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91">
                                            <p:txEl>
                                              <p:pRg st="1" end="1"/>
                                            </p:txEl>
                                          </p:spTgt>
                                        </p:tgtEl>
                                        <p:attrNameLst>
                                          <p:attrName>style.visibility</p:attrName>
                                        </p:attrNameLst>
                                      </p:cBhvr>
                                      <p:to>
                                        <p:strVal val="visible"/>
                                      </p:to>
                                    </p:set>
                                    <p:animEffect transition="in" filter="fade">
                                      <p:cBhvr>
                                        <p:cTn id="17" dur="2000"/>
                                        <p:tgtEl>
                                          <p:spTgt spid="1229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animEffect transition="in" filter="fade">
                                      <p:cBhvr>
                                        <p:cTn id="27" dur="2000"/>
                                        <p:tgtEl>
                                          <p:spTgt spid="1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4046"/>
                                        </p:tgtEl>
                                        <p:attrNameLst>
                                          <p:attrName>style.visibility</p:attrName>
                                        </p:attrNameLst>
                                      </p:cBhvr>
                                      <p:to>
                                        <p:strVal val="visible"/>
                                      </p:to>
                                    </p:set>
                                    <p:animEffect transition="in" filter="fade">
                                      <p:cBhvr>
                                        <p:cTn id="32" dur="500"/>
                                        <p:tgtEl>
                                          <p:spTgt spid="44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P spid="12291" grpId="0" build="p"/>
      <p:bldP spid="14"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7504" y="1105557"/>
            <a:ext cx="8229600" cy="703263"/>
          </a:xfrm>
        </p:spPr>
        <p:txBody>
          <a:bodyPr>
            <a:normAutofit/>
          </a:bodyPr>
          <a:lstStyle/>
          <a:p>
            <a:r>
              <a:rPr lang="zh-CN" altLang="en-US" sz="3600" dirty="0">
                <a:latin typeface="Times New Roman" pitchFamily="18" charset="0"/>
              </a:rPr>
              <a:t>多媒体传输技术</a:t>
            </a:r>
            <a:endParaRPr lang="zh-CN" altLang="en-US" sz="3600" dirty="0"/>
          </a:p>
        </p:txBody>
      </p:sp>
      <p:sp>
        <p:nvSpPr>
          <p:cNvPr id="18435" name="Rectangle 3"/>
          <p:cNvSpPr>
            <a:spLocks noGrp="1" noChangeArrowheads="1"/>
          </p:cNvSpPr>
          <p:nvPr>
            <p:ph type="body" idx="4294967295"/>
          </p:nvPr>
        </p:nvSpPr>
        <p:spPr>
          <a:xfrm>
            <a:off x="107504" y="1808820"/>
            <a:ext cx="8229600" cy="3240360"/>
          </a:xfrm>
        </p:spPr>
        <p:txBody>
          <a:bodyPr/>
          <a:lstStyle/>
          <a:p>
            <a:r>
              <a:rPr lang="zh-CN" altLang="en-US" sz="2800" dirty="0">
                <a:latin typeface="Times New Roman" pitchFamily="18" charset="0"/>
              </a:rPr>
              <a:t>计算机系统以网络为中心，多媒体技术、网络技术和通信技术相结合出现了许多令人振奋的应用领域，如可视电话、电视会议、视频点播以及以分布式多媒体系统为基础的计算机支持协同工作系统，这些应用很大程度上影响了人类的生活和工作方式。 </a:t>
            </a:r>
          </a:p>
        </p:txBody>
      </p:sp>
      <p:pic>
        <p:nvPicPr>
          <p:cNvPr id="38914" name="Picture 2" descr="http://www.realcontrol.cn/imageRepository/ee8710bf-6148-4bfc-a451-328ac526462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698740"/>
            <a:ext cx="2458071" cy="1538571"/>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http://images.hc3i.cn/files/uploadimg/20121227/094937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724128" y="4528222"/>
            <a:ext cx="2816639" cy="16976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E59B8D45-63E3-4AFC-BE5A-40EAFF819646}"/>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BC658846-66C6-4ED9-BC70-6281052C1CF9}"/>
              </a:ext>
            </a:extLst>
          </p:cNvPr>
          <p:cNvSpPr>
            <a:spLocks noGrp="1"/>
          </p:cNvSpPr>
          <p:nvPr>
            <p:ph type="sldNum" sz="quarter" idx="12"/>
          </p:nvPr>
        </p:nvSpPr>
        <p:spPr/>
        <p:txBody>
          <a:bodyPr/>
          <a:lstStyle/>
          <a:p>
            <a:fld id="{F64BA984-46A0-4F46-990E-EC790E6934B4}" type="slidenum">
              <a:rPr lang="zh-CN" altLang="en-US" smtClean="0"/>
              <a:t>44</a:t>
            </a:fld>
            <a:endParaRPr lang="zh-CN" altLang="en-US"/>
          </a:p>
        </p:txBody>
      </p:sp>
    </p:spTree>
    <p:extLst>
      <p:ext uri="{BB962C8B-B14F-4D97-AF65-F5344CB8AC3E}">
        <p14:creationId xmlns:p14="http://schemas.microsoft.com/office/powerpoint/2010/main" val="21518266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2000"/>
                                        <p:tgtEl>
                                          <p:spTgt spid="184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435">
                                            <p:txEl>
                                              <p:pRg st="0" end="0"/>
                                            </p:txEl>
                                          </p:spTgt>
                                        </p:tgtEl>
                                        <p:attrNameLst>
                                          <p:attrName>style.visibility</p:attrName>
                                        </p:attrNameLst>
                                      </p:cBhvr>
                                      <p:to>
                                        <p:strVal val="visible"/>
                                      </p:to>
                                    </p:set>
                                    <p:animEffect transition="in" filter="fade">
                                      <p:cBhvr>
                                        <p:cTn id="12" dur="2000"/>
                                        <p:tgtEl>
                                          <p:spTgt spid="184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914"/>
                                        </p:tgtEl>
                                        <p:attrNameLst>
                                          <p:attrName>style.visibility</p:attrName>
                                        </p:attrNameLst>
                                      </p:cBhvr>
                                      <p:to>
                                        <p:strVal val="visible"/>
                                      </p:to>
                                    </p:set>
                                    <p:animEffect transition="in" filter="fade">
                                      <p:cBhvr>
                                        <p:cTn id="17" dur="500"/>
                                        <p:tgtEl>
                                          <p:spTgt spid="389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916"/>
                                        </p:tgtEl>
                                        <p:attrNameLst>
                                          <p:attrName>style.visibility</p:attrName>
                                        </p:attrNameLst>
                                      </p:cBhvr>
                                      <p:to>
                                        <p:strVal val="visible"/>
                                      </p:to>
                                    </p:set>
                                    <p:animEffect transition="in" filter="fade">
                                      <p:cBhvr>
                                        <p:cTn id="22" dur="5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5575" y="1124744"/>
            <a:ext cx="8229600" cy="703263"/>
          </a:xfrm>
        </p:spPr>
        <p:txBody>
          <a:bodyPr>
            <a:normAutofit/>
          </a:bodyPr>
          <a:lstStyle/>
          <a:p>
            <a:r>
              <a:rPr lang="zh-CN" altLang="en-US" sz="3600" dirty="0"/>
              <a:t>多媒体检索技术</a:t>
            </a:r>
          </a:p>
        </p:txBody>
      </p:sp>
      <p:sp>
        <p:nvSpPr>
          <p:cNvPr id="5" name="Rectangle 3"/>
          <p:cNvSpPr txBox="1">
            <a:spLocks noChangeArrowheads="1"/>
          </p:cNvSpPr>
          <p:nvPr/>
        </p:nvSpPr>
        <p:spPr>
          <a:xfrm>
            <a:off x="307975" y="1911549"/>
            <a:ext cx="8207375" cy="11521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b="1" kern="1200">
                <a:solidFill>
                  <a:srgbClr val="0000FF"/>
                </a:solidFill>
                <a:latin typeface="+mn-lt"/>
                <a:ea typeface="+mn-ea"/>
                <a:cs typeface="+mn-cs"/>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800" dirty="0"/>
              <a:t>基于内容的多媒体检索：对于给定输入，以查找具有相同或相似内容的其他媒体。</a:t>
            </a:r>
          </a:p>
        </p:txBody>
      </p:sp>
      <p:sp>
        <p:nvSpPr>
          <p:cNvPr id="2" name="AutoShape 2" descr="http://4.bp.blogspot.com/-qDuQSLc6E2Q/TonzTlOkh-I/AAAAAAAAAA4/FADqgig95TU/s1600/Retrieval.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http://4.bp.blogspot.com/-qDuQSLc6E2Q/TonzTlOkh-I/AAAAAAAAAA4/FADqgig95TU/s1600/Retrieval.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6" descr="http://4.bp.blogspot.com/-qDuQSLc6E2Q/TonzTlOkh-I/AAAAAAAAAA4/FADqgig95TU/s1600/Retrieval.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图片 5">
            <a:extLst>
              <a:ext uri="{FF2B5EF4-FFF2-40B4-BE49-F238E27FC236}">
                <a16:creationId xmlns:a16="http://schemas.microsoft.com/office/drawing/2014/main" id="{5799E45F-9BD1-4EC3-BAE1-5278A3F498FE}"/>
              </a:ext>
            </a:extLst>
          </p:cNvPr>
          <p:cNvPicPr>
            <a:picLocks noChangeAspect="1"/>
          </p:cNvPicPr>
          <p:nvPr/>
        </p:nvPicPr>
        <p:blipFill>
          <a:blip r:embed="rId2"/>
          <a:stretch>
            <a:fillRect/>
          </a:stretch>
        </p:blipFill>
        <p:spPr>
          <a:xfrm>
            <a:off x="1594010" y="3147218"/>
            <a:ext cx="5723942" cy="3044837"/>
          </a:xfrm>
          <a:prstGeom prst="rect">
            <a:avLst/>
          </a:prstGeom>
        </p:spPr>
      </p:pic>
      <p:sp>
        <p:nvSpPr>
          <p:cNvPr id="10" name="Rectangle 2">
            <a:extLst>
              <a:ext uri="{FF2B5EF4-FFF2-40B4-BE49-F238E27FC236}">
                <a16:creationId xmlns:a16="http://schemas.microsoft.com/office/drawing/2014/main" id="{D951ADDD-4317-4F88-8D0E-133DC1CCA139}"/>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7" name="灯片编号占位符 6">
            <a:extLst>
              <a:ext uri="{FF2B5EF4-FFF2-40B4-BE49-F238E27FC236}">
                <a16:creationId xmlns:a16="http://schemas.microsoft.com/office/drawing/2014/main" id="{551AB23A-7680-4795-B9DB-4B64F5AC8418}"/>
              </a:ext>
            </a:extLst>
          </p:cNvPr>
          <p:cNvSpPr>
            <a:spLocks noGrp="1"/>
          </p:cNvSpPr>
          <p:nvPr>
            <p:ph type="sldNum" sz="quarter" idx="12"/>
          </p:nvPr>
        </p:nvSpPr>
        <p:spPr/>
        <p:txBody>
          <a:bodyPr/>
          <a:lstStyle/>
          <a:p>
            <a:fld id="{F64BA984-46A0-4F46-990E-EC790E6934B4}" type="slidenum">
              <a:rPr lang="zh-CN" altLang="en-US" smtClean="0"/>
              <a:t>45</a:t>
            </a:fld>
            <a:endParaRPr lang="zh-CN" altLang="en-US"/>
          </a:p>
        </p:txBody>
      </p:sp>
    </p:spTree>
    <p:extLst>
      <p:ext uri="{BB962C8B-B14F-4D97-AF65-F5344CB8AC3E}">
        <p14:creationId xmlns:p14="http://schemas.microsoft.com/office/powerpoint/2010/main" val="352916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28599" y="1052736"/>
            <a:ext cx="8229600" cy="703263"/>
          </a:xfrm>
        </p:spPr>
        <p:txBody>
          <a:bodyPr>
            <a:normAutofit/>
          </a:bodyPr>
          <a:lstStyle/>
          <a:p>
            <a:r>
              <a:rPr lang="zh-CN" altLang="en-US" sz="3600" dirty="0">
                <a:latin typeface="Times New Roman" pitchFamily="18" charset="0"/>
              </a:rPr>
              <a:t>多媒体数据压缩技术</a:t>
            </a:r>
            <a:r>
              <a:rPr lang="zh-CN" altLang="en-US" sz="3600" dirty="0"/>
              <a:t> </a:t>
            </a:r>
          </a:p>
        </p:txBody>
      </p:sp>
      <p:sp>
        <p:nvSpPr>
          <p:cNvPr id="11267" name="Rectangle 3"/>
          <p:cNvSpPr>
            <a:spLocks noGrp="1" noChangeArrowheads="1"/>
          </p:cNvSpPr>
          <p:nvPr>
            <p:ph type="body" idx="4294967295"/>
          </p:nvPr>
        </p:nvSpPr>
        <p:spPr>
          <a:xfrm>
            <a:off x="250824" y="1844824"/>
            <a:ext cx="8207375" cy="2160240"/>
          </a:xfrm>
        </p:spPr>
        <p:txBody>
          <a:bodyPr/>
          <a:lstStyle/>
          <a:p>
            <a:r>
              <a:rPr lang="zh-CN" altLang="en-US" sz="2800" dirty="0">
                <a:latin typeface="Times New Roman" pitchFamily="18" charset="0"/>
              </a:rPr>
              <a:t>在多媒体计算机系统中要表示、传输和处理声文图信息，特别是数字化图像和视频要占用大量的存储空间，因此高效的压缩和解压缩算法是多媒体系统运行的关键。</a:t>
            </a:r>
            <a:r>
              <a:rPr lang="zh-CN" altLang="en-US" dirty="0"/>
              <a:t> </a:t>
            </a:r>
          </a:p>
        </p:txBody>
      </p:sp>
      <p:grpSp>
        <p:nvGrpSpPr>
          <p:cNvPr id="2" name="组合 1"/>
          <p:cNvGrpSpPr/>
          <p:nvPr/>
        </p:nvGrpSpPr>
        <p:grpSpPr>
          <a:xfrm>
            <a:off x="1331640" y="3717032"/>
            <a:ext cx="5574943" cy="1998672"/>
            <a:chOff x="1475656" y="3947427"/>
            <a:chExt cx="5574943" cy="1998672"/>
          </a:xfrm>
        </p:grpSpPr>
        <p:pic>
          <p:nvPicPr>
            <p:cNvPr id="45058" name="Picture 2" descr="http://i2.sinaimg.cn/IT/cr/2008/0917/284375774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3947427"/>
              <a:ext cx="1974543" cy="1946335"/>
            </a:xfrm>
            <a:prstGeom prst="rect">
              <a:avLst/>
            </a:prstGeom>
            <a:noFill/>
            <a:extLst>
              <a:ext uri="{909E8E84-426E-40DD-AFC4-6F175D3DCCD1}">
                <a14:hiddenFill xmlns:a14="http://schemas.microsoft.com/office/drawing/2010/main">
                  <a:solidFill>
                    <a:srgbClr val="FFFFFF"/>
                  </a:solidFill>
                </a14:hiddenFill>
              </a:ext>
            </a:extLst>
          </p:spPr>
        </p:pic>
        <p:pic>
          <p:nvPicPr>
            <p:cNvPr id="45060" name="Picture 4" descr="http://blog.eucliddiscoveries.com/Portals/219327/images/h264-mpeg4-avc-logo-new.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3949166"/>
              <a:ext cx="2448272" cy="1996933"/>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Rectangle 2">
            <a:extLst>
              <a:ext uri="{FF2B5EF4-FFF2-40B4-BE49-F238E27FC236}">
                <a16:creationId xmlns:a16="http://schemas.microsoft.com/office/drawing/2014/main" id="{A7FC9A73-8190-4061-AA88-4EB15CA84C12}"/>
              </a:ext>
            </a:extLst>
          </p:cNvPr>
          <p:cNvSpPr txBox="1">
            <a:spLocks noChangeArrowheads="1"/>
          </p:cNvSpPr>
          <p:nvPr/>
        </p:nvSpPr>
        <p:spPr>
          <a:xfrm>
            <a:off x="179512" y="171706"/>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00EDA5A3-5F58-492A-918C-91B53E2BBB20}"/>
              </a:ext>
            </a:extLst>
          </p:cNvPr>
          <p:cNvSpPr>
            <a:spLocks noGrp="1"/>
          </p:cNvSpPr>
          <p:nvPr>
            <p:ph type="sldNum" sz="quarter" idx="12"/>
          </p:nvPr>
        </p:nvSpPr>
        <p:spPr/>
        <p:txBody>
          <a:bodyPr/>
          <a:lstStyle/>
          <a:p>
            <a:fld id="{F64BA984-46A0-4F46-990E-EC790E6934B4}" type="slidenum">
              <a:rPr lang="zh-CN" altLang="en-US" smtClean="0"/>
              <a:t>46</a:t>
            </a:fld>
            <a:endParaRPr lang="zh-CN" altLang="en-US"/>
          </a:p>
        </p:txBody>
      </p:sp>
    </p:spTree>
    <p:extLst>
      <p:ext uri="{BB962C8B-B14F-4D97-AF65-F5344CB8AC3E}">
        <p14:creationId xmlns:p14="http://schemas.microsoft.com/office/powerpoint/2010/main" val="1156673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20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fade">
                                      <p:cBhvr>
                                        <p:cTn id="12" dur="2000"/>
                                        <p:tgtEl>
                                          <p:spTgt spid="11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1520" y="1076904"/>
            <a:ext cx="8229600" cy="703263"/>
          </a:xfrm>
        </p:spPr>
        <p:txBody>
          <a:bodyPr>
            <a:normAutofit/>
          </a:bodyPr>
          <a:lstStyle/>
          <a:p>
            <a:r>
              <a:rPr lang="zh-CN" altLang="en-US" sz="3600" dirty="0">
                <a:latin typeface="Times New Roman" pitchFamily="18" charset="0"/>
              </a:rPr>
              <a:t>多媒体人机交互技术</a:t>
            </a:r>
            <a:endParaRPr lang="zh-CN" altLang="en-US" sz="3600" dirty="0"/>
          </a:p>
        </p:txBody>
      </p:sp>
      <p:sp>
        <p:nvSpPr>
          <p:cNvPr id="11267" name="Rectangle 3"/>
          <p:cNvSpPr>
            <a:spLocks noGrp="1" noChangeArrowheads="1"/>
          </p:cNvSpPr>
          <p:nvPr>
            <p:ph type="body" idx="4294967295"/>
          </p:nvPr>
        </p:nvSpPr>
        <p:spPr>
          <a:xfrm>
            <a:off x="363068" y="1784474"/>
            <a:ext cx="8207375" cy="2160240"/>
          </a:xfrm>
        </p:spPr>
        <p:txBody>
          <a:bodyPr>
            <a:normAutofit lnSpcReduction="10000"/>
          </a:bodyPr>
          <a:lstStyle/>
          <a:p>
            <a:r>
              <a:rPr lang="zh-CN" altLang="en-US" sz="2800" dirty="0">
                <a:latin typeface="Times New Roman" pitchFamily="18" charset="0"/>
              </a:rPr>
              <a:t>通过计算机输入、输出设备，以有效的方式实现人与计算机对话的技术。它包括机器通过输出或显示设备给人提供大量有关信息及提示请示等，人通过输入设备给机器输入有关信息，回答问题及提示请示等。</a:t>
            </a:r>
            <a:endParaRPr lang="zh-CN" altLang="en-US" dirty="0"/>
          </a:p>
        </p:txBody>
      </p:sp>
      <p:grpSp>
        <p:nvGrpSpPr>
          <p:cNvPr id="2" name="组合 1"/>
          <p:cNvGrpSpPr/>
          <p:nvPr/>
        </p:nvGrpSpPr>
        <p:grpSpPr>
          <a:xfrm>
            <a:off x="513606" y="3595537"/>
            <a:ext cx="8077855" cy="2654397"/>
            <a:chOff x="513606" y="3595537"/>
            <a:chExt cx="8077855" cy="2654397"/>
          </a:xfrm>
        </p:grpSpPr>
        <p:pic>
          <p:nvPicPr>
            <p:cNvPr id="8" name="Picture 4" descr="File:Xbox-360-Kinect-Standalon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5" y="4208338"/>
              <a:ext cx="2679190" cy="925477"/>
            </a:xfrm>
            <a:prstGeom prst="rect">
              <a:avLst/>
            </a:prstGeom>
            <a:noFill/>
            <a:extLst>
              <a:ext uri="{909E8E84-426E-40DD-AFC4-6F175D3DCCD1}">
                <a14:hiddenFill xmlns:a14="http://schemas.microsoft.com/office/drawing/2010/main">
                  <a:solidFill>
                    <a:srgbClr val="FFFFFF"/>
                  </a:solidFill>
                </a14:hiddenFill>
              </a:ext>
            </a:extLst>
          </p:spPr>
        </p:pic>
        <p:pic>
          <p:nvPicPr>
            <p:cNvPr id="66562" name="Picture 2" descr="http://methodsinbraincomputerinterfaces.wikispaces.com/file/view/EEGman.jpg/222095898/EEGma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208" y="3595537"/>
              <a:ext cx="2147253" cy="2147254"/>
            </a:xfrm>
            <a:prstGeom prst="rect">
              <a:avLst/>
            </a:prstGeom>
            <a:noFill/>
            <a:extLst>
              <a:ext uri="{909E8E84-426E-40DD-AFC4-6F175D3DCCD1}">
                <a14:hiddenFill xmlns:a14="http://schemas.microsoft.com/office/drawing/2010/main">
                  <a:solidFill>
                    <a:srgbClr val="FFFFFF"/>
                  </a:solidFill>
                </a14:hiddenFill>
              </a:ext>
            </a:extLst>
          </p:spPr>
        </p:pic>
        <p:pic>
          <p:nvPicPr>
            <p:cNvPr id="66564" name="Picture 4" descr="http://www.92cbs.com/u_file/info/2010_02/17/201002172217184736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606" y="3697234"/>
              <a:ext cx="2762249" cy="255270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2">
            <a:extLst>
              <a:ext uri="{FF2B5EF4-FFF2-40B4-BE49-F238E27FC236}">
                <a16:creationId xmlns:a16="http://schemas.microsoft.com/office/drawing/2014/main" id="{ED9AB3D1-A944-42D4-98B3-FEEA1D502729}"/>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dirty="0">
                <a:latin typeface="微软雅黑" panose="020B0503020204020204" pitchFamily="34" charset="-122"/>
                <a:ea typeface="微软雅黑" panose="020B0503020204020204" pitchFamily="34" charset="-122"/>
              </a:rPr>
              <a:t>1.4 </a:t>
            </a:r>
            <a:r>
              <a:rPr lang="zh-CN" altLang="en-US" dirty="0">
                <a:latin typeface="微软雅黑" panose="020B0503020204020204" pitchFamily="34" charset="-122"/>
                <a:ea typeface="微软雅黑" panose="020B0503020204020204" pitchFamily="34" charset="-122"/>
              </a:rPr>
              <a:t>多媒体技术发展的关键技术</a:t>
            </a:r>
          </a:p>
        </p:txBody>
      </p:sp>
      <p:sp>
        <p:nvSpPr>
          <p:cNvPr id="3" name="灯片编号占位符 2">
            <a:extLst>
              <a:ext uri="{FF2B5EF4-FFF2-40B4-BE49-F238E27FC236}">
                <a16:creationId xmlns:a16="http://schemas.microsoft.com/office/drawing/2014/main" id="{31CD2A2B-8804-45FF-A5FB-4A83C806BBF6}"/>
              </a:ext>
            </a:extLst>
          </p:cNvPr>
          <p:cNvSpPr>
            <a:spLocks noGrp="1"/>
          </p:cNvSpPr>
          <p:nvPr>
            <p:ph type="sldNum" sz="quarter" idx="12"/>
          </p:nvPr>
        </p:nvSpPr>
        <p:spPr/>
        <p:txBody>
          <a:bodyPr/>
          <a:lstStyle/>
          <a:p>
            <a:fld id="{F64BA984-46A0-4F46-990E-EC790E6934B4}" type="slidenum">
              <a:rPr lang="zh-CN" altLang="en-US" smtClean="0"/>
              <a:t>47</a:t>
            </a:fld>
            <a:endParaRPr lang="zh-CN" altLang="en-US"/>
          </a:p>
        </p:txBody>
      </p:sp>
    </p:spTree>
    <p:extLst>
      <p:ext uri="{BB962C8B-B14F-4D97-AF65-F5344CB8AC3E}">
        <p14:creationId xmlns:p14="http://schemas.microsoft.com/office/powerpoint/2010/main" val="1293466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20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fade">
                                      <p:cBhvr>
                                        <p:cTn id="12" dur="2000"/>
                                        <p:tgtEl>
                                          <p:spTgt spid="11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1520" y="1052736"/>
            <a:ext cx="8229600" cy="703263"/>
          </a:xfrm>
        </p:spPr>
        <p:txBody>
          <a:bodyPr>
            <a:normAutofit/>
          </a:bodyPr>
          <a:lstStyle/>
          <a:p>
            <a:r>
              <a:rPr lang="zh-CN" altLang="en-US" sz="3600" dirty="0">
                <a:latin typeface="Times New Roman" pitchFamily="18" charset="0"/>
              </a:rPr>
              <a:t>多媒体云处理技术</a:t>
            </a:r>
            <a:endParaRPr lang="zh-CN" altLang="en-US" sz="3600" dirty="0"/>
          </a:p>
        </p:txBody>
      </p:sp>
      <p:sp>
        <p:nvSpPr>
          <p:cNvPr id="11267" name="Rectangle 3"/>
          <p:cNvSpPr>
            <a:spLocks noGrp="1" noChangeArrowheads="1"/>
          </p:cNvSpPr>
          <p:nvPr>
            <p:ph type="body" idx="4294967295"/>
          </p:nvPr>
        </p:nvSpPr>
        <p:spPr>
          <a:xfrm>
            <a:off x="323528" y="1755999"/>
            <a:ext cx="8207375" cy="2880320"/>
          </a:xfrm>
        </p:spPr>
        <p:txBody>
          <a:bodyPr>
            <a:normAutofit/>
          </a:bodyPr>
          <a:lstStyle/>
          <a:p>
            <a:r>
              <a:rPr lang="zh-CN" altLang="en-US" sz="2800" dirty="0">
                <a:latin typeface="Times New Roman" pitchFamily="18" charset="0"/>
              </a:rPr>
              <a:t>云计算和云存储是一种通过</a:t>
            </a:r>
            <a:r>
              <a:rPr lang="en-US" altLang="zh-CN" sz="2800" dirty="0">
                <a:latin typeface="Times New Roman" pitchFamily="18" charset="0"/>
              </a:rPr>
              <a:t>Internet</a:t>
            </a:r>
            <a:r>
              <a:rPr lang="zh-CN" altLang="en-US" sz="2800" dirty="0">
                <a:latin typeface="Times New Roman" pitchFamily="18" charset="0"/>
              </a:rPr>
              <a:t>以服务的方式提供</a:t>
            </a:r>
            <a:r>
              <a:rPr lang="zh-CN" altLang="en-US" sz="2800" dirty="0">
                <a:solidFill>
                  <a:srgbClr val="FF0000"/>
                </a:solidFill>
                <a:latin typeface="Times New Roman" pitchFamily="18" charset="0"/>
              </a:rPr>
              <a:t>动态可伸缩</a:t>
            </a:r>
            <a:r>
              <a:rPr lang="zh-CN" altLang="en-US" sz="2800" dirty="0">
                <a:latin typeface="Times New Roman" pitchFamily="18" charset="0"/>
              </a:rPr>
              <a:t>的</a:t>
            </a:r>
            <a:r>
              <a:rPr lang="zh-CN" altLang="en-US" sz="2800" dirty="0">
                <a:solidFill>
                  <a:srgbClr val="FF0000"/>
                </a:solidFill>
                <a:latin typeface="Times New Roman" pitchFamily="18" charset="0"/>
              </a:rPr>
              <a:t>虚拟化</a:t>
            </a:r>
            <a:r>
              <a:rPr lang="zh-CN" altLang="en-US" sz="2800" dirty="0">
                <a:latin typeface="Times New Roman" pitchFamily="18" charset="0"/>
              </a:rPr>
              <a:t>的资源处理模式。这种模式对用户所申请的资源，提供便捷的、按需的、随时随地的网络访问。</a:t>
            </a:r>
            <a:endParaRPr lang="zh-CN" altLang="en-US" dirty="0"/>
          </a:p>
        </p:txBody>
      </p:sp>
      <p:pic>
        <p:nvPicPr>
          <p:cNvPr id="68610" name="Picture 2" descr="http://t3.gstatic.com/images?q=tbn:ANd9GcS8yrlmK318WacYEiUzjqX-T4rjsyxsct0ggIPTfNzazPHkQE3j"/>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460" y="3568335"/>
            <a:ext cx="3626756" cy="26239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8FE93E38-0468-410C-B22D-95BE9B9C7404}"/>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a:latin typeface="微软雅黑" panose="020B0503020204020204" pitchFamily="34" charset="-122"/>
                <a:ea typeface="微软雅黑" panose="020B0503020204020204" pitchFamily="34" charset="-122"/>
              </a:rPr>
              <a:t>1.4 </a:t>
            </a:r>
            <a:r>
              <a:rPr lang="zh-CN" altLang="en-US">
                <a:latin typeface="微软雅黑" panose="020B0503020204020204" pitchFamily="34" charset="-122"/>
                <a:ea typeface="微软雅黑" panose="020B0503020204020204" pitchFamily="34" charset="-122"/>
              </a:rPr>
              <a:t>多媒体技术发展的关键技术</a:t>
            </a:r>
            <a:endParaRPr lang="zh-CN" altLang="en-US" dirty="0">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6742220D-8EB4-4990-8C32-CD7DB496EDA6}"/>
              </a:ext>
            </a:extLst>
          </p:cNvPr>
          <p:cNvSpPr>
            <a:spLocks noGrp="1"/>
          </p:cNvSpPr>
          <p:nvPr>
            <p:ph type="sldNum" sz="quarter" idx="12"/>
          </p:nvPr>
        </p:nvSpPr>
        <p:spPr/>
        <p:txBody>
          <a:bodyPr/>
          <a:lstStyle/>
          <a:p>
            <a:fld id="{F64BA984-46A0-4F46-990E-EC790E6934B4}" type="slidenum">
              <a:rPr lang="zh-CN" altLang="en-US" smtClean="0"/>
              <a:t>48</a:t>
            </a:fld>
            <a:endParaRPr lang="zh-CN" altLang="en-US"/>
          </a:p>
        </p:txBody>
      </p:sp>
    </p:spTree>
    <p:extLst>
      <p:ext uri="{BB962C8B-B14F-4D97-AF65-F5344CB8AC3E}">
        <p14:creationId xmlns:p14="http://schemas.microsoft.com/office/powerpoint/2010/main" val="1007542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20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fade">
                                      <p:cBhvr>
                                        <p:cTn id="12" dur="2000"/>
                                        <p:tgtEl>
                                          <p:spTgt spid="11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610"/>
                                        </p:tgtEl>
                                        <p:attrNameLst>
                                          <p:attrName>style.visibility</p:attrName>
                                        </p:attrNameLst>
                                      </p:cBhvr>
                                      <p:to>
                                        <p:strVal val="visible"/>
                                      </p:to>
                                    </p:set>
                                    <p:animEffect transition="in" filter="fade">
                                      <p:cBhvr>
                                        <p:cTn id="17" dur="500"/>
                                        <p:tgtEl>
                                          <p:spTgt spid="68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7"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body" idx="4294967295"/>
          </p:nvPr>
        </p:nvSpPr>
        <p:spPr>
          <a:xfrm>
            <a:off x="323528" y="1268760"/>
            <a:ext cx="8207375" cy="2880320"/>
          </a:xfrm>
        </p:spPr>
        <p:txBody>
          <a:bodyPr>
            <a:normAutofit lnSpcReduction="10000"/>
          </a:bodyPr>
          <a:lstStyle/>
          <a:p>
            <a:pPr marL="0" indent="0">
              <a:buNone/>
            </a:pPr>
            <a:r>
              <a:rPr lang="zh-CN" altLang="en-US" b="0" dirty="0"/>
              <a:t>智能门禁系统硬件包括：</a:t>
            </a:r>
            <a:endParaRPr lang="en-US" altLang="zh-CN" b="0" dirty="0"/>
          </a:p>
          <a:p>
            <a:pPr>
              <a:buFont typeface="Wingdings" panose="05000000000000000000" pitchFamily="2" charset="2"/>
              <a:buChar char="p"/>
            </a:pPr>
            <a:r>
              <a:rPr lang="zh-CN" altLang="en-US" b="0" dirty="0"/>
              <a:t>服务器</a:t>
            </a:r>
            <a:endParaRPr lang="en-US" altLang="zh-CN" b="0" dirty="0"/>
          </a:p>
          <a:p>
            <a:pPr>
              <a:buFont typeface="Wingdings" panose="05000000000000000000" pitchFamily="2" charset="2"/>
              <a:buChar char="p"/>
            </a:pPr>
            <a:r>
              <a:rPr lang="zh-CN" altLang="en-US" b="0" dirty="0"/>
              <a:t>交换机</a:t>
            </a:r>
            <a:endParaRPr lang="en-US" altLang="zh-CN" b="0" dirty="0"/>
          </a:p>
          <a:p>
            <a:pPr>
              <a:buFont typeface="Wingdings" panose="05000000000000000000" pitchFamily="2" charset="2"/>
              <a:buChar char="p"/>
            </a:pPr>
            <a:r>
              <a:rPr lang="zh-CN" altLang="en-US" b="0" dirty="0"/>
              <a:t>闸机</a:t>
            </a:r>
            <a:endParaRPr lang="en-US" altLang="zh-CN" b="0" dirty="0"/>
          </a:p>
          <a:p>
            <a:pPr>
              <a:buFont typeface="Wingdings" panose="05000000000000000000" pitchFamily="2" charset="2"/>
              <a:buChar char="p"/>
            </a:pPr>
            <a:r>
              <a:rPr lang="zh-CN" altLang="en-US" b="0" dirty="0"/>
              <a:t>终端</a:t>
            </a:r>
          </a:p>
        </p:txBody>
      </p:sp>
      <p:sp>
        <p:nvSpPr>
          <p:cNvPr id="5" name="Rectangle 2">
            <a:extLst>
              <a:ext uri="{FF2B5EF4-FFF2-40B4-BE49-F238E27FC236}">
                <a16:creationId xmlns:a16="http://schemas.microsoft.com/office/drawing/2014/main" id="{8FE93E38-0468-410C-B22D-95BE9B9C7404}"/>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a:latin typeface="微软雅黑" panose="020B0503020204020204" pitchFamily="34" charset="-122"/>
                <a:ea typeface="微软雅黑" panose="020B0503020204020204" pitchFamily="34" charset="-122"/>
              </a:rPr>
              <a:t>1.5 </a:t>
            </a:r>
            <a:r>
              <a:rPr lang="zh-CN" altLang="en-US" sz="4000" dirty="0">
                <a:latin typeface="微软雅黑" panose="020B0503020204020204" pitchFamily="34" charset="-122"/>
                <a:ea typeface="微软雅黑" panose="020B0503020204020204" pitchFamily="34" charset="-122"/>
              </a:rPr>
              <a:t>多媒体系统应用实例</a:t>
            </a:r>
          </a:p>
        </p:txBody>
      </p:sp>
      <p:pic>
        <p:nvPicPr>
          <p:cNvPr id="6" name="Picture 2" descr="http://www.pixelall.com/u/cms/www/201810/24144540lwy8.png">
            <a:extLst>
              <a:ext uri="{FF2B5EF4-FFF2-40B4-BE49-F238E27FC236}">
                <a16:creationId xmlns:a16="http://schemas.microsoft.com/office/drawing/2014/main" id="{5B7A78BD-2161-4265-BD46-F7BF4D9B3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2248940"/>
            <a:ext cx="5877980" cy="3800279"/>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7A0F7B6E-1171-4A9B-88B8-0FEEFE42D666}"/>
              </a:ext>
            </a:extLst>
          </p:cNvPr>
          <p:cNvSpPr>
            <a:spLocks noGrp="1"/>
          </p:cNvSpPr>
          <p:nvPr>
            <p:ph type="sldNum" sz="quarter" idx="12"/>
          </p:nvPr>
        </p:nvSpPr>
        <p:spPr/>
        <p:txBody>
          <a:bodyPr/>
          <a:lstStyle/>
          <a:p>
            <a:fld id="{F64BA984-46A0-4F46-990E-EC790E6934B4}" type="slidenum">
              <a:rPr lang="zh-CN" altLang="en-US" smtClean="0"/>
              <a:t>49</a:t>
            </a:fld>
            <a:endParaRPr lang="zh-CN" altLang="en-US"/>
          </a:p>
        </p:txBody>
      </p:sp>
    </p:spTree>
    <p:extLst>
      <p:ext uri="{BB962C8B-B14F-4D97-AF65-F5344CB8AC3E}">
        <p14:creationId xmlns:p14="http://schemas.microsoft.com/office/powerpoint/2010/main" val="1172844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20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20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fade">
                                      <p:cBhvr>
                                        <p:cTn id="17" dur="20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fade">
                                      <p:cBhvr>
                                        <p:cTn id="22" dur="20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fade">
                                      <p:cBhvr>
                                        <p:cTn id="27" dur="2000"/>
                                        <p:tgtEl>
                                          <p:spTgt spid="11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body" idx="4294967295"/>
          </p:nvPr>
        </p:nvSpPr>
        <p:spPr>
          <a:xfrm>
            <a:off x="323528" y="1268760"/>
            <a:ext cx="8207375" cy="3605356"/>
          </a:xfrm>
        </p:spPr>
        <p:txBody>
          <a:bodyPr>
            <a:normAutofit lnSpcReduction="10000"/>
          </a:bodyPr>
          <a:lstStyle/>
          <a:p>
            <a:pPr marL="0" indent="0">
              <a:buNone/>
            </a:pPr>
            <a:r>
              <a:rPr lang="zh-CN" altLang="en-US" b="0" dirty="0"/>
              <a:t>智能门禁系统软件包括：</a:t>
            </a:r>
            <a:endParaRPr lang="en-US" altLang="zh-CN" b="0" dirty="0"/>
          </a:p>
          <a:p>
            <a:pPr>
              <a:buFont typeface="Wingdings" panose="05000000000000000000" pitchFamily="2" charset="2"/>
              <a:buChar char="p"/>
            </a:pPr>
            <a:r>
              <a:rPr lang="zh-CN" altLang="en-US" sz="2800" dirty="0"/>
              <a:t>平台系统</a:t>
            </a:r>
            <a:endParaRPr lang="en-US" altLang="zh-CN" sz="2800" dirty="0"/>
          </a:p>
          <a:p>
            <a:pPr>
              <a:buFont typeface="Wingdings" panose="05000000000000000000" pitchFamily="2" charset="2"/>
              <a:buChar char="p"/>
            </a:pPr>
            <a:r>
              <a:rPr lang="zh-CN" altLang="en-US" sz="2800" dirty="0"/>
              <a:t>账户管理</a:t>
            </a:r>
            <a:endParaRPr lang="en-US" altLang="zh-CN" sz="2800" dirty="0"/>
          </a:p>
          <a:p>
            <a:pPr>
              <a:buFont typeface="Wingdings" panose="05000000000000000000" pitchFamily="2" charset="2"/>
              <a:buChar char="p"/>
            </a:pPr>
            <a:r>
              <a:rPr lang="zh-CN" altLang="en-US" sz="2800" dirty="0"/>
              <a:t>人员登记</a:t>
            </a:r>
            <a:endParaRPr lang="en-US" altLang="zh-CN" sz="2800" dirty="0"/>
          </a:p>
          <a:p>
            <a:pPr>
              <a:buFont typeface="Wingdings" panose="05000000000000000000" pitchFamily="2" charset="2"/>
              <a:buChar char="p"/>
            </a:pPr>
            <a:r>
              <a:rPr lang="zh-CN" altLang="en-US" sz="2800" dirty="0"/>
              <a:t>终端管理</a:t>
            </a:r>
            <a:endParaRPr lang="en-US" altLang="zh-CN" sz="2800" dirty="0"/>
          </a:p>
          <a:p>
            <a:pPr>
              <a:buFont typeface="Wingdings" panose="05000000000000000000" pitchFamily="2" charset="2"/>
              <a:buChar char="p"/>
            </a:pPr>
            <a:r>
              <a:rPr lang="zh-CN" altLang="en-US" sz="2800" dirty="0"/>
              <a:t>嵌入式功能</a:t>
            </a:r>
            <a:endParaRPr lang="en-US" altLang="zh-CN" sz="2800" dirty="0"/>
          </a:p>
          <a:p>
            <a:pPr>
              <a:buFont typeface="Wingdings" panose="05000000000000000000" pitchFamily="2" charset="2"/>
              <a:buChar char="p"/>
            </a:pPr>
            <a:r>
              <a:rPr lang="zh-CN" altLang="en-US" sz="2800" dirty="0"/>
              <a:t>。。。。。</a:t>
            </a:r>
          </a:p>
        </p:txBody>
      </p:sp>
      <p:sp>
        <p:nvSpPr>
          <p:cNvPr id="5" name="Rectangle 2">
            <a:extLst>
              <a:ext uri="{FF2B5EF4-FFF2-40B4-BE49-F238E27FC236}">
                <a16:creationId xmlns:a16="http://schemas.microsoft.com/office/drawing/2014/main" id="{8FE93E38-0468-410C-B22D-95BE9B9C7404}"/>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a:latin typeface="微软雅黑" panose="020B0503020204020204" pitchFamily="34" charset="-122"/>
                <a:ea typeface="微软雅黑" panose="020B0503020204020204" pitchFamily="34" charset="-122"/>
              </a:rPr>
              <a:t>1.5 </a:t>
            </a:r>
            <a:r>
              <a:rPr lang="zh-CN" altLang="en-US" sz="4000" dirty="0">
                <a:latin typeface="微软雅黑" panose="020B0503020204020204" pitchFamily="34" charset="-122"/>
                <a:ea typeface="微软雅黑" panose="020B0503020204020204" pitchFamily="34" charset="-122"/>
              </a:rPr>
              <a:t>多媒体系统应用实例</a:t>
            </a:r>
          </a:p>
        </p:txBody>
      </p:sp>
      <p:pic>
        <p:nvPicPr>
          <p:cNvPr id="6" name="Picture 2" descr="http://www.pixelall.com/u/cms/www/201810/24144540lwy8.png">
            <a:extLst>
              <a:ext uri="{FF2B5EF4-FFF2-40B4-BE49-F238E27FC236}">
                <a16:creationId xmlns:a16="http://schemas.microsoft.com/office/drawing/2014/main" id="{5B7A78BD-2161-4265-BD46-F7BF4D9B3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2060848"/>
            <a:ext cx="6237082" cy="4032448"/>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72F56D0E-3679-454C-B5D7-5E05642CC457}"/>
              </a:ext>
            </a:extLst>
          </p:cNvPr>
          <p:cNvSpPr>
            <a:spLocks noGrp="1"/>
          </p:cNvSpPr>
          <p:nvPr>
            <p:ph type="sldNum" sz="quarter" idx="12"/>
          </p:nvPr>
        </p:nvSpPr>
        <p:spPr/>
        <p:txBody>
          <a:bodyPr/>
          <a:lstStyle/>
          <a:p>
            <a:fld id="{F64BA984-46A0-4F46-990E-EC790E6934B4}" type="slidenum">
              <a:rPr lang="zh-CN" altLang="en-US" smtClean="0"/>
              <a:t>50</a:t>
            </a:fld>
            <a:endParaRPr lang="zh-CN" altLang="en-US"/>
          </a:p>
        </p:txBody>
      </p:sp>
    </p:spTree>
    <p:extLst>
      <p:ext uri="{BB962C8B-B14F-4D97-AF65-F5344CB8AC3E}">
        <p14:creationId xmlns:p14="http://schemas.microsoft.com/office/powerpoint/2010/main" val="26008309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20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20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fade">
                                      <p:cBhvr>
                                        <p:cTn id="17" dur="20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fade">
                                      <p:cBhvr>
                                        <p:cTn id="22" dur="2000"/>
                                        <p:tgtEl>
                                          <p:spTgt spid="1126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Effect transition="in" filter="fade">
                                      <p:cBhvr>
                                        <p:cTn id="27" dur="2000"/>
                                        <p:tgtEl>
                                          <p:spTgt spid="1126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267">
                                            <p:txEl>
                                              <p:pRg st="5" end="5"/>
                                            </p:txEl>
                                          </p:spTgt>
                                        </p:tgtEl>
                                        <p:attrNameLst>
                                          <p:attrName>style.visibility</p:attrName>
                                        </p:attrNameLst>
                                      </p:cBhvr>
                                      <p:to>
                                        <p:strVal val="visible"/>
                                      </p:to>
                                    </p:set>
                                    <p:animEffect transition="in" filter="fade">
                                      <p:cBhvr>
                                        <p:cTn id="32" dur="2000"/>
                                        <p:tgtEl>
                                          <p:spTgt spid="112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267">
                                            <p:txEl>
                                              <p:pRg st="6" end="6"/>
                                            </p:txEl>
                                          </p:spTgt>
                                        </p:tgtEl>
                                        <p:attrNameLst>
                                          <p:attrName>style.visibility</p:attrName>
                                        </p:attrNameLst>
                                      </p:cBhvr>
                                      <p:to>
                                        <p:strVal val="visible"/>
                                      </p:to>
                                    </p:set>
                                    <p:animEffect transition="in" filter="fade">
                                      <p:cBhvr>
                                        <p:cTn id="37" dur="2000"/>
                                        <p:tgtEl>
                                          <p:spTgt spid="11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body" idx="4294967295"/>
          </p:nvPr>
        </p:nvSpPr>
        <p:spPr>
          <a:xfrm>
            <a:off x="294663" y="1143931"/>
            <a:ext cx="8207375" cy="1656184"/>
          </a:xfrm>
        </p:spPr>
        <p:txBody>
          <a:bodyPr>
            <a:normAutofit/>
          </a:bodyPr>
          <a:lstStyle/>
          <a:p>
            <a:pPr marL="0" indent="0">
              <a:buNone/>
            </a:pPr>
            <a:r>
              <a:rPr lang="zh-CN" altLang="en-US" b="0" dirty="0"/>
              <a:t>智能门禁系统算法：</a:t>
            </a:r>
            <a:endParaRPr lang="en-US" altLang="zh-CN" b="0" dirty="0"/>
          </a:p>
          <a:p>
            <a:pPr>
              <a:buFont typeface="Wingdings" panose="05000000000000000000" pitchFamily="2" charset="2"/>
              <a:buChar char="p"/>
            </a:pPr>
            <a:r>
              <a:rPr lang="zh-CN" altLang="en-US" sz="2800" b="0" dirty="0"/>
              <a:t>人脸检测 </a:t>
            </a:r>
            <a:endParaRPr lang="en-US" altLang="zh-CN" sz="2800" b="0" dirty="0"/>
          </a:p>
          <a:p>
            <a:pPr>
              <a:buFont typeface="Wingdings" panose="05000000000000000000" pitchFamily="2" charset="2"/>
              <a:buChar char="p"/>
            </a:pPr>
            <a:r>
              <a:rPr lang="zh-CN" altLang="en-US" sz="2800" b="0" dirty="0"/>
              <a:t>人脸识别</a:t>
            </a:r>
          </a:p>
        </p:txBody>
      </p:sp>
      <p:sp>
        <p:nvSpPr>
          <p:cNvPr id="5" name="Rectangle 2">
            <a:extLst>
              <a:ext uri="{FF2B5EF4-FFF2-40B4-BE49-F238E27FC236}">
                <a16:creationId xmlns:a16="http://schemas.microsoft.com/office/drawing/2014/main" id="{8FE93E38-0468-410C-B22D-95BE9B9C7404}"/>
              </a:ext>
            </a:extLst>
          </p:cNvPr>
          <p:cNvSpPr txBox="1">
            <a:spLocks noChangeArrowheads="1"/>
          </p:cNvSpPr>
          <p:nvPr/>
        </p:nvSpPr>
        <p:spPr>
          <a:xfrm>
            <a:off x="250824" y="204785"/>
            <a:ext cx="8229600" cy="703263"/>
          </a:xfrm>
          <a:prstGeom prst="rect">
            <a:avLst/>
          </a:prstGeom>
        </p:spPr>
        <p:txBody>
          <a:bodyPr vert="horz" lIns="91440" tIns="45720" rIns="91440" bIns="45720" rtlCol="0" anchor="ctr">
            <a:normAutofit fontScale="97500"/>
          </a:bodyPr>
          <a:lstStyle>
            <a:lvl1pPr algn="l" defTabSz="914400" rtl="0" eaLnBrk="1" latinLnBrk="0" hangingPunct="1">
              <a:spcBef>
                <a:spcPct val="0"/>
              </a:spcBef>
              <a:buNone/>
              <a:defRPr sz="4400" kern="1200">
                <a:solidFill>
                  <a:schemeClr val="tx1"/>
                </a:solidFill>
                <a:latin typeface="+mj-lt"/>
                <a:ea typeface="+mj-ea"/>
                <a:cs typeface="+mj-cs"/>
              </a:defRPr>
            </a:lvl1pPr>
          </a:lstStyle>
          <a:p>
            <a:r>
              <a:rPr lang="en-US" altLang="zh-CN" sz="4000" dirty="0">
                <a:latin typeface="微软雅黑" panose="020B0503020204020204" pitchFamily="34" charset="-122"/>
                <a:ea typeface="微软雅黑" panose="020B0503020204020204" pitchFamily="34" charset="-122"/>
              </a:rPr>
              <a:t>1.5 </a:t>
            </a:r>
            <a:r>
              <a:rPr lang="zh-CN" altLang="en-US" sz="4000" dirty="0">
                <a:latin typeface="微软雅黑" panose="020B0503020204020204" pitchFamily="34" charset="-122"/>
                <a:ea typeface="微软雅黑" panose="020B0503020204020204" pitchFamily="34" charset="-122"/>
              </a:rPr>
              <a:t>多媒体系统应用实例</a:t>
            </a:r>
          </a:p>
        </p:txBody>
      </p:sp>
      <p:pic>
        <p:nvPicPr>
          <p:cNvPr id="2050" name="Picture 2" descr="https://static.leiphone.com/uploads/new/sns/article/201902/1551077029472859.png">
            <a:extLst>
              <a:ext uri="{FF2B5EF4-FFF2-40B4-BE49-F238E27FC236}">
                <a16:creationId xmlns:a16="http://schemas.microsoft.com/office/drawing/2014/main" id="{62E58D18-E937-4CA1-8C8C-8D5901F01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035998"/>
            <a:ext cx="6949833" cy="324036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4CB1C202-A251-45A2-B100-CEF115EA5BC3}"/>
              </a:ext>
            </a:extLst>
          </p:cNvPr>
          <p:cNvSpPr>
            <a:spLocks noGrp="1"/>
          </p:cNvSpPr>
          <p:nvPr>
            <p:ph type="sldNum" sz="quarter" idx="12"/>
          </p:nvPr>
        </p:nvSpPr>
        <p:spPr/>
        <p:txBody>
          <a:bodyPr/>
          <a:lstStyle/>
          <a:p>
            <a:fld id="{F64BA984-46A0-4F46-990E-EC790E6934B4}" type="slidenum">
              <a:rPr lang="zh-CN" altLang="en-US" smtClean="0"/>
              <a:t>51</a:t>
            </a:fld>
            <a:endParaRPr lang="zh-CN" altLang="en-US"/>
          </a:p>
        </p:txBody>
      </p:sp>
    </p:spTree>
    <p:extLst>
      <p:ext uri="{BB962C8B-B14F-4D97-AF65-F5344CB8AC3E}">
        <p14:creationId xmlns:p14="http://schemas.microsoft.com/office/powerpoint/2010/main" val="4086109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20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20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fade">
                                      <p:cBhvr>
                                        <p:cTn id="17" dur="20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TM03457491[[fn=大都市]]</Template>
  <TotalTime>26840</TotalTime>
  <Words>3008</Words>
  <Application>Microsoft Macintosh PowerPoint</Application>
  <PresentationFormat>全屏显示(4:3)</PresentationFormat>
  <Paragraphs>340</Paragraphs>
  <Slides>51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51</vt:i4>
      </vt:variant>
    </vt:vector>
  </HeadingPairs>
  <TitlesOfParts>
    <vt:vector size="64" baseType="lpstr">
      <vt:lpstr>-apple-system</vt:lpstr>
      <vt:lpstr>华文楷体</vt:lpstr>
      <vt:lpstr>楷体_GB2312</vt:lpstr>
      <vt:lpstr>宋体</vt:lpstr>
      <vt:lpstr>微软雅黑</vt:lpstr>
      <vt:lpstr>Color Emoji</vt:lpstr>
      <vt:lpstr>PingFangSC-Regular</vt:lpstr>
      <vt:lpstr>arial</vt:lpstr>
      <vt:lpstr>arial</vt:lpstr>
      <vt:lpstr>Calibri</vt:lpstr>
      <vt:lpstr>Times New Roman</vt:lpstr>
      <vt:lpstr>Wingdings</vt:lpstr>
      <vt:lpstr>Office 主题​​</vt:lpstr>
      <vt:lpstr>多媒体信息处理基础</vt:lpstr>
      <vt:lpstr>加入课程QQ群：</vt:lpstr>
      <vt:lpstr>教程与参考书</vt:lpstr>
      <vt:lpstr>考核方式:</vt:lpstr>
      <vt:lpstr>关于实验</vt:lpstr>
      <vt:lpstr>PowerPoint 演示文稿</vt:lpstr>
      <vt:lpstr>PowerPoint 演示文稿</vt:lpstr>
      <vt:lpstr>PowerPoint 演示文稿</vt:lpstr>
      <vt:lpstr>1.1多媒体技术简介</vt:lpstr>
      <vt:lpstr>1.1 多媒体技术简介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什么是多媒体信息处理？</vt:lpstr>
      <vt:lpstr>多媒体的由来</vt:lpstr>
      <vt:lpstr>多媒体的应用领域</vt:lpstr>
      <vt:lpstr>1.2 多媒体软硬件系统</vt:lpstr>
      <vt:lpstr>多媒体硬件</vt:lpstr>
      <vt:lpstr>1.2 多媒体软硬件系统</vt:lpstr>
      <vt:lpstr>1.2 多媒体软硬件系统</vt:lpstr>
      <vt:lpstr>1.2 多媒体软硬件系统</vt:lpstr>
      <vt:lpstr>1.2 多媒体软硬件系统</vt:lpstr>
      <vt:lpstr>1.2 多媒体软硬件系统</vt:lpstr>
      <vt:lpstr>1.2 多媒体软硬件系统</vt:lpstr>
      <vt:lpstr>1.3 多媒体研究的对象</vt:lpstr>
      <vt:lpstr>文本：人们常用的各种文字和符号</vt:lpstr>
      <vt:lpstr>文本的特点</vt:lpstr>
      <vt:lpstr>位图图像对象是通过采用像素点来描述图像。它具有位置和强度两种信息。</vt:lpstr>
      <vt:lpstr>矢量图形对象</vt:lpstr>
      <vt:lpstr>位图和矢量图的区别</vt:lpstr>
      <vt:lpstr>位图和矢量图的区别</vt:lpstr>
      <vt:lpstr>1.3 多媒体研究的对象</vt:lpstr>
      <vt:lpstr>1.3 多媒体研究的对象</vt:lpstr>
      <vt:lpstr>音频对象</vt:lpstr>
      <vt:lpstr>1.3 多媒体研究的对象</vt:lpstr>
      <vt:lpstr>视频对象</vt:lpstr>
      <vt:lpstr>1.4 多媒体技术发展的关键技术</vt:lpstr>
      <vt:lpstr>多媒体数据采集技术 </vt:lpstr>
      <vt:lpstr>多媒体数据存储技术 </vt:lpstr>
      <vt:lpstr>多媒体传输技术</vt:lpstr>
      <vt:lpstr>多媒体检索技术</vt:lpstr>
      <vt:lpstr>多媒体数据压缩技术 </vt:lpstr>
      <vt:lpstr>多媒体人机交互技术</vt:lpstr>
      <vt:lpstr>多媒体云处理技术</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多媒体技术</dc:title>
  <dc:creator>hfu</dc:creator>
  <cp:lastModifiedBy>Jia Li</cp:lastModifiedBy>
  <cp:revision>221</cp:revision>
  <dcterms:created xsi:type="dcterms:W3CDTF">2013-10-02T02:26:23Z</dcterms:created>
  <dcterms:modified xsi:type="dcterms:W3CDTF">2026-04-22T09:17:26Z</dcterms:modified>
</cp:coreProperties>
</file>